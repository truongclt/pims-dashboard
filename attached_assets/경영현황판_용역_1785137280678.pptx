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C51"/>
    <a:srgbClr val="EAF2FB"/>
    <a:srgbClr val="2966A3"/>
    <a:srgbClr val="F2F2F2"/>
    <a:srgbClr val="D3D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236" autoAdjust="0"/>
  </p:normalViewPr>
  <p:slideViewPr>
    <p:cSldViewPr snapToGrid="0" showGuides="1">
      <p:cViewPr>
        <p:scale>
          <a:sx n="35" d="100"/>
          <a:sy n="35" d="100"/>
        </p:scale>
        <p:origin x="2232" y="10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84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28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86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1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85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20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31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5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44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12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41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0FACB-4640-4085-909A-CD011431CAEF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E5163-06FD-4CF9-9C30-9BBDA85F30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89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EC4D9F8-49D8-B6F1-0201-3E25DE4B8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b="89855"/>
          <a:stretch>
            <a:fillRect/>
          </a:stretch>
        </p:blipFill>
        <p:spPr>
          <a:xfrm>
            <a:off x="1976284" y="1"/>
            <a:ext cx="8958416" cy="1562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681839C-299F-8061-DAE2-C4A13AEF5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82928" b="55460"/>
          <a:stretch>
            <a:fillRect/>
          </a:stretch>
        </p:blipFill>
        <p:spPr>
          <a:xfrm>
            <a:off x="0" y="1"/>
            <a:ext cx="1866900" cy="68579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9BE6149-57B5-1AE5-DC79-210FB5329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5" t="15880" r="9341" b="81702"/>
          <a:stretch>
            <a:fillRect/>
          </a:stretch>
        </p:blipFill>
        <p:spPr>
          <a:xfrm>
            <a:off x="10125528" y="3131457"/>
            <a:ext cx="709086" cy="29754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839663D-5051-9D8F-2BC1-CC174CFB65A3}"/>
              </a:ext>
            </a:extLst>
          </p:cNvPr>
          <p:cNvSpPr/>
          <p:nvPr/>
        </p:nvSpPr>
        <p:spPr>
          <a:xfrm>
            <a:off x="10112188" y="203178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Sale &amp; Profit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BA05858-90A3-4159-F9C5-78E776F22FEA}"/>
              </a:ext>
            </a:extLst>
          </p:cNvPr>
          <p:cNvSpPr/>
          <p:nvPr/>
        </p:nvSpPr>
        <p:spPr>
          <a:xfrm>
            <a:off x="10112188" y="2367963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Budget Execution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5503A61-C422-8A1E-C503-9AE981AFCC0D}"/>
              </a:ext>
            </a:extLst>
          </p:cNvPr>
          <p:cNvSpPr/>
          <p:nvPr/>
        </p:nvSpPr>
        <p:spPr>
          <a:xfrm>
            <a:off x="10112188" y="2724310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Outsourcing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0EB49DE-6B83-4A0C-358F-7A827E838518}"/>
              </a:ext>
            </a:extLst>
          </p:cNvPr>
          <p:cNvSpPr/>
          <p:nvPr/>
        </p:nvSpPr>
        <p:spPr>
          <a:xfrm>
            <a:off x="10112188" y="1676026"/>
            <a:ext cx="753036" cy="295836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/>
                </a:solidFill>
              </a:rPr>
              <a:t>overview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21F9218-0827-261C-BF6E-8E571F3FEC13}"/>
              </a:ext>
            </a:extLst>
          </p:cNvPr>
          <p:cNvSpPr/>
          <p:nvPr/>
        </p:nvSpPr>
        <p:spPr>
          <a:xfrm>
            <a:off x="2019300" y="1676400"/>
            <a:ext cx="7937500" cy="660400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CE4D5BF-B5A5-DC5F-C162-DAD9FE8B7BD0}"/>
              </a:ext>
            </a:extLst>
          </p:cNvPr>
          <p:cNvSpPr/>
          <p:nvPr/>
        </p:nvSpPr>
        <p:spPr>
          <a:xfrm>
            <a:off x="8509000" y="1765300"/>
            <a:ext cx="1346200" cy="4953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작성 기준 </a:t>
            </a:r>
            <a:r>
              <a:rPr lang="en-US" altLang="ko-KR" sz="11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:  6</a:t>
            </a:r>
            <a:r>
              <a:rPr lang="ko-KR" altLang="en-US" sz="11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월 말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D8A5C5-DCBC-BB60-0EF8-FA936CD1C59A}"/>
              </a:ext>
            </a:extLst>
          </p:cNvPr>
          <p:cNvSpPr txBox="1"/>
          <p:nvPr/>
        </p:nvSpPr>
        <p:spPr>
          <a:xfrm>
            <a:off x="2066924" y="1744890"/>
            <a:ext cx="23439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Project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K8HH1 </a:t>
            </a:r>
            <a:r>
              <a:rPr lang="en-US" altLang="ko-KR" sz="1050" dirty="0" err="1">
                <a:latin typeface="페이퍼로지 7 Bold" pitchFamily="2" charset="-127"/>
                <a:ea typeface="페이퍼로지 7 Bold" pitchFamily="2" charset="-127"/>
              </a:rPr>
              <a:t>precon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 service</a:t>
            </a:r>
            <a:endParaRPr lang="ko-KR" altLang="en-US" sz="105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51669C-BC6B-522B-A34D-EC3BE326A93D}"/>
              </a:ext>
            </a:extLst>
          </p:cNvPr>
          <p:cNvSpPr txBox="1"/>
          <p:nvPr/>
        </p:nvSpPr>
        <p:spPr>
          <a:xfrm>
            <a:off x="2038984" y="2057310"/>
            <a:ext cx="12634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발주처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0000000</a:t>
            </a:r>
            <a:endParaRPr lang="ko-KR" altLang="en-US" sz="105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4AB029-291B-8D0A-7D94-0E2D6BE984CE}"/>
              </a:ext>
            </a:extLst>
          </p:cNvPr>
          <p:cNvSpPr txBox="1"/>
          <p:nvPr/>
        </p:nvSpPr>
        <p:spPr>
          <a:xfrm>
            <a:off x="5762624" y="1744890"/>
            <a:ext cx="27045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수행기간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’00.00.00~’00.00.00  (00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개월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105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D4B0A5-4A4B-F4CF-3820-1A4D9FA04227}"/>
              </a:ext>
            </a:extLst>
          </p:cNvPr>
          <p:cNvSpPr txBox="1"/>
          <p:nvPr/>
        </p:nvSpPr>
        <p:spPr>
          <a:xfrm>
            <a:off x="6290944" y="2049690"/>
            <a:ext cx="218200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수행내용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인허가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050" dirty="0" err="1">
                <a:latin typeface="페이퍼로지 7 Bold" pitchFamily="2" charset="-127"/>
                <a:ea typeface="페이퍼로지 7 Bold" pitchFamily="2" charset="-127"/>
              </a:rPr>
              <a:t>프리콘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보고서 제출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1F8919-2F60-7094-4829-D3813C4006F2}"/>
              </a:ext>
            </a:extLst>
          </p:cNvPr>
          <p:cNvSpPr txBox="1"/>
          <p:nvPr/>
        </p:nvSpPr>
        <p:spPr>
          <a:xfrm>
            <a:off x="4284303" y="2042070"/>
            <a:ext cx="13372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latin typeface="페이퍼로지 7 Bold" pitchFamily="2" charset="-127"/>
                <a:ea typeface="페이퍼로지 7 Bold" pitchFamily="2" charset="-127"/>
              </a:rPr>
              <a:t>도급액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:</a:t>
            </a:r>
            <a:r>
              <a:rPr lang="ko-KR" altLang="en-US" sz="105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1050" dirty="0">
                <a:latin typeface="페이퍼로지 7 Bold" pitchFamily="2" charset="-127"/>
                <a:ea typeface="페이퍼로지 7 Bold" pitchFamily="2" charset="-127"/>
              </a:rPr>
              <a:t>0,000,000</a:t>
            </a:r>
            <a:endParaRPr lang="ko-KR" altLang="en-US" sz="105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A2AE1424-ED79-FC93-DD4A-D5924EAEC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6" t="64111"/>
          <a:stretch>
            <a:fillRect/>
          </a:stretch>
        </p:blipFill>
        <p:spPr>
          <a:xfrm>
            <a:off x="2017056" y="4989288"/>
            <a:ext cx="7927044" cy="2965992"/>
          </a:xfrm>
          <a:prstGeom prst="rect">
            <a:avLst/>
          </a:prstGeom>
        </p:spPr>
      </p:pic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94A3418F-57DA-7176-42D6-3F6F5F3F1300}"/>
              </a:ext>
            </a:extLst>
          </p:cNvPr>
          <p:cNvGrpSpPr/>
          <p:nvPr/>
        </p:nvGrpSpPr>
        <p:grpSpPr>
          <a:xfrm>
            <a:off x="2019300" y="2400299"/>
            <a:ext cx="3208020" cy="2540889"/>
            <a:chOff x="2019300" y="2400300"/>
            <a:chExt cx="3208020" cy="2057400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497ACED9-C106-7DEC-ECAF-68698EF27499}"/>
                </a:ext>
              </a:extLst>
            </p:cNvPr>
            <p:cNvSpPr/>
            <p:nvPr/>
          </p:nvSpPr>
          <p:spPr>
            <a:xfrm>
              <a:off x="2019300" y="2400300"/>
              <a:ext cx="3208020" cy="2057400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0DEB52A-65B5-CD10-04E5-660014A4C97C}"/>
                </a:ext>
              </a:extLst>
            </p:cNvPr>
            <p:cNvSpPr/>
            <p:nvPr/>
          </p:nvSpPr>
          <p:spPr>
            <a:xfrm>
              <a:off x="2080260" y="2438400"/>
              <a:ext cx="3086100" cy="195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02F5653-41B2-6A0F-778B-277E78D2A75D}"/>
                </a:ext>
              </a:extLst>
            </p:cNvPr>
            <p:cNvSpPr txBox="1"/>
            <p:nvPr/>
          </p:nvSpPr>
          <p:spPr>
            <a:xfrm>
              <a:off x="2049780" y="2522220"/>
              <a:ext cx="99822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2966A3"/>
                  </a:solidFill>
                  <a:latin typeface="페이퍼로지 7 Bold" pitchFamily="2" charset="-127"/>
                  <a:ea typeface="페이퍼로지 7 Bold" pitchFamily="2" charset="-127"/>
                </a:rPr>
                <a:t>Revenue</a:t>
              </a:r>
              <a:endParaRPr lang="ko-KR" altLang="en-US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A154F44-B07B-E458-182F-0D4D2E739844}"/>
                </a:ext>
              </a:extLst>
            </p:cNvPr>
            <p:cNvSpPr txBox="1"/>
            <p:nvPr/>
          </p:nvSpPr>
          <p:spPr>
            <a:xfrm>
              <a:off x="2190750" y="4111625"/>
              <a:ext cx="134524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sz="800" dirty="0" err="1"/>
                <a:t>Annual</a:t>
              </a:r>
              <a:r>
                <a:rPr lang="ko-KR" altLang="ko-KR" sz="800" dirty="0"/>
                <a:t> Target </a:t>
              </a:r>
              <a:r>
                <a:rPr lang="ko-KR" altLang="ko-KR" sz="800" dirty="0" err="1"/>
                <a:t>Achievement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A1F12AF-A361-4FE0-3BEB-31A9D2F88146}"/>
                </a:ext>
              </a:extLst>
            </p:cNvPr>
            <p:cNvSpPr txBox="1"/>
            <p:nvPr/>
          </p:nvSpPr>
          <p:spPr>
            <a:xfrm>
              <a:off x="2453490" y="3297823"/>
              <a:ext cx="7668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2966A3"/>
                  </a:solidFill>
                  <a:latin typeface="페이퍼로지 5 Medium" pitchFamily="2" charset="-127"/>
                  <a:ea typeface="페이퍼로지 5 Medium" pitchFamily="2" charset="-127"/>
                </a:rPr>
                <a:t>27.6</a:t>
              </a:r>
              <a:r>
                <a:rPr lang="en-US" altLang="ko-KR" sz="1050" dirty="0">
                  <a:solidFill>
                    <a:srgbClr val="2966A3"/>
                  </a:solidFill>
                  <a:latin typeface="페이퍼로지 5 Medium" pitchFamily="2" charset="-127"/>
                  <a:ea typeface="페이퍼로지 5 Medium" pitchFamily="2" charset="-127"/>
                </a:rPr>
                <a:t>%</a:t>
              </a:r>
              <a:endParaRPr lang="ko-KR" altLang="en-US" sz="1050" dirty="0">
                <a:solidFill>
                  <a:srgbClr val="2966A3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B8DD9E4-5EF8-34D9-0F24-D5179FEEC6DA}"/>
                </a:ext>
              </a:extLst>
            </p:cNvPr>
            <p:cNvSpPr txBox="1"/>
            <p:nvPr/>
          </p:nvSpPr>
          <p:spPr>
            <a:xfrm>
              <a:off x="2689226" y="2740610"/>
              <a:ext cx="37382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1,194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0BA828D-5DBF-11E0-82CE-8DA8FAA22F66}"/>
                </a:ext>
              </a:extLst>
            </p:cNvPr>
            <p:cNvSpPr txBox="1"/>
            <p:nvPr/>
          </p:nvSpPr>
          <p:spPr>
            <a:xfrm>
              <a:off x="3663950" y="4111625"/>
              <a:ext cx="13580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/>
                <a:t>Total</a:t>
              </a:r>
              <a:r>
                <a:rPr lang="ko-KR" altLang="ko-KR" sz="800" dirty="0"/>
                <a:t> </a:t>
              </a:r>
              <a:r>
                <a:rPr lang="en-US" altLang="ko-KR" sz="800" dirty="0"/>
                <a:t>Revenue</a:t>
              </a:r>
              <a:r>
                <a:rPr lang="ko-KR" altLang="ko-KR" sz="800" dirty="0"/>
                <a:t> </a:t>
              </a:r>
              <a:r>
                <a:rPr lang="ko-KR" altLang="ko-KR" sz="800" dirty="0" err="1"/>
                <a:t>Achievement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A2B5AF3-18A1-3388-F80E-331DDD12D89F}"/>
                </a:ext>
              </a:extLst>
            </p:cNvPr>
            <p:cNvSpPr txBox="1"/>
            <p:nvPr/>
          </p:nvSpPr>
          <p:spPr>
            <a:xfrm>
              <a:off x="4105276" y="2727910"/>
              <a:ext cx="37382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1,194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DBD9EB7-E1D9-4E7B-01E7-4A9DFEE0FD2D}"/>
                </a:ext>
              </a:extLst>
            </p:cNvPr>
            <p:cNvSpPr txBox="1"/>
            <p:nvPr/>
          </p:nvSpPr>
          <p:spPr>
            <a:xfrm>
              <a:off x="4224339" y="3812172"/>
              <a:ext cx="37382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1,207</a:t>
              </a:r>
              <a:endParaRPr lang="ko-KR" altLang="en-US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67268EC-2F11-C1E0-D100-2EE7DFA7E2BD}"/>
                </a:ext>
              </a:extLst>
            </p:cNvPr>
            <p:cNvSpPr txBox="1"/>
            <p:nvPr/>
          </p:nvSpPr>
          <p:spPr>
            <a:xfrm>
              <a:off x="3875635" y="3259723"/>
              <a:ext cx="7668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2966A3"/>
                  </a:solidFill>
                  <a:latin typeface="페이퍼로지 5 Medium" pitchFamily="2" charset="-127"/>
                  <a:ea typeface="페이퍼로지 5 Medium" pitchFamily="2" charset="-127"/>
                </a:rPr>
                <a:t>27.6</a:t>
              </a:r>
              <a:r>
                <a:rPr lang="en-US" altLang="ko-KR" sz="1050" dirty="0">
                  <a:solidFill>
                    <a:srgbClr val="2966A3"/>
                  </a:solidFill>
                  <a:latin typeface="페이퍼로지 5 Medium" pitchFamily="2" charset="-127"/>
                  <a:ea typeface="페이퍼로지 5 Medium" pitchFamily="2" charset="-127"/>
                </a:rPr>
                <a:t>%</a:t>
              </a:r>
              <a:endParaRPr lang="ko-KR" altLang="en-US" sz="1050" dirty="0">
                <a:solidFill>
                  <a:srgbClr val="2966A3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1490357-8415-A68E-297D-B8395C12972E}"/>
                </a:ext>
              </a:extLst>
            </p:cNvPr>
            <p:cNvSpPr txBox="1"/>
            <p:nvPr/>
          </p:nvSpPr>
          <p:spPr>
            <a:xfrm>
              <a:off x="3218798" y="2976061"/>
              <a:ext cx="31451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chemeClr val="accent5">
                      <a:lumMod val="7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330</a:t>
              </a:r>
              <a:endParaRPr lang="ko-KR" altLang="en-US" sz="500" dirty="0">
                <a:solidFill>
                  <a:schemeClr val="accent5">
                    <a:lumMod val="7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F59492CC-DCDC-547E-88D3-169CC724044D}"/>
                </a:ext>
              </a:extLst>
            </p:cNvPr>
            <p:cNvSpPr txBox="1"/>
            <p:nvPr/>
          </p:nvSpPr>
          <p:spPr>
            <a:xfrm>
              <a:off x="4672948" y="2976061"/>
              <a:ext cx="31451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chemeClr val="accent5">
                      <a:lumMod val="7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330</a:t>
              </a:r>
              <a:endParaRPr lang="ko-KR" altLang="en-US" sz="500" dirty="0">
                <a:solidFill>
                  <a:schemeClr val="accent5">
                    <a:lumMod val="75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70" name="원형: 비어 있음 169">
              <a:extLst>
                <a:ext uri="{FF2B5EF4-FFF2-40B4-BE49-F238E27FC236}">
                  <a16:creationId xmlns:a16="http://schemas.microsoft.com/office/drawing/2014/main" id="{78A36C4F-CFCD-EA4D-9D34-BEE8F4839DFB}"/>
                </a:ext>
              </a:extLst>
            </p:cNvPr>
            <p:cNvSpPr/>
            <p:nvPr/>
          </p:nvSpPr>
          <p:spPr>
            <a:xfrm rot="5400000">
              <a:off x="2295843" y="2859088"/>
              <a:ext cx="1059180" cy="1216025"/>
            </a:xfrm>
            <a:prstGeom prst="donut">
              <a:avLst>
                <a:gd name="adj" fmla="val 9147"/>
              </a:avLst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1" name="막힌 원호 190">
              <a:extLst>
                <a:ext uri="{FF2B5EF4-FFF2-40B4-BE49-F238E27FC236}">
                  <a16:creationId xmlns:a16="http://schemas.microsoft.com/office/drawing/2014/main" id="{C91333BB-DF2A-064C-A000-7E8DD9CE4809}"/>
                </a:ext>
              </a:extLst>
            </p:cNvPr>
            <p:cNvSpPr/>
            <p:nvPr/>
          </p:nvSpPr>
          <p:spPr>
            <a:xfrm rot="5400000">
              <a:off x="2358390" y="2933700"/>
              <a:ext cx="1043940" cy="1112520"/>
            </a:xfrm>
            <a:prstGeom prst="blockArc">
              <a:avLst>
                <a:gd name="adj1" fmla="val 10800000"/>
                <a:gd name="adj2" fmla="val 16735313"/>
                <a:gd name="adj3" fmla="val 9387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24" name="원형: 비어 있음 1023">
              <a:extLst>
                <a:ext uri="{FF2B5EF4-FFF2-40B4-BE49-F238E27FC236}">
                  <a16:creationId xmlns:a16="http://schemas.microsoft.com/office/drawing/2014/main" id="{DF4D84BA-84C4-AAEA-8050-75556156BCBC}"/>
                </a:ext>
              </a:extLst>
            </p:cNvPr>
            <p:cNvSpPr/>
            <p:nvPr/>
          </p:nvSpPr>
          <p:spPr>
            <a:xfrm rot="5400000">
              <a:off x="3715068" y="2824163"/>
              <a:ext cx="1059180" cy="1235075"/>
            </a:xfrm>
            <a:prstGeom prst="donut">
              <a:avLst>
                <a:gd name="adj" fmla="val 9147"/>
              </a:avLst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26" name="TextBox 1025">
              <a:extLst>
                <a:ext uri="{FF2B5EF4-FFF2-40B4-BE49-F238E27FC236}">
                  <a16:creationId xmlns:a16="http://schemas.microsoft.com/office/drawing/2014/main" id="{5879A659-5126-2E8D-389A-3660F28EF81A}"/>
                </a:ext>
              </a:extLst>
            </p:cNvPr>
            <p:cNvSpPr txBox="1"/>
            <p:nvPr/>
          </p:nvSpPr>
          <p:spPr>
            <a:xfrm>
              <a:off x="3899750" y="3577967"/>
              <a:ext cx="760299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600" dirty="0" err="1"/>
                <a:t>Achievement</a:t>
              </a:r>
              <a:r>
                <a:rPr lang="en-US" altLang="ko-KR" sz="600" dirty="0"/>
                <a:t> Rate</a:t>
              </a:r>
              <a:endParaRPr lang="ko-KR" altLang="en-US" sz="600" dirty="0"/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AC6A33ED-BC80-E8C9-DBF8-68961B650AED}"/>
                </a:ext>
              </a:extLst>
            </p:cNvPr>
            <p:cNvSpPr txBox="1"/>
            <p:nvPr/>
          </p:nvSpPr>
          <p:spPr>
            <a:xfrm>
              <a:off x="2513126" y="3616067"/>
              <a:ext cx="760299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600" dirty="0" err="1"/>
                <a:t>Achievement</a:t>
              </a:r>
              <a:r>
                <a:rPr lang="en-US" altLang="ko-KR" sz="600" dirty="0"/>
                <a:t> Rate</a:t>
              </a:r>
              <a:endParaRPr lang="ko-KR" altLang="en-US" sz="600" dirty="0"/>
            </a:p>
          </p:txBody>
        </p:sp>
        <p:sp>
          <p:nvSpPr>
            <p:cNvPr id="1031" name="막힌 원호 1030">
              <a:extLst>
                <a:ext uri="{FF2B5EF4-FFF2-40B4-BE49-F238E27FC236}">
                  <a16:creationId xmlns:a16="http://schemas.microsoft.com/office/drawing/2014/main" id="{86D6AFFF-7700-B468-7905-0A9D2E52CEE5}"/>
                </a:ext>
              </a:extLst>
            </p:cNvPr>
            <p:cNvSpPr/>
            <p:nvPr/>
          </p:nvSpPr>
          <p:spPr>
            <a:xfrm rot="5400000">
              <a:off x="3780790" y="2895600"/>
              <a:ext cx="1043940" cy="1112520"/>
            </a:xfrm>
            <a:prstGeom prst="blockArc">
              <a:avLst>
                <a:gd name="adj1" fmla="val 10800000"/>
                <a:gd name="adj2" fmla="val 16735313"/>
                <a:gd name="adj3" fmla="val 9387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86" name="그룹 1085">
            <a:extLst>
              <a:ext uri="{FF2B5EF4-FFF2-40B4-BE49-F238E27FC236}">
                <a16:creationId xmlns:a16="http://schemas.microsoft.com/office/drawing/2014/main" id="{FC7E43A6-8612-7113-F892-D7EFC4F6B8DC}"/>
              </a:ext>
            </a:extLst>
          </p:cNvPr>
          <p:cNvGrpSpPr/>
          <p:nvPr/>
        </p:nvGrpSpPr>
        <p:grpSpPr>
          <a:xfrm>
            <a:off x="7612380" y="2413000"/>
            <a:ext cx="2356747" cy="2509520"/>
            <a:chOff x="7612380" y="2413000"/>
            <a:chExt cx="2356747" cy="2032000"/>
          </a:xfrm>
        </p:grpSpPr>
        <p:sp>
          <p:nvSpPr>
            <p:cNvPr id="1033" name="직사각형 1032">
              <a:extLst>
                <a:ext uri="{FF2B5EF4-FFF2-40B4-BE49-F238E27FC236}">
                  <a16:creationId xmlns:a16="http://schemas.microsoft.com/office/drawing/2014/main" id="{4D2F230B-6A00-0B9C-9F94-BB74A4185D8A}"/>
                </a:ext>
              </a:extLst>
            </p:cNvPr>
            <p:cNvSpPr/>
            <p:nvPr/>
          </p:nvSpPr>
          <p:spPr>
            <a:xfrm>
              <a:off x="7612380" y="2413000"/>
              <a:ext cx="2356747" cy="2032000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3BEBA9A2-405C-DD5C-C922-9597DA7634D0}"/>
                </a:ext>
              </a:extLst>
            </p:cNvPr>
            <p:cNvSpPr/>
            <p:nvPr/>
          </p:nvSpPr>
          <p:spPr>
            <a:xfrm>
              <a:off x="7680960" y="2467162"/>
              <a:ext cx="2214207" cy="1924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001657E8-FDFC-C51D-69C3-B05B85546756}"/>
                </a:ext>
              </a:extLst>
            </p:cNvPr>
            <p:cNvSpPr txBox="1"/>
            <p:nvPr/>
          </p:nvSpPr>
          <p:spPr>
            <a:xfrm>
              <a:off x="7713607" y="2484867"/>
              <a:ext cx="99822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2966A3"/>
                  </a:solidFill>
                  <a:latin typeface="페이퍼로지 7 Bold" pitchFamily="2" charset="-127"/>
                  <a:ea typeface="페이퍼로지 7 Bold" pitchFamily="2" charset="-127"/>
                </a:rPr>
                <a:t>Cash</a:t>
              </a:r>
              <a:endParaRPr lang="ko-KR" altLang="en-US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B5082136-27AB-82A0-3122-3AFABA02455F}"/>
                </a:ext>
              </a:extLst>
            </p:cNvPr>
            <p:cNvSpPr txBox="1"/>
            <p:nvPr/>
          </p:nvSpPr>
          <p:spPr>
            <a:xfrm>
              <a:off x="8301131" y="4148417"/>
              <a:ext cx="6078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Confirmed</a:t>
              </a:r>
            </a:p>
            <a:p>
              <a:pPr algn="ctr"/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(A)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57A9E5EC-727A-B4E0-AACC-89EAD481FD86}"/>
                </a:ext>
              </a:extLst>
            </p:cNvPr>
            <p:cNvSpPr/>
            <p:nvPr/>
          </p:nvSpPr>
          <p:spPr>
            <a:xfrm>
              <a:off x="8504741" y="3322171"/>
              <a:ext cx="146573" cy="830131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9" name="TextBox 1038">
              <a:extLst>
                <a:ext uri="{FF2B5EF4-FFF2-40B4-BE49-F238E27FC236}">
                  <a16:creationId xmlns:a16="http://schemas.microsoft.com/office/drawing/2014/main" id="{402B792C-D252-33BD-9783-19F24C2AA97A}"/>
                </a:ext>
              </a:extLst>
            </p:cNvPr>
            <p:cNvSpPr txBox="1"/>
            <p:nvPr/>
          </p:nvSpPr>
          <p:spPr>
            <a:xfrm>
              <a:off x="8442886" y="3641470"/>
              <a:ext cx="2712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00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40" name="직사각형 1039">
              <a:extLst>
                <a:ext uri="{FF2B5EF4-FFF2-40B4-BE49-F238E27FC236}">
                  <a16:creationId xmlns:a16="http://schemas.microsoft.com/office/drawing/2014/main" id="{1A176BED-1455-F2BE-BD54-A17BAD4FBF29}"/>
                </a:ext>
              </a:extLst>
            </p:cNvPr>
            <p:cNvSpPr/>
            <p:nvPr/>
          </p:nvSpPr>
          <p:spPr>
            <a:xfrm>
              <a:off x="9012184" y="3339120"/>
              <a:ext cx="121920" cy="786289"/>
            </a:xfrm>
            <a:prstGeom prst="rect">
              <a:avLst/>
            </a:prstGeom>
            <a:solidFill>
              <a:srgbClr val="2966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" name="TextBox 1040">
              <a:extLst>
                <a:ext uri="{FF2B5EF4-FFF2-40B4-BE49-F238E27FC236}">
                  <a16:creationId xmlns:a16="http://schemas.microsoft.com/office/drawing/2014/main" id="{ECE1A975-DBF9-6749-7C63-07FE2E02622D}"/>
                </a:ext>
              </a:extLst>
            </p:cNvPr>
            <p:cNvSpPr txBox="1"/>
            <p:nvPr/>
          </p:nvSpPr>
          <p:spPr>
            <a:xfrm>
              <a:off x="8937254" y="3634746"/>
              <a:ext cx="2712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00</a:t>
              </a:r>
              <a:endParaRPr lang="ko-KR" altLang="en-US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038E860A-EBD3-E86F-50C4-13E58FF85AB0}"/>
                </a:ext>
              </a:extLst>
            </p:cNvPr>
            <p:cNvSpPr txBox="1"/>
            <p:nvPr/>
          </p:nvSpPr>
          <p:spPr>
            <a:xfrm>
              <a:off x="8791951" y="4148417"/>
              <a:ext cx="5806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Collection</a:t>
              </a:r>
            </a:p>
            <a:p>
              <a:pPr algn="ctr"/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(B)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43" name="TextBox 1042">
              <a:extLst>
                <a:ext uri="{FF2B5EF4-FFF2-40B4-BE49-F238E27FC236}">
                  <a16:creationId xmlns:a16="http://schemas.microsoft.com/office/drawing/2014/main" id="{8A8B71F9-F7F6-8072-E77A-C55D92334AA1}"/>
                </a:ext>
              </a:extLst>
            </p:cNvPr>
            <p:cNvSpPr txBox="1"/>
            <p:nvPr/>
          </p:nvSpPr>
          <p:spPr>
            <a:xfrm>
              <a:off x="9228982" y="4148417"/>
              <a:ext cx="6864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Outstanding</a:t>
              </a:r>
            </a:p>
            <a:p>
              <a:pPr algn="ctr"/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(A)-(B)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19914E9D-5261-002F-E390-E0F9CD094149}"/>
                </a:ext>
              </a:extLst>
            </p:cNvPr>
            <p:cNvSpPr/>
            <p:nvPr/>
          </p:nvSpPr>
          <p:spPr>
            <a:xfrm>
              <a:off x="9503004" y="3893670"/>
              <a:ext cx="109780" cy="22501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890FCE15-BA97-8FD0-B480-6FD307167C8A}"/>
                </a:ext>
              </a:extLst>
            </p:cNvPr>
            <p:cNvSpPr txBox="1"/>
            <p:nvPr/>
          </p:nvSpPr>
          <p:spPr>
            <a:xfrm>
              <a:off x="9411079" y="3728876"/>
              <a:ext cx="2712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00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DC65A338-B14F-FD6B-7D1E-62D75FFA70F3}"/>
                </a:ext>
              </a:extLst>
            </p:cNvPr>
            <p:cNvSpPr txBox="1"/>
            <p:nvPr/>
          </p:nvSpPr>
          <p:spPr>
            <a:xfrm>
              <a:off x="7857378" y="4148417"/>
              <a:ext cx="53412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Revenue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D0E1362E-F931-9FB8-862A-AAD4AC322F96}"/>
                </a:ext>
              </a:extLst>
            </p:cNvPr>
            <p:cNvSpPr/>
            <p:nvPr/>
          </p:nvSpPr>
          <p:spPr>
            <a:xfrm>
              <a:off x="8060988" y="3207871"/>
              <a:ext cx="133127" cy="944431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D299F78D-E9A3-D46F-7D45-57930714E507}"/>
                </a:ext>
              </a:extLst>
            </p:cNvPr>
            <p:cNvSpPr txBox="1"/>
            <p:nvPr/>
          </p:nvSpPr>
          <p:spPr>
            <a:xfrm>
              <a:off x="7999133" y="3641470"/>
              <a:ext cx="2712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00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grpSp>
        <p:nvGrpSpPr>
          <p:cNvPr id="1087" name="그룹 1086">
            <a:extLst>
              <a:ext uri="{FF2B5EF4-FFF2-40B4-BE49-F238E27FC236}">
                <a16:creationId xmlns:a16="http://schemas.microsoft.com/office/drawing/2014/main" id="{476784B9-AA80-2771-4EAF-13C554341943}"/>
              </a:ext>
            </a:extLst>
          </p:cNvPr>
          <p:cNvGrpSpPr/>
          <p:nvPr/>
        </p:nvGrpSpPr>
        <p:grpSpPr>
          <a:xfrm>
            <a:off x="5280209" y="2413000"/>
            <a:ext cx="2263591" cy="2509520"/>
            <a:chOff x="5280209" y="2413000"/>
            <a:chExt cx="2263591" cy="2032000"/>
          </a:xfrm>
        </p:grpSpPr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9C4677E6-3956-99EB-D769-F28325FBB970}"/>
                </a:ext>
              </a:extLst>
            </p:cNvPr>
            <p:cNvSpPr/>
            <p:nvPr/>
          </p:nvSpPr>
          <p:spPr>
            <a:xfrm>
              <a:off x="5280209" y="2413000"/>
              <a:ext cx="2263591" cy="2032000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253584ED-B3EB-DEDD-F71A-92CBC5D86CB7}"/>
                </a:ext>
              </a:extLst>
            </p:cNvPr>
            <p:cNvSpPr/>
            <p:nvPr/>
          </p:nvSpPr>
          <p:spPr>
            <a:xfrm>
              <a:off x="5353792" y="2467162"/>
              <a:ext cx="2094758" cy="1924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71749689-35BF-28B4-B15C-5E8C81204E14}"/>
                </a:ext>
              </a:extLst>
            </p:cNvPr>
            <p:cNvSpPr txBox="1"/>
            <p:nvPr/>
          </p:nvSpPr>
          <p:spPr>
            <a:xfrm>
              <a:off x="5377553" y="2484867"/>
              <a:ext cx="13142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ko-KR" sz="600" dirty="0">
                  <a:solidFill>
                    <a:srgbClr val="2966A3"/>
                  </a:solidFill>
                  <a:latin typeface="페이퍼로지 7 Bold" pitchFamily="2" charset="-127"/>
                  <a:ea typeface="페이퍼로지 7 Bold" pitchFamily="2" charset="-127"/>
                </a:rPr>
                <a:t>Budget </a:t>
              </a:r>
              <a:r>
                <a:rPr lang="ko-KR" altLang="ko-KR" sz="600" dirty="0" err="1">
                  <a:solidFill>
                    <a:srgbClr val="2966A3"/>
                  </a:solidFill>
                  <a:latin typeface="페이퍼로지 7 Bold" pitchFamily="2" charset="-127"/>
                  <a:ea typeface="페이퍼로지 7 Bold" pitchFamily="2" charset="-127"/>
                </a:rPr>
                <a:t>Execution</a:t>
              </a:r>
              <a:r>
                <a:rPr lang="ko-KR" altLang="ko-KR" sz="600" dirty="0">
                  <a:solidFill>
                    <a:srgbClr val="2966A3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ko-KR" sz="600" dirty="0" err="1">
                  <a:solidFill>
                    <a:srgbClr val="2966A3"/>
                  </a:solidFill>
                  <a:latin typeface="페이퍼로지 7 Bold" pitchFamily="2" charset="-127"/>
                  <a:ea typeface="페이퍼로지 7 Bold" pitchFamily="2" charset="-127"/>
                </a:rPr>
                <a:t>Status</a:t>
              </a:r>
              <a:endParaRPr lang="ko-KR" altLang="ko-KR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1052" name="직사각형 1051">
              <a:extLst>
                <a:ext uri="{FF2B5EF4-FFF2-40B4-BE49-F238E27FC236}">
                  <a16:creationId xmlns:a16="http://schemas.microsoft.com/office/drawing/2014/main" id="{7B0D0CF7-D85C-F94B-2F17-BB39D14F93DF}"/>
                </a:ext>
              </a:extLst>
            </p:cNvPr>
            <p:cNvSpPr/>
            <p:nvPr/>
          </p:nvSpPr>
          <p:spPr>
            <a:xfrm>
              <a:off x="5613997" y="2912035"/>
              <a:ext cx="314662" cy="1240267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7A4F641B-EB26-FE79-0E09-7D760B4F468C}"/>
                </a:ext>
              </a:extLst>
            </p:cNvPr>
            <p:cNvSpPr txBox="1"/>
            <p:nvPr/>
          </p:nvSpPr>
          <p:spPr>
            <a:xfrm>
              <a:off x="5437280" y="4148417"/>
              <a:ext cx="62068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Direct Cost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58" name="직사각형 1057">
              <a:extLst>
                <a:ext uri="{FF2B5EF4-FFF2-40B4-BE49-F238E27FC236}">
                  <a16:creationId xmlns:a16="http://schemas.microsoft.com/office/drawing/2014/main" id="{41BC47F7-ADF1-99FF-7402-1CC6A4B4F009}"/>
                </a:ext>
              </a:extLst>
            </p:cNvPr>
            <p:cNvSpPr/>
            <p:nvPr/>
          </p:nvSpPr>
          <p:spPr>
            <a:xfrm>
              <a:off x="6255159" y="3587750"/>
              <a:ext cx="314662" cy="564552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9" name="TextBox 1058">
              <a:extLst>
                <a:ext uri="{FF2B5EF4-FFF2-40B4-BE49-F238E27FC236}">
                  <a16:creationId xmlns:a16="http://schemas.microsoft.com/office/drawing/2014/main" id="{51A01902-3379-0607-5276-D350CCED1D99}"/>
                </a:ext>
              </a:extLst>
            </p:cNvPr>
            <p:cNvSpPr txBox="1"/>
            <p:nvPr/>
          </p:nvSpPr>
          <p:spPr>
            <a:xfrm>
              <a:off x="6127750" y="4148417"/>
              <a:ext cx="5886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Expense 2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60" name="직사각형 1059">
              <a:extLst>
                <a:ext uri="{FF2B5EF4-FFF2-40B4-BE49-F238E27FC236}">
                  <a16:creationId xmlns:a16="http://schemas.microsoft.com/office/drawing/2014/main" id="{3202E33A-1136-6F71-73B1-EA225B028901}"/>
                </a:ext>
              </a:extLst>
            </p:cNvPr>
            <p:cNvSpPr/>
            <p:nvPr/>
          </p:nvSpPr>
          <p:spPr>
            <a:xfrm>
              <a:off x="6804815" y="3930650"/>
              <a:ext cx="314662" cy="221652"/>
            </a:xfrm>
            <a:prstGeom prst="rect">
              <a:avLst/>
            </a:prstGeom>
            <a:solidFill>
              <a:srgbClr val="D3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0FF4A2A2-D099-F189-134C-C0DFDF0DC7B5}"/>
                </a:ext>
              </a:extLst>
            </p:cNvPr>
            <p:cNvSpPr txBox="1"/>
            <p:nvPr/>
          </p:nvSpPr>
          <p:spPr>
            <a:xfrm>
              <a:off x="6648171" y="4148417"/>
              <a:ext cx="69281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Contingency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62" name="순서도: 천공 테이프 1061">
              <a:extLst>
                <a:ext uri="{FF2B5EF4-FFF2-40B4-BE49-F238E27FC236}">
                  <a16:creationId xmlns:a16="http://schemas.microsoft.com/office/drawing/2014/main" id="{0469F0CD-4CFC-A36D-C029-854A35CFFC8F}"/>
                </a:ext>
              </a:extLst>
            </p:cNvPr>
            <p:cNvSpPr/>
            <p:nvPr/>
          </p:nvSpPr>
          <p:spPr>
            <a:xfrm>
              <a:off x="5572125" y="3454400"/>
              <a:ext cx="406400" cy="73025"/>
            </a:xfrm>
            <a:prstGeom prst="flowChartPunchedTap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7" name="직사각형 1066">
              <a:extLst>
                <a:ext uri="{FF2B5EF4-FFF2-40B4-BE49-F238E27FC236}">
                  <a16:creationId xmlns:a16="http://schemas.microsoft.com/office/drawing/2014/main" id="{597A60E2-E8D9-5111-129A-9923AC73FF23}"/>
                </a:ext>
              </a:extLst>
            </p:cNvPr>
            <p:cNvSpPr/>
            <p:nvPr/>
          </p:nvSpPr>
          <p:spPr>
            <a:xfrm>
              <a:off x="5753046" y="3663950"/>
              <a:ext cx="173091" cy="490034"/>
            </a:xfrm>
            <a:prstGeom prst="rect">
              <a:avLst/>
            </a:prstGeom>
            <a:solidFill>
              <a:srgbClr val="2966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0" name="직사각형 1069">
              <a:extLst>
                <a:ext uri="{FF2B5EF4-FFF2-40B4-BE49-F238E27FC236}">
                  <a16:creationId xmlns:a16="http://schemas.microsoft.com/office/drawing/2014/main" id="{2A9DBBC7-190C-380E-8278-13D700E364A6}"/>
                </a:ext>
              </a:extLst>
            </p:cNvPr>
            <p:cNvSpPr/>
            <p:nvPr/>
          </p:nvSpPr>
          <p:spPr>
            <a:xfrm>
              <a:off x="6402893" y="3873500"/>
              <a:ext cx="173091" cy="280484"/>
            </a:xfrm>
            <a:prstGeom prst="rect">
              <a:avLst/>
            </a:prstGeom>
            <a:solidFill>
              <a:srgbClr val="2966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F6754C5C-C56F-587F-44EA-453CBC274A76}"/>
                </a:ext>
              </a:extLst>
            </p:cNvPr>
            <p:cNvSpPr txBox="1"/>
            <p:nvPr/>
          </p:nvSpPr>
          <p:spPr>
            <a:xfrm>
              <a:off x="5597525" y="2775536"/>
              <a:ext cx="37382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2,477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99A158F9-B899-E485-8F6D-663D14E20C32}"/>
                </a:ext>
              </a:extLst>
            </p:cNvPr>
            <p:cNvSpPr txBox="1"/>
            <p:nvPr/>
          </p:nvSpPr>
          <p:spPr>
            <a:xfrm>
              <a:off x="6214033" y="3423236"/>
              <a:ext cx="31451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258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75" name="TextBox 1074">
              <a:extLst>
                <a:ext uri="{FF2B5EF4-FFF2-40B4-BE49-F238E27FC236}">
                  <a16:creationId xmlns:a16="http://schemas.microsoft.com/office/drawing/2014/main" id="{EB876E11-AED3-81EC-C669-A7CF907CFFE1}"/>
                </a:ext>
              </a:extLst>
            </p:cNvPr>
            <p:cNvSpPr txBox="1"/>
            <p:nvPr/>
          </p:nvSpPr>
          <p:spPr>
            <a:xfrm>
              <a:off x="6837921" y="3780424"/>
              <a:ext cx="2712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latin typeface="페이퍼로지 5 Medium" pitchFamily="2" charset="-127"/>
                  <a:ea typeface="페이퍼로지 5 Medium" pitchFamily="2" charset="-127"/>
                </a:rPr>
                <a:t>60</a:t>
              </a:r>
              <a:endParaRPr lang="ko-KR" altLang="en-US" sz="5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5004C978-504C-4848-DA84-96C90CBDEEBC}"/>
                </a:ext>
              </a:extLst>
            </p:cNvPr>
            <p:cNvSpPr txBox="1"/>
            <p:nvPr/>
          </p:nvSpPr>
          <p:spPr>
            <a:xfrm>
              <a:off x="6347384" y="3970923"/>
              <a:ext cx="27122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99</a:t>
              </a:r>
              <a:endParaRPr lang="ko-KR" altLang="en-US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78" name="TextBox 1077">
              <a:extLst>
                <a:ext uri="{FF2B5EF4-FFF2-40B4-BE49-F238E27FC236}">
                  <a16:creationId xmlns:a16="http://schemas.microsoft.com/office/drawing/2014/main" id="{0B57E831-ECAC-D530-22F9-3CC6A48255E8}"/>
                </a:ext>
              </a:extLst>
            </p:cNvPr>
            <p:cNvSpPr txBox="1"/>
            <p:nvPr/>
          </p:nvSpPr>
          <p:spPr>
            <a:xfrm>
              <a:off x="5692776" y="3842336"/>
              <a:ext cx="31451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chemeClr val="bg1"/>
                  </a:solidFill>
                  <a:latin typeface="페이퍼로지 5 Medium" pitchFamily="2" charset="-127"/>
                  <a:ea typeface="페이퍼로지 5 Medium" pitchFamily="2" charset="-127"/>
                </a:rPr>
                <a:t>977</a:t>
              </a:r>
              <a:endParaRPr lang="ko-KR" altLang="en-US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963681BD-3DFE-7E48-AC97-80CF86E73B02}"/>
                </a:ext>
              </a:extLst>
            </p:cNvPr>
            <p:cNvSpPr txBox="1"/>
            <p:nvPr/>
          </p:nvSpPr>
          <p:spPr>
            <a:xfrm>
              <a:off x="5668963" y="3508961"/>
              <a:ext cx="39145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35.2%</a:t>
              </a:r>
              <a:endParaRPr lang="ko-KR" altLang="en-US" sz="5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054AB1D6-7B43-5B0C-3DD4-E31A6FEB0547}"/>
                </a:ext>
              </a:extLst>
            </p:cNvPr>
            <p:cNvSpPr txBox="1"/>
            <p:nvPr/>
          </p:nvSpPr>
          <p:spPr>
            <a:xfrm>
              <a:off x="6342622" y="3651836"/>
              <a:ext cx="391454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00" dirty="0">
                  <a:solidFill>
                    <a:srgbClr val="0070C0"/>
                  </a:solidFill>
                  <a:latin typeface="페이퍼로지 5 Medium" pitchFamily="2" charset="-127"/>
                  <a:ea typeface="페이퍼로지 5 Medium" pitchFamily="2" charset="-127"/>
                </a:rPr>
                <a:t>45.3%</a:t>
              </a:r>
              <a:endParaRPr lang="ko-KR" altLang="en-US" sz="5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E76BD8C5-9503-6177-CA89-A5F637617C64}"/>
                </a:ext>
              </a:extLst>
            </p:cNvPr>
            <p:cNvSpPr txBox="1"/>
            <p:nvPr/>
          </p:nvSpPr>
          <p:spPr>
            <a:xfrm>
              <a:off x="6127750" y="2713317"/>
              <a:ext cx="104547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Total </a:t>
              </a:r>
              <a:r>
                <a:rPr lang="en-US" altLang="ko-KR" sz="600" dirty="0" err="1">
                  <a:latin typeface="페이퍼로지 5 Medium" pitchFamily="2" charset="-127"/>
                  <a:ea typeface="페이퍼로지 5 Medium" pitchFamily="2" charset="-127"/>
                </a:rPr>
                <a:t>Excution</a:t>
              </a:r>
              <a:r>
                <a:rPr lang="en-US" altLang="ko-KR" sz="600" dirty="0">
                  <a:latin typeface="페이퍼로지 5 Medium" pitchFamily="2" charset="-127"/>
                  <a:ea typeface="페이퍼로지 5 Medium" pitchFamily="2" charset="-127"/>
                </a:rPr>
                <a:t> : 00.0%</a:t>
              </a:r>
              <a:endParaRPr lang="ko-KR" altLang="en-US" sz="60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7359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5263-B83E-436C-AD12-F2490166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1F77926F-46EC-A40C-8409-408857E61180}"/>
              </a:ext>
            </a:extLst>
          </p:cNvPr>
          <p:cNvSpPr/>
          <p:nvPr/>
        </p:nvSpPr>
        <p:spPr>
          <a:xfrm>
            <a:off x="2222500" y="4223124"/>
            <a:ext cx="7810500" cy="2463800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4E476D8-A8FA-424E-0821-9DAEB24B0A82}"/>
              </a:ext>
            </a:extLst>
          </p:cNvPr>
          <p:cNvSpPr/>
          <p:nvPr/>
        </p:nvSpPr>
        <p:spPr>
          <a:xfrm>
            <a:off x="2279649" y="4350124"/>
            <a:ext cx="7514985" cy="223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094854A-3C69-8D14-E423-23307DF8A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b="89855"/>
          <a:stretch>
            <a:fillRect/>
          </a:stretch>
        </p:blipFill>
        <p:spPr>
          <a:xfrm>
            <a:off x="1976284" y="1"/>
            <a:ext cx="8958416" cy="1562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D0A936C-15AC-355E-DFE0-F40DB814F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82928" b="55460"/>
          <a:stretch>
            <a:fillRect/>
          </a:stretch>
        </p:blipFill>
        <p:spPr>
          <a:xfrm>
            <a:off x="0" y="1"/>
            <a:ext cx="1866900" cy="68579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641ADCD-7854-4470-7038-6CF8C11D4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5" t="15880" r="9341" b="81702"/>
          <a:stretch>
            <a:fillRect/>
          </a:stretch>
        </p:blipFill>
        <p:spPr>
          <a:xfrm>
            <a:off x="10125528" y="3131457"/>
            <a:ext cx="709086" cy="29754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0072175-4FD4-C395-6C93-92B8E75AC808}"/>
              </a:ext>
            </a:extLst>
          </p:cNvPr>
          <p:cNvSpPr/>
          <p:nvPr/>
        </p:nvSpPr>
        <p:spPr>
          <a:xfrm>
            <a:off x="10112188" y="2367963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Budget Execution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34E51A-5108-2CBA-C4F4-522122B80445}"/>
              </a:ext>
            </a:extLst>
          </p:cNvPr>
          <p:cNvSpPr/>
          <p:nvPr/>
        </p:nvSpPr>
        <p:spPr>
          <a:xfrm>
            <a:off x="10112188" y="2724310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Outsourcing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3ABCDD4-3E38-38BF-2682-4B911C1BB44B}"/>
              </a:ext>
            </a:extLst>
          </p:cNvPr>
          <p:cNvSpPr/>
          <p:nvPr/>
        </p:nvSpPr>
        <p:spPr>
          <a:xfrm>
            <a:off x="10112188" y="2052543"/>
            <a:ext cx="753036" cy="295836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/>
                </a:solidFill>
              </a:rPr>
              <a:t>Sale &amp; Cost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499C17-C889-7F39-14F2-9BA03E9AFD56}"/>
              </a:ext>
            </a:extLst>
          </p:cNvPr>
          <p:cNvSpPr/>
          <p:nvPr/>
        </p:nvSpPr>
        <p:spPr>
          <a:xfrm>
            <a:off x="10127428" y="168491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overview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3E5FAB0-21BF-F2DF-70CE-11AB56DAA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3" t="9786" r="36608" b="87340"/>
          <a:stretch>
            <a:fillRect/>
          </a:stretch>
        </p:blipFill>
        <p:spPr>
          <a:xfrm>
            <a:off x="5727511" y="1120878"/>
            <a:ext cx="4807974" cy="44245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EEE22E1-C053-B648-AAC5-C9C58E234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6" t="64111"/>
          <a:stretch>
            <a:fillRect/>
          </a:stretch>
        </p:blipFill>
        <p:spPr>
          <a:xfrm>
            <a:off x="2247223" y="6747603"/>
            <a:ext cx="7792127" cy="2905124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C5DEEA-1DAC-F44B-88C1-4A43D1A4D127}"/>
              </a:ext>
            </a:extLst>
          </p:cNvPr>
          <p:cNvSpPr/>
          <p:nvPr/>
        </p:nvSpPr>
        <p:spPr>
          <a:xfrm>
            <a:off x="2222500" y="1701800"/>
            <a:ext cx="7810500" cy="2463800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91AAAE-63C5-0294-B022-EF3AD3C895BF}"/>
              </a:ext>
            </a:extLst>
          </p:cNvPr>
          <p:cNvSpPr/>
          <p:nvPr/>
        </p:nvSpPr>
        <p:spPr>
          <a:xfrm>
            <a:off x="2279649" y="1828800"/>
            <a:ext cx="7514985" cy="223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8686E4-418B-EF4B-A680-4B9B8672C41B}"/>
              </a:ext>
            </a:extLst>
          </p:cNvPr>
          <p:cNvSpPr/>
          <p:nvPr/>
        </p:nvSpPr>
        <p:spPr>
          <a:xfrm rot="16200000">
            <a:off x="2658204" y="3251967"/>
            <a:ext cx="653193" cy="189378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FE0A339-EFF6-83FA-7246-6B2B01867D5F}"/>
              </a:ext>
            </a:extLst>
          </p:cNvPr>
          <p:cNvSpPr/>
          <p:nvPr/>
        </p:nvSpPr>
        <p:spPr>
          <a:xfrm rot="16200000">
            <a:off x="8783115" y="3286257"/>
            <a:ext cx="630332" cy="189378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ED3CE6-C573-916A-DE2D-13901E136F17}"/>
              </a:ext>
            </a:extLst>
          </p:cNvPr>
          <p:cNvSpPr txBox="1"/>
          <p:nvPr/>
        </p:nvSpPr>
        <p:spPr>
          <a:xfrm>
            <a:off x="2822408" y="2726195"/>
            <a:ext cx="784392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258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BEE68D-DE0D-AF7B-3290-DFCDD7BF7E97}"/>
              </a:ext>
            </a:extLst>
          </p:cNvPr>
          <p:cNvSpPr txBox="1"/>
          <p:nvPr/>
        </p:nvSpPr>
        <p:spPr>
          <a:xfrm>
            <a:off x="2735580" y="3774440"/>
            <a:ext cx="5116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‘26.04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586113-62CF-6041-C6E1-4E7D2E503251}"/>
              </a:ext>
            </a:extLst>
          </p:cNvPr>
          <p:cNvSpPr txBox="1"/>
          <p:nvPr/>
        </p:nvSpPr>
        <p:spPr>
          <a:xfrm>
            <a:off x="5840160" y="3804920"/>
            <a:ext cx="5116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‘26.05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96E554-6854-DBB8-4EC0-056AAC68D3A8}"/>
              </a:ext>
            </a:extLst>
          </p:cNvPr>
          <p:cNvSpPr txBox="1"/>
          <p:nvPr/>
        </p:nvSpPr>
        <p:spPr>
          <a:xfrm>
            <a:off x="8872920" y="3804920"/>
            <a:ext cx="5116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‘26.06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8F362E-27BF-D005-4804-34150E7D280E}"/>
              </a:ext>
            </a:extLst>
          </p:cNvPr>
          <p:cNvSpPr txBox="1"/>
          <p:nvPr/>
        </p:nvSpPr>
        <p:spPr>
          <a:xfrm>
            <a:off x="8583360" y="2059940"/>
            <a:ext cx="4860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3,000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DF8E7F-3B75-24DC-BCD1-45BC96C36008}"/>
              </a:ext>
            </a:extLst>
          </p:cNvPr>
          <p:cNvSpPr txBox="1"/>
          <p:nvPr/>
        </p:nvSpPr>
        <p:spPr>
          <a:xfrm>
            <a:off x="8751000" y="2364740"/>
            <a:ext cx="3642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accent2">
                    <a:lumMod val="7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누계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63B9E459-77A5-F71E-90C8-8E2A72534043}"/>
              </a:ext>
            </a:extLst>
          </p:cNvPr>
          <p:cNvSpPr/>
          <p:nvPr/>
        </p:nvSpPr>
        <p:spPr>
          <a:xfrm>
            <a:off x="2946400" y="2180771"/>
            <a:ext cx="6183086" cy="1277258"/>
          </a:xfrm>
          <a:custGeom>
            <a:avLst/>
            <a:gdLst>
              <a:gd name="csX0" fmla="*/ 0 w 6183086"/>
              <a:gd name="csY0" fmla="*/ 1277258 h 1277258"/>
              <a:gd name="csX1" fmla="*/ 87086 w 6183086"/>
              <a:gd name="csY1" fmla="*/ 1262743 h 1277258"/>
              <a:gd name="csX2" fmla="*/ 377371 w 6183086"/>
              <a:gd name="csY2" fmla="*/ 1204686 h 1277258"/>
              <a:gd name="csX3" fmla="*/ 1451429 w 6183086"/>
              <a:gd name="csY3" fmla="*/ 1074058 h 1277258"/>
              <a:gd name="csX4" fmla="*/ 2075543 w 6183086"/>
              <a:gd name="csY4" fmla="*/ 1030515 h 1277258"/>
              <a:gd name="csX5" fmla="*/ 2815771 w 6183086"/>
              <a:gd name="csY5" fmla="*/ 986972 h 1277258"/>
              <a:gd name="csX6" fmla="*/ 3381829 w 6183086"/>
              <a:gd name="csY6" fmla="*/ 943429 h 1277258"/>
              <a:gd name="csX7" fmla="*/ 4528457 w 6183086"/>
              <a:gd name="csY7" fmla="*/ 827315 h 1277258"/>
              <a:gd name="csX8" fmla="*/ 4963886 w 6183086"/>
              <a:gd name="csY8" fmla="*/ 754743 h 1277258"/>
              <a:gd name="csX9" fmla="*/ 5515429 w 6183086"/>
              <a:gd name="csY9" fmla="*/ 580572 h 1277258"/>
              <a:gd name="csX10" fmla="*/ 5791200 w 6183086"/>
              <a:gd name="csY10" fmla="*/ 362858 h 1277258"/>
              <a:gd name="csX11" fmla="*/ 5863771 w 6183086"/>
              <a:gd name="csY11" fmla="*/ 261258 h 1277258"/>
              <a:gd name="csX12" fmla="*/ 6008914 w 6183086"/>
              <a:gd name="csY12" fmla="*/ 101600 h 1277258"/>
              <a:gd name="csX13" fmla="*/ 6110514 w 6183086"/>
              <a:gd name="csY13" fmla="*/ 43543 h 1277258"/>
              <a:gd name="csX14" fmla="*/ 6183086 w 6183086"/>
              <a:gd name="csY14" fmla="*/ 0 h 12772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183086" h="1277258">
                <a:moveTo>
                  <a:pt x="0" y="1277258"/>
                </a:moveTo>
                <a:cubicBezTo>
                  <a:pt x="29029" y="1272420"/>
                  <a:pt x="58186" y="1268301"/>
                  <a:pt x="87086" y="1262743"/>
                </a:cubicBezTo>
                <a:cubicBezTo>
                  <a:pt x="183988" y="1244108"/>
                  <a:pt x="279623" y="1218204"/>
                  <a:pt x="377371" y="1204686"/>
                </a:cubicBezTo>
                <a:cubicBezTo>
                  <a:pt x="734628" y="1155278"/>
                  <a:pt x="1091646" y="1099159"/>
                  <a:pt x="1451429" y="1074058"/>
                </a:cubicBezTo>
                <a:lnTo>
                  <a:pt x="2075543" y="1030515"/>
                </a:lnTo>
                <a:lnTo>
                  <a:pt x="2815771" y="986972"/>
                </a:lnTo>
                <a:cubicBezTo>
                  <a:pt x="3004595" y="974384"/>
                  <a:pt x="3193067" y="956912"/>
                  <a:pt x="3381829" y="943429"/>
                </a:cubicBezTo>
                <a:cubicBezTo>
                  <a:pt x="4008123" y="898693"/>
                  <a:pt x="3771708" y="934036"/>
                  <a:pt x="4528457" y="827315"/>
                </a:cubicBezTo>
                <a:cubicBezTo>
                  <a:pt x="4674160" y="806767"/>
                  <a:pt x="4819490" y="783056"/>
                  <a:pt x="4963886" y="754743"/>
                </a:cubicBezTo>
                <a:cubicBezTo>
                  <a:pt x="5184081" y="711567"/>
                  <a:pt x="5317860" y="679357"/>
                  <a:pt x="5515429" y="580572"/>
                </a:cubicBezTo>
                <a:cubicBezTo>
                  <a:pt x="5602343" y="537115"/>
                  <a:pt x="5728890" y="429322"/>
                  <a:pt x="5791200" y="362858"/>
                </a:cubicBezTo>
                <a:cubicBezTo>
                  <a:pt x="5819665" y="332496"/>
                  <a:pt x="5838800" y="294553"/>
                  <a:pt x="5863771" y="261258"/>
                </a:cubicBezTo>
                <a:cubicBezTo>
                  <a:pt x="5901460" y="211006"/>
                  <a:pt x="5960900" y="138534"/>
                  <a:pt x="6008914" y="101600"/>
                </a:cubicBezTo>
                <a:cubicBezTo>
                  <a:pt x="6039831" y="77818"/>
                  <a:pt x="6076271" y="62221"/>
                  <a:pt x="6110514" y="43543"/>
                </a:cubicBezTo>
                <a:cubicBezTo>
                  <a:pt x="6181109" y="5037"/>
                  <a:pt x="6151242" y="31844"/>
                  <a:pt x="6183086" y="0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137DEF-FB34-9737-BA67-24E63E64EF31}"/>
              </a:ext>
            </a:extLst>
          </p:cNvPr>
          <p:cNvSpPr txBox="1"/>
          <p:nvPr/>
        </p:nvSpPr>
        <p:spPr>
          <a:xfrm>
            <a:off x="2343489" y="1934829"/>
            <a:ext cx="17666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rPr>
              <a:t>Monthly Revenue</a:t>
            </a:r>
            <a:endParaRPr lang="ko-KR" altLang="en-US" sz="600" dirty="0">
              <a:solidFill>
                <a:srgbClr val="2966A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57E0ABF-B7F1-90E5-11F4-FB5FE870CEF7}"/>
              </a:ext>
            </a:extLst>
          </p:cNvPr>
          <p:cNvSpPr txBox="1"/>
          <p:nvPr/>
        </p:nvSpPr>
        <p:spPr>
          <a:xfrm>
            <a:off x="2307630" y="4373229"/>
            <a:ext cx="17666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rPr>
              <a:t>Cost</a:t>
            </a:r>
            <a:endParaRPr lang="ko-KR" altLang="en-US" sz="600" dirty="0">
              <a:solidFill>
                <a:srgbClr val="2966A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979221-9E26-2D90-8E82-90C7F95CF1D0}"/>
              </a:ext>
            </a:extLst>
          </p:cNvPr>
          <p:cNvSpPr txBox="1"/>
          <p:nvPr/>
        </p:nvSpPr>
        <p:spPr>
          <a:xfrm>
            <a:off x="2735580" y="6311900"/>
            <a:ext cx="5116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‘26.04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89FFF5-ED70-7235-C0ED-FF44F9AF06CF}"/>
              </a:ext>
            </a:extLst>
          </p:cNvPr>
          <p:cNvSpPr txBox="1"/>
          <p:nvPr/>
        </p:nvSpPr>
        <p:spPr>
          <a:xfrm>
            <a:off x="5840160" y="6296660"/>
            <a:ext cx="5116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‘26.05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FAEB1E-DA1A-24CA-BC90-BC048302DDFA}"/>
              </a:ext>
            </a:extLst>
          </p:cNvPr>
          <p:cNvSpPr txBox="1"/>
          <p:nvPr/>
        </p:nvSpPr>
        <p:spPr>
          <a:xfrm>
            <a:off x="8872920" y="6296660"/>
            <a:ext cx="5116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페이퍼로지 5 Medium" pitchFamily="2" charset="-127"/>
                <a:ea typeface="페이퍼로지 5 Medium" pitchFamily="2" charset="-127"/>
              </a:rPr>
              <a:t>‘26.06</a:t>
            </a:r>
            <a:endParaRPr lang="ko-KR" altLang="en-US" sz="8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B22F641-0142-C075-35BC-F4964091511F}"/>
              </a:ext>
            </a:extLst>
          </p:cNvPr>
          <p:cNvSpPr/>
          <p:nvPr/>
        </p:nvSpPr>
        <p:spPr>
          <a:xfrm rot="16200000">
            <a:off x="2474053" y="5620518"/>
            <a:ext cx="1021495" cy="1893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C55D047-6F7F-F6D9-344D-34B697737617}"/>
              </a:ext>
            </a:extLst>
          </p:cNvPr>
          <p:cNvSpPr/>
          <p:nvPr/>
        </p:nvSpPr>
        <p:spPr>
          <a:xfrm rot="16200000">
            <a:off x="8783115" y="5838959"/>
            <a:ext cx="630332" cy="18937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A701512-906B-D13C-D50B-6441F38D9DCC}"/>
              </a:ext>
            </a:extLst>
          </p:cNvPr>
          <p:cNvSpPr/>
          <p:nvPr/>
        </p:nvSpPr>
        <p:spPr>
          <a:xfrm rot="16200000">
            <a:off x="3478177" y="4392577"/>
            <a:ext cx="149858" cy="2851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711D46-165C-1663-561B-A04C4B8DEF91}"/>
              </a:ext>
            </a:extLst>
          </p:cNvPr>
          <p:cNvSpPr txBox="1"/>
          <p:nvPr/>
        </p:nvSpPr>
        <p:spPr>
          <a:xfrm>
            <a:off x="3724950" y="4441809"/>
            <a:ext cx="8089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페이퍼로지 7 Bold" pitchFamily="2" charset="-127"/>
                <a:ea typeface="페이퍼로지 7 Bold" pitchFamily="2" charset="-127"/>
              </a:rPr>
              <a:t>회계 매출원가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7676147-C4A6-1EE4-F05C-0243E817672E}"/>
              </a:ext>
            </a:extLst>
          </p:cNvPr>
          <p:cNvSpPr/>
          <p:nvPr/>
        </p:nvSpPr>
        <p:spPr>
          <a:xfrm rot="16200000">
            <a:off x="3478177" y="4583077"/>
            <a:ext cx="149858" cy="2851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4DFFD2-C26D-812F-3B74-F4CCC06809C4}"/>
              </a:ext>
            </a:extLst>
          </p:cNvPr>
          <p:cNvSpPr txBox="1"/>
          <p:nvPr/>
        </p:nvSpPr>
        <p:spPr>
          <a:xfrm>
            <a:off x="3724950" y="4632309"/>
            <a:ext cx="8470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페이퍼로지 7 Bold" pitchFamily="2" charset="-127"/>
                <a:ea typeface="페이퍼로지 7 Bold" pitchFamily="2" charset="-127"/>
              </a:rPr>
              <a:t>집행 매출원가 </a:t>
            </a:r>
            <a:r>
              <a:rPr lang="en-US" altLang="ko-KR" sz="600" dirty="0">
                <a:latin typeface="페이퍼로지 7 Bold" pitchFamily="2" charset="-127"/>
                <a:ea typeface="페이퍼로지 7 Bold" pitchFamily="2" charset="-127"/>
              </a:rPr>
              <a:t>(WIP)</a:t>
            </a:r>
            <a:endParaRPr lang="ko-KR" altLang="en-US" sz="6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6EFF3C1-32D7-C44F-4244-84197DFB982A}"/>
              </a:ext>
            </a:extLst>
          </p:cNvPr>
          <p:cNvSpPr/>
          <p:nvPr/>
        </p:nvSpPr>
        <p:spPr>
          <a:xfrm rot="16200000">
            <a:off x="2562506" y="5938166"/>
            <a:ext cx="274320" cy="2851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0B68852-1AE9-16DD-742D-04A531DE23F1}"/>
              </a:ext>
            </a:extLst>
          </p:cNvPr>
          <p:cNvSpPr/>
          <p:nvPr/>
        </p:nvSpPr>
        <p:spPr>
          <a:xfrm rot="16200000">
            <a:off x="5770526" y="5892446"/>
            <a:ext cx="365760" cy="2851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9C59016-3D54-6308-C91E-5E6073914F8C}"/>
              </a:ext>
            </a:extLst>
          </p:cNvPr>
          <p:cNvSpPr/>
          <p:nvPr/>
        </p:nvSpPr>
        <p:spPr>
          <a:xfrm rot="16200000">
            <a:off x="8700416" y="5949596"/>
            <a:ext cx="251460" cy="28518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B4290B-59BC-DC3E-767E-A4C9FDD697BD}"/>
              </a:ext>
            </a:extLst>
          </p:cNvPr>
          <p:cNvSpPr txBox="1"/>
          <p:nvPr/>
        </p:nvSpPr>
        <p:spPr>
          <a:xfrm>
            <a:off x="2822408" y="4989335"/>
            <a:ext cx="784392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258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D2326D-FF6E-B078-B91F-BBFF04544F4F}"/>
              </a:ext>
            </a:extLst>
          </p:cNvPr>
          <p:cNvSpPr txBox="1"/>
          <p:nvPr/>
        </p:nvSpPr>
        <p:spPr>
          <a:xfrm>
            <a:off x="2563328" y="5736095"/>
            <a:ext cx="27122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30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573C8D-9188-A0D6-7F55-D561EFB79443}"/>
              </a:ext>
            </a:extLst>
          </p:cNvPr>
          <p:cNvSpPr txBox="1"/>
          <p:nvPr/>
        </p:nvSpPr>
        <p:spPr>
          <a:xfrm>
            <a:off x="5824772" y="5736095"/>
            <a:ext cx="27122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34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3E35AF-B4FE-F3DE-6A45-953CE572D656}"/>
              </a:ext>
            </a:extLst>
          </p:cNvPr>
          <p:cNvSpPr txBox="1"/>
          <p:nvPr/>
        </p:nvSpPr>
        <p:spPr>
          <a:xfrm>
            <a:off x="8667032" y="5736095"/>
            <a:ext cx="27122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26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4AC104-D83B-04A4-6750-B31D6334EE45}"/>
              </a:ext>
            </a:extLst>
          </p:cNvPr>
          <p:cNvSpPr txBox="1"/>
          <p:nvPr/>
        </p:nvSpPr>
        <p:spPr>
          <a:xfrm>
            <a:off x="8964128" y="5400815"/>
            <a:ext cx="27122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60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8" name="자유형: 도형 67">
            <a:extLst>
              <a:ext uri="{FF2B5EF4-FFF2-40B4-BE49-F238E27FC236}">
                <a16:creationId xmlns:a16="http://schemas.microsoft.com/office/drawing/2014/main" id="{E7AA00BE-33B6-5E31-AF4D-873E12CA2225}"/>
              </a:ext>
            </a:extLst>
          </p:cNvPr>
          <p:cNvSpPr/>
          <p:nvPr/>
        </p:nvSpPr>
        <p:spPr>
          <a:xfrm>
            <a:off x="2946400" y="4685846"/>
            <a:ext cx="6183086" cy="1277258"/>
          </a:xfrm>
          <a:custGeom>
            <a:avLst/>
            <a:gdLst>
              <a:gd name="csX0" fmla="*/ 0 w 6183086"/>
              <a:gd name="csY0" fmla="*/ 1277258 h 1277258"/>
              <a:gd name="csX1" fmla="*/ 87086 w 6183086"/>
              <a:gd name="csY1" fmla="*/ 1262743 h 1277258"/>
              <a:gd name="csX2" fmla="*/ 377371 w 6183086"/>
              <a:gd name="csY2" fmla="*/ 1204686 h 1277258"/>
              <a:gd name="csX3" fmla="*/ 1451429 w 6183086"/>
              <a:gd name="csY3" fmla="*/ 1074058 h 1277258"/>
              <a:gd name="csX4" fmla="*/ 2075543 w 6183086"/>
              <a:gd name="csY4" fmla="*/ 1030515 h 1277258"/>
              <a:gd name="csX5" fmla="*/ 2815771 w 6183086"/>
              <a:gd name="csY5" fmla="*/ 986972 h 1277258"/>
              <a:gd name="csX6" fmla="*/ 3381829 w 6183086"/>
              <a:gd name="csY6" fmla="*/ 943429 h 1277258"/>
              <a:gd name="csX7" fmla="*/ 4528457 w 6183086"/>
              <a:gd name="csY7" fmla="*/ 827315 h 1277258"/>
              <a:gd name="csX8" fmla="*/ 4963886 w 6183086"/>
              <a:gd name="csY8" fmla="*/ 754743 h 1277258"/>
              <a:gd name="csX9" fmla="*/ 5515429 w 6183086"/>
              <a:gd name="csY9" fmla="*/ 580572 h 1277258"/>
              <a:gd name="csX10" fmla="*/ 5791200 w 6183086"/>
              <a:gd name="csY10" fmla="*/ 362858 h 1277258"/>
              <a:gd name="csX11" fmla="*/ 5863771 w 6183086"/>
              <a:gd name="csY11" fmla="*/ 261258 h 1277258"/>
              <a:gd name="csX12" fmla="*/ 6008914 w 6183086"/>
              <a:gd name="csY12" fmla="*/ 101600 h 1277258"/>
              <a:gd name="csX13" fmla="*/ 6110514 w 6183086"/>
              <a:gd name="csY13" fmla="*/ 43543 h 1277258"/>
              <a:gd name="csX14" fmla="*/ 6183086 w 6183086"/>
              <a:gd name="csY14" fmla="*/ 0 h 12772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183086" h="1277258">
                <a:moveTo>
                  <a:pt x="0" y="1277258"/>
                </a:moveTo>
                <a:cubicBezTo>
                  <a:pt x="29029" y="1272420"/>
                  <a:pt x="58186" y="1268301"/>
                  <a:pt x="87086" y="1262743"/>
                </a:cubicBezTo>
                <a:cubicBezTo>
                  <a:pt x="183988" y="1244108"/>
                  <a:pt x="279623" y="1218204"/>
                  <a:pt x="377371" y="1204686"/>
                </a:cubicBezTo>
                <a:cubicBezTo>
                  <a:pt x="734628" y="1155278"/>
                  <a:pt x="1091646" y="1099159"/>
                  <a:pt x="1451429" y="1074058"/>
                </a:cubicBezTo>
                <a:lnTo>
                  <a:pt x="2075543" y="1030515"/>
                </a:lnTo>
                <a:lnTo>
                  <a:pt x="2815771" y="986972"/>
                </a:lnTo>
                <a:cubicBezTo>
                  <a:pt x="3004595" y="974384"/>
                  <a:pt x="3193067" y="956912"/>
                  <a:pt x="3381829" y="943429"/>
                </a:cubicBezTo>
                <a:cubicBezTo>
                  <a:pt x="4008123" y="898693"/>
                  <a:pt x="3771708" y="934036"/>
                  <a:pt x="4528457" y="827315"/>
                </a:cubicBezTo>
                <a:cubicBezTo>
                  <a:pt x="4674160" y="806767"/>
                  <a:pt x="4819490" y="783056"/>
                  <a:pt x="4963886" y="754743"/>
                </a:cubicBezTo>
                <a:cubicBezTo>
                  <a:pt x="5184081" y="711567"/>
                  <a:pt x="5317860" y="679357"/>
                  <a:pt x="5515429" y="580572"/>
                </a:cubicBezTo>
                <a:cubicBezTo>
                  <a:pt x="5602343" y="537115"/>
                  <a:pt x="5728890" y="429322"/>
                  <a:pt x="5791200" y="362858"/>
                </a:cubicBezTo>
                <a:cubicBezTo>
                  <a:pt x="5819665" y="332496"/>
                  <a:pt x="5838800" y="294553"/>
                  <a:pt x="5863771" y="261258"/>
                </a:cubicBezTo>
                <a:cubicBezTo>
                  <a:pt x="5901460" y="211006"/>
                  <a:pt x="5960900" y="138534"/>
                  <a:pt x="6008914" y="101600"/>
                </a:cubicBezTo>
                <a:cubicBezTo>
                  <a:pt x="6039831" y="77818"/>
                  <a:pt x="6076271" y="62221"/>
                  <a:pt x="6110514" y="43543"/>
                </a:cubicBezTo>
                <a:cubicBezTo>
                  <a:pt x="6181109" y="5037"/>
                  <a:pt x="6151242" y="31844"/>
                  <a:pt x="6183086" y="0"/>
                </a:cubicBezTo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자유형: 도형 73">
            <a:extLst>
              <a:ext uri="{FF2B5EF4-FFF2-40B4-BE49-F238E27FC236}">
                <a16:creationId xmlns:a16="http://schemas.microsoft.com/office/drawing/2014/main" id="{852986B2-9227-8D93-6BFC-A65D6B20A799}"/>
              </a:ext>
            </a:extLst>
          </p:cNvPr>
          <p:cNvSpPr/>
          <p:nvPr/>
        </p:nvSpPr>
        <p:spPr>
          <a:xfrm>
            <a:off x="3048000" y="4733925"/>
            <a:ext cx="6086475" cy="1190625"/>
          </a:xfrm>
          <a:custGeom>
            <a:avLst/>
            <a:gdLst>
              <a:gd name="csX0" fmla="*/ 0 w 5514975"/>
              <a:gd name="csY0" fmla="*/ 1381125 h 1381125"/>
              <a:gd name="csX1" fmla="*/ 419100 w 5514975"/>
              <a:gd name="csY1" fmla="*/ 1200150 h 1381125"/>
              <a:gd name="csX2" fmla="*/ 1657350 w 5514975"/>
              <a:gd name="csY2" fmla="*/ 876300 h 1381125"/>
              <a:gd name="csX3" fmla="*/ 2981325 w 5514975"/>
              <a:gd name="csY3" fmla="*/ 638175 h 1381125"/>
              <a:gd name="csX4" fmla="*/ 3552825 w 5514975"/>
              <a:gd name="csY4" fmla="*/ 514350 h 1381125"/>
              <a:gd name="csX5" fmla="*/ 4895850 w 5514975"/>
              <a:gd name="csY5" fmla="*/ 228600 h 1381125"/>
              <a:gd name="csX6" fmla="*/ 5143500 w 5514975"/>
              <a:gd name="csY6" fmla="*/ 133350 h 1381125"/>
              <a:gd name="csX7" fmla="*/ 5343525 w 5514975"/>
              <a:gd name="csY7" fmla="*/ 47625 h 1381125"/>
              <a:gd name="csX8" fmla="*/ 5514975 w 5514975"/>
              <a:gd name="csY8" fmla="*/ 0 h 1381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514975" h="1381125">
                <a:moveTo>
                  <a:pt x="0" y="1381125"/>
                </a:moveTo>
                <a:cubicBezTo>
                  <a:pt x="149085" y="1291674"/>
                  <a:pt x="126703" y="1301853"/>
                  <a:pt x="419100" y="1200150"/>
                </a:cubicBezTo>
                <a:cubicBezTo>
                  <a:pt x="786440" y="1072379"/>
                  <a:pt x="1292441" y="948944"/>
                  <a:pt x="1657350" y="876300"/>
                </a:cubicBezTo>
                <a:cubicBezTo>
                  <a:pt x="2097127" y="788752"/>
                  <a:pt x="2543087" y="733127"/>
                  <a:pt x="2981325" y="638175"/>
                </a:cubicBezTo>
                <a:cubicBezTo>
                  <a:pt x="3171825" y="596900"/>
                  <a:pt x="3361565" y="551948"/>
                  <a:pt x="3552825" y="514350"/>
                </a:cubicBezTo>
                <a:cubicBezTo>
                  <a:pt x="3946005" y="437058"/>
                  <a:pt x="4543351" y="364176"/>
                  <a:pt x="4895850" y="228600"/>
                </a:cubicBezTo>
                <a:lnTo>
                  <a:pt x="5143500" y="133350"/>
                </a:lnTo>
                <a:cubicBezTo>
                  <a:pt x="5210753" y="106163"/>
                  <a:pt x="5272155" y="60601"/>
                  <a:pt x="5343525" y="47625"/>
                </a:cubicBezTo>
                <a:cubicBezTo>
                  <a:pt x="5472090" y="24250"/>
                  <a:pt x="5415673" y="42558"/>
                  <a:pt x="55149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F166959A-DF78-1E34-909B-69B96C0CAC7F}"/>
              </a:ext>
            </a:extLst>
          </p:cNvPr>
          <p:cNvCxnSpPr/>
          <p:nvPr/>
        </p:nvCxnSpPr>
        <p:spPr>
          <a:xfrm>
            <a:off x="5654040" y="4541520"/>
            <a:ext cx="220980" cy="0"/>
          </a:xfrm>
          <a:prstGeom prst="line">
            <a:avLst/>
          </a:prstGeom>
          <a:ln w="222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B3A46D6C-D969-502F-906E-42C43FDA7F99}"/>
              </a:ext>
            </a:extLst>
          </p:cNvPr>
          <p:cNvCxnSpPr/>
          <p:nvPr/>
        </p:nvCxnSpPr>
        <p:spPr>
          <a:xfrm>
            <a:off x="5654040" y="4709160"/>
            <a:ext cx="220980" cy="0"/>
          </a:xfrm>
          <a:prstGeom prst="line">
            <a:avLst/>
          </a:prstGeom>
          <a:ln w="22225">
            <a:solidFill>
              <a:srgbClr val="172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13D2928-2D28-AE97-D229-C4A079AA0BFC}"/>
              </a:ext>
            </a:extLst>
          </p:cNvPr>
          <p:cNvSpPr txBox="1"/>
          <p:nvPr/>
        </p:nvSpPr>
        <p:spPr>
          <a:xfrm>
            <a:off x="5873790" y="4632309"/>
            <a:ext cx="11442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페이퍼로지 7 Bold" pitchFamily="2" charset="-127"/>
                <a:ea typeface="페이퍼로지 7 Bold" pitchFamily="2" charset="-127"/>
              </a:rPr>
              <a:t>집행 매출원가 </a:t>
            </a:r>
            <a:r>
              <a:rPr lang="en-US" altLang="ko-KR" sz="600" dirty="0">
                <a:latin typeface="페이퍼로지 7 Bold" pitchFamily="2" charset="-127"/>
                <a:ea typeface="페이퍼로지 7 Bold" pitchFamily="2" charset="-127"/>
              </a:rPr>
              <a:t>(WIP) </a:t>
            </a:r>
            <a:r>
              <a:rPr lang="ko-KR" altLang="en-US" sz="600" dirty="0">
                <a:latin typeface="페이퍼로지 7 Bold" pitchFamily="2" charset="-127"/>
                <a:ea typeface="페이퍼로지 7 Bold" pitchFamily="2" charset="-127"/>
              </a:rPr>
              <a:t>누계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215571-8013-C527-6076-2D11E462DC7A}"/>
              </a:ext>
            </a:extLst>
          </p:cNvPr>
          <p:cNvSpPr txBox="1"/>
          <p:nvPr/>
        </p:nvSpPr>
        <p:spPr>
          <a:xfrm>
            <a:off x="5873790" y="4441809"/>
            <a:ext cx="114423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latin typeface="페이퍼로지 7 Bold" pitchFamily="2" charset="-127"/>
                <a:ea typeface="페이퍼로지 7 Bold" pitchFamily="2" charset="-127"/>
              </a:rPr>
              <a:t>회계 매출원가</a:t>
            </a:r>
            <a:r>
              <a:rPr lang="en-US" altLang="ko-KR" sz="60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600" dirty="0">
                <a:latin typeface="페이퍼로지 7 Bold" pitchFamily="2" charset="-127"/>
                <a:ea typeface="페이퍼로지 7 Bold" pitchFamily="2" charset="-127"/>
              </a:rPr>
              <a:t>누계</a:t>
            </a:r>
          </a:p>
        </p:txBody>
      </p:sp>
    </p:spTree>
    <p:extLst>
      <p:ext uri="{BB962C8B-B14F-4D97-AF65-F5344CB8AC3E}">
        <p14:creationId xmlns:p14="http://schemas.microsoft.com/office/powerpoint/2010/main" val="2083801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6FFAC-F274-F859-095D-BB5F026A3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98F2AC5-AB3B-2258-B2BB-AB62A43EC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b="89855"/>
          <a:stretch>
            <a:fillRect/>
          </a:stretch>
        </p:blipFill>
        <p:spPr>
          <a:xfrm>
            <a:off x="1976284" y="1"/>
            <a:ext cx="8958416" cy="1562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6E60747-0470-0DC3-0DCC-E2488B62F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82928" b="55460"/>
          <a:stretch>
            <a:fillRect/>
          </a:stretch>
        </p:blipFill>
        <p:spPr>
          <a:xfrm>
            <a:off x="0" y="1"/>
            <a:ext cx="1866900" cy="685799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4680DE8-FDF7-0F44-F48A-C37D15243C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5" t="15880" r="9341" b="81702"/>
          <a:stretch>
            <a:fillRect/>
          </a:stretch>
        </p:blipFill>
        <p:spPr>
          <a:xfrm>
            <a:off x="10125528" y="3131457"/>
            <a:ext cx="709086" cy="29754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A5B85D-5B1C-32D1-7E73-FBFBE8FCC0D5}"/>
              </a:ext>
            </a:extLst>
          </p:cNvPr>
          <p:cNvSpPr/>
          <p:nvPr/>
        </p:nvSpPr>
        <p:spPr>
          <a:xfrm>
            <a:off x="10119808" y="203178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Sale &amp; Profit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F01D20-D8BD-50FE-2E26-B66418A3458F}"/>
              </a:ext>
            </a:extLst>
          </p:cNvPr>
          <p:cNvSpPr/>
          <p:nvPr/>
        </p:nvSpPr>
        <p:spPr>
          <a:xfrm>
            <a:off x="10112188" y="2724310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Outsourcing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6B9C6B-8E19-A4C2-BAB6-DF1C14D612D6}"/>
              </a:ext>
            </a:extLst>
          </p:cNvPr>
          <p:cNvSpPr/>
          <p:nvPr/>
        </p:nvSpPr>
        <p:spPr>
          <a:xfrm>
            <a:off x="10104568" y="2388720"/>
            <a:ext cx="753036" cy="295836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/>
                </a:solidFill>
              </a:rPr>
              <a:t>Budget Execution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8585A5A-1E05-5C9F-7E75-31CD22632E3A}"/>
              </a:ext>
            </a:extLst>
          </p:cNvPr>
          <p:cNvSpPr/>
          <p:nvPr/>
        </p:nvSpPr>
        <p:spPr>
          <a:xfrm>
            <a:off x="10127428" y="168491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overview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F52142-2AE2-CD4A-B9C9-08D5BC6E8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3" t="9786" r="36608" b="87340"/>
          <a:stretch>
            <a:fillRect/>
          </a:stretch>
        </p:blipFill>
        <p:spPr>
          <a:xfrm>
            <a:off x="5727511" y="1120878"/>
            <a:ext cx="4807974" cy="44245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4EB428F-40DD-F0AE-90B7-3C7EA7BFA5C2}"/>
              </a:ext>
            </a:extLst>
          </p:cNvPr>
          <p:cNvSpPr/>
          <p:nvPr/>
        </p:nvSpPr>
        <p:spPr>
          <a:xfrm>
            <a:off x="1940109" y="1667692"/>
            <a:ext cx="8013516" cy="6219008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1CDCE9-22D9-55F3-E6B0-DB598094764F}"/>
              </a:ext>
            </a:extLst>
          </p:cNvPr>
          <p:cNvSpPr/>
          <p:nvPr/>
        </p:nvSpPr>
        <p:spPr>
          <a:xfrm>
            <a:off x="2123626" y="1803606"/>
            <a:ext cx="7646477" cy="5898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45DD1-8F70-8393-34ED-53F604803501}"/>
              </a:ext>
            </a:extLst>
          </p:cNvPr>
          <p:cNvSpPr txBox="1"/>
          <p:nvPr/>
        </p:nvSpPr>
        <p:spPr>
          <a:xfrm>
            <a:off x="2182886" y="1848034"/>
            <a:ext cx="3277695" cy="463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rPr>
              <a:t>Budget </a:t>
            </a:r>
            <a:r>
              <a:rPr lang="ko-KR" altLang="ko-KR" sz="600" dirty="0" err="1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rPr>
              <a:t>Execution</a:t>
            </a:r>
            <a:r>
              <a:rPr lang="ko-KR" altLang="ko-KR" sz="600" dirty="0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ko-KR" sz="600" dirty="0" err="1">
                <a:solidFill>
                  <a:srgbClr val="2966A3"/>
                </a:solidFill>
                <a:latin typeface="페이퍼로지 7 Bold" pitchFamily="2" charset="-127"/>
                <a:ea typeface="페이퍼로지 7 Bold" pitchFamily="2" charset="-127"/>
              </a:rPr>
              <a:t>Status</a:t>
            </a:r>
            <a:endParaRPr lang="ko-KR" altLang="ko-KR" sz="600" dirty="0">
              <a:solidFill>
                <a:srgbClr val="2966A3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B1BA7E-A838-235D-CFD6-28E74392D68A}"/>
              </a:ext>
            </a:extLst>
          </p:cNvPr>
          <p:cNvSpPr/>
          <p:nvPr/>
        </p:nvSpPr>
        <p:spPr>
          <a:xfrm>
            <a:off x="3340101" y="3133724"/>
            <a:ext cx="2219323" cy="449917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748B2A4-0304-84BC-4820-EA60721DC9ED}"/>
              </a:ext>
            </a:extLst>
          </p:cNvPr>
          <p:cNvSpPr/>
          <p:nvPr/>
        </p:nvSpPr>
        <p:spPr>
          <a:xfrm>
            <a:off x="3349623" y="5408587"/>
            <a:ext cx="1289051" cy="394226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8B957-4D31-D330-22D3-2A64C90C20CB}"/>
              </a:ext>
            </a:extLst>
          </p:cNvPr>
          <p:cNvSpPr txBox="1"/>
          <p:nvPr/>
        </p:nvSpPr>
        <p:spPr>
          <a:xfrm>
            <a:off x="2418393" y="5519883"/>
            <a:ext cx="1727898" cy="4633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latin typeface="페이퍼로지 5 Medium" pitchFamily="2" charset="-127"/>
                <a:ea typeface="페이퍼로지 5 Medium" pitchFamily="2" charset="-127"/>
              </a:rPr>
              <a:t>Contingency</a:t>
            </a:r>
            <a:endParaRPr lang="ko-KR" altLang="en-US" sz="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177381F-F536-8339-3737-E074ED99CED5}"/>
              </a:ext>
            </a:extLst>
          </p:cNvPr>
          <p:cNvSpPr/>
          <p:nvPr/>
        </p:nvSpPr>
        <p:spPr>
          <a:xfrm rot="5400000">
            <a:off x="3682141" y="2817852"/>
            <a:ext cx="431691" cy="1094025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804E8A-DFA6-ED6B-E34F-F9258B2B5383}"/>
              </a:ext>
            </a:extLst>
          </p:cNvPr>
          <p:cNvSpPr txBox="1"/>
          <p:nvPr/>
        </p:nvSpPr>
        <p:spPr>
          <a:xfrm>
            <a:off x="5517983" y="3370085"/>
            <a:ext cx="784392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258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E2D07B-903A-D170-CBFA-9B30DD74A1EA}"/>
              </a:ext>
            </a:extLst>
          </p:cNvPr>
          <p:cNvSpPr txBox="1"/>
          <p:nvPr/>
        </p:nvSpPr>
        <p:spPr>
          <a:xfrm>
            <a:off x="4670441" y="5512648"/>
            <a:ext cx="676446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60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A726F9-9195-0A7C-9D49-A5370C8A889E}"/>
              </a:ext>
            </a:extLst>
          </p:cNvPr>
          <p:cNvSpPr txBox="1"/>
          <p:nvPr/>
        </p:nvSpPr>
        <p:spPr>
          <a:xfrm>
            <a:off x="3710559" y="3314566"/>
            <a:ext cx="676446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99</a:t>
            </a:r>
            <a:endParaRPr lang="ko-KR" altLang="en-US" sz="5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5F6AEE-1691-1736-EE0B-639D08B328AB}"/>
              </a:ext>
            </a:extLst>
          </p:cNvPr>
          <p:cNvSpPr txBox="1"/>
          <p:nvPr/>
        </p:nvSpPr>
        <p:spPr>
          <a:xfrm>
            <a:off x="4433787" y="3301631"/>
            <a:ext cx="976292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45.3%</a:t>
            </a:r>
            <a:endParaRPr lang="ko-KR" altLang="en-US" sz="500" dirty="0">
              <a:solidFill>
                <a:srgbClr val="0070C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A6C7A8-6AD6-F843-3BD5-91A7CD8150D7}"/>
              </a:ext>
            </a:extLst>
          </p:cNvPr>
          <p:cNvSpPr txBox="1"/>
          <p:nvPr/>
        </p:nvSpPr>
        <p:spPr>
          <a:xfrm>
            <a:off x="2293745" y="2317281"/>
            <a:ext cx="744730" cy="18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페이퍼로지 5 Medium" pitchFamily="2" charset="-127"/>
                <a:ea typeface="페이퍼로지 5 Medium" pitchFamily="2" charset="-127"/>
              </a:rPr>
              <a:t>Direct Cost</a:t>
            </a:r>
            <a:endParaRPr lang="ko-KR" altLang="en-US" sz="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DB1F9B-3E56-BA1A-D31E-34726E0CE4D7}"/>
              </a:ext>
            </a:extLst>
          </p:cNvPr>
          <p:cNvSpPr txBox="1"/>
          <p:nvPr/>
        </p:nvSpPr>
        <p:spPr>
          <a:xfrm>
            <a:off x="2293745" y="3221337"/>
            <a:ext cx="744730" cy="18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latin typeface="페이퍼로지 5 Medium" pitchFamily="2" charset="-127"/>
                <a:ea typeface="페이퍼로지 5 Medium" pitchFamily="2" charset="-127"/>
              </a:rPr>
              <a:t>Indirect Cost</a:t>
            </a:r>
            <a:endParaRPr lang="ko-KR" altLang="en-US" sz="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E6E6866-9262-DD77-85D9-621D3619C851}"/>
              </a:ext>
            </a:extLst>
          </p:cNvPr>
          <p:cNvSpPr/>
          <p:nvPr/>
        </p:nvSpPr>
        <p:spPr>
          <a:xfrm rot="5400000">
            <a:off x="4845034" y="604497"/>
            <a:ext cx="357948" cy="3395028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981541B-F4D2-4B24-B379-FF4D0498E772}"/>
              </a:ext>
            </a:extLst>
          </p:cNvPr>
          <p:cNvSpPr/>
          <p:nvPr/>
        </p:nvSpPr>
        <p:spPr>
          <a:xfrm>
            <a:off x="3332097" y="2133265"/>
            <a:ext cx="1151194" cy="350221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7BCAEC-E0A4-D0E4-DF0B-B0B18149C351}"/>
              </a:ext>
            </a:extLst>
          </p:cNvPr>
          <p:cNvSpPr txBox="1"/>
          <p:nvPr/>
        </p:nvSpPr>
        <p:spPr>
          <a:xfrm>
            <a:off x="6728352" y="2197659"/>
            <a:ext cx="3738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1,239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3E5F3F-44D4-C7C7-00C2-52F139FD5C23}"/>
              </a:ext>
            </a:extLst>
          </p:cNvPr>
          <p:cNvSpPr txBox="1"/>
          <p:nvPr/>
        </p:nvSpPr>
        <p:spPr>
          <a:xfrm>
            <a:off x="3779156" y="2194895"/>
            <a:ext cx="27122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99</a:t>
            </a:r>
            <a:endParaRPr lang="ko-KR" altLang="en-US" sz="5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16AEE0-23E7-AE46-EE4D-CD138EDBA9E8}"/>
              </a:ext>
            </a:extLst>
          </p:cNvPr>
          <p:cNvSpPr txBox="1"/>
          <p:nvPr/>
        </p:nvSpPr>
        <p:spPr>
          <a:xfrm>
            <a:off x="2418393" y="6342394"/>
            <a:ext cx="369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latin typeface="페이퍼로지 5 Medium" pitchFamily="2" charset="-127"/>
                <a:ea typeface="페이퍼로지 5 Medium" pitchFamily="2" charset="-127"/>
              </a:rPr>
              <a:t>Sum</a:t>
            </a:r>
            <a:endParaRPr lang="ko-KR" altLang="en-US" sz="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1AFA78E-2AB0-98CA-1337-D2B2481D802D}"/>
              </a:ext>
            </a:extLst>
          </p:cNvPr>
          <p:cNvSpPr/>
          <p:nvPr/>
        </p:nvSpPr>
        <p:spPr>
          <a:xfrm rot="5400000">
            <a:off x="5941378" y="3530094"/>
            <a:ext cx="336912" cy="5566680"/>
          </a:xfrm>
          <a:prstGeom prst="rect">
            <a:avLst/>
          </a:prstGeom>
          <a:solidFill>
            <a:srgbClr val="D3D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F126EE-8DCE-D874-42A4-B90EC6EBAABD}"/>
              </a:ext>
            </a:extLst>
          </p:cNvPr>
          <p:cNvSpPr txBox="1"/>
          <p:nvPr/>
        </p:nvSpPr>
        <p:spPr>
          <a:xfrm>
            <a:off x="8995777" y="6239771"/>
            <a:ext cx="37382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latin typeface="페이퍼로지 5 Medium" pitchFamily="2" charset="-127"/>
                <a:ea typeface="페이퍼로지 5 Medium" pitchFamily="2" charset="-127"/>
              </a:rPr>
              <a:t>3,980</a:t>
            </a:r>
            <a:endParaRPr lang="ko-KR" altLang="en-US" sz="5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BC064B4-F062-A437-90E3-7E85D79026BF}"/>
              </a:ext>
            </a:extLst>
          </p:cNvPr>
          <p:cNvSpPr/>
          <p:nvPr/>
        </p:nvSpPr>
        <p:spPr>
          <a:xfrm>
            <a:off x="3332096" y="6162675"/>
            <a:ext cx="4138679" cy="350221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DCD0A5-90DF-11A0-0A54-179DD4F1B0D2}"/>
              </a:ext>
            </a:extLst>
          </p:cNvPr>
          <p:cNvSpPr txBox="1"/>
          <p:nvPr/>
        </p:nvSpPr>
        <p:spPr>
          <a:xfrm>
            <a:off x="4229533" y="6263900"/>
            <a:ext cx="784392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977</a:t>
            </a:r>
            <a:endParaRPr lang="ko-KR" altLang="en-US" sz="500" dirty="0">
              <a:solidFill>
                <a:schemeClr val="bg1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F6D7B310-DB3E-94C5-DFC0-10B3777EB5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6" t="64111"/>
          <a:stretch>
            <a:fillRect/>
          </a:stretch>
        </p:blipFill>
        <p:spPr>
          <a:xfrm>
            <a:off x="1935807" y="8643169"/>
            <a:ext cx="7958435" cy="2905124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6FB7CEC-E02F-9AF2-15CA-68A7C6C9A2B5}"/>
              </a:ext>
            </a:extLst>
          </p:cNvPr>
          <p:cNvSpPr txBox="1"/>
          <p:nvPr/>
        </p:nvSpPr>
        <p:spPr>
          <a:xfrm>
            <a:off x="4463860" y="2237072"/>
            <a:ext cx="39145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30.3%</a:t>
            </a:r>
            <a:endParaRPr lang="ko-KR" altLang="en-US" sz="500" dirty="0">
              <a:solidFill>
                <a:srgbClr val="0070C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E81B27-C042-0F97-BC05-2C6E1DA4F2B1}"/>
              </a:ext>
            </a:extLst>
          </p:cNvPr>
          <p:cNvSpPr txBox="1"/>
          <p:nvPr/>
        </p:nvSpPr>
        <p:spPr>
          <a:xfrm>
            <a:off x="7495235" y="6242462"/>
            <a:ext cx="976292" cy="4247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rgbClr val="0070C0"/>
                </a:solidFill>
                <a:latin typeface="페이퍼로지 5 Medium" pitchFamily="2" charset="-127"/>
                <a:ea typeface="페이퍼로지 5 Medium" pitchFamily="2" charset="-127"/>
              </a:rPr>
              <a:t>45.3%</a:t>
            </a:r>
            <a:endParaRPr lang="ko-KR" altLang="en-US" sz="500" dirty="0">
              <a:solidFill>
                <a:srgbClr val="0070C0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5573440-A630-1C41-66C2-8607B86B4A21}"/>
              </a:ext>
            </a:extLst>
          </p:cNvPr>
          <p:cNvSpPr/>
          <p:nvPr/>
        </p:nvSpPr>
        <p:spPr>
          <a:xfrm>
            <a:off x="3465344" y="3791897"/>
            <a:ext cx="1324735" cy="242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16C25C-2216-2390-E849-804DECCA525D}"/>
              </a:ext>
            </a:extLst>
          </p:cNvPr>
          <p:cNvSpPr txBox="1"/>
          <p:nvPr/>
        </p:nvSpPr>
        <p:spPr>
          <a:xfrm>
            <a:off x="2703178" y="3855958"/>
            <a:ext cx="744730" cy="18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Salary</a:t>
            </a:r>
            <a:endParaRPr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69F943-68AC-D6C2-56E7-8A1B1F8E2184}"/>
              </a:ext>
            </a:extLst>
          </p:cNvPr>
          <p:cNvSpPr txBox="1"/>
          <p:nvPr/>
        </p:nvSpPr>
        <p:spPr>
          <a:xfrm>
            <a:off x="2703178" y="4231272"/>
            <a:ext cx="744730" cy="18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Walfare</a:t>
            </a:r>
            <a:endParaRPr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76EA50-28A4-A58A-259D-FFE4691885C5}"/>
              </a:ext>
            </a:extLst>
          </p:cNvPr>
          <p:cNvSpPr txBox="1"/>
          <p:nvPr/>
        </p:nvSpPr>
        <p:spPr>
          <a:xfrm>
            <a:off x="2703178" y="4586114"/>
            <a:ext cx="744730" cy="18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Service</a:t>
            </a:r>
            <a:endParaRPr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39982F-B32C-0A09-B075-B762C9D4AF2D}"/>
              </a:ext>
            </a:extLst>
          </p:cNvPr>
          <p:cNvSpPr txBox="1"/>
          <p:nvPr/>
        </p:nvSpPr>
        <p:spPr>
          <a:xfrm>
            <a:off x="2703178" y="5002371"/>
            <a:ext cx="744730" cy="184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Others</a:t>
            </a:r>
            <a:endParaRPr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F58F0EB-8014-2BC9-9124-1BAA265C3817}"/>
              </a:ext>
            </a:extLst>
          </p:cNvPr>
          <p:cNvSpPr/>
          <p:nvPr/>
        </p:nvSpPr>
        <p:spPr>
          <a:xfrm>
            <a:off x="3465344" y="4220522"/>
            <a:ext cx="754231" cy="242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986FD36-0571-9812-72BA-4A08B484CCFE}"/>
              </a:ext>
            </a:extLst>
          </p:cNvPr>
          <p:cNvSpPr/>
          <p:nvPr/>
        </p:nvSpPr>
        <p:spPr>
          <a:xfrm>
            <a:off x="3465344" y="4534847"/>
            <a:ext cx="1324735" cy="242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AEE5F98-3F78-71CD-7EA5-C2A349A1007F}"/>
              </a:ext>
            </a:extLst>
          </p:cNvPr>
          <p:cNvSpPr/>
          <p:nvPr/>
        </p:nvSpPr>
        <p:spPr>
          <a:xfrm>
            <a:off x="3465344" y="4963472"/>
            <a:ext cx="411331" cy="242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38E89F3-4CC4-1870-ABF3-BE9F9D3A8F85}"/>
              </a:ext>
            </a:extLst>
          </p:cNvPr>
          <p:cNvSpPr/>
          <p:nvPr/>
        </p:nvSpPr>
        <p:spPr>
          <a:xfrm rot="5400000">
            <a:off x="3888171" y="3392872"/>
            <a:ext cx="232356" cy="10591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420F34D-2756-95BD-20C4-A2ECAB7B2348}"/>
              </a:ext>
            </a:extLst>
          </p:cNvPr>
          <p:cNvSpPr/>
          <p:nvPr/>
        </p:nvSpPr>
        <p:spPr>
          <a:xfrm rot="5400000">
            <a:off x="3421446" y="4269173"/>
            <a:ext cx="232356" cy="1256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551E51AE-C54A-5C73-5D61-A5F870ABFE3F}"/>
              </a:ext>
            </a:extLst>
          </p:cNvPr>
          <p:cNvSpPr/>
          <p:nvPr/>
        </p:nvSpPr>
        <p:spPr>
          <a:xfrm rot="5400000">
            <a:off x="3731010" y="4283460"/>
            <a:ext cx="232356" cy="7447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D189A6-7CE2-A7B9-6035-DDB7DEBE0049}"/>
              </a:ext>
            </a:extLst>
          </p:cNvPr>
          <p:cNvSpPr txBox="1"/>
          <p:nvPr/>
        </p:nvSpPr>
        <p:spPr>
          <a:xfrm>
            <a:off x="4433787" y="3847542"/>
            <a:ext cx="39145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chemeClr val="accent2">
                    <a:lumMod val="7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80.8%</a:t>
            </a:r>
            <a:endParaRPr lang="ko-KR" altLang="en-US" sz="500" dirty="0">
              <a:solidFill>
                <a:schemeClr val="accent2">
                  <a:lumMod val="7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7E0696-AE72-1084-916B-BA6FE1F3633E}"/>
              </a:ext>
            </a:extLst>
          </p:cNvPr>
          <p:cNvSpPr txBox="1"/>
          <p:nvPr/>
        </p:nvSpPr>
        <p:spPr>
          <a:xfrm>
            <a:off x="3587626" y="4263798"/>
            <a:ext cx="39145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chemeClr val="accent2">
                    <a:lumMod val="7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12.1%</a:t>
            </a:r>
            <a:endParaRPr lang="ko-KR" altLang="en-US" sz="500" dirty="0">
              <a:solidFill>
                <a:schemeClr val="accent2">
                  <a:lumMod val="7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F9E118-519F-A6A9-024F-27D6BDE80C98}"/>
              </a:ext>
            </a:extLst>
          </p:cNvPr>
          <p:cNvSpPr txBox="1"/>
          <p:nvPr/>
        </p:nvSpPr>
        <p:spPr>
          <a:xfrm>
            <a:off x="4229071" y="4584521"/>
            <a:ext cx="39145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" dirty="0">
                <a:solidFill>
                  <a:schemeClr val="accent2">
                    <a:lumMod val="75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50.3%</a:t>
            </a:r>
            <a:endParaRPr lang="ko-KR" altLang="en-US" sz="500" dirty="0">
              <a:solidFill>
                <a:schemeClr val="accent2">
                  <a:lumMod val="75000"/>
                </a:schemeClr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476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0D8A-BBBC-2B95-B929-D7C93CA9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C61B80-2923-6255-63DF-4A1A4FBA1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45" t="23062" b="44716"/>
          <a:stretch>
            <a:fillRect/>
          </a:stretch>
        </p:blipFill>
        <p:spPr>
          <a:xfrm>
            <a:off x="10751820" y="5463540"/>
            <a:ext cx="2479520" cy="2209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EE837EB-13B8-305F-8362-E95779869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b="89855"/>
          <a:stretch>
            <a:fillRect/>
          </a:stretch>
        </p:blipFill>
        <p:spPr>
          <a:xfrm>
            <a:off x="1976284" y="1"/>
            <a:ext cx="8958416" cy="1562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39A398-D801-D1C1-5295-F2179A773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82928" b="55460"/>
          <a:stretch>
            <a:fillRect/>
          </a:stretch>
        </p:blipFill>
        <p:spPr>
          <a:xfrm>
            <a:off x="0" y="1"/>
            <a:ext cx="1866900" cy="68579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C446DBD-7048-8D93-D47A-7612D3116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5" t="15880" r="9341" b="81702"/>
          <a:stretch>
            <a:fillRect/>
          </a:stretch>
        </p:blipFill>
        <p:spPr>
          <a:xfrm>
            <a:off x="10125528" y="3131457"/>
            <a:ext cx="709086" cy="29754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B1ED6AD-9871-CE33-D042-3E52CCD28456}"/>
              </a:ext>
            </a:extLst>
          </p:cNvPr>
          <p:cNvSpPr/>
          <p:nvPr/>
        </p:nvSpPr>
        <p:spPr>
          <a:xfrm>
            <a:off x="10112188" y="170777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overview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E9D854-8E5F-D149-8F25-CBD6C8984854}"/>
              </a:ext>
            </a:extLst>
          </p:cNvPr>
          <p:cNvSpPr/>
          <p:nvPr/>
        </p:nvSpPr>
        <p:spPr>
          <a:xfrm>
            <a:off x="10112188" y="203178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Sale &amp; Cost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189BEE-106A-766F-DC05-74BF94A4DE2B}"/>
              </a:ext>
            </a:extLst>
          </p:cNvPr>
          <p:cNvSpPr/>
          <p:nvPr/>
        </p:nvSpPr>
        <p:spPr>
          <a:xfrm>
            <a:off x="10112188" y="2367963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Budget Execution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5EA236-0C73-24C5-3DAA-B43498BEFD9B}"/>
              </a:ext>
            </a:extLst>
          </p:cNvPr>
          <p:cNvSpPr/>
          <p:nvPr/>
        </p:nvSpPr>
        <p:spPr>
          <a:xfrm>
            <a:off x="10117903" y="2714785"/>
            <a:ext cx="753036" cy="295836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/>
                </a:solidFill>
              </a:rPr>
              <a:t>Outsourcing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CB07CE3-5AE2-500B-2433-C438D4F2D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3" t="9786" r="36608" b="87340"/>
          <a:stretch>
            <a:fillRect/>
          </a:stretch>
        </p:blipFill>
        <p:spPr>
          <a:xfrm>
            <a:off x="5727511" y="1120878"/>
            <a:ext cx="4807974" cy="442452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964BD28-4BFC-62AF-5062-4CD18D71E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67609"/>
              </p:ext>
            </p:extLst>
          </p:nvPr>
        </p:nvGraphicFramePr>
        <p:xfrm>
          <a:off x="2259010" y="1691215"/>
          <a:ext cx="7673980" cy="3753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3707">
                  <a:extLst>
                    <a:ext uri="{9D8B030D-6E8A-4147-A177-3AD203B41FA5}">
                      <a16:colId xmlns:a16="http://schemas.microsoft.com/office/drawing/2014/main" val="2259974001"/>
                    </a:ext>
                  </a:extLst>
                </a:gridCol>
                <a:gridCol w="385405">
                  <a:extLst>
                    <a:ext uri="{9D8B030D-6E8A-4147-A177-3AD203B41FA5}">
                      <a16:colId xmlns:a16="http://schemas.microsoft.com/office/drawing/2014/main" val="1957945764"/>
                    </a:ext>
                  </a:extLst>
                </a:gridCol>
                <a:gridCol w="385405">
                  <a:extLst>
                    <a:ext uri="{9D8B030D-6E8A-4147-A177-3AD203B41FA5}">
                      <a16:colId xmlns:a16="http://schemas.microsoft.com/office/drawing/2014/main" val="2083493241"/>
                    </a:ext>
                  </a:extLst>
                </a:gridCol>
                <a:gridCol w="752314">
                  <a:extLst>
                    <a:ext uri="{9D8B030D-6E8A-4147-A177-3AD203B41FA5}">
                      <a16:colId xmlns:a16="http://schemas.microsoft.com/office/drawing/2014/main" val="3189375350"/>
                    </a:ext>
                  </a:extLst>
                </a:gridCol>
                <a:gridCol w="518303">
                  <a:extLst>
                    <a:ext uri="{9D8B030D-6E8A-4147-A177-3AD203B41FA5}">
                      <a16:colId xmlns:a16="http://schemas.microsoft.com/office/drawing/2014/main" val="1784895899"/>
                    </a:ext>
                  </a:extLst>
                </a:gridCol>
                <a:gridCol w="581620">
                  <a:extLst>
                    <a:ext uri="{9D8B030D-6E8A-4147-A177-3AD203B41FA5}">
                      <a16:colId xmlns:a16="http://schemas.microsoft.com/office/drawing/2014/main" val="4147226102"/>
                    </a:ext>
                  </a:extLst>
                </a:gridCol>
                <a:gridCol w="974904">
                  <a:extLst>
                    <a:ext uri="{9D8B030D-6E8A-4147-A177-3AD203B41FA5}">
                      <a16:colId xmlns:a16="http://schemas.microsoft.com/office/drawing/2014/main" val="1129394749"/>
                    </a:ext>
                  </a:extLst>
                </a:gridCol>
                <a:gridCol w="584871">
                  <a:extLst>
                    <a:ext uri="{9D8B030D-6E8A-4147-A177-3AD203B41FA5}">
                      <a16:colId xmlns:a16="http://schemas.microsoft.com/office/drawing/2014/main" val="3651070500"/>
                    </a:ext>
                  </a:extLst>
                </a:gridCol>
                <a:gridCol w="1072444">
                  <a:extLst>
                    <a:ext uri="{9D8B030D-6E8A-4147-A177-3AD203B41FA5}">
                      <a16:colId xmlns:a16="http://schemas.microsoft.com/office/drawing/2014/main" val="3862003673"/>
                    </a:ext>
                  </a:extLst>
                </a:gridCol>
                <a:gridCol w="763167">
                  <a:extLst>
                    <a:ext uri="{9D8B030D-6E8A-4147-A177-3AD203B41FA5}">
                      <a16:colId xmlns:a16="http://schemas.microsoft.com/office/drawing/2014/main" val="4175912696"/>
                    </a:ext>
                  </a:extLst>
                </a:gridCol>
                <a:gridCol w="621840">
                  <a:extLst>
                    <a:ext uri="{9D8B030D-6E8A-4147-A177-3AD203B41FA5}">
                      <a16:colId xmlns:a16="http://schemas.microsoft.com/office/drawing/2014/main" val="726362918"/>
                    </a:ext>
                  </a:extLst>
                </a:gridCol>
              </a:tblGrid>
              <a:tr h="45905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공종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업체명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최초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계약일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변경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계약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차수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예산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(A)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결의금액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(B)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결의율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(A/B)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기성현황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18652"/>
                  </a:ext>
                </a:extLst>
              </a:tr>
              <a:tr h="49050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이번달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누계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(C)</a:t>
                      </a:r>
                      <a:endParaRPr lang="ko-KR" altLang="en-US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비율</a:t>
                      </a:r>
                      <a:endParaRPr lang="en-US" altLang="ko-KR" sz="1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(C/B)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168246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Environment Design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용역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886414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페이퍼로지 5 Medium" pitchFamily="2" charset="-127"/>
                          <a:ea typeface="페이퍼로지 5 Medium" pitchFamily="2" charset="-127"/>
                        </a:rPr>
                        <a:t>Landscpae</a:t>
                      </a: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 Design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용역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609503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Interior Design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용역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821502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BIM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외주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234832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QS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외주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6607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Structure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외주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52507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LEED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Sein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외주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‘24.12.31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000,000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페이퍼로지 5 Medium" pitchFamily="2" charset="-127"/>
                          <a:ea typeface="페이퍼로지 5 Medium" pitchFamily="2" charset="-127"/>
                          <a:cs typeface="+mn-cs"/>
                        </a:rPr>
                        <a:t>00.0%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페이퍼로지 5 Medium" pitchFamily="2" charset="-127"/>
                        <a:ea typeface="페이퍼로지 5 Medium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287466"/>
                  </a:ext>
                </a:extLst>
              </a:tr>
              <a:tr h="2641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합계</a:t>
                      </a: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000,0000,000,000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페이퍼로지 5 Medium" pitchFamily="2" charset="-127"/>
                          <a:ea typeface="페이퍼로지 5 Medium" pitchFamily="2" charset="-127"/>
                        </a:rPr>
                        <a:t>00.0%</a:t>
                      </a:r>
                      <a:endParaRPr lang="ko-KR" altLang="en-US" sz="800" dirty="0">
                        <a:latin typeface="페이퍼로지 5 Medium" pitchFamily="2" charset="-127"/>
                        <a:ea typeface="페이퍼로지 5 Medium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10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716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FBD1-3CA4-0E22-8740-CB172B72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1ED15AF-DB87-A8E2-B486-2522D7350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3" b="89855"/>
          <a:stretch>
            <a:fillRect/>
          </a:stretch>
        </p:blipFill>
        <p:spPr>
          <a:xfrm>
            <a:off x="1976284" y="1"/>
            <a:ext cx="8958416" cy="1562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3423BE-694D-F270-2500-03BA98374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" r="82928" b="55460"/>
          <a:stretch>
            <a:fillRect/>
          </a:stretch>
        </p:blipFill>
        <p:spPr>
          <a:xfrm>
            <a:off x="0" y="1"/>
            <a:ext cx="1866900" cy="68579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4ABF311-B0B7-07BB-C850-E23D2519F62C}"/>
              </a:ext>
            </a:extLst>
          </p:cNvPr>
          <p:cNvSpPr/>
          <p:nvPr/>
        </p:nvSpPr>
        <p:spPr>
          <a:xfrm>
            <a:off x="10180320" y="271630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Outsourcing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7A2067-FFAC-FB94-86B7-6ED8C36F30C9}"/>
              </a:ext>
            </a:extLst>
          </p:cNvPr>
          <p:cNvSpPr/>
          <p:nvPr/>
        </p:nvSpPr>
        <p:spPr>
          <a:xfrm>
            <a:off x="10190965" y="3052483"/>
            <a:ext cx="753036" cy="295836"/>
          </a:xfrm>
          <a:prstGeom prst="rect">
            <a:avLst/>
          </a:prstGeom>
          <a:solidFill>
            <a:srgbClr val="2966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/>
                </a:solidFill>
              </a:rPr>
              <a:t>Cashflow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5CD8BF59-C373-822B-D9B4-E24EE8AB1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6" t="13000" r="928" b="37223"/>
          <a:stretch>
            <a:fillRect/>
          </a:stretch>
        </p:blipFill>
        <p:spPr>
          <a:xfrm>
            <a:off x="1943099" y="1668780"/>
            <a:ext cx="8115846" cy="614172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675BA4F-B8A8-FBFD-6F43-F2C762861589}"/>
              </a:ext>
            </a:extLst>
          </p:cNvPr>
          <p:cNvSpPr/>
          <p:nvPr/>
        </p:nvSpPr>
        <p:spPr>
          <a:xfrm>
            <a:off x="2674620" y="1805940"/>
            <a:ext cx="1257300" cy="220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2C99DD-DB2D-A270-BDFB-CA55ED5DA514}"/>
              </a:ext>
            </a:extLst>
          </p:cNvPr>
          <p:cNvSpPr/>
          <p:nvPr/>
        </p:nvSpPr>
        <p:spPr>
          <a:xfrm>
            <a:off x="5684520" y="4053840"/>
            <a:ext cx="1303020" cy="220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B7302B9-DD4D-638E-F372-4ED66B129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3" t="9786" r="36608" b="87340"/>
          <a:stretch>
            <a:fillRect/>
          </a:stretch>
        </p:blipFill>
        <p:spPr>
          <a:xfrm>
            <a:off x="5727511" y="1120878"/>
            <a:ext cx="4807974" cy="44245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8D29DD-F01B-CB83-CA52-939E4E0BFBC8}"/>
              </a:ext>
            </a:extLst>
          </p:cNvPr>
          <p:cNvSpPr/>
          <p:nvPr/>
        </p:nvSpPr>
        <p:spPr>
          <a:xfrm>
            <a:off x="10186147" y="170777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overview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E42DA7-631E-13EC-52BE-CCEF5D24099A}"/>
              </a:ext>
            </a:extLst>
          </p:cNvPr>
          <p:cNvSpPr/>
          <p:nvPr/>
        </p:nvSpPr>
        <p:spPr>
          <a:xfrm>
            <a:off x="10186147" y="2031786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Sale &amp; Cost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93AF5C-1628-56BE-0F31-C2B9CC82A507}"/>
              </a:ext>
            </a:extLst>
          </p:cNvPr>
          <p:cNvSpPr/>
          <p:nvPr/>
        </p:nvSpPr>
        <p:spPr>
          <a:xfrm>
            <a:off x="10186147" y="2367963"/>
            <a:ext cx="753036" cy="295836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tx1"/>
                </a:solidFill>
              </a:rPr>
              <a:t>Budget Execution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85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236</TotalTime>
  <Words>322</Words>
  <Application>Microsoft Office PowerPoint</Application>
  <PresentationFormat>Widescreen</PresentationFormat>
  <Paragraphs>193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페이퍼로지 5 Medium</vt:lpstr>
      <vt:lpstr>페이퍼로지 7 Bold</vt:lpstr>
      <vt:lpstr>Arial</vt:lpstr>
      <vt:lpstr>Calibri</vt:lpstr>
      <vt:lpstr>Calibri Light</vt:lpstr>
      <vt:lpstr>Office 2013 - 2022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정민 이</dc:creator>
  <cp:lastModifiedBy>Lee Gyeung Ho</cp:lastModifiedBy>
  <cp:revision>9</cp:revision>
  <dcterms:created xsi:type="dcterms:W3CDTF">2026-07-04T01:01:06Z</dcterms:created>
  <dcterms:modified xsi:type="dcterms:W3CDTF">2026-07-27T07:27:49Z</dcterms:modified>
</cp:coreProperties>
</file>