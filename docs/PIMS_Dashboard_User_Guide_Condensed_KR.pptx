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95" r:id="rId9"/>
    <p:sldId id="261" r:id="rId10"/>
    <p:sldId id="262" r:id="rId11"/>
    <p:sldId id="265" r:id="rId12"/>
    <p:sldId id="266" r:id="rId13"/>
    <p:sldId id="267" r:id="rId14"/>
    <p:sldId id="299" r:id="rId15"/>
    <p:sldId id="268" r:id="rId16"/>
    <p:sldId id="269" r:id="rId17"/>
    <p:sldId id="270" r:id="rId18"/>
    <p:sldId id="271" r:id="rId19"/>
    <p:sldId id="273" r:id="rId20"/>
    <p:sldId id="275" r:id="rId21"/>
    <p:sldId id="276" r:id="rId22"/>
    <p:sldId id="277" r:id="rId23"/>
    <p:sldId id="296" r:id="rId24"/>
    <p:sldId id="297" r:id="rId25"/>
    <p:sldId id="278" r:id="rId26"/>
    <p:sldId id="29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432" y="-12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96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7729-5E9F-9A87-F206-E8DD2A51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D9E8D-6ACB-18BC-C529-BCF52592D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6534E-6D24-0953-8441-CD52AE49E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4BCE0-9774-3270-07C9-016B7261D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72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A1F4-2CB1-2030-7E5C-D37B1331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0B2F1-0116-34FC-3D87-D48323674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0C5F9-BC1F-F28E-AA29-8D006FD75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263C2-E659-1F2A-BF65-7EE76646FF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57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84968-04EA-6671-60EE-4057067F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E57CA-DE06-40E5-768E-F1C16E184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20821-28D7-E848-2A02-B617FCFF5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339F3-D4AD-1CF2-B1CF-20497AFBE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218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D9EBE-6712-4147-FC6A-36DE4EC5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C95AA-B8E4-9D7B-4E2F-E3BD7A46D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A209F-0123-1162-842B-26649FD24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6E0A1-9FBD-4D01-55AB-78E32D594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65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1A95-DBE4-C2FA-9DEC-E1950F688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355AD-191B-475C-8F8D-DFA66CBD9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BA3DE-BCDD-E093-6A20-85D58D76E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327C0-1440-9C94-3410-6FC08FDDB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422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50292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50292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50292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521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8521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8521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6751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6751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6751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840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804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2880360"/>
            <a:ext cx="8412480" cy="13258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88720" y="2971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 – 사용자 가이드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1887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96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열람자 및 데이터 관리자용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10월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0839" y="29260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소개 – PIMS Dashboard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8855" y="1593342"/>
            <a:ext cx="10332720" cy="3842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가이드는 PIMS 관리 대시보드 전체를 안내합니다 — 모든 방문자가 열람할 수 있는 공개 화면과 각 보고서에 데이터를 입력하는 데이터 입력 화면을 포함합니다.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 및 현장 실적을 모니터링하는 경영진과 이해관계자, 그리고 월별 진도율, 매출, 원가, 외주 및 자금 데이터를 관리하는 현장소장/데이터 관리자를 대상으로 합니다.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대시보드(전사 KPI) → 시공 프로젝트 대시보드 → 용역 프로젝트 대시보드 → 시공 현장 데이터 입력 → 용역 현장 데이터 입력.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 권한: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대시보드와 프로젝트 대시보드는 읽기 전용이며 로그인이 필요하지 않습니다. 데이터 입력 화면은 데이터 관리자 계정으로 로그인한 후, 좌측 현장 트리를 통해 현장별로 접근할 수 있습니다.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이동: </a:t>
            </a: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패널에서 현장(시공 / 용역 / TCC / DE HEIM)을 선택하십시오. 각 화면 상단의 환율(USD / KRW / VND)과 단위(USD / K USD)를 사용하여 표시 통화를 변경할 수 있습니다.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983486A-2F5D-9986-26C0-DE397249BD5E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7" name="Shape 1">
              <a:extLst>
                <a:ext uri="{FF2B5EF4-FFF2-40B4-BE49-F238E27FC236}">
                  <a16:creationId xmlns:a16="http://schemas.microsoft.com/office/drawing/2014/main" id="{0FDEFC72-DFB7-5FF7-C5A3-33109F268F04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FA5D9E53-DC91-F438-152E-C564A6C7AFB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710ED4EF-72A0-67EC-7F1B-48FEC57AC24B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B0BBE8C1-E797-2124-D751-06B8719538C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7A47A71E-7ED6-3F8E-4F98-73BA69682430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6">
              <a:extLst>
                <a:ext uri="{FF2B5EF4-FFF2-40B4-BE49-F238E27FC236}">
                  <a16:creationId xmlns:a16="http://schemas.microsoft.com/office/drawing/2014/main" id="{C329F704-E2F8-082E-F215-5E48FEF0D0DE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3AF2C597-4B63-D1C3-871A-CD98ABBF919A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8">
              <a:extLst>
                <a:ext uri="{FF2B5EF4-FFF2-40B4-BE49-F238E27FC236}">
                  <a16:creationId xmlns:a16="http://schemas.microsoft.com/office/drawing/2014/main" id="{B7648809-CEFA-E714-CAA7-7004AFF77649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9">
              <a:extLst>
                <a:ext uri="{FF2B5EF4-FFF2-40B4-BE49-F238E27FC236}">
                  <a16:creationId xmlns:a16="http://schemas.microsoft.com/office/drawing/2014/main" id="{AB380E78-43C4-7D96-2426-D30FB6E5DCBD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78EFB0C-C7FF-B3C7-3F5D-8307C6AAFFA0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9BAA19CE-6B75-B52F-069E-70CD1412F375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25">
              <a:extLst>
                <a:ext uri="{FF2B5EF4-FFF2-40B4-BE49-F238E27FC236}">
                  <a16:creationId xmlns:a16="http://schemas.microsoft.com/office/drawing/2014/main" id="{673714CA-280C-E824-35E9-9A1B29C01E1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6">
              <a:extLst>
                <a:ext uri="{FF2B5EF4-FFF2-40B4-BE49-F238E27FC236}">
                  <a16:creationId xmlns:a16="http://schemas.microsoft.com/office/drawing/2014/main" id="{D37373D6-DB30-39DB-E660-6FAD30AC012F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7">
              <a:extLst>
                <a:ext uri="{FF2B5EF4-FFF2-40B4-BE49-F238E27FC236}">
                  <a16:creationId xmlns:a16="http://schemas.microsoft.com/office/drawing/2014/main" id="{B09F2DFE-57B0-7C22-BC72-7A367E8B556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8">
              <a:extLst>
                <a:ext uri="{FF2B5EF4-FFF2-40B4-BE49-F238E27FC236}">
                  <a16:creationId xmlns:a16="http://schemas.microsoft.com/office/drawing/2014/main" id="{4448D449-9E7A-54E4-F40A-1B1F227A8421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9">
              <a:extLst>
                <a:ext uri="{FF2B5EF4-FFF2-40B4-BE49-F238E27FC236}">
                  <a16:creationId xmlns:a16="http://schemas.microsoft.com/office/drawing/2014/main" id="{966DB12F-542B-9A40-785C-2C2C58876C28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55DB26D6-A11C-0879-24E8-00B3C9E3AFB4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D4364774-6F96-3FF7-1AA9-B28575A0984A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24E584C9-8A05-EE8F-5AA1-CFAA126D506C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 33">
            <a:extLst>
              <a:ext uri="{FF2B5EF4-FFF2-40B4-BE49-F238E27FC236}">
                <a16:creationId xmlns:a16="http://schemas.microsoft.com/office/drawing/2014/main" id="{5471630A-7D2D-CA9E-8C39-3C318596EB36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열람자 - 메인 대시보드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18DED404-9B27-31C2-3E30-3F8F10F33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45" y="2053194"/>
            <a:ext cx="7304050" cy="33846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F758668-28C2-B874-3125-4569E49026DD}"/>
              </a:ext>
            </a:extLst>
          </p:cNvPr>
          <p:cNvGrpSpPr/>
          <p:nvPr/>
        </p:nvGrpSpPr>
        <p:grpSpPr>
          <a:xfrm>
            <a:off x="320040" y="491129"/>
            <a:ext cx="228600" cy="228600"/>
            <a:chOff x="457200" y="384048"/>
            <a:chExt cx="228600" cy="228600"/>
          </a:xfrm>
        </p:grpSpPr>
        <p:sp>
          <p:nvSpPr>
            <p:cNvPr id="3" name="Shape 1"/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/>
          <p:cNvSpPr/>
          <p:nvPr/>
        </p:nvSpPr>
        <p:spPr>
          <a:xfrm>
            <a:off x="745067" y="2915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필터 및 요약 KPI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Panel Header"/>
          <p:cNvSpPr/>
          <p:nvPr/>
        </p:nvSpPr>
        <p:spPr>
          <a:xfrm>
            <a:off x="7595807" y="2051075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61" name="Panel Body"/>
          <p:cNvSpPr/>
          <p:nvPr/>
        </p:nvSpPr>
        <p:spPr>
          <a:xfrm>
            <a:off x="7595807" y="2579595"/>
            <a:ext cx="4211840" cy="285821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anel Text"/>
          <p:cNvSpPr txBox="1"/>
          <p:nvPr/>
        </p:nvSpPr>
        <p:spPr>
          <a:xfrm>
            <a:off x="7795807" y="2729594"/>
            <a:ext cx="3811840" cy="2753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설정: 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/>
              <a:t>선택: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프로젝트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기간 / 기준월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조회 기준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(월),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환율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및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단위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(USD 또는 K USD) </a:t>
            </a:r>
            <a:r>
              <a:rPr lang="en-US" sz="1100" dirty="0"/>
              <a:t>을 선택하면 모든 카드와 차트가 새로고침됩니다.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endParaRPr lang="en-US" sz="1100" dirty="0"/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다운로드: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현재 대시보드를 내보냅니다.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/>
              <a:t>KPI 요약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연초누계 매출, 연초누계 영업이익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(1월 – 기준월 기준)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연간 매출 및 연간 영업이익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(1월 – 12월)</a:t>
            </a:r>
          </a:p>
          <a:p>
            <a:pPr marL="228600" indent="-228600">
              <a:lnSpc>
                <a:spcPct val="100000"/>
              </a:lnSpc>
              <a:buChar char="•"/>
            </a:pPr>
            <a:r>
              <a:rPr lang="en-US" sz="1050" dirty="0"/>
              <a:t>출처: 가져온 엑셀 데이터</a:t>
            </a:r>
          </a:p>
        </p:txBody>
      </p:sp>
      <p:sp>
        <p:nvSpPr>
          <p:cNvPr id="27" name="Shape 24"/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67933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01994EA-C65F-83B5-5767-69EE6C16614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45" name="Shape 1">
              <a:extLst>
                <a:ext uri="{FF2B5EF4-FFF2-40B4-BE49-F238E27FC236}">
                  <a16:creationId xmlns:a16="http://schemas.microsoft.com/office/drawing/2014/main" id="{27A47108-86D0-AD6E-9EC3-B612DA9DD484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01472BD7-DA03-9AF7-0513-9A363EA62754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8DBCFAE3-627F-8A50-B312-580D73C7C90C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">
              <a:extLst>
                <a:ext uri="{FF2B5EF4-FFF2-40B4-BE49-F238E27FC236}">
                  <a16:creationId xmlns:a16="http://schemas.microsoft.com/office/drawing/2014/main" id="{63274FB6-980F-A207-2C0A-087CAE6DFA4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B79BBE8A-A478-06D1-7571-D44BF24F9943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6">
              <a:extLst>
                <a:ext uri="{FF2B5EF4-FFF2-40B4-BE49-F238E27FC236}">
                  <a16:creationId xmlns:a16="http://schemas.microsoft.com/office/drawing/2014/main" id="{F4330B29-93DC-D34D-E2CA-07F0401309F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A64FE5CE-4E85-EF47-316C-A43B576B474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803DEDA2-DB3E-10A1-60E4-4D73CAC32FCB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30346C5E-286A-2E05-C6F8-4455173E101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B7DDE4F-48F0-7EF8-A276-DE6989FAFF6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3" name="Shape 24">
              <a:extLst>
                <a:ext uri="{FF2B5EF4-FFF2-40B4-BE49-F238E27FC236}">
                  <a16:creationId xmlns:a16="http://schemas.microsoft.com/office/drawing/2014/main" id="{C56B2379-7FA6-F746-CED8-F766837E05F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25">
              <a:extLst>
                <a:ext uri="{FF2B5EF4-FFF2-40B4-BE49-F238E27FC236}">
                  <a16:creationId xmlns:a16="http://schemas.microsoft.com/office/drawing/2014/main" id="{E44F0776-CB03-3236-4F05-0C79654BA7DC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26">
              <a:extLst>
                <a:ext uri="{FF2B5EF4-FFF2-40B4-BE49-F238E27FC236}">
                  <a16:creationId xmlns:a16="http://schemas.microsoft.com/office/drawing/2014/main" id="{15688C11-7213-01E4-8C1B-849FE021EAD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27">
              <a:extLst>
                <a:ext uri="{FF2B5EF4-FFF2-40B4-BE49-F238E27FC236}">
                  <a16:creationId xmlns:a16="http://schemas.microsoft.com/office/drawing/2014/main" id="{F39999C6-144A-E368-D017-23E5CC2EB162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28">
              <a:extLst>
                <a:ext uri="{FF2B5EF4-FFF2-40B4-BE49-F238E27FC236}">
                  <a16:creationId xmlns:a16="http://schemas.microsoft.com/office/drawing/2014/main" id="{84CE9728-D668-8A7A-9ADA-88D0676EA65F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0ADE43DD-8E2C-2C46-9038-3CC0D6DEAD25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30">
              <a:extLst>
                <a:ext uri="{FF2B5EF4-FFF2-40B4-BE49-F238E27FC236}">
                  <a16:creationId xmlns:a16="http://schemas.microsoft.com/office/drawing/2014/main" id="{15DEC9C3-F91F-B118-8A2B-B9A7062AEF4C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31">
              <a:extLst>
                <a:ext uri="{FF2B5EF4-FFF2-40B4-BE49-F238E27FC236}">
                  <a16:creationId xmlns:a16="http://schemas.microsoft.com/office/drawing/2014/main" id="{6C1D6485-C15C-CC19-D08B-FD939F7829CC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32">
              <a:extLst>
                <a:ext uri="{FF2B5EF4-FFF2-40B4-BE49-F238E27FC236}">
                  <a16:creationId xmlns:a16="http://schemas.microsoft.com/office/drawing/2014/main" id="{061F1B2D-80E5-072C-4039-D1F922B617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Text 33">
            <a:extLst>
              <a:ext uri="{FF2B5EF4-FFF2-40B4-BE49-F238E27FC236}">
                <a16:creationId xmlns:a16="http://schemas.microsoft.com/office/drawing/2014/main" id="{2D1DDA1E-69F5-556C-226E-0D4C29206AF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76" name="Box 1">
            <a:extLst>
              <a:ext uri="{FF2B5EF4-FFF2-40B4-BE49-F238E27FC236}">
                <a16:creationId xmlns:a16="http://schemas.microsoft.com/office/drawing/2014/main" id="{5E75BBF0-F8B4-AE7B-1186-9E88BFA5D871}"/>
              </a:ext>
            </a:extLst>
          </p:cNvPr>
          <p:cNvSpPr/>
          <p:nvPr/>
        </p:nvSpPr>
        <p:spPr>
          <a:xfrm>
            <a:off x="1202411" y="2748896"/>
            <a:ext cx="5517477" cy="189613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Box 2">
            <a:extLst>
              <a:ext uri="{FF2B5EF4-FFF2-40B4-BE49-F238E27FC236}">
                <a16:creationId xmlns:a16="http://schemas.microsoft.com/office/drawing/2014/main" id="{A8899268-E2FB-56E7-4776-F2478FF44AAE}"/>
              </a:ext>
            </a:extLst>
          </p:cNvPr>
          <p:cNvSpPr/>
          <p:nvPr/>
        </p:nvSpPr>
        <p:spPr>
          <a:xfrm>
            <a:off x="6754581" y="2758523"/>
            <a:ext cx="495404" cy="179987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Box 5">
            <a:extLst>
              <a:ext uri="{FF2B5EF4-FFF2-40B4-BE49-F238E27FC236}">
                <a16:creationId xmlns:a16="http://schemas.microsoft.com/office/drawing/2014/main" id="{89A57D4E-E7B6-77A6-8A7D-481934A64BCC}"/>
              </a:ext>
            </a:extLst>
          </p:cNvPr>
          <p:cNvSpPr/>
          <p:nvPr/>
        </p:nvSpPr>
        <p:spPr>
          <a:xfrm>
            <a:off x="1139930" y="3028852"/>
            <a:ext cx="6194320" cy="567348"/>
          </a:xfrm>
          <a:prstGeom prst="roundRect">
            <a:avLst>
              <a:gd name="adj" fmla="val 8333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Callout 1">
            <a:extLst>
              <a:ext uri="{FF2B5EF4-FFF2-40B4-BE49-F238E27FC236}">
                <a16:creationId xmlns:a16="http://schemas.microsoft.com/office/drawing/2014/main" id="{57B7C8FC-D5DB-5085-04F5-F47392C42D5B}"/>
              </a:ext>
            </a:extLst>
          </p:cNvPr>
          <p:cNvSpPr/>
          <p:nvPr/>
        </p:nvSpPr>
        <p:spPr>
          <a:xfrm>
            <a:off x="1005225" y="2579595"/>
            <a:ext cx="235645" cy="25868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84" name="Callout 2">
            <a:extLst>
              <a:ext uri="{FF2B5EF4-FFF2-40B4-BE49-F238E27FC236}">
                <a16:creationId xmlns:a16="http://schemas.microsoft.com/office/drawing/2014/main" id="{EC8A9EAF-67BB-6CA7-E2F6-1E998A268035}"/>
              </a:ext>
            </a:extLst>
          </p:cNvPr>
          <p:cNvSpPr/>
          <p:nvPr/>
        </p:nvSpPr>
        <p:spPr>
          <a:xfrm>
            <a:off x="7175519" y="2567952"/>
            <a:ext cx="235645" cy="25868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86" name="Callout 3">
            <a:extLst>
              <a:ext uri="{FF2B5EF4-FFF2-40B4-BE49-F238E27FC236}">
                <a16:creationId xmlns:a16="http://schemas.microsoft.com/office/drawing/2014/main" id="{63585BF2-4502-6485-2690-0FA33EDFAD8D}"/>
              </a:ext>
            </a:extLst>
          </p:cNvPr>
          <p:cNvSpPr/>
          <p:nvPr/>
        </p:nvSpPr>
        <p:spPr>
          <a:xfrm>
            <a:off x="966766" y="2977255"/>
            <a:ext cx="235645" cy="25868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0D539C0-C9DA-BEC8-A93F-63AFF377D03F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" name="Shape 1"/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/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/>
          <p:cNvSpPr/>
          <p:nvPr/>
        </p:nvSpPr>
        <p:spPr>
          <a:xfrm>
            <a:off x="743407" y="2864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환율 설정 – 현재 환율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F2CBB5-969F-B38C-CB1C-3CBF7061320D}"/>
              </a:ext>
            </a:extLst>
          </p:cNvPr>
          <p:cNvGrpSpPr/>
          <p:nvPr/>
        </p:nvGrpSpPr>
        <p:grpSpPr>
          <a:xfrm>
            <a:off x="316751" y="1715928"/>
            <a:ext cx="7142382" cy="3745072"/>
            <a:chOff x="603504" y="2271924"/>
            <a:chExt cx="6473152" cy="3188108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8810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114956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5400004" y="2575499"/>
              <a:ext cx="1045519" cy="118311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5448467" y="2986279"/>
              <a:ext cx="943103" cy="72967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5338467" y="255709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5269405" y="308229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721854"/>
            <a:ext cx="4211840" cy="458282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2241853"/>
            <a:ext cx="4211840" cy="3219147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2391854"/>
            <a:ext cx="3811840" cy="276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F3A6E"/>
                </a:solidFill>
              </a:rPr>
              <a:t>1. 환율 설정</a:t>
            </a:r>
            <a:br>
              <a:rPr lang="en-US" sz="1100" dirty="0"/>
            </a:br>
            <a:r>
              <a:rPr lang="en-US" sz="1100" dirty="0"/>
              <a:t>환율 설정을 위해 </a:t>
            </a:r>
            <a:r>
              <a:rPr lang="en-US" sz="1100" b="1" dirty="0">
                <a:solidFill>
                  <a:srgbClr val="1F3A6E"/>
                </a:solidFill>
              </a:rPr>
              <a:t>현재 환율</a:t>
            </a:r>
            <a:r>
              <a:rPr lang="en-US" sz="1100" dirty="0"/>
              <a:t> 패널을 열어 대시보드 환산에 사용할 환율을 설정합니다.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rgbClr val="1F3A6E"/>
                </a:solidFill>
              </a:rPr>
              <a:t>2. 환율 입력</a:t>
            </a:r>
            <a:br>
              <a:rPr lang="en-US" sz="1100" dirty="0"/>
            </a:br>
            <a:r>
              <a:rPr lang="en-US" sz="1100" dirty="0"/>
              <a:t>1 USD 기준 KRW 및 VND 환율을 입력한 후 저장을 클릭하면 대시보드 전체에 적용됩니다.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D965E76-7E2D-7206-A66B-F696DEABDC5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27" name="Shape 24"/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5"/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26"/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7"/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8"/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29"/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0"/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Shape 31"/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2"/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 33"/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환율 설정 – 월별 매출 환율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E8C172-1B7D-DAF3-9BE3-268E06CE0AD5}"/>
              </a:ext>
            </a:extLst>
          </p:cNvPr>
          <p:cNvGrpSpPr/>
          <p:nvPr/>
        </p:nvGrpSpPr>
        <p:grpSpPr>
          <a:xfrm>
            <a:off x="320040" y="1822903"/>
            <a:ext cx="7108952" cy="3553100"/>
            <a:chOff x="603504" y="2271924"/>
            <a:chExt cx="6473152" cy="315142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142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4647FBC-4228-CA1D-1C27-37EA5882C185}"/>
                </a:ext>
              </a:extLst>
            </p:cNvPr>
            <p:cNvGrpSpPr/>
            <p:nvPr/>
          </p:nvGrpSpPr>
          <p:grpSpPr>
            <a:xfrm>
              <a:off x="640080" y="2308500"/>
              <a:ext cx="6400000" cy="3078270"/>
              <a:chOff x="640080" y="2308500"/>
              <a:chExt cx="6400000" cy="3078270"/>
            </a:xfrm>
          </p:grpSpPr>
          <p:pic>
            <p:nvPicPr>
              <p:cNvPr id="26" name="Image 0" descr="screenshot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080" y="2308500"/>
                <a:ext cx="6400000" cy="3078270"/>
              </a:xfrm>
              <a:prstGeom prst="rect">
                <a:avLst/>
              </a:prstGeom>
            </p:spPr>
          </p:pic>
          <p:sp>
            <p:nvSpPr>
              <p:cNvPr id="100" name="Box 1"/>
              <p:cNvSpPr/>
              <p:nvPr/>
            </p:nvSpPr>
            <p:spPr>
              <a:xfrm>
                <a:off x="5369371" y="2667049"/>
                <a:ext cx="1078735" cy="1296382"/>
              </a:xfrm>
              <a:prstGeom prst="roundRect">
                <a:avLst>
                  <a:gd name="adj" fmla="val 10000"/>
                </a:avLst>
              </a:prstGeom>
              <a:noFill/>
              <a:ln w="19050">
                <a:solidFill>
                  <a:srgbClr val="1F3A6E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Box 2"/>
              <p:cNvSpPr/>
              <p:nvPr/>
            </p:nvSpPr>
            <p:spPr>
              <a:xfrm>
                <a:off x="5438905" y="2989726"/>
                <a:ext cx="972550" cy="901034"/>
              </a:xfrm>
              <a:prstGeom prst="roundRect">
                <a:avLst>
                  <a:gd name="adj" fmla="val 10000"/>
                </a:avLst>
              </a:prstGeom>
              <a:noFill/>
              <a:ln w="19050">
                <a:solidFill>
                  <a:srgbClr val="1F3A6E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Callout 1"/>
              <p:cNvSpPr/>
              <p:nvPr/>
            </p:nvSpPr>
            <p:spPr>
              <a:xfrm>
                <a:off x="6356393" y="2584701"/>
                <a:ext cx="220000" cy="220000"/>
              </a:xfrm>
              <a:prstGeom prst="ellipse">
                <a:avLst/>
              </a:prstGeom>
              <a:solidFill>
                <a:srgbClr val="1F3A6E"/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</a:rPr>
                  <a:t>1</a:t>
                </a:r>
              </a:p>
            </p:txBody>
          </p:sp>
          <p:sp>
            <p:nvSpPr>
              <p:cNvPr id="201" name="Callout 2"/>
              <p:cNvSpPr/>
              <p:nvPr/>
            </p:nvSpPr>
            <p:spPr>
              <a:xfrm>
                <a:off x="5292253" y="2989726"/>
                <a:ext cx="220000" cy="220000"/>
              </a:xfrm>
              <a:prstGeom prst="ellipse">
                <a:avLst/>
              </a:prstGeom>
              <a:solidFill>
                <a:srgbClr val="1F3A6E"/>
              </a:solidFill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FFFFFF"/>
                    </a:solidFill>
                    <a:latin typeface="Calibri" pitchFamily="34" charset="0"/>
                  </a:rPr>
                  <a:t>2</a:t>
                </a:r>
              </a:p>
            </p:txBody>
          </p:sp>
        </p:grpSp>
      </p:grpSp>
      <p:sp>
        <p:nvSpPr>
          <p:cNvPr id="300" name="Panel Header"/>
          <p:cNvSpPr/>
          <p:nvPr/>
        </p:nvSpPr>
        <p:spPr>
          <a:xfrm>
            <a:off x="7619951" y="1800318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19951" y="2320317"/>
            <a:ext cx="4211840" cy="305568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19951" y="2470318"/>
            <a:ext cx="3811840" cy="225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F3A6E"/>
                </a:solidFill>
              </a:rPr>
              <a:t>1. 월별 매출 환율</a:t>
            </a:r>
            <a:br>
              <a:rPr lang="en-US" sz="1100" dirty="0"/>
            </a:br>
            <a:r>
              <a:rPr lang="en-US" sz="1100" dirty="0"/>
              <a:t>연/월별로 월 매출 환산에 사용할 KRW / VND 환율을 설정합니다.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rgbClr val="1F3A6E"/>
                </a:solidFill>
              </a:rPr>
              <a:t>2. 월별 환율 입력</a:t>
            </a:r>
            <a:br>
              <a:rPr lang="en-US" sz="1100" dirty="0"/>
            </a:br>
            <a:r>
              <a:rPr lang="en-US" sz="1100" dirty="0"/>
              <a:t>연도/월을 선택한 후 KRW 및 VND 환율을 입력하고 저장합니다.</a:t>
            </a:r>
            <a:br>
              <a:rPr lang="en-US" sz="1100" dirty="0"/>
            </a:br>
            <a:r>
              <a:rPr lang="en-US" sz="1100" dirty="0"/>
              <a:t>월별 환율이 설정된 경우 대시보드는 해당 환율을 사용합니다.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5383575-5E54-1592-45CC-02EED1268F2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9" name="Shape 1">
              <a:extLst>
                <a:ext uri="{FF2B5EF4-FFF2-40B4-BE49-F238E27FC236}">
                  <a16:creationId xmlns:a16="http://schemas.microsoft.com/office/drawing/2014/main" id="{CD906F62-A4CA-8E4E-3191-AD5433992CCA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6E402576-2217-0003-BC3F-F975C83948E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7CD5361B-2025-2C87-EFC0-0EAFA2EB64C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7F3CDDA6-6BAD-00ED-9116-8ECF1FC2DCD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C8B7A43E-3753-64D2-0B64-8B83BE65613F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CCFDDA96-357D-D945-0F31-E3CC6BD0661E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7">
              <a:extLst>
                <a:ext uri="{FF2B5EF4-FFF2-40B4-BE49-F238E27FC236}">
                  <a16:creationId xmlns:a16="http://schemas.microsoft.com/office/drawing/2014/main" id="{D757E1ED-8866-4018-2000-5F2CAAF06117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8">
              <a:extLst>
                <a:ext uri="{FF2B5EF4-FFF2-40B4-BE49-F238E27FC236}">
                  <a16:creationId xmlns:a16="http://schemas.microsoft.com/office/drawing/2014/main" id="{B28BB277-8AE8-7F08-370D-BD0CDDCF334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9">
              <a:extLst>
                <a:ext uri="{FF2B5EF4-FFF2-40B4-BE49-F238E27FC236}">
                  <a16:creationId xmlns:a16="http://schemas.microsoft.com/office/drawing/2014/main" id="{518B06C5-B194-1971-2DE0-EEF1DA10D0D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19DBFE2-2F34-E571-A7B0-796934A42B16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2B400A7E-F924-F784-119D-749AD98FC0E6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5">
              <a:extLst>
                <a:ext uri="{FF2B5EF4-FFF2-40B4-BE49-F238E27FC236}">
                  <a16:creationId xmlns:a16="http://schemas.microsoft.com/office/drawing/2014/main" id="{9AB5A4FB-628C-76B2-2587-A0FBBFF2CF8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6">
              <a:extLst>
                <a:ext uri="{FF2B5EF4-FFF2-40B4-BE49-F238E27FC236}">
                  <a16:creationId xmlns:a16="http://schemas.microsoft.com/office/drawing/2014/main" id="{160CD9ED-66F5-EE6C-21D6-EF1048037CF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7">
              <a:extLst>
                <a:ext uri="{FF2B5EF4-FFF2-40B4-BE49-F238E27FC236}">
                  <a16:creationId xmlns:a16="http://schemas.microsoft.com/office/drawing/2014/main" id="{B8A3D3D2-E48D-6BFD-9AD1-9A048E1547B2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8">
              <a:extLst>
                <a:ext uri="{FF2B5EF4-FFF2-40B4-BE49-F238E27FC236}">
                  <a16:creationId xmlns:a16="http://schemas.microsoft.com/office/drawing/2014/main" id="{76523397-CA2D-5146-1BE1-E69F6859EE3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29">
              <a:extLst>
                <a:ext uri="{FF2B5EF4-FFF2-40B4-BE49-F238E27FC236}">
                  <a16:creationId xmlns:a16="http://schemas.microsoft.com/office/drawing/2014/main" id="{E14E5AB8-AE4E-37CD-4C14-962E9AFABD1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0">
              <a:extLst>
                <a:ext uri="{FF2B5EF4-FFF2-40B4-BE49-F238E27FC236}">
                  <a16:creationId xmlns:a16="http://schemas.microsoft.com/office/drawing/2014/main" id="{762CDBF7-EC6E-6E16-E946-F7E127499464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D310D598-5E2A-0352-535B-92F263E4C5DF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32">
              <a:extLst>
                <a:ext uri="{FF2B5EF4-FFF2-40B4-BE49-F238E27FC236}">
                  <a16:creationId xmlns:a16="http://schemas.microsoft.com/office/drawing/2014/main" id="{92BE5DE7-988A-645F-5BDB-EB34061F8F6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Text 33">
            <a:extLst>
              <a:ext uri="{FF2B5EF4-FFF2-40B4-BE49-F238E27FC236}">
                <a16:creationId xmlns:a16="http://schemas.microsoft.com/office/drawing/2014/main" id="{377AA8A9-0328-C7F5-E636-7BAAE9909E4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3407" y="2750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차트 및 세부조회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633EA0F-50EC-098C-411A-41E458EBD64E}"/>
              </a:ext>
            </a:extLst>
          </p:cNvPr>
          <p:cNvGrpSpPr/>
          <p:nvPr/>
        </p:nvGrpSpPr>
        <p:grpSpPr>
          <a:xfrm>
            <a:off x="277440" y="1805106"/>
            <a:ext cx="7145654" cy="3703386"/>
            <a:chOff x="603504" y="2248526"/>
            <a:chExt cx="6473152" cy="3181490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80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494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7146" y="2358526"/>
              <a:ext cx="2184471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3641643" y="2358526"/>
              <a:ext cx="2201146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5892816" y="2358526"/>
              <a:ext cx="1117249" cy="115059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/>
            <p:cNvSpPr/>
            <p:nvPr/>
          </p:nvSpPr>
          <p:spPr>
            <a:xfrm>
              <a:off x="1385497" y="3642528"/>
              <a:ext cx="2201146" cy="93382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7146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3531643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5782816" y="22485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203" name="Callout 4"/>
            <p:cNvSpPr/>
            <p:nvPr/>
          </p:nvSpPr>
          <p:spPr>
            <a:xfrm>
              <a:off x="1245482" y="3617857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4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623094" y="124435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3094" y="1789237"/>
            <a:ext cx="4211840" cy="443791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3094" y="1942353"/>
            <a:ext cx="3811840" cy="428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매출 실적 및 전망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매출(계획), 매출(실적) </a:t>
            </a:r>
            <a:r>
              <a:rPr lang="en-US" sz="1100" dirty="0">
                <a:solidFill>
                  <a:srgbClr val="1F3A6E"/>
                </a:solidFill>
                <a:latin typeface="Calibri" pitchFamily="34" charset="0"/>
              </a:rPr>
              <a:t>및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 매출(전망): </a:t>
            </a:r>
            <a:r>
              <a:rPr lang="en-US" sz="1100" dirty="0"/>
              <a:t>가져온 엑셀 데이터입니다.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</a:rPr>
              <a:t>달성률 %</a:t>
            </a:r>
            <a:r>
              <a:rPr lang="en-US" sz="1100" dirty="0"/>
              <a:t> = 계획 ÷ 실적/전망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상세보기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를 클릭하면 월별 내역을 확인할 수 있습니다.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손익 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영업이익 + 판관비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  <a:r>
              <a:rPr lang="en-US" sz="1100" dirty="0"/>
              <a:t>가져온 엑셀 데이터입니다.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 매출총이익으로 누적 표시되며, 하단에 영업이익률(%)이 표시됩니다.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</a:rPr>
              <a:t>상세보기 </a:t>
            </a:r>
            <a:r>
              <a:rPr lang="en-US" sz="1100" dirty="0"/>
              <a:t>를 클릭하면 월별 내역을 확인할 수 있습니다.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수주 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수주실적 대비 연간 계획/전망.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수주실적 (</a:t>
            </a:r>
            <a:r>
              <a:rPr lang="en-US" sz="1100" dirty="0"/>
              <a:t>누계),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연간 계획/전망: </a:t>
            </a:r>
            <a:r>
              <a:rPr lang="en-US" sz="1100" dirty="0"/>
              <a:t>가져온 엑셀 데이터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자금현황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현금 유입/유출, 누계 잔액: </a:t>
            </a:r>
            <a:r>
              <a:rPr lang="en-US" sz="1100" dirty="0"/>
              <a:t>데이터 입력 → 8. 월별 자금현황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.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상세보기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를 클릭하면 월별 내역을 확인할 수 있습니다.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467C732-B91B-7D55-CA83-BCD12712B2FB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59" name="Shape 1">
              <a:extLst>
                <a:ext uri="{FF2B5EF4-FFF2-40B4-BE49-F238E27FC236}">
                  <a16:creationId xmlns:a16="http://schemas.microsoft.com/office/drawing/2014/main" id="{36C87B39-1F23-DED7-1A16-4630972D413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579EF8AD-A7E2-B3A3-945D-B681D459B9A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63F6CCDB-D5B1-3AC3-9B60-D7400272705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7EC95289-1743-4C0B-0147-2274EB3C0971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5">
              <a:extLst>
                <a:ext uri="{FF2B5EF4-FFF2-40B4-BE49-F238E27FC236}">
                  <a16:creationId xmlns:a16="http://schemas.microsoft.com/office/drawing/2014/main" id="{349D4375-5E28-4AF9-557B-B84E7A8C613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354071CD-EE51-461D-3DF1-F849225DBF1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0586196D-F1F7-EE1E-3723-29D0A4FB4E04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DF837CA4-A1F8-39AF-2583-4797B0557C2A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D8282B26-975E-AB28-1143-7A32A41EDDF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B175DF-FAD9-A5A9-EC61-4EFFB55CF8D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9" name="Shape 24">
              <a:extLst>
                <a:ext uri="{FF2B5EF4-FFF2-40B4-BE49-F238E27FC236}">
                  <a16:creationId xmlns:a16="http://schemas.microsoft.com/office/drawing/2014/main" id="{6E435900-9BBD-1948-B55B-8A160F8A304E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4E0B10C0-4901-292A-8AF6-B61663ACAC17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8A11C5D8-F0BC-28E5-B7B3-A01FB5E41ED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9F1F98AB-90A5-79B3-D672-2BC27BCFC69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F50BB390-B4E4-4449-4F56-29EC98A19A5A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9">
              <a:extLst>
                <a:ext uri="{FF2B5EF4-FFF2-40B4-BE49-F238E27FC236}">
                  <a16:creationId xmlns:a16="http://schemas.microsoft.com/office/drawing/2014/main" id="{678EC1C0-DAA4-9324-90B5-DC481BF133D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D3678261-DA9C-89B0-7EA9-B80E301C9F8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B6AF39D2-3A45-4B11-F4C4-4D46195A0255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622A597A-F9C8-F13C-372C-0B27586DA4F7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 33">
            <a:extLst>
              <a:ext uri="{FF2B5EF4-FFF2-40B4-BE49-F238E27FC236}">
                <a16:creationId xmlns:a16="http://schemas.microsoft.com/office/drawing/2014/main" id="{F63732B0-146D-8668-DDEC-1DCA30EB54A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33632-AD31-4CF6-5352-197336469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5D32B5-9D4E-1313-5349-FCCC9C548851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2D7F1EF-1EB4-1F4C-3333-51596A2E9379}"/>
              </a:ext>
            </a:extLst>
          </p:cNvPr>
          <p:cNvSpPr/>
          <p:nvPr/>
        </p:nvSpPr>
        <p:spPr>
          <a:xfrm>
            <a:off x="743407" y="27508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차트 및 세부조회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44B7DAF-B07B-2F9F-8970-38FF632C46FF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8A8053-D5C3-FFD6-2DC4-3D3665D581F0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AF8F15B-F3C3-FB70-B7BA-E9C0FB73AFCC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AEEECDE-7CA7-C08A-3486-B37AC22C78D2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E4DBCB0-2C24-C68D-0769-F64A2F16A6FD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DAB1E2F-AFF2-63D4-A1DB-A5796D6EFA75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654CEF1-6ED7-5DD3-4312-4B2F35C2E664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98D19D3-F9B0-668A-B8A1-68C61C4110E8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D42C211-35A4-DFD3-CDE3-37C7BFAD0906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69CCB09-3141-B34B-210C-C71D244C4AF3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AAF3C4F-1994-F3F0-15DA-79756290C1E6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54E28AE-74C4-16A0-D11C-C4AB6E33D6C4}"/>
              </a:ext>
            </a:extLst>
          </p:cNvPr>
          <p:cNvGrpSpPr/>
          <p:nvPr/>
        </p:nvGrpSpPr>
        <p:grpSpPr>
          <a:xfrm>
            <a:off x="320040" y="1830931"/>
            <a:ext cx="7103054" cy="3604669"/>
            <a:chOff x="603504" y="2271924"/>
            <a:chExt cx="6473152" cy="3158092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D2B30E7-AAEE-09C4-952B-96C5BFB7859E}"/>
                </a:ext>
              </a:extLst>
            </p:cNvPr>
            <p:cNvSpPr/>
            <p:nvPr/>
          </p:nvSpPr>
          <p:spPr>
            <a:xfrm>
              <a:off x="603504" y="2271924"/>
              <a:ext cx="6473152" cy="315809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>
              <a:extLst>
                <a:ext uri="{FF2B5EF4-FFF2-40B4-BE49-F238E27FC236}">
                  <a16:creationId xmlns:a16="http://schemas.microsoft.com/office/drawing/2014/main" id="{9C818E8D-2F17-0BC4-B31E-D0F6C26AD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4940"/>
            </a:xfrm>
            <a:prstGeom prst="rect">
              <a:avLst/>
            </a:prstGeom>
          </p:spPr>
        </p:pic>
        <p:sp>
          <p:nvSpPr>
            <p:cNvPr id="103" name="Box 4">
              <a:extLst>
                <a:ext uri="{FF2B5EF4-FFF2-40B4-BE49-F238E27FC236}">
                  <a16:creationId xmlns:a16="http://schemas.microsoft.com/office/drawing/2014/main" id="{ED3D7175-0D44-6882-7871-F19CF3E73972}"/>
                </a:ext>
              </a:extLst>
            </p:cNvPr>
            <p:cNvSpPr/>
            <p:nvPr/>
          </p:nvSpPr>
          <p:spPr>
            <a:xfrm>
              <a:off x="3641643" y="3642528"/>
              <a:ext cx="2201146" cy="93382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Box 5">
              <a:extLst>
                <a:ext uri="{FF2B5EF4-FFF2-40B4-BE49-F238E27FC236}">
                  <a16:creationId xmlns:a16="http://schemas.microsoft.com/office/drawing/2014/main" id="{64F7712A-84EB-0F6A-C4CF-62845BDBE56F}"/>
                </a:ext>
              </a:extLst>
            </p:cNvPr>
            <p:cNvSpPr/>
            <p:nvPr/>
          </p:nvSpPr>
          <p:spPr>
            <a:xfrm>
              <a:off x="5892816" y="3609177"/>
              <a:ext cx="1117249" cy="96717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Callout 4">
              <a:extLst>
                <a:ext uri="{FF2B5EF4-FFF2-40B4-BE49-F238E27FC236}">
                  <a16:creationId xmlns:a16="http://schemas.microsoft.com/office/drawing/2014/main" id="{B7A2F10D-0FD6-8316-2D0B-E4A4DDE74A69}"/>
                </a:ext>
              </a:extLst>
            </p:cNvPr>
            <p:cNvSpPr/>
            <p:nvPr/>
          </p:nvSpPr>
          <p:spPr>
            <a:xfrm>
              <a:off x="3531643" y="353252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4" name="Callout 5">
              <a:extLst>
                <a:ext uri="{FF2B5EF4-FFF2-40B4-BE49-F238E27FC236}">
                  <a16:creationId xmlns:a16="http://schemas.microsoft.com/office/drawing/2014/main" id="{E275B4CA-2D04-8AEB-EC5C-053755DDE673}"/>
                </a:ext>
              </a:extLst>
            </p:cNvPr>
            <p:cNvSpPr/>
            <p:nvPr/>
          </p:nvSpPr>
          <p:spPr>
            <a:xfrm>
              <a:off x="5782816" y="3499177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>
            <a:extLst>
              <a:ext uri="{FF2B5EF4-FFF2-40B4-BE49-F238E27FC236}">
                <a16:creationId xmlns:a16="http://schemas.microsoft.com/office/drawing/2014/main" id="{A9706C90-18D1-AA19-D5B6-8E2360B5BA44}"/>
              </a:ext>
            </a:extLst>
          </p:cNvPr>
          <p:cNvSpPr/>
          <p:nvPr/>
        </p:nvSpPr>
        <p:spPr>
          <a:xfrm>
            <a:off x="7623094" y="1830931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>
            <a:extLst>
              <a:ext uri="{FF2B5EF4-FFF2-40B4-BE49-F238E27FC236}">
                <a16:creationId xmlns:a16="http://schemas.microsoft.com/office/drawing/2014/main" id="{E4C27FA9-3307-0D3F-A8F3-C60677EA1F7E}"/>
              </a:ext>
            </a:extLst>
          </p:cNvPr>
          <p:cNvSpPr/>
          <p:nvPr/>
        </p:nvSpPr>
        <p:spPr>
          <a:xfrm>
            <a:off x="7623094" y="2375817"/>
            <a:ext cx="4211840" cy="305978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>
            <a:extLst>
              <a:ext uri="{FF2B5EF4-FFF2-40B4-BE49-F238E27FC236}">
                <a16:creationId xmlns:a16="http://schemas.microsoft.com/office/drawing/2014/main" id="{FAA393EE-C6BF-6A02-2B87-D65FB1F1F990}"/>
              </a:ext>
            </a:extLst>
          </p:cNvPr>
          <p:cNvSpPr txBox="1"/>
          <p:nvPr/>
        </p:nvSpPr>
        <p:spPr>
          <a:xfrm>
            <a:off x="7823094" y="2528932"/>
            <a:ext cx="3811840" cy="2778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경영실적 현황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/>
              <a:t>출처: 데이터 입력 → 2. 월별 매출 →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원가 계획/실적 및 예산집행현황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상세보기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를 클릭하면 월별 내역을 확인할 수 있습니다.</a:t>
            </a:r>
          </a:p>
          <a:p>
            <a:pPr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상세정보(세부조회): </a:t>
            </a:r>
          </a:p>
          <a:p>
            <a:r>
              <a:rPr lang="en-US" sz="1100" dirty="0"/>
              <a:t>당월 </a:t>
            </a:r>
            <a:r>
              <a:rPr lang="en-US" sz="1100" b="1" dirty="0">
                <a:solidFill>
                  <a:srgbClr val="1F3A6E"/>
                </a:solidFill>
              </a:rPr>
              <a:t>수주실적 </a:t>
            </a:r>
            <a:r>
              <a:rPr lang="en-US" sz="1100" dirty="0"/>
              <a:t>및 </a:t>
            </a:r>
            <a:r>
              <a:rPr lang="en-US" sz="1100" b="1" dirty="0">
                <a:solidFill>
                  <a:srgbClr val="1F3A6E"/>
                </a:solidFill>
              </a:rPr>
              <a:t>매출 상위 </a:t>
            </a:r>
            <a:r>
              <a:rPr lang="en-US" sz="1100" dirty="0"/>
              <a:t>현장을 표시합니다. 실적/전망 코멘트란에는 월별 특이사항을 기록합니다.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C67F756C-0EB8-91A7-9B96-292815611E5E}"/>
              </a:ext>
            </a:extLst>
          </p:cNvPr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FF92A94-89F5-7193-8A4B-D0FB11120028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59" name="Shape 1">
              <a:extLst>
                <a:ext uri="{FF2B5EF4-FFF2-40B4-BE49-F238E27FC236}">
                  <a16:creationId xmlns:a16="http://schemas.microsoft.com/office/drawing/2014/main" id="{BE7DF6B8-B5CB-8417-4A6D-78D8CB123F5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421B8FCC-565A-5EBA-41DE-39A29F37D7E0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907DBACC-BA58-5ABA-2357-16963F6F9F8A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7FF4C918-E007-5AF9-EFC1-40CA803E924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5">
              <a:extLst>
                <a:ext uri="{FF2B5EF4-FFF2-40B4-BE49-F238E27FC236}">
                  <a16:creationId xmlns:a16="http://schemas.microsoft.com/office/drawing/2014/main" id="{84D817D9-C4E7-65CD-0C43-5895522E68A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6A116385-BAD2-A4C6-17C4-C64C879B1A1B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76443341-5EA1-856A-7EE4-754AFF60F716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5081702D-AAEC-27A6-B95D-7BCA7EB725A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DCA3E42C-D113-5A88-ED1B-1492C3989E4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03F8987-6DE3-BA6B-FE5E-AD9019E92DE0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9" name="Shape 24">
              <a:extLst>
                <a:ext uri="{FF2B5EF4-FFF2-40B4-BE49-F238E27FC236}">
                  <a16:creationId xmlns:a16="http://schemas.microsoft.com/office/drawing/2014/main" id="{395655B6-B082-6501-F8B9-084319C54480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02B34F36-B848-52DF-EA45-7690F056D74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64AFFAAA-A5FD-C740-E88C-2608DB4A1B4C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5F6D8882-1691-42CA-50E3-AFAF3799524D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3081C1DC-C2C8-076B-36DC-041D554A6F7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9">
              <a:extLst>
                <a:ext uri="{FF2B5EF4-FFF2-40B4-BE49-F238E27FC236}">
                  <a16:creationId xmlns:a16="http://schemas.microsoft.com/office/drawing/2014/main" id="{4E683E84-4648-35BA-408E-B6E2514797C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1EEA64FB-96BA-5E97-84DC-A9E054F6DF5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D57C8993-40FF-7BBB-47D5-5553F843503E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F0731717-F4EB-C20A-3120-FFCDFA3C396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 33">
            <a:extLst>
              <a:ext uri="{FF2B5EF4-FFF2-40B4-BE49-F238E27FC236}">
                <a16:creationId xmlns:a16="http://schemas.microsoft.com/office/drawing/2014/main" id="{11FB514C-3977-6E96-C5A8-689F3C89FF65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2299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시공 대시보드 및 용역 대시보드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9FE4F8-5C55-5C31-B5C7-C71FE34E06CE}"/>
              </a:ext>
            </a:extLst>
          </p:cNvPr>
          <p:cNvGrpSpPr/>
          <p:nvPr/>
        </p:nvGrpSpPr>
        <p:grpSpPr>
          <a:xfrm>
            <a:off x="234335" y="1917784"/>
            <a:ext cx="7055465" cy="3491379"/>
            <a:chOff x="483269" y="2271924"/>
            <a:chExt cx="6593387" cy="3151675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167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8523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673361" y="2574751"/>
              <a:ext cx="648986" cy="7321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673361" y="2667938"/>
              <a:ext cx="648986" cy="7321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497174" y="241700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483269" y="265673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50120" y="191778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50120" y="2437784"/>
            <a:ext cx="4211840" cy="297137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50120" y="2587784"/>
            <a:ext cx="3811840" cy="225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</a:t>
            </a:r>
            <a:r>
              <a:rPr lang="en-US" sz="1100" b="1" dirty="0">
                <a:solidFill>
                  <a:srgbClr val="1F3A6E"/>
                </a:solidFill>
              </a:rPr>
              <a:t>시공 및 용역 대시보드</a:t>
            </a:r>
            <a:br>
              <a:rPr lang="en-US" sz="1100" dirty="0"/>
            </a:br>
            <a:r>
              <a:rPr lang="en-US" sz="1100" dirty="0"/>
              <a:t>시공 또는 용역 현장별로 필터링된 메인 대시보드의 KPI/차트 레이아웃을 표시합니다. 좌측 트리에서 개별 현장이 아닌 그룹 상단 항목을 선택하십시오.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endParaRPr lang="en-US" sz="1100" b="1" dirty="0">
              <a:solidFill>
                <a:srgbClr val="1F3A6E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개별 현장을 조회하기 전에 시공 또는 용역 전체 실적을 비교할 수 있습니다. 필터(프로젝트, 기간, 환율, 단위)는 메인 대시보드와 동일하게 작동합니다.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2FFA55A-660F-8BCF-699C-644C6008D35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9328D214-C8F2-494F-03DD-3BB00FCE04C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03FEABD-76C8-8BBA-D692-48157538B37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46F8A0F7-4A03-65C9-6A1D-6C20ABDB144E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E59C754-8878-0FA3-1691-145D91EE030C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5C84B4B-A426-C29E-145B-D5FACB544E8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37A336D2-6999-5A2D-7718-0CE66E040A5D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D5234443-61B8-1E31-D133-DD2D1E3FE33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12481AA-0C16-1A84-3BA2-5E1DFA9CB2E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2A0F89E-4536-9FB6-C911-2C7B2DE567E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F92C11-C1D5-3565-BBB9-6FC9414BE31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83BFEF1-ACD7-C610-1A89-068776349FA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387CE8A5-E13C-5E46-61D4-5FEC8AC0955D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8A6D5441-FE7D-04A6-614F-3E68D2DD65AD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24D7C2C7-ABE8-BFE3-6013-708117867398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39B4E94D-34A7-6E1C-42F3-26B8675ED33E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D5F32908-8C71-BEFB-CDF9-99EA07ED270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8DC4678E-5081-454D-EB6F-886968AF5A1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E0980FE-DE81-E3D6-1DFD-E1F73219E81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192AC07-77A3-423F-3D6E-7450EE72F69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588335F1-20E8-5A14-A0DF-50B1163A99A0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엑셀 업로드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39" y="1905001"/>
            <a:ext cx="6889657" cy="346324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941577"/>
            <a:ext cx="7029396" cy="3382897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2680772" y="3070020"/>
            <a:ext cx="2345103" cy="16475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2647349" y="3271348"/>
            <a:ext cx="2431429" cy="141502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2733675" y="3668421"/>
            <a:ext cx="2270183" cy="86769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4908797" y="2958320"/>
            <a:ext cx="234156" cy="24163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2503897" y="3256679"/>
            <a:ext cx="234156" cy="24163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4752624" y="3550191"/>
            <a:ext cx="234156" cy="241636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529464" y="190500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29464" y="2425002"/>
            <a:ext cx="4211840" cy="289947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29464" y="2575002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엑셀 업로드를 클릭하고 데이터 유형(경영보고, 자금현황, 매출/매출원가 또는 수주계획 및 실적)과 대상 연도를 선택한 후 .xlsx 파일을 선택합니다.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파일이 자동으로 분석되어 미리보기가 표시되며, 적용을 클릭하면 새 데이터로 대시보드가 갱신됩니다.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최근 업로드 목록에는 이전 가져오기 이력(시간, 파일명)이 표시되며, 이전 데이터로 되돌리기를 사용하면 해당 가져오기 이전 상태로 복원됩니다.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7F0F0B-05D7-68EE-EF4F-599345F8151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7A59684-F326-6993-833A-1F7FE902D2AB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316E7BA-45EF-AFCC-02E0-87EDA9F02CE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73D2094B-91A5-D132-E4C9-31578F0478B4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5EF8E4FA-E321-FA82-2B6B-FA4F17F925A1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1D22A476-C062-B036-EC47-D47E073F9B3D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B9148DB-BC98-E353-9C46-85C7C05F960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7889280-A54F-99F9-68CA-207CC17873C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08B9EAF-48C5-1D94-2954-46DF348A6C70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44A72B8-AE94-247D-DD42-8F4510CD62B1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CF1A4C-7823-FE45-B929-3DE038D144D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368B6378-2945-75DC-6522-9AA19B723306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0BFB859-EAFE-0452-2C08-8FFD76BA735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3924BAFC-14E4-1531-6E6E-03E4FB8DA0E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D061D977-0D1D-0778-BA3F-C5D4415C2E2F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6354219-6360-BAC5-D088-2A567140D4F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4740173B-8727-0BD9-12E5-B387141E637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0BF3A124-84C0-A4BF-0EC0-48E6BB3A5D4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9AEB9819-ECE3-C61D-6F1D-D880BFEDF50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63D9823-75B7-203B-C203-A27547A6451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F24E71A7-8C68-97FD-5288-298A0096FB1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열람자 - 프로젝트 대시보드 - 시공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개요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39" y="1828202"/>
            <a:ext cx="7019901" cy="34832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5" y="1864777"/>
            <a:ext cx="7066951" cy="3419492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184564" y="2124507"/>
            <a:ext cx="6066680" cy="446396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184564" y="1909415"/>
            <a:ext cx="1488121" cy="13705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1184564" y="2815615"/>
            <a:ext cx="6275578" cy="107940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Box 4"/>
          <p:cNvSpPr/>
          <p:nvPr/>
        </p:nvSpPr>
        <p:spPr>
          <a:xfrm>
            <a:off x="3680438" y="3969000"/>
            <a:ext cx="3743128" cy="115545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Box 5"/>
          <p:cNvSpPr/>
          <p:nvPr/>
        </p:nvSpPr>
        <p:spPr>
          <a:xfrm>
            <a:off x="440540" y="2370438"/>
            <a:ext cx="610880" cy="10976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984563" y="2150734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991276" y="1788542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1012484" y="2933088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3" name="Callout 4"/>
          <p:cNvSpPr/>
          <p:nvPr/>
        </p:nvSpPr>
        <p:spPr>
          <a:xfrm>
            <a:off x="3489434" y="3985536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04" name="Callout 5"/>
          <p:cNvSpPr/>
          <p:nvPr/>
        </p:nvSpPr>
        <p:spPr>
          <a:xfrm>
            <a:off x="3370143" y="1839285"/>
            <a:ext cx="238583" cy="241745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623567" y="201363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3567" y="2533634"/>
            <a:ext cx="4211840" cy="277780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3567" y="2683634"/>
            <a:ext cx="3811840" cy="2276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</a:t>
            </a:r>
            <a:r>
              <a:rPr lang="en-US" sz="1100" dirty="0"/>
              <a:t>좌측 트리에서 시공 현장을 선택하면 해당 대시보드가 표시됩니다. 상단에는 발주처, 공사기간, 공사규모, 계약금액 및 상태가 표시됩니다. </a:t>
            </a:r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환율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(USD/KRW/VND) 및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단위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(USD/K USD): 개요, 보고서, 진도율, 매출/원가, 외주, 자금현황 및 데이터 입력 전반에 적용됩니다.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현장사진 및 공사정보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현장사진: PIMSVINA 동기화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공사정보: </a:t>
            </a:r>
            <a:r>
              <a:rPr lang="en-US" sz="1100" dirty="0"/>
              <a:t>데이터 입력 → 0. 개요 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4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계약정보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  <a:r>
              <a:rPr lang="en-US" sz="1100" dirty="0"/>
              <a:t>데이터 입력 → 0. 개요 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4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PIMSVINA 동기화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를 실행하면 원천 시스템의 프로젝트 데이터가 갱신됩니다.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B6A664-5AC1-8261-DDE8-F306CA8B5FBD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AAF7B755-20BA-150B-AD23-CC2D51DC2D30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E37291C-1A95-AA67-7DFE-6982E241C66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D0F9A43-0C35-F502-9543-C69A19B5B827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DEA553BC-E424-71FA-EC42-B4FC31A40FDD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1B6DA4B8-75EB-FD1A-B652-59084D03DA0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E213C936-9802-31DC-AD26-3987C584EDB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832CD734-C13E-9DC0-21BC-527BA47C7BB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BB03237A-9611-8742-FC3D-DFBE577C6872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B5EBED2-A9A3-73C0-1DA6-7722FFCD3D03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509D46F-2F0F-56BD-EC91-E273BBF7643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5E9609C-D518-5994-D364-4255A3AF40B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0F067C7A-FA7A-08A7-35BE-B385B3A50AD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C6D2AA6-0424-A4A6-19E8-E2558568FCE7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1FB1C1D7-2AC0-3B7D-31B4-5CD66115C664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4766F7E1-1423-8EFA-6F7B-F106B1F24C4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45890850-D8F2-9553-2ADD-9F8D0D2B1D4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B7D30435-C431-73A8-D34F-FAC104967D4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7CC25B37-D6F6-6C57-11F8-5B0D184D676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BF2DC54-EB7F-B85A-5CD3-301CA04240F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394E48D-92AF-3557-A28A-3FEBBDFFC5A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" name="Box 5">
            <a:extLst>
              <a:ext uri="{FF2B5EF4-FFF2-40B4-BE49-F238E27FC236}">
                <a16:creationId xmlns:a16="http://schemas.microsoft.com/office/drawing/2014/main" id="{134FB871-C014-CDFE-E158-9C13028F9F9C}"/>
              </a:ext>
            </a:extLst>
          </p:cNvPr>
          <p:cNvSpPr/>
          <p:nvPr/>
        </p:nvSpPr>
        <p:spPr>
          <a:xfrm>
            <a:off x="2772686" y="1914725"/>
            <a:ext cx="610880" cy="109769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3465" y="1964847"/>
            <a:ext cx="6917368" cy="3466683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01424"/>
            <a:ext cx="7065323" cy="3385926"/>
          </a:xfrm>
          <a:prstGeom prst="rect">
            <a:avLst/>
          </a:prstGeom>
        </p:spPr>
      </p:pic>
      <p:sp>
        <p:nvSpPr>
          <p:cNvPr id="100" name="Box 1"/>
          <p:cNvSpPr/>
          <p:nvPr/>
        </p:nvSpPr>
        <p:spPr>
          <a:xfrm>
            <a:off x="1091865" y="2905597"/>
            <a:ext cx="6293497" cy="168341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Box 2"/>
          <p:cNvSpPr/>
          <p:nvPr/>
        </p:nvSpPr>
        <p:spPr>
          <a:xfrm>
            <a:off x="1156248" y="3109950"/>
            <a:ext cx="2044152" cy="116463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Box 3"/>
          <p:cNvSpPr/>
          <p:nvPr/>
        </p:nvSpPr>
        <p:spPr>
          <a:xfrm>
            <a:off x="3236974" y="3109951"/>
            <a:ext cx="2044151" cy="1164632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" name="Callout 1"/>
          <p:cNvSpPr/>
          <p:nvPr/>
        </p:nvSpPr>
        <p:spPr>
          <a:xfrm>
            <a:off x="943877" y="2762839"/>
            <a:ext cx="235097" cy="24287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1" name="Callout 2"/>
          <p:cNvSpPr/>
          <p:nvPr/>
        </p:nvSpPr>
        <p:spPr>
          <a:xfrm>
            <a:off x="966770" y="3152596"/>
            <a:ext cx="235097" cy="24287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2" name="Callout 3"/>
          <p:cNvSpPr/>
          <p:nvPr/>
        </p:nvSpPr>
        <p:spPr>
          <a:xfrm>
            <a:off x="5082602" y="3065771"/>
            <a:ext cx="235097" cy="24287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00" name="Panel Header"/>
          <p:cNvSpPr/>
          <p:nvPr/>
        </p:nvSpPr>
        <p:spPr>
          <a:xfrm>
            <a:off x="7587958" y="1537366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7958" y="2057365"/>
            <a:ext cx="4211840" cy="3857659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7957" y="2207366"/>
            <a:ext cx="3883520" cy="224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보고서 탭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월별 경영요약입니다.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기준월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을 선택한 후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보고서 내보내기를 클릭하면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공유용 파일이 생성됩니다.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진도율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월간/누계 진도율: </a:t>
            </a:r>
            <a:r>
              <a:rPr lang="en-US" sz="1100" dirty="0"/>
              <a:t>데이터 입력 → 1. 월별 진도율.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진도율 = 실적 ÷ 계획 × 100%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공정률 = 경과기간 ÷ 총기간이며, 누계 진도율과의 차이를 함께 표시합니다.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매출 실적 및 전망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 매출(계획/실적/전망): </a:t>
            </a:r>
            <a:r>
              <a:rPr lang="en-US" sz="1100" dirty="0"/>
              <a:t>데이터 입력 → 2. 월별 매출 → 계획, 실적, 전망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연간 누계: 1월부터 당월까지 누적된 매출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전체 누계: 프로젝트 착수부터 당월까지 누적된 매출입니다.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82734B-5A0B-9CA8-47B3-BF7D97B4C4A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5DE6B7A5-F9AB-675B-AACD-0FF6322236A1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EE5327A-E070-0263-007D-485C5B25BE88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87B8585-255A-8559-1392-431AD76637F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AE9FAA88-1685-D4E9-C7E9-1B10044A9440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E405EBDB-8858-3BCB-740A-CE993F0FB82B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4AB71EAD-56EA-2150-1922-9061A6AA575D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FF6AF07D-DFDB-E3C1-C845-A5C376597ED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ED4D2F6A-F1BC-DF5B-0D61-EB4E1C8554C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135F75A1-4EBA-6FE9-7A9D-3CF533B5BE3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49F208-888D-74EA-1466-AB420C4EA10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CB2F9B98-FBC7-6373-BD52-366101D2513D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8C84BABE-973E-FABB-04FD-234FC6C6F78B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81BA6D92-B32A-A14E-767E-5E8E6C62294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E9CEA3B6-9754-DB1D-10B1-9A4E5CA40C84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CF9C8399-D4B0-4E4B-F329-4E81637514F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7538D3AB-B9F1-037A-49D0-11839014E4E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57F8B387-632A-74FC-D7DF-2C8ADDCC5155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45F1303-F41A-9AC1-ECAA-ADE8DFAF702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379AFABB-651B-E373-0EB1-F3E963FD5C95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12D31633-5A3B-9070-8746-47097C5B19F0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22662-2892-76A3-FE04-DDF49198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B7E3F0-9874-F102-92AC-6ED8067CE7A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434B97A-3214-7EE6-6F68-1D25A396A9F2}"/>
              </a:ext>
            </a:extLst>
          </p:cNvPr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C5A5EB4-090D-BF1A-9FB4-1D7F278027F6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FCE5E3D-8622-9E71-F547-B0F2BAD09E06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8DDFD34-F93E-D52A-6B1E-607A5FEA0451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397AFD1-D13A-B552-9064-1A5BF623130D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35B3992-6E5A-5225-0AE4-0B348D474ED8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49BC8D9-7AA4-69AF-C693-5B9FC0EDC469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D5826C4-B046-A6CA-83CE-4E1DBCB4ADBA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D6A9584-DE0E-1DBA-A0D9-D8ACDC85B407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3329914-A79A-425F-080D-6AD1FFAE950C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F327850-2E47-2CE9-730A-5D8C104CC589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CD19547-8486-CDF4-F2DC-F4389ADDF4CE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EA0B35-E196-760A-092B-31DA095F6FDF}"/>
              </a:ext>
            </a:extLst>
          </p:cNvPr>
          <p:cNvGrpSpPr/>
          <p:nvPr/>
        </p:nvGrpSpPr>
        <p:grpSpPr>
          <a:xfrm>
            <a:off x="320040" y="1819483"/>
            <a:ext cx="7078795" cy="3492643"/>
            <a:chOff x="603504" y="2271924"/>
            <a:chExt cx="6473152" cy="3140234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25464096-D962-7EF8-CE6A-A35EB4E338C2}"/>
                </a:ext>
              </a:extLst>
            </p:cNvPr>
            <p:cNvSpPr/>
            <p:nvPr/>
          </p:nvSpPr>
          <p:spPr>
            <a:xfrm>
              <a:off x="603504" y="2271924"/>
              <a:ext cx="6473152" cy="314023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>
              <a:extLst>
                <a:ext uri="{FF2B5EF4-FFF2-40B4-BE49-F238E27FC236}">
                  <a16:creationId xmlns:a16="http://schemas.microsoft.com/office/drawing/2014/main" id="{49FBBCDB-6E9A-2A42-37D9-29D547D5D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7082"/>
            </a:xfrm>
            <a:prstGeom prst="rect">
              <a:avLst/>
            </a:prstGeom>
          </p:spPr>
        </p:pic>
        <p:sp>
          <p:nvSpPr>
            <p:cNvPr id="101" name="Box 2">
              <a:extLst>
                <a:ext uri="{FF2B5EF4-FFF2-40B4-BE49-F238E27FC236}">
                  <a16:creationId xmlns:a16="http://schemas.microsoft.com/office/drawing/2014/main" id="{69FDD281-9467-81FC-51D0-435B70C8D617}"/>
                </a:ext>
              </a:extLst>
            </p:cNvPr>
            <p:cNvSpPr/>
            <p:nvPr/>
          </p:nvSpPr>
          <p:spPr>
            <a:xfrm>
              <a:off x="1387190" y="4431966"/>
              <a:ext cx="1844237" cy="79039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>
              <a:extLst>
                <a:ext uri="{FF2B5EF4-FFF2-40B4-BE49-F238E27FC236}">
                  <a16:creationId xmlns:a16="http://schemas.microsoft.com/office/drawing/2014/main" id="{B9AA1F7A-E316-EE96-83A0-1B98C6942BDE}"/>
                </a:ext>
              </a:extLst>
            </p:cNvPr>
            <p:cNvSpPr/>
            <p:nvPr/>
          </p:nvSpPr>
          <p:spPr>
            <a:xfrm>
              <a:off x="3306142" y="4435187"/>
              <a:ext cx="1794393" cy="79039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>
              <a:extLst>
                <a:ext uri="{FF2B5EF4-FFF2-40B4-BE49-F238E27FC236}">
                  <a16:creationId xmlns:a16="http://schemas.microsoft.com/office/drawing/2014/main" id="{01A5CC42-FBC4-5F92-5EEF-B04983E90E5C}"/>
                </a:ext>
              </a:extLst>
            </p:cNvPr>
            <p:cNvSpPr/>
            <p:nvPr/>
          </p:nvSpPr>
          <p:spPr>
            <a:xfrm>
              <a:off x="5175250" y="4451802"/>
              <a:ext cx="1811663" cy="77378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>
              <a:extLst>
                <a:ext uri="{FF2B5EF4-FFF2-40B4-BE49-F238E27FC236}">
                  <a16:creationId xmlns:a16="http://schemas.microsoft.com/office/drawing/2014/main" id="{1A8426DF-49FA-4F67-2CD1-17F8CA664EF2}"/>
                </a:ext>
              </a:extLst>
            </p:cNvPr>
            <p:cNvSpPr/>
            <p:nvPr/>
          </p:nvSpPr>
          <p:spPr>
            <a:xfrm>
              <a:off x="3029649" y="434180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>
              <a:extLst>
                <a:ext uri="{FF2B5EF4-FFF2-40B4-BE49-F238E27FC236}">
                  <a16:creationId xmlns:a16="http://schemas.microsoft.com/office/drawing/2014/main" id="{E23F8DCA-925F-3EF0-CE34-6D7920DE9A01}"/>
                </a:ext>
              </a:extLst>
            </p:cNvPr>
            <p:cNvSpPr/>
            <p:nvPr/>
          </p:nvSpPr>
          <p:spPr>
            <a:xfrm>
              <a:off x="4917893" y="438347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>
              <a:extLst>
                <a:ext uri="{FF2B5EF4-FFF2-40B4-BE49-F238E27FC236}">
                  <a16:creationId xmlns:a16="http://schemas.microsoft.com/office/drawing/2014/main" id="{88C46A62-9064-A46B-A1B0-BFA2BF88FE65}"/>
                </a:ext>
              </a:extLst>
            </p:cNvPr>
            <p:cNvSpPr/>
            <p:nvPr/>
          </p:nvSpPr>
          <p:spPr>
            <a:xfrm>
              <a:off x="6820212" y="441522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>
            <a:extLst>
              <a:ext uri="{FF2B5EF4-FFF2-40B4-BE49-F238E27FC236}">
                <a16:creationId xmlns:a16="http://schemas.microsoft.com/office/drawing/2014/main" id="{CC66F23E-18D4-FD59-A2BF-30849C2E4753}"/>
              </a:ext>
            </a:extLst>
          </p:cNvPr>
          <p:cNvSpPr/>
          <p:nvPr/>
        </p:nvSpPr>
        <p:spPr>
          <a:xfrm>
            <a:off x="7595807" y="1299483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>
            <a:extLst>
              <a:ext uri="{FF2B5EF4-FFF2-40B4-BE49-F238E27FC236}">
                <a16:creationId xmlns:a16="http://schemas.microsoft.com/office/drawing/2014/main" id="{5E0932B8-C6FB-9556-7D64-8ED05DCCDF96}"/>
              </a:ext>
            </a:extLst>
          </p:cNvPr>
          <p:cNvSpPr/>
          <p:nvPr/>
        </p:nvSpPr>
        <p:spPr>
          <a:xfrm>
            <a:off x="7595807" y="1819483"/>
            <a:ext cx="4211840" cy="401969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>
            <a:extLst>
              <a:ext uri="{FF2B5EF4-FFF2-40B4-BE49-F238E27FC236}">
                <a16:creationId xmlns:a16="http://schemas.microsoft.com/office/drawing/2014/main" id="{DF0DF5B0-07AD-F40F-9A87-A7992D8357C3}"/>
              </a:ext>
            </a:extLst>
          </p:cNvPr>
          <p:cNvSpPr txBox="1"/>
          <p:nvPr/>
        </p:nvSpPr>
        <p:spPr>
          <a:xfrm>
            <a:off x="7795807" y="1969483"/>
            <a:ext cx="3811840" cy="224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상태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신호등 형태로 진도율/매출/원가(월간 및 연간)를 표시합니다. 원가(누계 집행): 직접비, 간접비, 예비비.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진도율: </a:t>
            </a:r>
            <a:r>
              <a:rPr lang="en-US" sz="1100" dirty="0"/>
              <a:t>데이터 입력 → 1. 월별 진도율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매출: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원가: 하단 원가 탭의 집행률 데이터를 참조합니다.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자금현황: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신호등 표시는 각 항목의 상태를 나타내며, 마우스를 올리면 사유가 표시됩니다.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원가(누계 집행)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출처: </a:t>
            </a:r>
            <a:r>
              <a:rPr lang="en-US" sz="1100" dirty="0"/>
              <a:t>데이터 입력 → 6. 예산집행현황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집행률 = 집행 ÷ 계획 × 100%.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자금현황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누계 매출 = 실적 전체 누계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수금(실적):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미수금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E79A63A3-2337-3E31-412A-5E2D5E55B1DD}"/>
              </a:ext>
            </a:extLst>
          </p:cNvPr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6D2210-E9E7-5719-785D-5931E18AE006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1888281E-C685-BEE0-CE1D-61836D37E201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A7A9BECA-6655-E8D8-617D-BB37C8656787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DF918F4C-4046-3519-3D76-6C91FB3A9291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A177CC4-1D2D-2F8C-9CF0-1CE29D2F7C36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832BA35-8487-38C1-2A0E-A4A7189BDDE3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42DE7FF-38DD-5084-7032-407F9884E30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BA006AD-313C-97B2-BE72-5A743F72FBA1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7CC7A52-60A0-D2B6-8EB2-A803FD20DEF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D61429A7-AA9E-B8ED-93B7-BE6FA6176328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F1740BE-0727-F319-3472-F3EB5515EF78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AA1DBA0A-DF2F-F8BB-FE93-D40569D37AF0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D56D3ADF-6B13-6EE8-BAAE-B7B8811BAA54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D4291D5C-3276-143F-75EB-8B9AEA211997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A0E2E931-7CF0-7CB2-F391-34642A8EFFAE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FF2D2254-AD5C-68DB-FA31-0FB57F4EDBD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7EEE58A2-BD8A-33AB-64E5-5AFE5D9FDF5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A43C449B-34FB-23C6-7050-00A0F996666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1A450F5-DB14-BA7D-28F1-C2613243942F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5122101F-77BF-F0D3-8AD2-D4C41FDE65F5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9A20D006-F24B-AB96-FF15-F8A4A8D1FB5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08158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진도율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768D5C-187D-44DB-DD29-073859795EAE}"/>
              </a:ext>
            </a:extLst>
          </p:cNvPr>
          <p:cNvGrpSpPr/>
          <p:nvPr/>
        </p:nvGrpSpPr>
        <p:grpSpPr>
          <a:xfrm>
            <a:off x="320039" y="1891891"/>
            <a:ext cx="7081921" cy="3420823"/>
            <a:chOff x="603504" y="2271924"/>
            <a:chExt cx="6473152" cy="3141691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41691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8539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5551" y="3120722"/>
              <a:ext cx="2745710" cy="2146646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4187837" y="3167994"/>
              <a:ext cx="2795632" cy="148101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72943" y="331709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6856656" y="331709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89463" y="1891891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9463" y="2411891"/>
            <a:ext cx="4211840" cy="290082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9463" y="2561891"/>
            <a:ext cx="3811840" cy="2248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AutoNum type="arabicPeriod"/>
            </a:pPr>
            <a:r>
              <a:rPr lang="en-US" sz="1100" b="1" dirty="0">
                <a:solidFill>
                  <a:srgbClr val="1F3A6E"/>
                </a:solidFill>
              </a:rPr>
              <a:t>현장 진도 현황 </a:t>
            </a:r>
          </a:p>
          <a:p>
            <a:r>
              <a:rPr lang="en-US" sz="1100" dirty="0"/>
              <a:t>PIMSVINA에서 동기화된 월별 사진을 표시하며, 페이징을 통해 선택한 월의 여러 사진을 확인할 수 있습니다.</a:t>
            </a:r>
          </a:p>
          <a:p>
            <a:endParaRPr lang="en-US" sz="1100" dirty="0"/>
          </a:p>
          <a:p>
            <a:r>
              <a:rPr lang="en-US" sz="1100" b="1" dirty="0">
                <a:solidFill>
                  <a:srgbClr val="1F3A6E"/>
                </a:solidFill>
              </a:rPr>
              <a:t>2</a:t>
            </a:r>
            <a:r>
              <a:rPr lang="en-US" sz="1100" dirty="0"/>
              <a:t>. </a:t>
            </a:r>
            <a:r>
              <a:rPr lang="en-US" sz="1100" b="1" dirty="0">
                <a:solidFill>
                  <a:srgbClr val="1F3A6E"/>
                </a:solidFill>
              </a:rPr>
              <a:t>진도율</a:t>
            </a:r>
            <a:r>
              <a:rPr lang="en-US" sz="1100" dirty="0"/>
              <a:t> </a:t>
            </a:r>
          </a:p>
          <a:p>
            <a:r>
              <a:rPr lang="en-US" sz="1100" dirty="0"/>
              <a:t>- 도넷차트: 월간, 연간, 누계 진도율 세 가지를 도넷형으로 표시하며, 각각 계획 대비 실적 및 달성률을 비교합니다. - - 출처: 데이터 입력 → 1. 월별 진도율.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4B5B05-3F46-4B6A-F670-3FF1F227878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44BCFD0-4D71-15C4-B5CE-3BE92AEC0EA1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37045CB8-5CB5-1800-7AE7-9DEBF4E2BA26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DD0BB5A-3D87-CCCB-431F-BE67DE23C3DB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442D3EB5-B68A-D6D2-B045-384BA7B8A81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67C9C19-2052-BEE6-0E76-A3E91EF58BA4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7A41DF3C-E75D-077E-64BA-DE083635757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129A50C6-BED1-0334-FE5E-F1558826AF8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7A76B09-8903-716B-8A7C-3C45006423E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D38BCA6-AECF-413C-8CD0-F1D84EF63558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0726C8A-3DC5-27B6-2FD7-9AA409BF768A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D95D7BE-62FD-9468-325D-BBBE6005FF6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E59BD8E5-5BE5-3730-7694-5A4C373241A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E950926-3924-4CBA-29F7-A9F1A7BBFB11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9E50532E-9E67-1C8C-D342-8DC769EE40E9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FDCB7FD0-AE65-DCB3-6035-FA9E9C11BD81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A9E86EC-DE35-B237-7484-1766A297D12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F1D5258A-1AB1-5917-A78B-FFFF2803C7AC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3D310F77-6A14-1CB6-AA11-FC8B05873DDA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975275A5-7B7A-1548-34F6-2B3170B86B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9A2168A-68B2-51D7-7499-933C63A9EC4D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진도율: 월별 추이 및 마일스톤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4D3AFE-F94F-F301-215F-57A32EAE2807}"/>
              </a:ext>
            </a:extLst>
          </p:cNvPr>
          <p:cNvGrpSpPr/>
          <p:nvPr/>
        </p:nvGrpSpPr>
        <p:grpSpPr>
          <a:xfrm>
            <a:off x="320040" y="1887185"/>
            <a:ext cx="7072293" cy="3426530"/>
            <a:chOff x="603504" y="2271924"/>
            <a:chExt cx="6473152" cy="3133733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3733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0581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3565" y="2358293"/>
              <a:ext cx="5576763" cy="1228216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3565" y="3686093"/>
              <a:ext cx="5576763" cy="121853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3565" y="4964102"/>
              <a:ext cx="5576763" cy="38174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311004" y="246756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3565" y="358452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33813" y="486253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2333" y="1868197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2333" y="2388197"/>
            <a:ext cx="4211840" cy="292551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2333" y="2538197"/>
            <a:ext cx="3811840" cy="2240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월별 진도율 계획 및 실적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전체 기간에 걸쳐 월별 계획/실적은 막대로, 누계 계획/실적은 선으로 표시합니다.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출처: 데이터 입력 → 1. 월별 진도율.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마일스톤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각 단계의 계획/실적 기간을 타임라인으로 표시하며, 현재 기준월 위치에 세로선을 표시합니다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출처: 데이터 입력 → 3. 마일스톤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코멘트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(월별 필터): 해당 기간의 진도 관련 특이사항입니다.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598FF0-E631-D96B-6B22-55275B5DDB6F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70B0F8D-A5F9-DB7B-09C3-ADA33D47DC1B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43FE890A-90D1-38C0-5523-76F999CB7903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67FDF91E-0757-795E-6DAB-792F0B5D3436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304C7D37-B2F2-6E2D-C517-CBC98279C8D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0D94D7C2-42E0-98A0-C832-F957783E532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66385467-E43D-65EC-F681-27323C3565B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B85D9CDC-9DA7-B034-F0F0-910ED863552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072211A-EF60-6A97-AFB5-C352150F137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E1761C25-EA4C-7B8B-CC6F-BF6E8DD300DD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21B9F19-D34F-7B1D-A440-32B129B4AD78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8159F56-33BC-F173-417A-C462123446F4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E39BCF8F-AE89-8A5F-FD13-40108CB3F7EB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AD4A8D56-6BBA-8715-7B13-580B01251B00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EE69D35E-1420-5399-262F-A4303D98D7FB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4569DFB-6E30-A148-AAA0-387182F376E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5BE9B5A4-D8D2-3BE8-013C-20802B2FED22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AFEAD30-3CAC-2424-B4B0-F8ECCB87DDC5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CBCBBFFA-A108-6F42-2F8C-1ED30AF8D20C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B56E0F36-C1E2-1D4E-C30A-2CC1ED4A26F3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4874927-EF2F-FB9F-CAAC-FD729F31EF8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매출/원가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DC5B60-66DD-2C63-6198-91019EB88FE5}"/>
              </a:ext>
            </a:extLst>
          </p:cNvPr>
          <p:cNvGrpSpPr/>
          <p:nvPr/>
        </p:nvGrpSpPr>
        <p:grpSpPr>
          <a:xfrm>
            <a:off x="329470" y="1962220"/>
            <a:ext cx="7083820" cy="3532805"/>
            <a:chOff x="603504" y="2271924"/>
            <a:chExt cx="6473152" cy="3131706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170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58554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5551" y="3158710"/>
              <a:ext cx="5591264" cy="1013546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5551" y="4266179"/>
              <a:ext cx="5591264" cy="85459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6647360" y="3207096"/>
              <a:ext cx="282891" cy="8320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5551" y="309709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05551" y="417873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6447360" y="311317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96222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2482219"/>
            <a:ext cx="4211840" cy="301280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2632220"/>
            <a:ext cx="3811840" cy="2238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매출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(K USD):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선택한 연도의 월별 계획 대비 실적을 표시합니다. 점선 막대는 아직 마감되지 않은 전망월을 나타냅니다.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출처: 데이터 입력 → 2. 월별 매출 → 계획, 실적, 전망</a:t>
            </a:r>
            <a:endParaRPr lang="en-US" sz="1100" b="1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누계 원가율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(%)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연간 원가 대비 매출 비율 추이를 표시하며, 최신값이 강조 표시됩니다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</a:t>
            </a:r>
            <a:r>
              <a:rPr lang="en-US" sz="1100" dirty="0"/>
              <a:t>데이터 입력 → 5. 원가율 → 준공예정원가율 → 비율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각 차트의 연도 선택기를 통해 회계연도를 전환할 수 있습니다.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336103C-0743-335A-3D02-17151030776B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F1DA5DF-92B4-97A1-F138-049F9CD98EF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690E543-431B-9FEB-A040-62F14491929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E0311FFE-8A49-4523-09FB-780D9AF3C4C2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225CB928-9451-32C0-630A-52C3E320AABF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49C164D-F07E-7277-B1B5-CD2E51237503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F74D648B-2C18-C99F-AE46-FBFABCD3AF12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69E05D6-FCBF-7A7B-6198-EA56C414D0B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99F45B25-415B-1A3B-F46A-17C95B304D6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5372E6D-ACC4-9784-9F01-0E3937F5799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9F3166-3E26-445A-96F6-C5A38F55F93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460BC2F1-2F08-778A-1B99-6547FC9952B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2372E7BD-54AE-FC04-E5AF-33DA2C7F7D9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BBCF08A8-C26E-07C6-78F2-2F13CE6C9F4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8C3FF0ED-C9E5-5636-82EA-ADF5E2D5B55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9C4D4D68-B85E-02ED-8923-9BE229D3A65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3CADA99-6FE1-E558-74AB-183B9DE790E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616FB08E-6753-56A8-1D03-C9EA15875A58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BB10553-1000-7EC2-A831-A3B312A042F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DED6B588-3D37-F3DE-56C0-A81CAC00CDA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39F02737-0D6F-723F-C452-88848991D7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매출/원가: 원가율 및 예산집행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CCBC50-19A6-28F4-0493-D65EC83D5F9A}"/>
              </a:ext>
            </a:extLst>
          </p:cNvPr>
          <p:cNvGrpSpPr/>
          <p:nvPr/>
        </p:nvGrpSpPr>
        <p:grpSpPr>
          <a:xfrm>
            <a:off x="320040" y="1860845"/>
            <a:ext cx="7060740" cy="3401527"/>
            <a:chOff x="603504" y="2248241"/>
            <a:chExt cx="6473152" cy="3177457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377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0622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2774" y="2358241"/>
              <a:ext cx="5570984" cy="91191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2774" y="3336479"/>
              <a:ext cx="5570984" cy="2022798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2774" y="224824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2774" y="322647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80780" y="1860845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0780" y="2380845"/>
            <a:ext cx="4211840" cy="289697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0780" y="2530845"/>
            <a:ext cx="3811840" cy="247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원가율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입찰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  <a:r>
              <a:rPr lang="en-US" sz="1100" dirty="0"/>
              <a:t>데이터 입력 → 2. 월별 매출 → 입찰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집행예산 설정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  <a:r>
              <a:rPr lang="en-US" sz="1100" dirty="0"/>
              <a:t>데이터 입력 → 2. 월별 매출 →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집행예산 설정</a:t>
            </a:r>
            <a:r>
              <a:rPr lang="en-US" sz="1100" dirty="0"/>
              <a:t> 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표준 예정원가율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= 원가 ÷ 계약금액이며, 수치는 아래와 같습니다.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예산집행현황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400"/>
              </a:spcAft>
              <a:buFontTx/>
              <a:buChar char="-"/>
            </a:pPr>
            <a:r>
              <a:rPr lang="en-US" sz="1100" dirty="0"/>
              <a:t>항목별(직접비, 외주, 공통경비, 경비1, 간접비, 경비2, 예비비) 총예산을 표시하며, 집행계획 대비 실적 막대를 통해 각 항목의 집행률과 잔여금액을 보여줍니다.</a:t>
            </a:r>
          </a:p>
          <a:p>
            <a:pPr marL="171450" indent="-171450">
              <a:lnSpc>
                <a:spcPct val="100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</a:t>
            </a:r>
            <a:r>
              <a:rPr lang="en-US" sz="1100" dirty="0"/>
              <a:t>데이터 입력 → 6. 예산집행현황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2DFA354-C8A0-AF5D-2617-9C822AF048E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EB22669-B5A0-7B47-0E4D-55C5BF0CDB43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8AF7A58-B1CA-0324-54AF-EBAD2067233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990A88C3-B520-E323-F471-171BBA39C2C4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795448B-00BD-3AB8-F6CF-66306F67DC3D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A4CE21FB-BCFC-BF85-3503-F346A573706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1C42A0D-7F2E-EBF2-66AF-D7FD497A3EF7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531AA8-72C1-4C9B-6D60-0C8DCFDF2851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FC8EB70-E2B7-ABA9-C202-98322F2A36AC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4E2286C-8459-A010-16F0-9FA929B69ED2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A90D345-9920-A665-3B95-E404A35F8AA9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3E945F78-60EF-9DA8-D374-4CEE8AA09DA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F7A3B054-0D1A-7D31-03CF-DCD02634A211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47521552-C5BE-BAF3-767E-57727DEA9D1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ACC70AFC-1771-0690-C853-76494AF1E79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0B011F0-93C1-8A34-27A7-7341E546A6CC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6D2D495-15CF-7DFA-2B83-E7E2F090602B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48B67A0-94F1-366A-DEBC-7819C61F9EF2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2D389AA0-F0DA-A314-2DED-A8E66E6CD3F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470E303B-7570-7AF4-F36C-F3B48EAFD8D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EE0AA33-64CC-11C8-F6BF-16712AC6F3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8FA279-828A-65F0-4905-A889F7F6496D}"/>
              </a:ext>
            </a:extLst>
          </p:cNvPr>
          <p:cNvGrpSpPr/>
          <p:nvPr/>
        </p:nvGrpSpPr>
        <p:grpSpPr>
          <a:xfrm>
            <a:off x="320040" y="1960492"/>
            <a:ext cx="7078970" cy="3525908"/>
            <a:chOff x="603504" y="2271924"/>
            <a:chExt cx="6473152" cy="313822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822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507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6349" y="3318031"/>
              <a:ext cx="1934260" cy="202222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3340610" y="3318031"/>
              <a:ext cx="1797128" cy="202222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5137737" y="3318031"/>
              <a:ext cx="1865695" cy="202222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6348" y="328145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3330609" y="319737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5209971" y="323035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89463" y="196049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9463" y="2480492"/>
            <a:ext cx="4211840" cy="300590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9462" y="2630492"/>
            <a:ext cx="3798481" cy="2245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외주 및 자재</a:t>
            </a:r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</a:t>
            </a:r>
            <a:r>
              <a:rPr lang="en-US" sz="1100" dirty="0"/>
              <a:t>공종(분류/세부공종), 업체명, 최초계약일, 변경계약 차수별로 각 외주/자재 발주 내역을 표시합니다. </a:t>
            </a:r>
          </a:p>
          <a:p>
            <a:pPr>
              <a:spcAft>
                <a:spcPts val="500"/>
              </a:spcAft>
            </a:pPr>
            <a:r>
              <a:rPr lang="en-US" sz="1100" dirty="0"/>
              <a:t>출처: 데이터 입력 → 7. 외주/자재</a:t>
            </a:r>
          </a:p>
          <a:p>
            <a:pPr marL="228600" indent="-228600"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예산(A), 집행예산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기성금액(B):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1F3A6E"/>
                </a:solidFill>
                <a:latin typeface="Calibri" pitchFamily="34" charset="0"/>
              </a:rPr>
              <a:t>출처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: </a:t>
            </a:r>
            <a:r>
              <a:rPr lang="en-US" sz="1100" dirty="0"/>
              <a:t>데이터 입력 → 7. 외주/자재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기성률 = B/A이며, 100% 초과 시 빨간색으로 표시됩니다.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기성청구현황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당월, 누계(C): </a:t>
            </a:r>
            <a:r>
              <a:rPr lang="en-US" sz="1100" dirty="0"/>
              <a:t>데이터 입력 → 7. 외주/자재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비율 = C/B, 업체별 잔여청구액 = B−C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우측 상단에서 기준월을 선택할 수 있습니다.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EFB461-48C5-212C-36F9-4E410E2E5E2E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87577AA-869A-3438-8ACE-E7BCB165E85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9BFD8363-2C5D-88F0-7BD5-1E226D411A90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C6D58A01-E187-E5BD-422A-905A1915985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780098DC-E7C5-9586-B463-F037ED1EC2D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5886EF8-5655-452C-A67D-9A6687CBE24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511357D-2778-5009-09B5-D03BFBD6AEF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DC35C56-F06D-4508-3E0A-9DE34A91F23F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DB636776-2EE2-525E-B5FC-E0EB88F4DF1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8ECFA68A-E701-FA1B-A3F9-2D7417888268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14D09E-824B-9D31-F7C2-A20C1223871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3F359F7-D8FD-98E2-D4DC-6E1CA01F64D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777D415C-E329-D7FA-445D-7288D03E618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6C36552E-62A8-342C-68A1-3519127489FD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886EC726-F6B0-7158-16F8-90637DF307F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087D9CD8-3A1E-BCEC-A41A-5ECEB831C57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43AA2AE-444B-8F6C-200A-C4B6603B4658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170DED84-06E4-1ACF-6C1C-BA311259FA4A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128399D-A812-2A32-F43F-B0CD432146F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CA517D5F-F06D-7C33-E4F2-175483C723B1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0AE4499A-F228-7009-152E-3ABDAC1CACF7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자금현황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E289C6-291F-D823-0B03-006CE1AF59AC}"/>
              </a:ext>
            </a:extLst>
          </p:cNvPr>
          <p:cNvGrpSpPr/>
          <p:nvPr/>
        </p:nvGrpSpPr>
        <p:grpSpPr>
          <a:xfrm>
            <a:off x="320040" y="1757922"/>
            <a:ext cx="7075767" cy="3521444"/>
            <a:chOff x="603504" y="2271924"/>
            <a:chExt cx="6473152" cy="315315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315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000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6747" y="3163824"/>
              <a:ext cx="5530501" cy="187800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6440080" y="3208500"/>
              <a:ext cx="566667" cy="100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6747" y="3098500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6240080" y="313755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75792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2277922"/>
            <a:ext cx="4211840" cy="300144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2427922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자금현황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전체 기간의 실제 현금 유입/유출을 막대로, 누계 잔액을 선으로 표시합니다. 점선으로 표시된 기준월 마커가 실적과 전망을 구분합니다.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</a:t>
            </a:r>
            <a:r>
              <a:rPr lang="en-US" sz="1100" dirty="0"/>
              <a:t>데이터 입력 → 8. 월별 자금현황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우측 상단의 연도 선택기로 한 해를 집중 조회할 수 있으며, 마우스를 올리면 월별 정확한 수치가 표시됩니다.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6073087-FA02-948A-54D4-B6AB06F4AD2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7DC4B1FD-578F-62A7-D0D4-BA0551815DC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ADC95A4-2053-3077-2E56-5F10695A2A2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1E8F3D8-658B-C96C-F618-D71AA368CB7A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E915422-0955-4C30-FC1F-44629B10752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50ACF91-160D-359D-0825-FCCD0CBCB4EA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8AED591A-12B4-A8F0-C858-E1908E518908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354E187-8CE8-D74B-6732-3F00B98B0CA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88FFCEF-6C53-7E93-D6B1-9337C558144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3146DB1E-03DA-8CA0-D7ED-0D677AB0CE8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DF8EF9-FAA6-04A7-4758-BB995E6FBEC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2BB2E8E-A7F7-13EA-1E95-0755F58D2775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E31C014-6FBC-481E-A2E7-00F455EDDC19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A519BA4A-04CB-4AB2-2F58-AF915DAA9C62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94B513D0-F174-529B-8317-B585F3F8DE3C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80C782A-8FF0-7646-697F-D3461BB89B1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B8F81B4E-40D1-90A3-1FA7-D7CE32C196E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A2B3E1E0-8973-4B2F-AF8F-3E349727A80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D2B03E62-F1E6-AE9F-7FB0-4F6D15D8949A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EF8B8604-3617-6F16-FDBB-F5F84ACC661C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98FF979A-AF30-73C2-0C96-3F3D9D5CEA5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관리자 – 메인 대시보드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nel Body">
            <a:extLst>
              <a:ext uri="{FF2B5EF4-FFF2-40B4-BE49-F238E27FC236}">
                <a16:creationId xmlns:a16="http://schemas.microsoft.com/office/drawing/2014/main" id="{67804371-B959-234F-83E7-98C62D254485}"/>
              </a:ext>
            </a:extLst>
          </p:cNvPr>
          <p:cNvSpPr/>
          <p:nvPr/>
        </p:nvSpPr>
        <p:spPr>
          <a:xfrm>
            <a:off x="7630696" y="2617242"/>
            <a:ext cx="4211840" cy="262425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및 데이터 관리자 접근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90960" y="2747960"/>
            <a:ext cx="3890513" cy="2263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15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로그인: </a:t>
            </a:r>
          </a:p>
          <a:p>
            <a:pPr>
              <a:lnSpc>
                <a:spcPct val="115000"/>
              </a:lnSpc>
              <a:spcAft>
                <a:spcPts val="1400"/>
              </a:spcAft>
              <a:buSzPct val="100000"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관리자/현장소장 계정이 필요합니다. PIMS에 로그인하면 현장 트리와 데이터 입력 탭이 활성화됩니다.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E0A34B-89F6-EBE4-8B1F-4DA701D8198D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7" name="Shape 1">
              <a:extLst>
                <a:ext uri="{FF2B5EF4-FFF2-40B4-BE49-F238E27FC236}">
                  <a16:creationId xmlns:a16="http://schemas.microsoft.com/office/drawing/2014/main" id="{6276418B-518F-6716-04D8-504305614FFA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C903DA9F-068B-23AC-61AA-DFBDD1063853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03C732BE-E562-E708-F619-0CA5E5C263A2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64F3BCD5-30FE-4316-BC2D-3429CB4924DB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5">
              <a:extLst>
                <a:ext uri="{FF2B5EF4-FFF2-40B4-BE49-F238E27FC236}">
                  <a16:creationId xmlns:a16="http://schemas.microsoft.com/office/drawing/2014/main" id="{C8E132D7-A3B4-5103-69BF-EEF477CCAC1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6">
              <a:extLst>
                <a:ext uri="{FF2B5EF4-FFF2-40B4-BE49-F238E27FC236}">
                  <a16:creationId xmlns:a16="http://schemas.microsoft.com/office/drawing/2014/main" id="{BD5452AE-BB37-3355-4369-1D674FD63651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7">
              <a:extLst>
                <a:ext uri="{FF2B5EF4-FFF2-40B4-BE49-F238E27FC236}">
                  <a16:creationId xmlns:a16="http://schemas.microsoft.com/office/drawing/2014/main" id="{400A13F9-8319-95B0-2F6B-55DFCF581DD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8">
              <a:extLst>
                <a:ext uri="{FF2B5EF4-FFF2-40B4-BE49-F238E27FC236}">
                  <a16:creationId xmlns:a16="http://schemas.microsoft.com/office/drawing/2014/main" id="{7FB9D239-4FFD-887E-E77E-623EA1A12927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9">
              <a:extLst>
                <a:ext uri="{FF2B5EF4-FFF2-40B4-BE49-F238E27FC236}">
                  <a16:creationId xmlns:a16="http://schemas.microsoft.com/office/drawing/2014/main" id="{3504FF32-4CD7-9F6D-CBE8-F3B234F6B380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1B4B10C-C218-FB97-CC9B-ECDADA69A39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7" name="Shape 24">
              <a:extLst>
                <a:ext uri="{FF2B5EF4-FFF2-40B4-BE49-F238E27FC236}">
                  <a16:creationId xmlns:a16="http://schemas.microsoft.com/office/drawing/2014/main" id="{C112EB1D-8177-0F2B-78F8-E8BD34D66D4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25">
              <a:extLst>
                <a:ext uri="{FF2B5EF4-FFF2-40B4-BE49-F238E27FC236}">
                  <a16:creationId xmlns:a16="http://schemas.microsoft.com/office/drawing/2014/main" id="{DDAB3A51-C80F-8827-7B4D-B378851208E4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6">
              <a:extLst>
                <a:ext uri="{FF2B5EF4-FFF2-40B4-BE49-F238E27FC236}">
                  <a16:creationId xmlns:a16="http://schemas.microsoft.com/office/drawing/2014/main" id="{3926DC03-1E5E-A9F8-C116-DECC3F1E400A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7">
              <a:extLst>
                <a:ext uri="{FF2B5EF4-FFF2-40B4-BE49-F238E27FC236}">
                  <a16:creationId xmlns:a16="http://schemas.microsoft.com/office/drawing/2014/main" id="{16E6014C-E8E8-136A-5260-17F816002D1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8">
              <a:extLst>
                <a:ext uri="{FF2B5EF4-FFF2-40B4-BE49-F238E27FC236}">
                  <a16:creationId xmlns:a16="http://schemas.microsoft.com/office/drawing/2014/main" id="{96CDFC95-101F-BA0B-ED9F-97E21674DC6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9">
              <a:extLst>
                <a:ext uri="{FF2B5EF4-FFF2-40B4-BE49-F238E27FC236}">
                  <a16:creationId xmlns:a16="http://schemas.microsoft.com/office/drawing/2014/main" id="{37933BAB-59C9-B362-5C48-B7796401D7B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60342010-63F3-F3EE-CB1C-A20EF657B55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97027E91-4F0E-55DD-DB14-980AFACC77DE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2">
              <a:extLst>
                <a:ext uri="{FF2B5EF4-FFF2-40B4-BE49-F238E27FC236}">
                  <a16:creationId xmlns:a16="http://schemas.microsoft.com/office/drawing/2014/main" id="{A5FC689E-1C45-F4CA-11F3-E8F1A3F947C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 33">
            <a:extLst>
              <a:ext uri="{FF2B5EF4-FFF2-40B4-BE49-F238E27FC236}">
                <a16:creationId xmlns:a16="http://schemas.microsoft.com/office/drawing/2014/main" id="{CCD67955-CFD0-2CAF-6AB7-46595852615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3A1FE3-6D67-9FA4-E5EB-4CD153F2E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64" y="1984116"/>
            <a:ext cx="7040382" cy="3257379"/>
          </a:xfrm>
          <a:prstGeom prst="rect">
            <a:avLst/>
          </a:prstGeom>
        </p:spPr>
      </p:pic>
      <p:sp>
        <p:nvSpPr>
          <p:cNvPr id="6" name="Panel Header">
            <a:extLst>
              <a:ext uri="{FF2B5EF4-FFF2-40B4-BE49-F238E27FC236}">
                <a16:creationId xmlns:a16="http://schemas.microsoft.com/office/drawing/2014/main" id="{26400651-D579-52AD-C75C-078A0831E616}"/>
              </a:ext>
            </a:extLst>
          </p:cNvPr>
          <p:cNvSpPr/>
          <p:nvPr/>
        </p:nvSpPr>
        <p:spPr>
          <a:xfrm>
            <a:off x="7630296" y="201205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8" name="Box 1">
            <a:extLst>
              <a:ext uri="{FF2B5EF4-FFF2-40B4-BE49-F238E27FC236}">
                <a16:creationId xmlns:a16="http://schemas.microsoft.com/office/drawing/2014/main" id="{1D8DFF97-3FA7-E99F-E188-0EDC91425F33}"/>
              </a:ext>
            </a:extLst>
          </p:cNvPr>
          <p:cNvSpPr/>
          <p:nvPr/>
        </p:nvSpPr>
        <p:spPr>
          <a:xfrm>
            <a:off x="384049" y="4659976"/>
            <a:ext cx="779272" cy="516544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Callout 1">
            <a:extLst>
              <a:ext uri="{FF2B5EF4-FFF2-40B4-BE49-F238E27FC236}">
                <a16:creationId xmlns:a16="http://schemas.microsoft.com/office/drawing/2014/main" id="{1449D7A0-C962-BA39-2C04-AEF2024CB7C6}"/>
              </a:ext>
            </a:extLst>
          </p:cNvPr>
          <p:cNvSpPr/>
          <p:nvPr/>
        </p:nvSpPr>
        <p:spPr>
          <a:xfrm>
            <a:off x="239464" y="4595001"/>
            <a:ext cx="220000" cy="220000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2F054-6B45-9B63-CF06-4884758D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30BCA4-2B13-0149-3123-6C5B441F50B7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0338E46-E041-427F-A201-DBFF5EB40199}"/>
              </a:ext>
            </a:extLst>
          </p:cNvPr>
          <p:cNvGrpSpPr/>
          <p:nvPr/>
        </p:nvGrpSpPr>
        <p:grpSpPr>
          <a:xfrm>
            <a:off x="320040" y="491129"/>
            <a:ext cx="228600" cy="228600"/>
            <a:chOff x="457200" y="384048"/>
            <a:chExt cx="228600" cy="228600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7553210F-D478-0F6B-F49E-CF6C525479E3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3DB2FE46-7860-7C50-DD8C-95D1866C69AD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B3CDD0A3-1CFA-C930-A34A-5CD346C69C02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36FAEDFF-CFB9-3E17-73C8-188516D3AF0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2028ADEC-57CE-CFE2-1E13-2E56A7EB7BF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5784C67C-F496-0202-C074-7F42BC2BEBEC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23A52148-7B70-3A3E-E866-A2A619847B45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13F4F68A-F93C-7A9B-9299-76188B2A2914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4E28FA0E-3316-0FF5-726E-470C8DC3A71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 10">
            <a:extLst>
              <a:ext uri="{FF2B5EF4-FFF2-40B4-BE49-F238E27FC236}">
                <a16:creationId xmlns:a16="http://schemas.microsoft.com/office/drawing/2014/main" id="{02372D53-8DD3-6057-F077-C9514680FC0E}"/>
              </a:ext>
            </a:extLst>
          </p:cNvPr>
          <p:cNvSpPr/>
          <p:nvPr/>
        </p:nvSpPr>
        <p:spPr>
          <a:xfrm>
            <a:off x="770839" y="274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대시보드: 필터 및 요약 KPI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95531B2-10C7-D846-AB78-76ADE950C3EE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AD6B378-C417-7CE4-41E8-36DB700A5A0A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D4F21AA-E912-F739-C41F-E68983CF22DA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9CC8673-74FC-4ED3-0A64-E11643D1C7F1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3630ACB-B094-7F54-A45D-C863F976B0F3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9E835A3-5958-6F49-CDFC-B2A892A98A61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9DBEA0D-5FA4-82CF-2B38-012B45E9DD29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B6A240B-A458-E5F6-5D3E-B398D4EE3717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CB637E5-A3A8-259A-A9F5-C51DED6EFB2E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ACBF69D-9DEF-279F-F58B-EB084BF88027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7508B13-7C7C-0B83-DAF6-12F15EC2BD18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D8605EA-6B85-1020-D0C0-888D548704F3}"/>
              </a:ext>
            </a:extLst>
          </p:cNvPr>
          <p:cNvGrpSpPr/>
          <p:nvPr/>
        </p:nvGrpSpPr>
        <p:grpSpPr>
          <a:xfrm>
            <a:off x="320040" y="1814109"/>
            <a:ext cx="6933474" cy="3705270"/>
            <a:chOff x="603504" y="2271924"/>
            <a:chExt cx="6473152" cy="3151152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928F9F8E-A1FE-330F-EE60-F326A45297DA}"/>
                </a:ext>
              </a:extLst>
            </p:cNvPr>
            <p:cNvSpPr/>
            <p:nvPr/>
          </p:nvSpPr>
          <p:spPr>
            <a:xfrm>
              <a:off x="603504" y="2271924"/>
              <a:ext cx="6473152" cy="315115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PIMS Dashboard main screen">
              <a:extLst>
                <a:ext uri="{FF2B5EF4-FFF2-40B4-BE49-F238E27FC236}">
                  <a16:creationId xmlns:a16="http://schemas.microsoft.com/office/drawing/2014/main" id="{4D478246-7952-5AB9-1EA3-8EDFD659C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8000"/>
            </a:xfrm>
            <a:prstGeom prst="rect">
              <a:avLst/>
            </a:prstGeom>
          </p:spPr>
        </p:pic>
        <p:sp>
          <p:nvSpPr>
            <p:cNvPr id="50" name="Box 1">
              <a:extLst>
                <a:ext uri="{FF2B5EF4-FFF2-40B4-BE49-F238E27FC236}">
                  <a16:creationId xmlns:a16="http://schemas.microsoft.com/office/drawing/2014/main" id="{4BBDB9DF-6D20-9D43-518D-32F4F7E1517F}"/>
                </a:ext>
              </a:extLst>
            </p:cNvPr>
            <p:cNvSpPr/>
            <p:nvPr/>
          </p:nvSpPr>
          <p:spPr>
            <a:xfrm>
              <a:off x="1405543" y="2568053"/>
              <a:ext cx="4293249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Box 2">
              <a:extLst>
                <a:ext uri="{FF2B5EF4-FFF2-40B4-BE49-F238E27FC236}">
                  <a16:creationId xmlns:a16="http://schemas.microsoft.com/office/drawing/2014/main" id="{2A70D940-3EEE-AF30-D523-DD684046486A}"/>
                </a:ext>
              </a:extLst>
            </p:cNvPr>
            <p:cNvSpPr/>
            <p:nvPr/>
          </p:nvSpPr>
          <p:spPr>
            <a:xfrm>
              <a:off x="6424126" y="2568053"/>
              <a:ext cx="555793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Box 3">
              <a:extLst>
                <a:ext uri="{FF2B5EF4-FFF2-40B4-BE49-F238E27FC236}">
                  <a16:creationId xmlns:a16="http://schemas.microsoft.com/office/drawing/2014/main" id="{EDF230DA-A83A-F355-67EA-204296418B6B}"/>
                </a:ext>
              </a:extLst>
            </p:cNvPr>
            <p:cNvSpPr/>
            <p:nvPr/>
          </p:nvSpPr>
          <p:spPr>
            <a:xfrm>
              <a:off x="1478961" y="2721123"/>
              <a:ext cx="453101" cy="119294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Box 4">
              <a:extLst>
                <a:ext uri="{FF2B5EF4-FFF2-40B4-BE49-F238E27FC236}">
                  <a16:creationId xmlns:a16="http://schemas.microsoft.com/office/drawing/2014/main" id="{CF68FD16-D9AD-EDB5-381B-214436B42F4F}"/>
                </a:ext>
              </a:extLst>
            </p:cNvPr>
            <p:cNvSpPr/>
            <p:nvPr/>
          </p:nvSpPr>
          <p:spPr>
            <a:xfrm>
              <a:off x="5774122" y="2568053"/>
              <a:ext cx="615699" cy="15307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Box 5">
              <a:extLst>
                <a:ext uri="{FF2B5EF4-FFF2-40B4-BE49-F238E27FC236}">
                  <a16:creationId xmlns:a16="http://schemas.microsoft.com/office/drawing/2014/main" id="{3D098445-6565-0347-A0C4-F25C9228ACC0}"/>
                </a:ext>
              </a:extLst>
            </p:cNvPr>
            <p:cNvSpPr/>
            <p:nvPr/>
          </p:nvSpPr>
          <p:spPr>
            <a:xfrm>
              <a:off x="1405543" y="2957382"/>
              <a:ext cx="5556927" cy="482502"/>
            </a:xfrm>
            <a:prstGeom prst="roundRect">
              <a:avLst>
                <a:gd name="adj" fmla="val 8333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Callout 1">
              <a:extLst>
                <a:ext uri="{FF2B5EF4-FFF2-40B4-BE49-F238E27FC236}">
                  <a16:creationId xmlns:a16="http://schemas.microsoft.com/office/drawing/2014/main" id="{CBD067AF-B020-915A-B09B-FEF779E7828F}"/>
                </a:ext>
              </a:extLst>
            </p:cNvPr>
            <p:cNvSpPr/>
            <p:nvPr/>
          </p:nvSpPr>
          <p:spPr>
            <a:xfrm>
              <a:off x="1274718" y="243748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41" name="Callout 2">
              <a:extLst>
                <a:ext uri="{FF2B5EF4-FFF2-40B4-BE49-F238E27FC236}">
                  <a16:creationId xmlns:a16="http://schemas.microsoft.com/office/drawing/2014/main" id="{D679CF4D-2B26-D74A-EBA8-D0BC8247F798}"/>
                </a:ext>
              </a:extLst>
            </p:cNvPr>
            <p:cNvSpPr/>
            <p:nvPr/>
          </p:nvSpPr>
          <p:spPr>
            <a:xfrm>
              <a:off x="6807828" y="247911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42" name="Callout 3">
              <a:extLst>
                <a:ext uri="{FF2B5EF4-FFF2-40B4-BE49-F238E27FC236}">
                  <a16:creationId xmlns:a16="http://schemas.microsoft.com/office/drawing/2014/main" id="{EE2BD2B8-D047-74FC-16E3-ADBB132EA87F}"/>
                </a:ext>
              </a:extLst>
            </p:cNvPr>
            <p:cNvSpPr/>
            <p:nvPr/>
          </p:nvSpPr>
          <p:spPr>
            <a:xfrm>
              <a:off x="1283188" y="271869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43" name="Callout 4">
              <a:extLst>
                <a:ext uri="{FF2B5EF4-FFF2-40B4-BE49-F238E27FC236}">
                  <a16:creationId xmlns:a16="http://schemas.microsoft.com/office/drawing/2014/main" id="{AD0511FD-2BA8-50A4-B079-EF5DB9B11606}"/>
                </a:ext>
              </a:extLst>
            </p:cNvPr>
            <p:cNvSpPr/>
            <p:nvPr/>
          </p:nvSpPr>
          <p:spPr>
            <a:xfrm>
              <a:off x="5733097" y="241294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4</a:t>
              </a:r>
            </a:p>
          </p:txBody>
        </p:sp>
        <p:sp>
          <p:nvSpPr>
            <p:cNvPr id="44" name="Callout 5">
              <a:extLst>
                <a:ext uri="{FF2B5EF4-FFF2-40B4-BE49-F238E27FC236}">
                  <a16:creationId xmlns:a16="http://schemas.microsoft.com/office/drawing/2014/main" id="{500C4F49-586E-51FF-7D61-CE50E8C3D53E}"/>
                </a:ext>
              </a:extLst>
            </p:cNvPr>
            <p:cNvSpPr/>
            <p:nvPr/>
          </p:nvSpPr>
          <p:spPr>
            <a:xfrm>
              <a:off x="6763401" y="287067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5</a:t>
              </a:r>
            </a:p>
          </p:txBody>
        </p:sp>
      </p:grpSp>
      <p:sp>
        <p:nvSpPr>
          <p:cNvPr id="60" name="Panel Header">
            <a:extLst>
              <a:ext uri="{FF2B5EF4-FFF2-40B4-BE49-F238E27FC236}">
                <a16:creationId xmlns:a16="http://schemas.microsoft.com/office/drawing/2014/main" id="{961EA862-B82F-A137-ED56-41EB89171B3B}"/>
              </a:ext>
            </a:extLst>
          </p:cNvPr>
          <p:cNvSpPr/>
          <p:nvPr/>
        </p:nvSpPr>
        <p:spPr>
          <a:xfrm>
            <a:off x="7591791" y="180405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61" name="Panel Body">
            <a:extLst>
              <a:ext uri="{FF2B5EF4-FFF2-40B4-BE49-F238E27FC236}">
                <a16:creationId xmlns:a16="http://schemas.microsoft.com/office/drawing/2014/main" id="{0697A4F1-35B6-4B36-753E-2A0FC60E46B5}"/>
              </a:ext>
            </a:extLst>
          </p:cNvPr>
          <p:cNvSpPr/>
          <p:nvPr/>
        </p:nvSpPr>
        <p:spPr>
          <a:xfrm>
            <a:off x="7591791" y="2332570"/>
            <a:ext cx="4211840" cy="317675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Panel Text">
            <a:extLst>
              <a:ext uri="{FF2B5EF4-FFF2-40B4-BE49-F238E27FC236}">
                <a16:creationId xmlns:a16="http://schemas.microsoft.com/office/drawing/2014/main" id="{49E1E3E9-6542-1343-07B1-42FF0A756983}"/>
              </a:ext>
            </a:extLst>
          </p:cNvPr>
          <p:cNvSpPr txBox="1"/>
          <p:nvPr/>
        </p:nvSpPr>
        <p:spPr>
          <a:xfrm>
            <a:off x="7791791" y="2482569"/>
            <a:ext cx="3811840" cy="2753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설정: 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/>
              <a:t>선택: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프로젝트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기간 / 기준월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조회 기준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(월),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환율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및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단위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(USD 또는 K USD) </a:t>
            </a:r>
            <a:r>
              <a:rPr lang="en-US" sz="1100" dirty="0"/>
              <a:t>을 선택하면 모든 카드와 차트가 새로고침됩니다.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엑셀 업로드: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신규 월별 보고서를 가져옵니다.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다운로드: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현재 대시보드를 내보냅니다.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  환율 설정: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환산에 사용되는 환율을 조회하거나 수정합니다.</a:t>
            </a:r>
          </a:p>
          <a:p>
            <a:pPr>
              <a:spcAft>
                <a:spcPts val="4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 </a:t>
            </a:r>
            <a:r>
              <a:rPr lang="en-US" sz="1100" dirty="0"/>
              <a:t>KPI 요약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연초누계 매출, 연초누계 영업이익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(1월 – 기준월 기준)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Char char="•"/>
            </a:pPr>
            <a:r>
              <a:rPr lang="en-US" sz="1050" b="1" dirty="0">
                <a:solidFill>
                  <a:srgbClr val="1F3A6E"/>
                </a:solidFill>
                <a:latin typeface="Calibri" pitchFamily="34" charset="0"/>
              </a:rPr>
              <a:t>연간 매출 및 연간 영업이익 </a:t>
            </a:r>
            <a:r>
              <a:rPr lang="en-US" sz="1050" dirty="0">
                <a:solidFill>
                  <a:srgbClr val="262626"/>
                </a:solidFill>
                <a:latin typeface="Calibri" pitchFamily="34" charset="0"/>
              </a:rPr>
              <a:t>(1월 – 12월)</a:t>
            </a:r>
          </a:p>
          <a:p>
            <a:pPr marL="228600" indent="-228600">
              <a:lnSpc>
                <a:spcPct val="100000"/>
              </a:lnSpc>
              <a:buChar char="•"/>
            </a:pPr>
            <a:r>
              <a:rPr lang="en-US" sz="1050" dirty="0"/>
              <a:t>출처: 가져온 엑셀 데이터</a:t>
            </a: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0DAA920-4AEC-E2AD-D87D-DD4643C1CB4E}"/>
              </a:ext>
            </a:extLst>
          </p:cNvPr>
          <p:cNvSpPr/>
          <p:nvPr/>
        </p:nvSpPr>
        <p:spPr>
          <a:xfrm>
            <a:off x="320040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4280C0E0-BFC3-0BF0-B945-1ABF6F026725}"/>
              </a:ext>
            </a:extLst>
          </p:cNvPr>
          <p:cNvSpPr/>
          <p:nvPr/>
        </p:nvSpPr>
        <p:spPr>
          <a:xfrm>
            <a:off x="402336" y="647395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3782A6EE-3152-A310-788F-5B7B40AD6281}"/>
              </a:ext>
            </a:extLst>
          </p:cNvPr>
          <p:cNvSpPr/>
          <p:nvPr/>
        </p:nvSpPr>
        <p:spPr>
          <a:xfrm>
            <a:off x="484632" y="647395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C452588-5517-8599-A38C-F9E905A9FACB}"/>
              </a:ext>
            </a:extLst>
          </p:cNvPr>
          <p:cNvSpPr/>
          <p:nvPr/>
        </p:nvSpPr>
        <p:spPr>
          <a:xfrm>
            <a:off x="320040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239FF850-B144-DC46-1F63-EC85F29A635A}"/>
              </a:ext>
            </a:extLst>
          </p:cNvPr>
          <p:cNvSpPr/>
          <p:nvPr/>
        </p:nvSpPr>
        <p:spPr>
          <a:xfrm>
            <a:off x="402336" y="6556248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B592C9F0-2965-BD04-A1AB-34E571BC8FCD}"/>
              </a:ext>
            </a:extLst>
          </p:cNvPr>
          <p:cNvSpPr/>
          <p:nvPr/>
        </p:nvSpPr>
        <p:spPr>
          <a:xfrm>
            <a:off x="484632" y="6556248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906A63A-5CF2-5772-F734-849F370693C1}"/>
              </a:ext>
            </a:extLst>
          </p:cNvPr>
          <p:cNvSpPr/>
          <p:nvPr/>
        </p:nvSpPr>
        <p:spPr>
          <a:xfrm>
            <a:off x="320040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058C52A0-D751-BF64-38C8-78DCE136C16C}"/>
              </a:ext>
            </a:extLst>
          </p:cNvPr>
          <p:cNvSpPr/>
          <p:nvPr/>
        </p:nvSpPr>
        <p:spPr>
          <a:xfrm>
            <a:off x="402336" y="6638544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591CE2D-D23B-D8EB-5FD0-DBAE817A4898}"/>
              </a:ext>
            </a:extLst>
          </p:cNvPr>
          <p:cNvSpPr/>
          <p:nvPr/>
        </p:nvSpPr>
        <p:spPr>
          <a:xfrm>
            <a:off x="484632" y="6638544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2AF3787E-01F6-B899-2785-06CCE2E8BE0D}"/>
              </a:ext>
            </a:extLst>
          </p:cNvPr>
          <p:cNvSpPr/>
          <p:nvPr/>
        </p:nvSpPr>
        <p:spPr>
          <a:xfrm>
            <a:off x="567933" y="6419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AC49CA51-8E17-BE4F-84D5-114A9458ACD3}"/>
              </a:ext>
            </a:extLst>
          </p:cNvPr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F3DC3FB-EDD0-1BD0-7C74-C8AF79D7A70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45" name="Shape 1">
              <a:extLst>
                <a:ext uri="{FF2B5EF4-FFF2-40B4-BE49-F238E27FC236}">
                  <a16:creationId xmlns:a16="http://schemas.microsoft.com/office/drawing/2014/main" id="{68F64A48-BD3F-20A0-63E3-5A9EB76CD707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2">
              <a:extLst>
                <a:ext uri="{FF2B5EF4-FFF2-40B4-BE49-F238E27FC236}">
                  <a16:creationId xmlns:a16="http://schemas.microsoft.com/office/drawing/2014/main" id="{9C1A1E79-F5F7-4C26-C199-C535AE70DF1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Shape 3">
              <a:extLst>
                <a:ext uri="{FF2B5EF4-FFF2-40B4-BE49-F238E27FC236}">
                  <a16:creationId xmlns:a16="http://schemas.microsoft.com/office/drawing/2014/main" id="{1568CB24-4F77-1AD3-F498-7A2E6A48E54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4">
              <a:extLst>
                <a:ext uri="{FF2B5EF4-FFF2-40B4-BE49-F238E27FC236}">
                  <a16:creationId xmlns:a16="http://schemas.microsoft.com/office/drawing/2014/main" id="{6933AD37-FD98-326C-A6C5-2CCA8B4EBA8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DC2F3CC8-007A-0B4C-3A33-97C6331450F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6">
              <a:extLst>
                <a:ext uri="{FF2B5EF4-FFF2-40B4-BE49-F238E27FC236}">
                  <a16:creationId xmlns:a16="http://schemas.microsoft.com/office/drawing/2014/main" id="{A7E7A14F-922D-BFB7-AA06-8CD72E1CBA15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7">
              <a:extLst>
                <a:ext uri="{FF2B5EF4-FFF2-40B4-BE49-F238E27FC236}">
                  <a16:creationId xmlns:a16="http://schemas.microsoft.com/office/drawing/2014/main" id="{0328FBF2-A824-F1C2-8F07-F653E3D208DB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8">
              <a:extLst>
                <a:ext uri="{FF2B5EF4-FFF2-40B4-BE49-F238E27FC236}">
                  <a16:creationId xmlns:a16="http://schemas.microsoft.com/office/drawing/2014/main" id="{9D6D451A-C948-B8EE-3477-1BA3C58D4844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9">
              <a:extLst>
                <a:ext uri="{FF2B5EF4-FFF2-40B4-BE49-F238E27FC236}">
                  <a16:creationId xmlns:a16="http://schemas.microsoft.com/office/drawing/2014/main" id="{952AF950-1C3B-76AF-B0B9-8393720CE347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8700876-CB90-258C-605C-466FB0F34C9C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3" name="Shape 24">
              <a:extLst>
                <a:ext uri="{FF2B5EF4-FFF2-40B4-BE49-F238E27FC236}">
                  <a16:creationId xmlns:a16="http://schemas.microsoft.com/office/drawing/2014/main" id="{594DF085-4870-8DE4-9ABA-2DF574059AF1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25">
              <a:extLst>
                <a:ext uri="{FF2B5EF4-FFF2-40B4-BE49-F238E27FC236}">
                  <a16:creationId xmlns:a16="http://schemas.microsoft.com/office/drawing/2014/main" id="{49FD9D5F-6C49-CF84-D99C-FD78D58FCB1F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26">
              <a:extLst>
                <a:ext uri="{FF2B5EF4-FFF2-40B4-BE49-F238E27FC236}">
                  <a16:creationId xmlns:a16="http://schemas.microsoft.com/office/drawing/2014/main" id="{93B586F0-2AD0-B94A-F594-6604830A7C5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27">
              <a:extLst>
                <a:ext uri="{FF2B5EF4-FFF2-40B4-BE49-F238E27FC236}">
                  <a16:creationId xmlns:a16="http://schemas.microsoft.com/office/drawing/2014/main" id="{67BB06D0-DCB8-6CE4-1393-EB4DB17CD26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28">
              <a:extLst>
                <a:ext uri="{FF2B5EF4-FFF2-40B4-BE49-F238E27FC236}">
                  <a16:creationId xmlns:a16="http://schemas.microsoft.com/office/drawing/2014/main" id="{30B826F3-3E9A-F5D7-4D14-286F8C7E262E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1AF331A2-DF4D-6791-A232-D84D89D79B53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30">
              <a:extLst>
                <a:ext uri="{FF2B5EF4-FFF2-40B4-BE49-F238E27FC236}">
                  <a16:creationId xmlns:a16="http://schemas.microsoft.com/office/drawing/2014/main" id="{7FB05598-2123-AFF5-8317-EA2673A4CACE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31">
              <a:extLst>
                <a:ext uri="{FF2B5EF4-FFF2-40B4-BE49-F238E27FC236}">
                  <a16:creationId xmlns:a16="http://schemas.microsoft.com/office/drawing/2014/main" id="{17B17768-B52A-BA0C-83AE-58911B8BAA29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32">
              <a:extLst>
                <a:ext uri="{FF2B5EF4-FFF2-40B4-BE49-F238E27FC236}">
                  <a16:creationId xmlns:a16="http://schemas.microsoft.com/office/drawing/2014/main" id="{6A1D8776-66F2-9D54-FC41-EEF6BDCE5A0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Text 33">
            <a:extLst>
              <a:ext uri="{FF2B5EF4-FFF2-40B4-BE49-F238E27FC236}">
                <a16:creationId xmlns:a16="http://schemas.microsoft.com/office/drawing/2014/main" id="{83E8B4CD-5108-6607-FFA4-BF5D4F888D4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04654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F5164-D495-21B8-51DC-18FF4593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9AEE72-D7DF-6C52-5D19-CB34C26FFE47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9D67E6-1960-E1B6-BD6B-2D286CB3783D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54A8B1-A5ED-02F1-BFFB-60848FCD5129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F9C202-4E0F-D75B-F658-2E833390E55D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D352B19-7988-B729-485F-8740C00B3C66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5E962B1-C45E-B3C9-74CE-C1D133F7CBAA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54A6BB7-16DF-02EC-EDE2-29021A470E00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4D9BE6B-5ECB-8C48-F81F-E8DF283E38B1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059C229-F1AB-8F6F-FB0D-166FBB669F6D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275A2E6-C67D-0F73-4C4C-2EEA63A4BDA6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AB40385-9C67-5DF0-BCAF-EDB66F60F3B0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D92A7DD-6FDA-49E2-31BD-404CB13C6BD8}"/>
              </a:ext>
            </a:extLst>
          </p:cNvPr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9D45D36-8159-BE47-B502-7025253BBC11}"/>
              </a:ext>
            </a:extLst>
          </p:cNvPr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D3D11F7-86CC-9729-CDCF-A94903A68314}"/>
              </a:ext>
            </a:extLst>
          </p:cNvPr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02D01A3-89DE-CB1B-6B6C-E08313E88C85}"/>
              </a:ext>
            </a:extLst>
          </p:cNvPr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2910DD9-7905-6108-B97A-BA37B7DDE7EE}"/>
              </a:ext>
            </a:extLst>
          </p:cNvPr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3641226-9A03-9CBB-FAF7-C0071EA537DB}"/>
              </a:ext>
            </a:extLst>
          </p:cNvPr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35ED975-1B7C-40D9-7C43-DFCF2C368AB0}"/>
              </a:ext>
            </a:extLst>
          </p:cNvPr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E01CB19-A0FE-5D7E-4834-60AC68E96B3F}"/>
              </a:ext>
            </a:extLst>
          </p:cNvPr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085CA26-5E09-5CCA-C05C-F2DB8B41251F}"/>
              </a:ext>
            </a:extLst>
          </p:cNvPr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1B2295E-4280-A99D-2AC1-622FCD5DAC49}"/>
              </a:ext>
            </a:extLst>
          </p:cNvPr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B344762-90DF-F618-A0C3-17C665EB28BC}"/>
              </a:ext>
            </a:extLst>
          </p:cNvPr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B7F5050-7BBE-50EA-F05D-97C1445E06D3}"/>
              </a:ext>
            </a:extLst>
          </p:cNvPr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관리자 – 데이터 입력 – 시공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82716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개요 및 월별 진도율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Panel Header"/>
          <p:cNvSpPr/>
          <p:nvPr/>
        </p:nvSpPr>
        <p:spPr>
          <a:xfrm>
            <a:off x="7589463" y="1770459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9463" y="2290459"/>
            <a:ext cx="4211840" cy="306835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9463" y="2440459"/>
            <a:ext cx="3811840" cy="227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선택: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좌측 트리에서 현장을 선택한 후 </a:t>
            </a:r>
            <a:r>
              <a:rPr lang="en-US" sz="11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시공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또는 </a:t>
            </a:r>
            <a:r>
              <a:rPr lang="en-US" sz="11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용역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선택하여 표시되는 데이터 입력 카드를 전환합니다.</a:t>
            </a:r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관리: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진행중/마감 전환 컨트롤을 사용하면 완료된 현장을 마감 처리하여 트리의 진행중/마감 목록 간에 이동시킬 수 있습니다.</a:t>
            </a:r>
            <a:endParaRPr lang="en-US" sz="11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방식: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카드에는 개별 저장 버튼이 있으며, 상단에는 전체저장 버튼이 있습니다. 잠금 토글을 사용하면 계획이 확정된 카드를 고정할 수 있습니다.</a:t>
            </a:r>
            <a:endParaRPr lang="en-US" sz="1100" dirty="0"/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0399AF-46F7-D3EC-7487-9B11CC70D84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4C727300-C9CF-2A33-7D60-8B1FB4263019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1B55EB9-2752-92A6-23B4-13D0DFD1CB5D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5106152-5626-2560-2C8C-212F77CBBBCF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6742394D-22DF-9C61-712B-708DD3873E7A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7D13766B-CF33-BF12-4EDC-ABAF6564F46C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6346481-8760-0FBC-079A-0B64F69265F5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CA52F9E8-0742-1A9B-09D2-872AD7BF8C59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AD22235F-D958-2043-2F4B-7055B663657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929ED8C-D38D-D269-DBB3-27D9FF901D7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B98A64-FB0F-2C20-2B6F-E16D57290939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86C7DA21-95F6-0E52-33EC-EE7BE785579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546FD496-EC4B-ECDF-54D2-72B5C78AE1F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4AFA158-9FC1-90CC-D3D8-47D1FEE2C14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8188CD8-8141-390C-0F9A-D7716F2843E5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7C815C15-48DA-2AA4-C58C-3D23098721F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AB3C4181-A7A7-43F6-EA14-0800A7758ABB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7C98CC63-0F5E-00B4-D534-CF81BC42F618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600BB3C-13EA-E498-DF93-006F5E8BEF1B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B100BFE-1831-FBF7-792C-12BCFCF9E2D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CE98D4D-A7F3-51E1-8D80-6324D11E2A9F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89A36C-E0D0-6B78-453B-4DD54E62D512}"/>
              </a:ext>
            </a:extLst>
          </p:cNvPr>
          <p:cNvGrpSpPr/>
          <p:nvPr/>
        </p:nvGrpSpPr>
        <p:grpSpPr>
          <a:xfrm>
            <a:off x="281525" y="1797267"/>
            <a:ext cx="7165290" cy="3561548"/>
            <a:chOff x="603504" y="2271924"/>
            <a:chExt cx="6498280" cy="3168316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6831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95164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5352748" y="3155790"/>
              <a:ext cx="367716" cy="18705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/>
            <p:cNvSpPr/>
            <p:nvPr/>
          </p:nvSpPr>
          <p:spPr>
            <a:xfrm>
              <a:off x="6591300" y="3156058"/>
              <a:ext cx="352425" cy="18407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5197707" y="297555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3" name="Box 4">
              <a:extLst>
                <a:ext uri="{FF2B5EF4-FFF2-40B4-BE49-F238E27FC236}">
                  <a16:creationId xmlns:a16="http://schemas.microsoft.com/office/drawing/2014/main" id="{58034494-6909-CB39-7657-0D5284211F75}"/>
                </a:ext>
              </a:extLst>
            </p:cNvPr>
            <p:cNvSpPr/>
            <p:nvPr/>
          </p:nvSpPr>
          <p:spPr>
            <a:xfrm>
              <a:off x="5745440" y="3153083"/>
              <a:ext cx="845860" cy="18705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Callout 1">
              <a:extLst>
                <a:ext uri="{FF2B5EF4-FFF2-40B4-BE49-F238E27FC236}">
                  <a16:creationId xmlns:a16="http://schemas.microsoft.com/office/drawing/2014/main" id="{104DD8B1-33D3-8A5C-8281-EAFF4067ED00}"/>
                </a:ext>
              </a:extLst>
            </p:cNvPr>
            <p:cNvSpPr/>
            <p:nvPr/>
          </p:nvSpPr>
          <p:spPr>
            <a:xfrm>
              <a:off x="5757040" y="297555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5" name="Callout 1">
              <a:extLst>
                <a:ext uri="{FF2B5EF4-FFF2-40B4-BE49-F238E27FC236}">
                  <a16:creationId xmlns:a16="http://schemas.microsoft.com/office/drawing/2014/main" id="{7CDBC127-87D1-0ADC-60BD-442693FF73CC}"/>
                </a:ext>
              </a:extLst>
            </p:cNvPr>
            <p:cNvSpPr/>
            <p:nvPr/>
          </p:nvSpPr>
          <p:spPr>
            <a:xfrm>
              <a:off x="6881784" y="297555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A628E-6234-79F1-A38F-498FE651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23FC83-39AB-3BDB-320D-0E663C5976A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28ABE0A-EEE2-F050-D655-B3E187081104}"/>
              </a:ext>
            </a:extLst>
          </p:cNvPr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개요 및 월별 진도율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641F194-5BC1-CDB6-74A8-129E2415B6B8}"/>
              </a:ext>
            </a:extLst>
          </p:cNvPr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F86DB83-E346-C923-06DB-F3D9C4A1F86A}"/>
              </a:ext>
            </a:extLst>
          </p:cNvPr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84A271A-0405-83D2-0C1E-5DF236589A65}"/>
              </a:ext>
            </a:extLst>
          </p:cNvPr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2E7B4CB-581B-423F-ED5C-262FC9A59BAB}"/>
              </a:ext>
            </a:extLst>
          </p:cNvPr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E260F4A-1B1A-381F-D039-75444F4B34E6}"/>
              </a:ext>
            </a:extLst>
          </p:cNvPr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4A8CBC8-739B-ED09-A6C6-96048D87E7E5}"/>
              </a:ext>
            </a:extLst>
          </p:cNvPr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0948B05-DF33-EA14-48CE-4C55161E59B0}"/>
              </a:ext>
            </a:extLst>
          </p:cNvPr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B8EAB78-3D36-FE78-106A-3FA9946DB0C5}"/>
              </a:ext>
            </a:extLst>
          </p:cNvPr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71D088D-1E8B-8664-BA94-AC3D6E79483A}"/>
              </a:ext>
            </a:extLst>
          </p:cNvPr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FA7383C-A003-C1F3-3ADA-FA38203C1223}"/>
              </a:ext>
            </a:extLst>
          </p:cNvPr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A191DA8-7F12-75C1-EDC1-D5CAEC7DB855}"/>
              </a:ext>
            </a:extLst>
          </p:cNvPr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890E22-CB18-43EB-D063-CA55320CA929}"/>
              </a:ext>
            </a:extLst>
          </p:cNvPr>
          <p:cNvGrpSpPr/>
          <p:nvPr/>
        </p:nvGrpSpPr>
        <p:grpSpPr>
          <a:xfrm>
            <a:off x="320039" y="1775348"/>
            <a:ext cx="7075767" cy="3548985"/>
            <a:chOff x="603504" y="2271924"/>
            <a:chExt cx="6473152" cy="3168316"/>
          </a:xfrm>
        </p:grpSpPr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9528C94-78E9-CB22-37E3-B3162181EBFA}"/>
                </a:ext>
              </a:extLst>
            </p:cNvPr>
            <p:cNvSpPr/>
            <p:nvPr/>
          </p:nvSpPr>
          <p:spPr>
            <a:xfrm>
              <a:off x="603504" y="2271924"/>
              <a:ext cx="6473152" cy="3168316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>
              <a:extLst>
                <a:ext uri="{FF2B5EF4-FFF2-40B4-BE49-F238E27FC236}">
                  <a16:creationId xmlns:a16="http://schemas.microsoft.com/office/drawing/2014/main" id="{52585BB7-85AB-701D-4AB9-517E716AD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95164"/>
            </a:xfrm>
            <a:prstGeom prst="rect">
              <a:avLst/>
            </a:prstGeom>
          </p:spPr>
        </p:pic>
        <p:sp>
          <p:nvSpPr>
            <p:cNvPr id="101" name="Box 2">
              <a:extLst>
                <a:ext uri="{FF2B5EF4-FFF2-40B4-BE49-F238E27FC236}">
                  <a16:creationId xmlns:a16="http://schemas.microsoft.com/office/drawing/2014/main" id="{6EC86761-A506-7EC3-DFEC-D262FAA67B22}"/>
                </a:ext>
              </a:extLst>
            </p:cNvPr>
            <p:cNvSpPr/>
            <p:nvPr/>
          </p:nvSpPr>
          <p:spPr>
            <a:xfrm>
              <a:off x="1405551" y="3373890"/>
              <a:ext cx="5591264" cy="93149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>
              <a:extLst>
                <a:ext uri="{FF2B5EF4-FFF2-40B4-BE49-F238E27FC236}">
                  <a16:creationId xmlns:a16="http://schemas.microsoft.com/office/drawing/2014/main" id="{C2A6931F-07D4-EE24-7FD6-99F7E617BE32}"/>
                </a:ext>
              </a:extLst>
            </p:cNvPr>
            <p:cNvSpPr/>
            <p:nvPr/>
          </p:nvSpPr>
          <p:spPr>
            <a:xfrm>
              <a:off x="1405551" y="4355302"/>
              <a:ext cx="5591264" cy="1015081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Box 4">
              <a:extLst>
                <a:ext uri="{FF2B5EF4-FFF2-40B4-BE49-F238E27FC236}">
                  <a16:creationId xmlns:a16="http://schemas.microsoft.com/office/drawing/2014/main" id="{FD98DF7D-6C55-CEC3-61A6-AADD88A0D1B7}"/>
                </a:ext>
              </a:extLst>
            </p:cNvPr>
            <p:cNvSpPr/>
            <p:nvPr/>
          </p:nvSpPr>
          <p:spPr>
            <a:xfrm>
              <a:off x="6447672" y="3416768"/>
              <a:ext cx="549142" cy="8320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Callout 2">
              <a:extLst>
                <a:ext uri="{FF2B5EF4-FFF2-40B4-BE49-F238E27FC236}">
                  <a16:creationId xmlns:a16="http://schemas.microsoft.com/office/drawing/2014/main" id="{E4B45E9D-F421-7342-59DA-05F3F8BC4ACA}"/>
                </a:ext>
              </a:extLst>
            </p:cNvPr>
            <p:cNvSpPr/>
            <p:nvPr/>
          </p:nvSpPr>
          <p:spPr>
            <a:xfrm>
              <a:off x="1252285" y="322769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2" name="Callout 3">
              <a:extLst>
                <a:ext uri="{FF2B5EF4-FFF2-40B4-BE49-F238E27FC236}">
                  <a16:creationId xmlns:a16="http://schemas.microsoft.com/office/drawing/2014/main" id="{9EBA3645-AB41-835F-2CB3-FB49C371FC43}"/>
                </a:ext>
              </a:extLst>
            </p:cNvPr>
            <p:cNvSpPr/>
            <p:nvPr/>
          </p:nvSpPr>
          <p:spPr>
            <a:xfrm>
              <a:off x="1218918" y="424530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3" name="Callout 4">
              <a:extLst>
                <a:ext uri="{FF2B5EF4-FFF2-40B4-BE49-F238E27FC236}">
                  <a16:creationId xmlns:a16="http://schemas.microsoft.com/office/drawing/2014/main" id="{9042C8F4-5D4F-F0ED-5662-6F9AFEFC6C18}"/>
                </a:ext>
              </a:extLst>
            </p:cNvPr>
            <p:cNvSpPr/>
            <p:nvPr/>
          </p:nvSpPr>
          <p:spPr>
            <a:xfrm>
              <a:off x="6242444" y="334473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>
            <a:extLst>
              <a:ext uri="{FF2B5EF4-FFF2-40B4-BE49-F238E27FC236}">
                <a16:creationId xmlns:a16="http://schemas.microsoft.com/office/drawing/2014/main" id="{7C5E272A-7D1C-5427-8FDA-EF5E659C3B04}"/>
              </a:ext>
            </a:extLst>
          </p:cNvPr>
          <p:cNvSpPr/>
          <p:nvPr/>
        </p:nvSpPr>
        <p:spPr>
          <a:xfrm>
            <a:off x="7620140" y="1255348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>
            <a:extLst>
              <a:ext uri="{FF2B5EF4-FFF2-40B4-BE49-F238E27FC236}">
                <a16:creationId xmlns:a16="http://schemas.microsoft.com/office/drawing/2014/main" id="{4C2A6099-F2A6-1B3F-9CC2-9D57A2D0B252}"/>
              </a:ext>
            </a:extLst>
          </p:cNvPr>
          <p:cNvSpPr/>
          <p:nvPr/>
        </p:nvSpPr>
        <p:spPr>
          <a:xfrm>
            <a:off x="7620140" y="1775348"/>
            <a:ext cx="4211840" cy="428712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>
            <a:extLst>
              <a:ext uri="{FF2B5EF4-FFF2-40B4-BE49-F238E27FC236}">
                <a16:creationId xmlns:a16="http://schemas.microsoft.com/office/drawing/2014/main" id="{9D0A9E92-5322-253C-3D45-F6CB94B31054}"/>
              </a:ext>
            </a:extLst>
          </p:cNvPr>
          <p:cNvSpPr txBox="1"/>
          <p:nvPr/>
        </p:nvSpPr>
        <p:spPr>
          <a:xfrm>
            <a:off x="7820140" y="1925348"/>
            <a:ext cx="3811840" cy="2275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0. 개요(개요 탭):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계약금액, 착공/준공일: PIMSVINA 동기화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공통 &gt; 공사개요 &gt; 공사개요 등록 &gt; 공사기간 탭 &gt; 계약금액, 실착공일 - 실준공일/예정준공일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나머지 항목: 수동 입력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  1. 월별 진도율(진도율 탭):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월간 계획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(%): 수동 입력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월간 실적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(%) = (①매월/(②-③)) × 100%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① 월별(1-12) 입력 합계 커럼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② 집행예산 &gt; 금액 합계 커럼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③ 집행품의(현장) 집행예산 합계 커럼에서 실행 합계 커럼을 차감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누계 계획(%), 누계 실적(%):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 누계 계산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각 카드에는 원본 계획 버전과, 확정 시 사용하는 잠금 토글이 표시됩니다.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DC53DE39-1801-6587-CC70-90C1E3C37713}"/>
              </a:ext>
            </a:extLst>
          </p:cNvPr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D9E69F-4C3F-A9DF-5202-DAA91452903B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A5977464-AED2-3576-DA1D-529B2A38298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CC268C4F-8E7B-5199-159B-F7C0E7D96E86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C24EAC4F-1AB5-70AB-73D6-BB2B5F8A9481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02E9C8A7-A140-01CA-AF9C-F0D40BC9F015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2AA8CFCA-BF96-EDFF-EEAB-E2D0A09E5C6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0D949BC4-7467-D7E0-B235-EBD39782CF90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B4E22C93-2016-5289-281F-98A68CB03010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0E0816A1-D659-FF69-F479-3A01B626509B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C5A40F95-C9BE-D605-CF2B-B840C1FBF4B3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A685FE5-C97F-F139-9928-D00113C19BD7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ED265EA-08B2-0665-2AA5-BDB52639D61B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E2055A51-2791-E75B-15C6-0F3B57AEEF17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0FF5D209-CB74-799B-3E98-699BC87B3C09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1E29809E-F049-422A-B5B0-594EDDA79176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B1F77272-FD5A-4979-ED6D-0BEF0C2533D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DD570FF0-7CC9-955A-8817-D62F5ED9885A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7BE4D838-E1D3-6ABD-B499-06DE80A6B65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7F873042-7852-3D83-B9B6-FE586BF916D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AE8F097-D117-FB7F-AB16-62CA5AD1535D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828182E-8CE5-2884-C014-E609A6BC2C1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02146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월별 매출 및 마일스톤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Panel Header"/>
          <p:cNvSpPr/>
          <p:nvPr/>
        </p:nvSpPr>
        <p:spPr>
          <a:xfrm>
            <a:off x="7629175" y="1888707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9175" y="2408706"/>
            <a:ext cx="4211840" cy="3063977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9175" y="2558706"/>
            <a:ext cx="3811840" cy="2387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2. 월별 매출(매출 탭, K USD):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연/월별 매출 계획 및 실적/전망: 가져온 엑셀 데이터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전년도 누계 추가를 사용하면 당해연도 이전 누계 매출을 입력할 자유행(월 = 0)이 추가됩니다.</a:t>
            </a:r>
          </a:p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보고서 탭의 매출 실적 및 전망 차트의 출처이며, 수정은 이 화면이 아닌 엑셀 업로드를 통해 이루어집니다.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3. 마일스톤(진도율 탭):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항목별 계획/실적 시작일 및 종료일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수동 입력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일괄 수정을 위한 엑셀 다운로드/업로드,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추가: 마일스톤을 추가합니다.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4725A3-DDB6-DAC9-CAED-DCF78D592BBA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44BCB0C-722B-2478-D19A-218DE2743E1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FED26A84-A764-6CB8-9B96-6FEB3C7AB9D6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8DEE724D-BFCB-C046-59AC-ABDC7B3937DC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F46886D-AC3E-928C-C26E-739830CB492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BCA5398F-7FBB-B17D-579C-2D033E9C4C6D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27B8F84-ABA7-6397-6476-18DB97AC2C3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DC88465A-9524-26A3-29D6-08E80A9B5897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89E3D6C-3CC7-18EA-D680-7A5A9BCA971A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B21D9DD-C6B8-875D-2E9B-8DCD01933DEA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07E8FC-87AD-99DB-E428-3B4F78D13065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A3E09D5-F4E8-7313-7CA1-DCE32522497B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2A578427-2B45-ABC5-0707-FAD261CD788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C447691-01BD-44BA-CBD4-0C2E54F2B5C4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4202364A-70BF-A3DC-C10C-531F29D4219E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DD0BA5BC-A2BD-CF6E-3230-44AC36235B69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52C5B62F-A227-FBE0-4BF2-B97C2E562DB1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16E5ACA4-72B0-46D5-8CAA-50F2D1F46B3D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60C4C66-F0A0-4F72-070C-7B8EE58681DD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36ABE29-4938-1338-2D3D-D718C617A5DA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A6FF8318-E603-AEB5-AD70-BE106578E1F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AFFCF-A029-D66F-28B7-447B3FAA0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85" y="1888707"/>
            <a:ext cx="7144183" cy="3385091"/>
          </a:xfrm>
          <a:prstGeom prst="rect">
            <a:avLst/>
          </a:prstGeom>
        </p:spPr>
      </p:pic>
      <p:sp>
        <p:nvSpPr>
          <p:cNvPr id="7" name="Box 2">
            <a:extLst>
              <a:ext uri="{FF2B5EF4-FFF2-40B4-BE49-F238E27FC236}">
                <a16:creationId xmlns:a16="http://schemas.microsoft.com/office/drawing/2014/main" id="{DB2C7C92-D680-BB03-7938-0C1FED1A6871}"/>
              </a:ext>
            </a:extLst>
          </p:cNvPr>
          <p:cNvSpPr/>
          <p:nvPr/>
        </p:nvSpPr>
        <p:spPr>
          <a:xfrm>
            <a:off x="1076512" y="2222463"/>
            <a:ext cx="6418656" cy="155590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Box 3">
            <a:extLst>
              <a:ext uri="{FF2B5EF4-FFF2-40B4-BE49-F238E27FC236}">
                <a16:creationId xmlns:a16="http://schemas.microsoft.com/office/drawing/2014/main" id="{6A8CB71E-5C3A-FE5C-D7A1-559727AD1AFC}"/>
              </a:ext>
            </a:extLst>
          </p:cNvPr>
          <p:cNvSpPr/>
          <p:nvPr/>
        </p:nvSpPr>
        <p:spPr>
          <a:xfrm>
            <a:off x="1076512" y="3802761"/>
            <a:ext cx="5954016" cy="222043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llout 2">
            <a:extLst>
              <a:ext uri="{FF2B5EF4-FFF2-40B4-BE49-F238E27FC236}">
                <a16:creationId xmlns:a16="http://schemas.microsoft.com/office/drawing/2014/main" id="{6D851760-5C01-4C55-375F-E9150E6506A0}"/>
              </a:ext>
            </a:extLst>
          </p:cNvPr>
          <p:cNvSpPr/>
          <p:nvPr/>
        </p:nvSpPr>
        <p:spPr>
          <a:xfrm>
            <a:off x="955986" y="2054758"/>
            <a:ext cx="240481" cy="246433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8" name="Callout 3">
            <a:extLst>
              <a:ext uri="{FF2B5EF4-FFF2-40B4-BE49-F238E27FC236}">
                <a16:creationId xmlns:a16="http://schemas.microsoft.com/office/drawing/2014/main" id="{D8141370-7A6C-200D-328B-1BA437081E59}"/>
              </a:ext>
            </a:extLst>
          </p:cNvPr>
          <p:cNvSpPr/>
          <p:nvPr/>
        </p:nvSpPr>
        <p:spPr>
          <a:xfrm>
            <a:off x="868680" y="3661979"/>
            <a:ext cx="240481" cy="246433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30" name="Callout 4">
            <a:extLst>
              <a:ext uri="{FF2B5EF4-FFF2-40B4-BE49-F238E27FC236}">
                <a16:creationId xmlns:a16="http://schemas.microsoft.com/office/drawing/2014/main" id="{0FEBAABF-DB78-DD08-2100-08E812E07421}"/>
              </a:ext>
            </a:extLst>
          </p:cNvPr>
          <p:cNvSpPr/>
          <p:nvPr/>
        </p:nvSpPr>
        <p:spPr>
          <a:xfrm>
            <a:off x="868680" y="3984026"/>
            <a:ext cx="240481" cy="246433"/>
          </a:xfrm>
          <a:prstGeom prst="ellipse">
            <a:avLst/>
          </a:prstGeom>
          <a:solidFill>
            <a:srgbClr val="1F3A6E"/>
          </a:solidFill>
          <a:ln w="952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1" name="Box 3">
            <a:extLst>
              <a:ext uri="{FF2B5EF4-FFF2-40B4-BE49-F238E27FC236}">
                <a16:creationId xmlns:a16="http://schemas.microsoft.com/office/drawing/2014/main" id="{B68BCDF4-CEFB-51D0-7363-C517A395FA61}"/>
              </a:ext>
            </a:extLst>
          </p:cNvPr>
          <p:cNvSpPr/>
          <p:nvPr/>
        </p:nvSpPr>
        <p:spPr>
          <a:xfrm>
            <a:off x="1076510" y="4080780"/>
            <a:ext cx="6418657" cy="1217408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1F3A6E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공종별 원가 계획/실적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831A07-9E73-735B-18CF-AFFBD86109CB}"/>
              </a:ext>
            </a:extLst>
          </p:cNvPr>
          <p:cNvGrpSpPr/>
          <p:nvPr/>
        </p:nvGrpSpPr>
        <p:grpSpPr>
          <a:xfrm>
            <a:off x="320040" y="1967652"/>
            <a:ext cx="7081398" cy="3459484"/>
            <a:chOff x="603504" y="2271924"/>
            <a:chExt cx="6473152" cy="3141554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4155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8402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361582" y="3940983"/>
              <a:ext cx="5641852" cy="143258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6187191" y="3974299"/>
              <a:ext cx="816242" cy="8329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23527" y="383758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6077191" y="392214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620107" y="197114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0107" y="2491144"/>
            <a:ext cx="4211840" cy="293599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820107" y="2641144"/>
            <a:ext cx="3811840" cy="224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4. 공종별 원가 계획/실적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선택한 연도의 공종별(주요공사, 건축, 기계, 전기, 토목, 조경, 경비 1/2 등) 월별 원가 계획/실적입니다.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7. 외주/자재(외주 탭)에서 산출되며,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공종그룹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기준입니다.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합계는 보고서 및 매출/원가의 원가 수치로 집계되며, 우측 상단 연도 선택기로 회계연도를 전환할 수 있습니다.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86C5D9-2B57-0587-7E34-D325805939A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925CD88F-F87F-8EAF-E427-3D257E5855B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72E90891-8FD9-4105-6E4D-205D6D22798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BB046CDA-F136-6D0F-F654-7BF16FD7F3C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270E77B-A943-DC7A-E3DE-F990A070F91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8F1E6FC7-D544-4C81-4A7A-565392BC57B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8A53CB03-B149-47B6-C51C-4EDCD419F3A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62EB227-D6A8-9AC7-5115-A89AB9CD6013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B04C041D-CDAB-D572-3CF5-F1A62D9AF56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2759D5B-9301-C0EF-28D2-3D100EB8F313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1B1D9A9-4B6B-8989-F3C5-572B4B90299B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4698FADF-C74F-076A-33FF-31CE76EB0AF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777699B2-4169-9E17-7426-13BBFA33855A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E8B1536-E5B6-612D-055E-CC8556DEC179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74BD515F-43B1-EC8C-B6BB-05169F0F96A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B83AB58F-97E1-B232-A0AB-142EAD53C7D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8FDCF80D-1536-B4BE-2B34-F9064DCF045C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E373662A-4F95-BE55-04A4-7C0EA4F484FE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5C2E454B-E270-57E2-8039-113D1EE8E41F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D95CAE05-A953-0919-C781-9BFC5C2EBDE0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7BFAB2A4-6344-0C78-5ECC-6BB20CE43A58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원가율 및 예산집행현황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43DEB28-8C09-51E9-5EC2-7239FB5C8641}"/>
              </a:ext>
            </a:extLst>
          </p:cNvPr>
          <p:cNvGrpSpPr/>
          <p:nvPr/>
        </p:nvGrpSpPr>
        <p:grpSpPr>
          <a:xfrm>
            <a:off x="320040" y="1932948"/>
            <a:ext cx="7087578" cy="3497064"/>
            <a:chOff x="603504" y="2271924"/>
            <a:chExt cx="6473152" cy="3143557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4355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0405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4358" y="2358344"/>
              <a:ext cx="5582555" cy="7144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4358" y="3121281"/>
              <a:ext cx="5582555" cy="225762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07128" y="227796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41190" y="310331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21284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1732844"/>
            <a:ext cx="4211840" cy="4616198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1882844"/>
            <a:ext cx="3811840" cy="225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5. 원가율(원가 탭):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입찰: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수동 입력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집행예산 설정, 준공예정원가율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원가 &gt; 정산원가율 &gt; 정산원가율 &gt; 월 컨럼 행 &gt; 사업예산, 계약금액, 매출총이익률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비율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(%) = 원가 ÷ 계약금액. 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6. 예산집행현황(원가 탭): </a:t>
            </a:r>
            <a:endParaRPr lang="en-US" sz="1100" b="1" dirty="0">
              <a:solidFill>
                <a:srgbClr val="262626"/>
              </a:solidFill>
              <a:latin typeface="Calibri" pitchFamily="34" charset="0"/>
            </a:endParaRP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집행계획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예산: PIMSVINA - 원가 &gt; 원가실적 &gt; 집행내역별 원가입력현황 &gt; 예산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월별: 수동 입력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집행실적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예산: PIMSVINA - 원가 &gt; 원가실적 &gt; 집행내역별 원가입력현황 &gt; 예산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월별: PIMSVINA - 원가 &gt; 원가실적 &gt; 집행내역별 원가입력현황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직접비 행 &gt; 공통공사, 경비I, </a:t>
            </a:r>
            <a:r>
              <a:rPr lang="en-US" sz="1100" dirty="0" err="1">
                <a:solidFill>
                  <a:srgbClr val="262626"/>
                </a:solidFill>
                <a:latin typeface="Calibri" pitchFamily="34" charset="0"/>
              </a:rPr>
              <a:t>외주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(공통공사, 경비I에 없는 데이터)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- 간접비 행 &gt; 경비II - 예비비 행 &gt; 예비비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12FDB2-0B05-DFC6-BDE9-44F8B3EA903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0A101812-8C94-68B2-34BD-40887FCAF2C8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A881A9A-7C46-C4CE-3A80-75503D087F3D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90387FA-C896-77B8-1456-BE953231DB20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8B6A395-096B-5351-1015-3032A6AE7E0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6966339D-8C74-60FF-4FB8-D2A0FFC9E7D9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3E2DF68-E72D-E8D3-1706-7E8DBF8B2FDF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651011EF-9D21-2C8A-06A1-FA5C1959FC6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0550EAE4-7F6A-348A-2171-D1D55ED25255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DE105A71-2C32-11D3-AFE2-6B77A60D4BAB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B19C7E6-4E30-B5E7-D9EB-17A99A694B6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CD3D2829-1B2A-D6CA-8B8F-5A8AB3FA78C0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9498A2E-07ED-2634-AF33-BA1D1E508F34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633F052A-F2A1-64FE-4FFE-A4E81D70608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C449B3A9-ECBA-78DE-7CD7-14BFFC3C789E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32E761B8-402E-034F-1B97-160F7442D04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2EFE27BB-4211-2975-7448-F3DD7DECE86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E1C644E-E1B0-87DF-F378-F2412AE1DA5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3AEC60CD-83B7-574B-38D9-18B1294D1D4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215A133-91F6-13C1-D178-ABAAD2BAB05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10BA1662-A28E-1D29-6FD2-DC956A8E7739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월별 계획/실적 및 외주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976AA7-25B6-A933-08AA-3A0C4CA9EA31}"/>
              </a:ext>
            </a:extLst>
          </p:cNvPr>
          <p:cNvGrpSpPr/>
          <p:nvPr/>
        </p:nvGrpSpPr>
        <p:grpSpPr>
          <a:xfrm>
            <a:off x="320040" y="1726301"/>
            <a:ext cx="7075767" cy="3710919"/>
            <a:chOff x="603504" y="2265412"/>
            <a:chExt cx="6473152" cy="3176331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69819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96667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6747" y="2308500"/>
              <a:ext cx="5600000" cy="230000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388459" y="4719499"/>
              <a:ext cx="5600000" cy="685668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5929315" y="4758500"/>
              <a:ext cx="1050000" cy="8333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60171" y="226541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23460" y="458016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5735782" y="469016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5807" y="1240411"/>
            <a:ext cx="4211840" cy="433498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5807" y="1733909"/>
            <a:ext cx="4211840" cy="4355995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95807" y="1883909"/>
            <a:ext cx="3811840" cy="227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월별 계획/실적(연간): 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</a:rPr>
              <a:t>-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필터 기준으로 6. 예산집행현황(원가 탭)에서 가져온 데이터입니다.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7. 외주/자재(외주 탭):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예산(A), 집행예산, 기성금액(B):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외주 &gt; 집행품의(현장) &gt; 집행품의(현장) &gt; 집행예산, 운영예산, 실행금액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당월 기성금액, 누계 기성금액(C)):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외주 &gt; 실행기성금(현장) &gt; 기성현황 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당월 탭 컨럼 </a:t>
            </a:r>
            <a:r>
              <a:rPr lang="ko-KR" altLang="en-US" sz="1100" dirty="0">
                <a:solidFill>
                  <a:srgbClr val="262626"/>
                </a:solidFill>
                <a:latin typeface="Calibri" pitchFamily="34" charset="0"/>
              </a:rPr>
              <a:t>당월기성금액 </a:t>
            </a:r>
            <a:r>
              <a:rPr lang="en-US" altLang="ko-KR" sz="1100" dirty="0">
                <a:solidFill>
                  <a:srgbClr val="262626"/>
                </a:solidFill>
                <a:latin typeface="Calibri" pitchFamily="34" charset="0"/>
              </a:rPr>
              <a:t>(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B)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전체 탭 컨럼 기성금액 &gt; 금액(B)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기성금액 입력 전 우측 상단에서 월/연도를 선택한 후 저장합니다. 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6ADEC63-3B33-C202-35E5-CF009863D96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D618B777-DD37-2546-5357-063B6DA7AE58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EC5DABD3-3CB5-F629-D661-2A73E3433F2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2E8C0AF7-5B3D-3DA4-141A-2675AF7AB219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B4965A3-D1E9-7BFF-D856-5FBF78B8194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FEF0EC2F-EDD9-5F57-1BF9-DA96ED0353D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1A055A8B-AD4C-359B-1B5F-D1B046A04A0C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5B3DD2E-11D8-3DF7-C4DF-6C1CD954F12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3AD0CFCE-9B62-8426-2A3D-4225B22D1EDF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9FA4ADB1-0BBB-2FD5-03DF-848EE2AA8C69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ADB287D-D8A7-1A03-6700-F1525F7FC83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2659585-EE1D-394B-47F8-B857935842FE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A832F171-56E5-E692-2E5E-85D37C40AFFC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0387ADAE-12B7-DEC7-2D36-961002B7FC28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61A24AF-4FC4-D605-939E-6B5202A69171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C5F813A5-C219-EB37-BE3F-6838FC7F9D96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B4BC94FA-D340-BB33-4079-8C25F7E60BE5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0D58DAF-72A0-F303-08AF-1128B7AB8C1A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E93BCDC3-B824-D4EE-8DD4-1CC7AF859C57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C77106B6-22ED-1C40-D697-9AC6E428945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2261342-B3C7-68AD-55D0-DA7090F5597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외주, 자금현황 및 현장사진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17059D-1E14-14D7-AB59-36880B83AE50}"/>
              </a:ext>
            </a:extLst>
          </p:cNvPr>
          <p:cNvGrpSpPr/>
          <p:nvPr/>
        </p:nvGrpSpPr>
        <p:grpSpPr>
          <a:xfrm>
            <a:off x="320040" y="1874072"/>
            <a:ext cx="7069423" cy="3529944"/>
            <a:chOff x="603504" y="2271924"/>
            <a:chExt cx="6473152" cy="3153027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53027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9875"/>
            </a:xfrm>
            <a:prstGeom prst="rect">
              <a:avLst/>
            </a:prstGeom>
          </p:spPr>
        </p:pic>
        <p:sp>
          <p:nvSpPr>
            <p:cNvPr id="101" name="Box 2"/>
            <p:cNvSpPr/>
            <p:nvPr/>
          </p:nvSpPr>
          <p:spPr>
            <a:xfrm>
              <a:off x="1407546" y="3433516"/>
              <a:ext cx="5605839" cy="131085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7546" y="4961263"/>
              <a:ext cx="5605839" cy="35036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42418" y="331911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49598" y="476973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89463" y="1874072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89463" y="2394072"/>
            <a:ext cx="4211840" cy="300994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89463" y="2544072"/>
            <a:ext cx="3811840" cy="225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8. 월별 자금현황(자금현황 탭):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현금 유입/유출: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PIMSVINA 동기화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자금현황 &gt; 보고서 &gt; 자금현황보고서 &gt; 수입 &gt; 월(1-12) 지출 &gt; 월(1-12)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현금잔액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= 현금유입 – 현금유출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확정진도율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수동 입력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현장사진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업로드할 사진을 선택합니다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슬라이드쇼 간격(초)을 설정하면 자동으로 전환되며, 0으로 설정하면 비활성화됩니다. 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BFDEFB-20BC-5E3B-BED7-BEBA38F57434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61405A18-9F58-791B-41A6-789DD8669BA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C83A0E8E-E843-7E56-30CD-AC9618A7A4EA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5B45F25B-C8D9-D162-379B-59A270EBCC41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66DC221-0C5C-F0DC-DB49-13E7FFACD032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6B3B8263-22BD-E9CD-C612-92D6B2CDB348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79A7FB2-6C40-9EF3-8AB7-BDFC1BFBF6F6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87F8AA8-39C1-9DE0-3B84-C206216CB51A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5C1BC321-D246-1744-C242-F52B10573892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1666BCAD-B478-F68D-3CC0-488CE7D155F7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FF4471A-D77F-4D22-DC34-CED7932A7A5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7F0AEB06-0228-76A7-B8F9-D27DA3B601F5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C2020FB-4FE0-4803-59DD-3D8132816123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913EA25-4FA0-38A8-0176-BCE358B8566F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3B378F35-C108-8181-C14B-EDEA6EBEFF10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463C881-F230-A098-6EA9-31A733642A67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94A1277F-2B8D-EC4B-02DE-AB9D5E6EF1B9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408C94DD-F3E9-6AF1-AF80-0EEE08EBF2DE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9B46D535-08B4-F56E-3C67-CC2DC4F54180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E88C1271-5A39-A5F3-B31C-43A08815E376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64F34831-46D6-D5DB-A6BD-A868F7496DB3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관리자 – 프로젝트 대시보드 – 용역</a:t>
            </a:r>
            <a:endParaRPr lang="en-US" sz="3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Panel Header"/>
          <p:cNvSpPr/>
          <p:nvPr/>
        </p:nvSpPr>
        <p:spPr>
          <a:xfrm>
            <a:off x="7559307" y="1798091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59307" y="2318091"/>
            <a:ext cx="4211840" cy="314928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693818" y="2438035"/>
            <a:ext cx="3949008" cy="302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좌측 트리에서 용역 현장을 선택합니다</a:t>
            </a:r>
            <a:br>
              <a:rPr lang="en-US" sz="1100" b="1" dirty="0">
                <a:solidFill>
                  <a:srgbClr val="262626"/>
                </a:solidFill>
                <a:latin typeface="Calibri" pitchFamily="34" charset="0"/>
              </a:rPr>
            </a:br>
            <a:r>
              <a:rPr lang="en-US" sz="1100" b="1" dirty="0">
                <a:solidFill>
                  <a:srgbClr val="262626"/>
                </a:solidFill>
                <a:latin typeface="Calibri" pitchFamily="34" charset="0"/>
              </a:rPr>
              <a:t> -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상단에 발주처, 용역범위가 표시되며, 탭에서 입력: </a:t>
            </a:r>
            <a:r>
              <a:rPr lang="en-US" sz="1100" dirty="0" err="1">
                <a:solidFill>
                  <a:srgbClr val="262626"/>
                </a:solidFill>
                <a:latin typeface="Calibri" pitchFamily="34" charset="0"/>
              </a:rPr>
              <a:t>데이터 입력</a:t>
            </a:r>
            <a:br>
              <a:rPr lang="en-US" sz="1100" dirty="0">
                <a:solidFill>
                  <a:srgbClr val="262626"/>
                </a:solidFill>
                <a:latin typeface="Calibri" pitchFamily="34" charset="0"/>
              </a:rPr>
            </a:b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- 사업기간, 계약금액: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PIMSVINA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동기화</a:t>
            </a: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보고서는 진도율을 제외하고 시공과 동일한 레이아웃입니다: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      -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개요: 데이터 입력 → 0. 개요</a:t>
            </a:r>
            <a:endParaRPr lang="en-US" sz="11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- 매출 실적 및 전망: </a:t>
            </a:r>
            <a:r>
              <a:rPr lang="en-US" sz="1100" dirty="0"/>
              <a:t>데이터 입력 → 2. 월별 매출 (매출 탭)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(매출/원가/자금)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 - 원가(누계 집행): </a:t>
            </a:r>
            <a:r>
              <a:rPr lang="en-US" sz="1100" dirty="0"/>
              <a:t>데이터 입력 → 4. 예산집행현황(예산집행 탭)</a:t>
            </a:r>
            <a:br>
              <a:rPr lang="en-US" sz="1100" dirty="0">
                <a:solidFill>
                  <a:srgbClr val="262626"/>
                </a:solidFill>
                <a:latin typeface="Calibri" pitchFamily="34" charset="0"/>
              </a:rPr>
            </a:b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 - 자금현황: </a:t>
            </a:r>
            <a:r>
              <a:rPr lang="en-US" sz="1100" dirty="0"/>
              <a:t>데이터 입력 → 6. 월별 자금현황(자금현황 탭)</a:t>
            </a:r>
            <a:r>
              <a:rPr lang="en-US" sz="1100" dirty="0">
                <a:latin typeface="Calibri" pitchFamily="34" charset="0"/>
              </a:rPr>
              <a:t>    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 - 주요 이슈 및 대응방안: 수동 입력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3  </a:t>
            </a:r>
            <a:r>
              <a:rPr lang="en-US" sz="1100" b="1" dirty="0">
                <a:solidFill>
                  <a:srgbClr val="262626"/>
                </a:solidFill>
                <a:latin typeface="Calibri" pitchFamily="34" charset="0"/>
              </a:rPr>
              <a:t>   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보고서 내보내기: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        - 기준월 선택기 및 코멘트란(월별)은 시공 현장과 동일하게 작동합니다.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09EECF-972C-4175-E12B-9380A55B8E1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2EAA91A6-0690-1C22-11F8-DF472FF06896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BF172554-2FCA-CEE1-5D8F-4B2F7DBB790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75E007B1-9DC8-CD21-E73D-E533075CFEC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4A9470F9-64A8-0E3C-C06A-A2A98A5439C9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0BF4040-0F87-470B-76F7-9596136803EE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F4B4F831-5415-ADB7-3961-90433B3845EA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5C572B7-DEE3-1F02-6C29-DD369986389F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2A569C0D-90AE-CB09-5B1E-3CEAE5C6F443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FC4C2C89-8CEB-BDAE-6AFD-C0862CCB8894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67192B3-2AC9-EA51-1742-932E048F834C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F74C44FF-1CF4-2586-AA15-7B32BAB3E722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4E3A46A1-FA21-8086-8032-680A99FC0F58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E1660170-4483-BCAF-17C6-55B1A8701A3C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3568FFB-7CCC-2285-33E5-16EFCDD843C6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0BA7B24-3B63-F020-7966-ABB65A82D26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EFCF2429-AA5F-BA45-2463-4997AEF0459F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276EB2DE-FEC9-2882-AFB5-2CA914E5019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FA9502BA-B795-2896-2A5A-A1A5D5D33F9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376C14C-0EC1-EF58-307E-1B486AC127B9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40C74B9-C84E-BD37-D4D3-CC9457E57CFB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903398-CEB7-45F2-D3A3-36A704868F4B}"/>
              </a:ext>
            </a:extLst>
          </p:cNvPr>
          <p:cNvGrpSpPr/>
          <p:nvPr/>
        </p:nvGrpSpPr>
        <p:grpSpPr>
          <a:xfrm>
            <a:off x="320039" y="1851589"/>
            <a:ext cx="6985635" cy="3615785"/>
            <a:chOff x="603504" y="2271924"/>
            <a:chExt cx="6473152" cy="3148735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48735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75583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3170" y="2540745"/>
              <a:ext cx="5573872" cy="331778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3170" y="3287245"/>
              <a:ext cx="5573872" cy="182478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3170" y="3104767"/>
              <a:ext cx="5573872" cy="11612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Callout 2"/>
            <p:cNvSpPr/>
            <p:nvPr/>
          </p:nvSpPr>
          <p:spPr>
            <a:xfrm>
              <a:off x="1211130" y="329502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38170" y="298864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  <p:sp>
          <p:nvSpPr>
            <p:cNvPr id="3" name="Callout 2">
              <a:extLst>
                <a:ext uri="{FF2B5EF4-FFF2-40B4-BE49-F238E27FC236}">
                  <a16:creationId xmlns:a16="http://schemas.microsoft.com/office/drawing/2014/main" id="{E6B50000-7F5B-01D6-E26C-0BC064E1F5F0}"/>
                </a:ext>
              </a:extLst>
            </p:cNvPr>
            <p:cNvSpPr/>
            <p:nvPr/>
          </p:nvSpPr>
          <p:spPr>
            <a:xfrm>
              <a:off x="1183170" y="249985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매출/원가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7B988E-6974-5479-97BD-BB99AB61D5A9}"/>
              </a:ext>
            </a:extLst>
          </p:cNvPr>
          <p:cNvGrpSpPr/>
          <p:nvPr/>
        </p:nvGrpSpPr>
        <p:grpSpPr>
          <a:xfrm>
            <a:off x="320039" y="1895311"/>
            <a:ext cx="7038623" cy="3493346"/>
            <a:chOff x="603504" y="2271924"/>
            <a:chExt cx="6473152" cy="3121722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2172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4857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5551" y="3123893"/>
              <a:ext cx="5591264" cy="96515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5551" y="4188895"/>
              <a:ext cx="5591264" cy="88195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5551" y="5120772"/>
              <a:ext cx="5591264" cy="23296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5551" y="3013893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5551" y="407889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95551" y="5010772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58663" y="1895311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58663" y="2415311"/>
            <a:ext cx="4211840" cy="2973346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A487B5-33B4-7BF6-615C-140222F8D7D8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8F5756B-AEE2-4BDA-303B-6650A9221C9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9B2C534-D028-D0C0-1BBE-0C2262979204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14A1149D-12FB-8CD0-615C-BC50988CDE3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1189AA0A-8ADB-F986-170B-13C7DB9820C6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32608577-81F4-0342-C51E-5E076F3D78C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9DCFC875-2E16-B84B-388F-B29030383A20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3BA5C331-1790-EBA1-AAB6-AEA51F6D5344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3DDA007B-3F8B-5689-6C5E-91BA35ABFFE3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E7BDC9B0-BB0E-8AA2-D379-CDDBDD1DFC76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4655B75-A565-1F8B-8860-9A83F0B638A1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2EE9F0D-64CA-C009-C38C-EB5EA9F1F19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BF1039D5-6C7A-8C8A-C404-6DE6BD42DAF2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205F04F7-2479-5714-62C3-FDAF54DBE44B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DFEA037-73F8-1C51-1D9F-CDA15167D5C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E5FD0F9C-077D-71E4-5433-A0F176BD1273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D64F9FEF-D207-F5E8-175F-D6D7BBD131C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B1A9DF8-8B1D-98FD-5418-ED8B7BA3F4F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A0922215-9B71-9ABF-D961-AA73D4C46E7E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3C60D778-E901-D024-A91F-F838869EA757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8D48468-86C7-BDC3-8CA0-15D5829A6ABA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4" name="Panel Text">
            <a:extLst>
              <a:ext uri="{FF2B5EF4-FFF2-40B4-BE49-F238E27FC236}">
                <a16:creationId xmlns:a16="http://schemas.microsoft.com/office/drawing/2014/main" id="{9CBF8D62-47F4-D207-2CB4-55A6B68B227B}"/>
              </a:ext>
            </a:extLst>
          </p:cNvPr>
          <p:cNvSpPr txBox="1"/>
          <p:nvPr/>
        </p:nvSpPr>
        <p:spPr>
          <a:xfrm>
            <a:off x="7758663" y="2529602"/>
            <a:ext cx="3811840" cy="2238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매출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(K USD):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선택한 연도의 월별 계획 대비 실적을 표시합니다. 점선 막대는 아직 마감되지 않은 전망월을 나타냅니다.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출처: 데이터 입력 → 2. 월별 매출 → 계획, 실적, 전망</a:t>
            </a:r>
            <a:endParaRPr lang="en-US" sz="1100" b="1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누계 원가율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(%)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연간 원가 대비 매출 비율 추이를 표시하며, 최신값이 강조 표시됩니다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</a:t>
            </a:r>
            <a:r>
              <a:rPr lang="en-US" sz="1100" dirty="0"/>
              <a:t>데이터 입력 → 1. 계약금액 및 원가 → 준공예정원가율 → 비율</a:t>
            </a: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코멘트를 입력합니다.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Panel Header"/>
          <p:cNvSpPr/>
          <p:nvPr/>
        </p:nvSpPr>
        <p:spPr>
          <a:xfrm>
            <a:off x="7571880" y="173561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71880" y="2255614"/>
            <a:ext cx="4211840" cy="314574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03DD6E-738C-7BFF-C13F-F12A34A429C7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AFA5FD88-6C7F-1DF0-FF1B-94DDBDD8FDD5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24B50AC0-36F3-CEE3-0F57-C52FC63E93F2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0C0E2620-A204-5AAB-92CA-610168AE9086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FE38E1D9-EF16-BBC2-909A-59752917B136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BA9542B9-C5F0-2601-F142-D359996F69F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EE2C5FA1-E594-7A92-7756-D05DF41F1EF0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77562147-E6F5-83EC-A400-C4BBB415220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6B57B693-D8CB-2D9F-E9CA-0F361F9C266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79F73E1D-F86D-51C2-75EB-98A755F1FA12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99216-F3D2-FC55-9767-032DA581470B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2AAA7F7F-A193-84FE-9441-EBC296A2EC34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8FCFFC79-C464-BC7B-1C6D-258E93622C90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2FE652E-0285-3D8B-4C98-1DF556B5B3F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6BE5E5C0-1DE7-7CC3-0384-A461AAFE5125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EF03490E-EB2E-4C80-5D40-ADB120F15350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0EC2FEDF-C28E-C24D-7999-665BDEBD39ED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723BE255-0467-72AB-EE82-3F24E7130F8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73D4F77C-2CA6-B71B-3E9F-3E9EF3DBA628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D27796A-25AA-4275-9EB4-D2FB94E80EB3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C8FB1691-21E6-DCE9-A8BD-1D97663BC3CD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" name="Panel Text">
            <a:extLst>
              <a:ext uri="{FF2B5EF4-FFF2-40B4-BE49-F238E27FC236}">
                <a16:creationId xmlns:a16="http://schemas.microsoft.com/office/drawing/2014/main" id="{D40B505C-A579-BF5E-41F0-FC334ED849F6}"/>
              </a:ext>
            </a:extLst>
          </p:cNvPr>
          <p:cNvSpPr txBox="1"/>
          <p:nvPr/>
        </p:nvSpPr>
        <p:spPr>
          <a:xfrm>
            <a:off x="7778559" y="2371805"/>
            <a:ext cx="3798481" cy="3002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외주 및 자재</a:t>
            </a:r>
          </a:p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</a:t>
            </a:r>
            <a:r>
              <a:rPr lang="en-US" sz="1100" dirty="0"/>
              <a:t>공종(분류/세부공종), 업체명, 최초계약일, 변경계약 차수별로 각 외주/자재 발주 내역을 표시합니다. </a:t>
            </a:r>
          </a:p>
          <a:p>
            <a:pPr>
              <a:spcAft>
                <a:spcPts val="500"/>
              </a:spcAft>
            </a:pPr>
            <a:r>
              <a:rPr lang="en-US" sz="1100" dirty="0"/>
              <a:t>출처: 데이터 입력 → 5. 외주/자재</a:t>
            </a:r>
          </a:p>
          <a:p>
            <a:pPr marL="228600" indent="-228600"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예산(A), 집행예산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, 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기성금액(B):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1F3A6E"/>
                </a:solidFill>
                <a:latin typeface="Calibri" pitchFamily="34" charset="0"/>
              </a:rPr>
              <a:t>출처</a:t>
            </a: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: </a:t>
            </a:r>
            <a:r>
              <a:rPr lang="en-US" sz="1100" dirty="0"/>
              <a:t>데이터 입력 → 5. 외주/자재 </a:t>
            </a:r>
          </a:p>
          <a:p>
            <a:pPr marL="171450" indent="-171450"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기성률 = B/A이며, 100% 초과 시 빨간색으로 표시됩니다.</a:t>
            </a:r>
          </a:p>
          <a:p>
            <a:pPr marL="228600" indent="-228600">
              <a:lnSpc>
                <a:spcPct val="106000"/>
              </a:lnSpc>
              <a:spcAft>
                <a:spcPts val="400"/>
              </a:spcAft>
              <a:buAutoNum type="arabicPlain" startAt="3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기성청구현황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당월, 누계(C): </a:t>
            </a:r>
            <a:r>
              <a:rPr lang="en-US" sz="1100" dirty="0"/>
              <a:t>데이터 입력 → 5. 외주/자재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 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비율 = C/B, 업체별 잔여청구액 = B−C</a:t>
            </a:r>
          </a:p>
          <a:p>
            <a:pPr marL="171450" indent="-171450">
              <a:lnSpc>
                <a:spcPct val="106000"/>
              </a:lnSpc>
              <a:spcAft>
                <a:spcPts val="4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우측 상단에서 기준월을 선택할 수 있습니다.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731502-88A7-F38E-C5F0-95E66E257348}"/>
              </a:ext>
            </a:extLst>
          </p:cNvPr>
          <p:cNvGrpSpPr/>
          <p:nvPr/>
        </p:nvGrpSpPr>
        <p:grpSpPr>
          <a:xfrm>
            <a:off x="320039" y="1719072"/>
            <a:ext cx="7033273" cy="3682282"/>
            <a:chOff x="603504" y="2271924"/>
            <a:chExt cx="6473152" cy="3135464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546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2312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3171" y="3241462"/>
              <a:ext cx="1990668" cy="8460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3425357" y="3259620"/>
              <a:ext cx="1791602" cy="8460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319198" y="319543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3367310" y="313921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4" name="Box 2">
              <a:extLst>
                <a:ext uri="{FF2B5EF4-FFF2-40B4-BE49-F238E27FC236}">
                  <a16:creationId xmlns:a16="http://schemas.microsoft.com/office/drawing/2014/main" id="{3596D4B5-E91A-6D75-B03F-C7EE083BA7FB}"/>
                </a:ext>
              </a:extLst>
            </p:cNvPr>
            <p:cNvSpPr/>
            <p:nvPr/>
          </p:nvSpPr>
          <p:spPr>
            <a:xfrm>
              <a:off x="5216959" y="3238721"/>
              <a:ext cx="1791602" cy="8460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Callout 2">
              <a:extLst>
                <a:ext uri="{FF2B5EF4-FFF2-40B4-BE49-F238E27FC236}">
                  <a16:creationId xmlns:a16="http://schemas.microsoft.com/office/drawing/2014/main" id="{11F61B5B-F48E-C043-CF7D-F54E15AE7F8B}"/>
                </a:ext>
              </a:extLst>
            </p:cNvPr>
            <p:cNvSpPr/>
            <p:nvPr/>
          </p:nvSpPr>
          <p:spPr>
            <a:xfrm>
              <a:off x="5180383" y="3149620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자금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139550-6D14-D6FF-2754-8FA815DC2425}"/>
              </a:ext>
            </a:extLst>
          </p:cNvPr>
          <p:cNvGrpSpPr/>
          <p:nvPr/>
        </p:nvGrpSpPr>
        <p:grpSpPr>
          <a:xfrm>
            <a:off x="325682" y="1823134"/>
            <a:ext cx="7075767" cy="3530678"/>
            <a:chOff x="283464" y="2051734"/>
            <a:chExt cx="6473152" cy="3143152"/>
          </a:xfrm>
        </p:grpSpPr>
        <p:sp>
          <p:nvSpPr>
            <p:cNvPr id="25" name="Shape 23"/>
            <p:cNvSpPr/>
            <p:nvPr/>
          </p:nvSpPr>
          <p:spPr>
            <a:xfrm>
              <a:off x="283464" y="2051734"/>
              <a:ext cx="6473152" cy="3143152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2088310"/>
              <a:ext cx="6400000" cy="3070000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019557" y="2865161"/>
              <a:ext cx="5667151" cy="180648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6103373" y="2921643"/>
              <a:ext cx="266667" cy="6666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891269" y="276831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5883373" y="287831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73404" y="1812213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73404" y="2332213"/>
            <a:ext cx="4211840" cy="2980514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269079-6D1A-88F3-6168-BFAEAA975392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0F5C99BF-58F1-2D82-D831-CE236D2242F3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5A094094-6FB5-9B16-643D-19AF4F1A896B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183ADC5E-228D-D3B1-7D14-2EFA68C02D5A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51AB6847-B0B5-5435-CD46-95A0DEFCB19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9ED895C7-8900-B2B8-8B60-DA4CDF925442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4DAF5E9-CE06-3B38-FAE0-46423411779F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AB01F3D6-D687-F36F-CE70-284DC2F8CA52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BDCF704-0CBC-AB73-C70F-9F755054EC4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413C8F8B-C52A-D54B-FCEE-90F032F94E5C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A5DDD33-71AC-A5CA-891E-09D0A1E411BD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564F541A-A844-E9FB-759F-6ABC890B81EC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1D722998-5BF9-03D1-7EE6-A797BFBC8966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2A634879-49CD-64E3-4F5C-C9803B38567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ABDCF998-43EB-4CE1-9620-C961B98047D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6631856E-F5B7-45F1-EE52-546B6C34E5EE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CED0C597-7B21-749B-077F-904E502C6B76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E31AA782-80BD-4107-A642-E397C2085EEF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1FE1D3E8-E6EA-C616-D00C-93B0B8EF40D6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FE68B649-F5AC-CC44-D46D-2E3810CAF86E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BF9DF04F-2BB3-9EBB-2862-85C3CBD22B1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3" name="Panel Text">
            <a:extLst>
              <a:ext uri="{FF2B5EF4-FFF2-40B4-BE49-F238E27FC236}">
                <a16:creationId xmlns:a16="http://schemas.microsoft.com/office/drawing/2014/main" id="{E1A4E0CC-B60B-6D5A-FDBB-D00147787132}"/>
              </a:ext>
            </a:extLst>
          </p:cNvPr>
          <p:cNvSpPr txBox="1"/>
          <p:nvPr/>
        </p:nvSpPr>
        <p:spPr>
          <a:xfrm>
            <a:off x="7773404" y="2535546"/>
            <a:ext cx="3811840" cy="2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</a:rPr>
              <a:t>자금현황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/>
              <a:t>전체 기간의 실제 현금 유입/유출을 막대로, 누계 잔액을 선으로 표시합니다. 점선으로 표시된 기준월 마커가 실적과 전망을 구분합니다.</a:t>
            </a:r>
          </a:p>
          <a:p>
            <a:pPr marL="171450" indent="-171450">
              <a:lnSpc>
                <a:spcPct val="100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</a:t>
            </a:r>
            <a:r>
              <a:rPr lang="en-US" sz="1100" dirty="0"/>
              <a:t>데이터 입력 → 6. 월별 자금현황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우측 상단의 연도 선택기로 한 해를 집중 조회할 수 있으며, 마우스를 올리면 월별 정확한 수치가 표시됩니다.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" y="457200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57200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" y="539496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" y="539496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" y="621792"/>
            <a:ext cx="64008" cy="6400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621792"/>
            <a:ext cx="64008" cy="64008"/>
          </a:xfrm>
          <a:prstGeom prst="rect">
            <a:avLst/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solidFill>
            <a:srgbClr val="1F3A6E"/>
          </a:solidFill>
          <a:ln/>
          <a:effectLst>
            <a:outerShdw blurRad="762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27432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관리자 – 데이터 입력 – 용역</a:t>
            </a:r>
            <a:endParaRPr lang="en-US" sz="3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개요, 계약금액 및 원가, 매출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B94056-B116-2504-5D25-4266773C9874}"/>
              </a:ext>
            </a:extLst>
          </p:cNvPr>
          <p:cNvGrpSpPr/>
          <p:nvPr/>
        </p:nvGrpSpPr>
        <p:grpSpPr>
          <a:xfrm>
            <a:off x="320040" y="1804370"/>
            <a:ext cx="7029928" cy="3545379"/>
            <a:chOff x="603504" y="2271924"/>
            <a:chExt cx="6473152" cy="3136911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6911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3759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4358" y="3454917"/>
              <a:ext cx="5582555" cy="348910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4358" y="3903516"/>
              <a:ext cx="5582555" cy="647975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404358" y="4651179"/>
              <a:ext cx="5582555" cy="71443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07836" y="3316871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10178" y="3821146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15020" y="457328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99169" y="1284370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99169" y="1804370"/>
            <a:ext cx="4211840" cy="4258102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A83B59-F57C-8D1B-1275-F6512E1AC3C5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E2C0A2DB-BCCB-39FE-9B3D-C920AB8C0C0F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B53227AE-56C0-9D4E-BE38-B9F093550AEC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B36C8192-82B4-0793-092B-BD4137C07B50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C6E6A05F-5C44-E79D-8C81-2E2A1DC610C8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C8A280FE-83E6-1963-5448-A284FA853437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BAFB9AFB-F258-A141-11F9-FEA106322354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EA005233-079B-2087-57D9-C0D4CA079C4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1B010429-39BD-87B4-9C82-648A41F86836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586B210A-2DAA-1C68-7364-8AD0878B8F6F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80D77E8-B6DE-30E2-4FAF-2110AD2D1A74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BCF0A223-566E-8995-4575-EB41430B790D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C5AB9CBF-A8CC-7407-7374-63323BCD9CEE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CAA41446-7010-E7FE-0616-307E866A72B5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723DDB95-D9F2-8462-E4DC-CC0039CBD3A9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8B8C826B-F302-1713-D568-FA42A7BBBEC6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679AC26D-D141-ECDE-6F27-96C857624DA0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C150F2B1-9C8B-0840-3255-F11FD93AE6F1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CB15F3C4-7600-7996-7480-ADD829864240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2E6CA9DF-7795-F3FA-FD4F-E851684E6BD5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65264D34-6AEF-1DCD-9946-FD2282AC7081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4" name="Panel Text">
            <a:extLst>
              <a:ext uri="{FF2B5EF4-FFF2-40B4-BE49-F238E27FC236}">
                <a16:creationId xmlns:a16="http://schemas.microsoft.com/office/drawing/2014/main" id="{0D8E17ED-EF9D-82F1-9F28-7D3E49C87916}"/>
              </a:ext>
            </a:extLst>
          </p:cNvPr>
          <p:cNvSpPr txBox="1"/>
          <p:nvPr/>
        </p:nvSpPr>
        <p:spPr>
          <a:xfrm>
            <a:off x="7813976" y="1914722"/>
            <a:ext cx="3811840" cy="3545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1  0. 개요(개요 탭):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계약금액, 착공/준공일: PIMSVINA 동기화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공통 &gt; 공사개요 &gt; 공사개요 등록 &gt; 공사기간 탭 &gt; 계약금액, 실착공일 - 실준공일/예정준공일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나머지 항목: 수동 입력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  1. 월별 진도율(진도율 탭):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월간 계획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(%): 수동 입력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월간 실적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(%) = (①매월/(②-③)) × 100%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출처: ① 월별(1-12) 입력 합계 커럼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② 집행예산 &gt; 금액 합계 커럼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③ 집행품의(현장) 집행예산 합계 커럼에서 실행 합계 커럼을 차감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누계 계획(%), 누계 실적(%):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월별 누계 계산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 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2. 월별 매출(매출 탭, K USD): 연/월별 매출 계획/실적이며, 보고서 탭의 매출 실적 및 전망 차트에 반영됩니다.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월별 매출원가 및 예산집행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069E59-BF9C-F737-DB62-807144ADE851}"/>
              </a:ext>
            </a:extLst>
          </p:cNvPr>
          <p:cNvGrpSpPr/>
          <p:nvPr/>
        </p:nvGrpSpPr>
        <p:grpSpPr>
          <a:xfrm>
            <a:off x="320040" y="1981211"/>
            <a:ext cx="7037827" cy="3398566"/>
            <a:chOff x="603504" y="2271924"/>
            <a:chExt cx="6473152" cy="3135178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35178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62026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4755" y="2458110"/>
              <a:ext cx="5585455" cy="1828571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4755" y="4369799"/>
              <a:ext cx="5585455" cy="997403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4755" y="2348110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4755" y="4259799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557867" y="2027704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557867" y="2547703"/>
            <a:ext cx="4211840" cy="2832073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Panel Text"/>
          <p:cNvSpPr txBox="1"/>
          <p:nvPr/>
        </p:nvSpPr>
        <p:spPr>
          <a:xfrm>
            <a:off x="7757867" y="2697704"/>
            <a:ext cx="3811840" cy="224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3. 월별 매출원가(매출 탭, K USD):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연/월별 회계상 매출원가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가져온 엑셀 데이터입니다.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매출 카드와 동일하게 전년도 누계를 추가합니다.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저장 시 VND는 자동으로 K USD로 환산됩니다.</a:t>
            </a:r>
          </a:p>
          <a:p>
            <a:pPr marL="0" indent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2  4. 예산집행현황(예산집행 탭)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공통경비, 경비1(직접비), 경비2(간접비) 예산/</a:t>
            </a:r>
            <a:r>
              <a:rPr lang="en-US" sz="1100" dirty="0">
                <a:solidFill>
                  <a:srgbClr val="262626"/>
                </a:solidFill>
                <a:highlight>
                  <a:srgbClr val="FFFF00"/>
                </a:highlight>
                <a:latin typeface="Calibri" pitchFamily="34" charset="0"/>
              </a:rPr>
              <a:t>월별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/연·월별 누계이며, 외주 행은 하단 표에서 자동으로 집계됩니다.</a:t>
            </a:r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7D157A-9C28-5CD3-F335-6BA09FFD77F3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B9106A2B-B6EC-5DBA-982C-CAD604B63C5C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1B79E265-F4B7-A85C-45D2-05A7307A697F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99EB7044-5A0A-B275-587D-D8EEFC2DCC83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B8AE932C-C1C8-5FF2-5997-BF93B9F48B64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C4F9C238-1464-F80E-1829-D52E67F5FC21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D450A22D-C1CD-FCCC-19B8-ACB75B82B8FB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E8F32470-B95B-2BAB-CF58-5624047DA5BE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D20A3E55-38D6-376E-53D6-18731A7592C4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297B447B-074A-9627-0BA5-9B423C44440D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DF5B7E8-E5E3-B709-F5E6-8C4347866A82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9E69B840-9A71-9DF0-6DF5-84011DF5D86C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37C23231-BE68-5501-2C4F-DEFFD1F7F4A1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FA688EF8-D75E-8EE3-9543-632737772873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0AB466FD-CA0F-4D28-B7E0-57A2EEE0FFF3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BC5094C0-BBC6-98AF-CD12-2EC80427710A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06B57530-7129-0876-B3EC-63B3FAC1EF54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6DB43BCD-5514-5F75-B82D-3166E9E728A3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B02E172D-6E32-06F7-E25C-44408A5BF4E2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7C5E17B8-DB33-AABA-655D-B92FCA92E898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43A83F27-6483-F3CE-3B72-E2738C6346CC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월별 계획/실적 및 외주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CFFEDF-FD04-5933-2EEB-F0661FB3AC88}"/>
              </a:ext>
            </a:extLst>
          </p:cNvPr>
          <p:cNvGrpSpPr/>
          <p:nvPr/>
        </p:nvGrpSpPr>
        <p:grpSpPr>
          <a:xfrm>
            <a:off x="320040" y="1788164"/>
            <a:ext cx="7075767" cy="3553704"/>
            <a:chOff x="603504" y="2248164"/>
            <a:chExt cx="6473152" cy="3142954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1919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46042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401591" y="2358164"/>
              <a:ext cx="5562338" cy="2218314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401591" y="4708914"/>
              <a:ext cx="5562338" cy="645629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91591" y="224816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91591" y="4598914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445E021-71E7-810B-261B-A34393A3F7DB}"/>
              </a:ext>
            </a:extLst>
          </p:cNvPr>
          <p:cNvGrpSpPr/>
          <p:nvPr/>
        </p:nvGrpSpPr>
        <p:grpSpPr>
          <a:xfrm>
            <a:off x="7595807" y="1815029"/>
            <a:ext cx="4211840" cy="3679996"/>
            <a:chOff x="7595807" y="2059263"/>
            <a:chExt cx="4211840" cy="3679996"/>
          </a:xfrm>
        </p:grpSpPr>
        <p:sp>
          <p:nvSpPr>
            <p:cNvPr id="300" name="Panel Header"/>
            <p:cNvSpPr/>
            <p:nvPr/>
          </p:nvSpPr>
          <p:spPr>
            <a:xfrm>
              <a:off x="7595807" y="2059263"/>
              <a:ext cx="4211840" cy="460000"/>
            </a:xfrm>
            <a:prstGeom prst="roundRect">
              <a:avLst>
                <a:gd name="adj" fmla="val 6000"/>
              </a:avLst>
            </a:prstGeom>
            <a:solidFill>
              <a:srgbClr val="3F8FD0"/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</a:rPr>
                <a:t>설명</a:t>
              </a:r>
            </a:p>
          </p:txBody>
        </p:sp>
        <p:sp>
          <p:nvSpPr>
            <p:cNvPr id="301" name="Panel Body"/>
            <p:cNvSpPr/>
            <p:nvPr/>
          </p:nvSpPr>
          <p:spPr>
            <a:xfrm>
              <a:off x="7595807" y="2579262"/>
              <a:ext cx="4211840" cy="3159997"/>
            </a:xfrm>
            <a:prstGeom prst="rect">
              <a:avLst/>
            </a:prstGeom>
            <a:solidFill>
              <a:srgbClr val="F4F8FD"/>
            </a:solidFill>
            <a:ln w="9525">
              <a:solidFill>
                <a:srgbClr val="BFBFB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Panel Text"/>
            <p:cNvSpPr txBox="1"/>
            <p:nvPr/>
          </p:nvSpPr>
          <p:spPr>
            <a:xfrm>
              <a:off x="7795807" y="2729263"/>
              <a:ext cx="3811840" cy="22260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lnSpc>
                  <a:spcPct val="106000"/>
                </a:lnSpc>
                <a:spcAft>
                  <a:spcPts val="500"/>
                </a:spcAft>
                <a:buAutoNum type="arabicPlain"/>
              </a:pPr>
              <a:r>
                <a:rPr lang="en-US" sz="1100" b="1" dirty="0">
                  <a:solidFill>
                    <a:srgbClr val="1F3A6E"/>
                  </a:solidFill>
                  <a:latin typeface="Calibri" pitchFamily="34" charset="0"/>
                </a:rPr>
                <a:t>월별 계획/실적(연간): </a:t>
              </a:r>
              <a:endParaRPr lang="en-US" sz="1100" dirty="0">
                <a:solidFill>
                  <a:srgbClr val="262626"/>
                </a:solidFill>
                <a:latin typeface="Calibri" pitchFamily="34" charset="0"/>
              </a:endParaRPr>
            </a:p>
            <a:p>
              <a:pPr>
                <a:lnSpc>
                  <a:spcPct val="100000"/>
                </a:lnSpc>
                <a:spcAft>
                  <a:spcPts val="500"/>
                </a:spcAft>
              </a:pPr>
              <a:r>
                <a:rPr lang="en-US" sz="1100" b="1" dirty="0">
                  <a:solidFill>
                    <a:srgbClr val="262626"/>
                  </a:solidFill>
                  <a:latin typeface="Calibri" pitchFamily="34" charset="0"/>
                </a:rPr>
                <a:t>- </a:t>
              </a: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필터 기준으로 6. 예산집행현황(원가 탭)에서 가져온 데이터입니다.</a:t>
              </a:r>
            </a:p>
            <a:p>
              <a:pPr marL="228600" indent="-228600">
                <a:lnSpc>
                  <a:spcPct val="106000"/>
                </a:lnSpc>
                <a:spcAft>
                  <a:spcPts val="500"/>
                </a:spcAft>
                <a:buAutoNum type="arabicPlain" startAt="2"/>
              </a:pPr>
              <a:r>
                <a:rPr lang="en-US" sz="1100" b="1" dirty="0">
                  <a:solidFill>
                    <a:srgbClr val="1F3A6E"/>
                  </a:solidFill>
                  <a:latin typeface="Calibri" pitchFamily="34" charset="0"/>
                </a:rPr>
                <a:t>7. 외주/자재(외주 탭):</a:t>
              </a:r>
            </a:p>
            <a:p>
              <a:pPr marL="171450" indent="-171450">
                <a:lnSpc>
                  <a:spcPct val="106000"/>
                </a:lnSpc>
                <a:spcAft>
                  <a:spcPts val="500"/>
                </a:spcAft>
                <a:buFontTx/>
                <a:buChar char="-"/>
              </a:pPr>
              <a:r>
                <a:rPr lang="en-US" sz="1100" b="1" dirty="0">
                  <a:solidFill>
                    <a:srgbClr val="1F3A6E"/>
                  </a:solidFill>
                  <a:latin typeface="Calibri" pitchFamily="34" charset="0"/>
                </a:rPr>
                <a:t>예산(A), 집행예산, 기성금액(B):</a:t>
              </a:r>
            </a:p>
            <a:p>
              <a:pPr>
                <a:lnSpc>
                  <a:spcPct val="106000"/>
                </a:lnSpc>
                <a:spcAft>
                  <a:spcPts val="500"/>
                </a:spcAft>
              </a:pP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외주 &gt; 집행품의(현장) &gt; 집행품의(현장) &gt; 집행예산, 운영예산, 실행금액</a:t>
              </a:r>
            </a:p>
            <a:p>
              <a:pPr marL="171450" indent="-171450">
                <a:lnSpc>
                  <a:spcPct val="106000"/>
                </a:lnSpc>
                <a:spcAft>
                  <a:spcPts val="500"/>
                </a:spcAft>
                <a:buFontTx/>
                <a:buChar char="-"/>
              </a:pPr>
              <a:r>
                <a:rPr lang="en-US" sz="1100" b="1" dirty="0">
                  <a:solidFill>
                    <a:srgbClr val="1F3A6E"/>
                  </a:solidFill>
                  <a:latin typeface="Calibri" pitchFamily="34" charset="0"/>
                </a:rPr>
                <a:t>당월 기성금액, 누계 기성금액(C)):</a:t>
              </a:r>
            </a:p>
            <a:p>
              <a:pPr>
                <a:lnSpc>
                  <a:spcPct val="106000"/>
                </a:lnSpc>
                <a:spcAft>
                  <a:spcPts val="500"/>
                </a:spcAft>
              </a:pP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외주 &gt; 실행기성금(현장) &gt; 기성현황 </a:t>
              </a:r>
            </a:p>
            <a:p>
              <a:pPr>
                <a:lnSpc>
                  <a:spcPct val="100000"/>
                </a:lnSpc>
                <a:spcAft>
                  <a:spcPts val="500"/>
                </a:spcAft>
              </a:pP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당월 탭 컨럼 </a:t>
              </a:r>
              <a:r>
                <a:rPr lang="ko-KR" altLang="en-US" sz="1100" dirty="0">
                  <a:solidFill>
                    <a:srgbClr val="262626"/>
                  </a:solidFill>
                  <a:latin typeface="Calibri" pitchFamily="34" charset="0"/>
                </a:rPr>
                <a:t>당월기성금액 </a:t>
              </a:r>
              <a:r>
                <a:rPr lang="en-US" altLang="ko-KR" sz="1100" dirty="0">
                  <a:solidFill>
                    <a:srgbClr val="262626"/>
                  </a:solidFill>
                  <a:latin typeface="Calibri" pitchFamily="34" charset="0"/>
                </a:rPr>
                <a:t>(</a:t>
              </a: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B)</a:t>
              </a:r>
            </a:p>
            <a:p>
              <a:pPr>
                <a:lnSpc>
                  <a:spcPct val="100000"/>
                </a:lnSpc>
                <a:spcAft>
                  <a:spcPts val="500"/>
                </a:spcAft>
              </a:pPr>
              <a:r>
                <a:rPr lang="en-US" sz="1100" dirty="0">
                  <a:solidFill>
                    <a:srgbClr val="262626"/>
                  </a:solidFill>
                  <a:latin typeface="Calibri" pitchFamily="34" charset="0"/>
                </a:rPr>
                <a:t>전체 탭 컨럼 기성금액 &gt; 금액(B)</a:t>
              </a:r>
            </a:p>
          </p:txBody>
        </p:sp>
      </p:grp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6F4F83-9597-6B5A-8316-A10999A37B39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CF46B644-F6DC-D373-7C25-551CF5F45AFD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">
              <a:extLst>
                <a:ext uri="{FF2B5EF4-FFF2-40B4-BE49-F238E27FC236}">
                  <a16:creationId xmlns:a16="http://schemas.microsoft.com/office/drawing/2014/main" id="{C3A5EDDE-2A5D-9711-28CE-0FE6C4E6B85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3">
              <a:extLst>
                <a:ext uri="{FF2B5EF4-FFF2-40B4-BE49-F238E27FC236}">
                  <a16:creationId xmlns:a16="http://schemas.microsoft.com/office/drawing/2014/main" id="{F9D8F960-3C78-45FD-4D95-D997057946DD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980F2ED9-A361-207B-5162-288DE1111003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5">
              <a:extLst>
                <a:ext uri="{FF2B5EF4-FFF2-40B4-BE49-F238E27FC236}">
                  <a16:creationId xmlns:a16="http://schemas.microsoft.com/office/drawing/2014/main" id="{41315032-801C-C266-534C-CC0BF60BEFAA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Shape 6">
              <a:extLst>
                <a:ext uri="{FF2B5EF4-FFF2-40B4-BE49-F238E27FC236}">
                  <a16:creationId xmlns:a16="http://schemas.microsoft.com/office/drawing/2014/main" id="{5A709241-DA5D-086C-DE56-2BCBA15250A9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5D742361-C303-F8E0-34F5-851398F3459D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8">
              <a:extLst>
                <a:ext uri="{FF2B5EF4-FFF2-40B4-BE49-F238E27FC236}">
                  <a16:creationId xmlns:a16="http://schemas.microsoft.com/office/drawing/2014/main" id="{84C24378-7467-2F76-4075-E12502B752D9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8823465D-576F-C182-1CF6-6442C82FAAEC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992660E-B4C5-9E4B-A239-A6DF63B16B63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48" name="Shape 24">
              <a:extLst>
                <a:ext uri="{FF2B5EF4-FFF2-40B4-BE49-F238E27FC236}">
                  <a16:creationId xmlns:a16="http://schemas.microsoft.com/office/drawing/2014/main" id="{8BD0548F-4971-3FF2-0EA2-AA976425B68F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Shape 25">
              <a:extLst>
                <a:ext uri="{FF2B5EF4-FFF2-40B4-BE49-F238E27FC236}">
                  <a16:creationId xmlns:a16="http://schemas.microsoft.com/office/drawing/2014/main" id="{A9F470B1-5F05-F372-2920-08F17CCD4E66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74D49113-AE8F-1C9F-27AE-4CC0491C171E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27">
              <a:extLst>
                <a:ext uri="{FF2B5EF4-FFF2-40B4-BE49-F238E27FC236}">
                  <a16:creationId xmlns:a16="http://schemas.microsoft.com/office/drawing/2014/main" id="{F361F74B-2CEA-7845-855B-F2D80DBFBB56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28">
              <a:extLst>
                <a:ext uri="{FF2B5EF4-FFF2-40B4-BE49-F238E27FC236}">
                  <a16:creationId xmlns:a16="http://schemas.microsoft.com/office/drawing/2014/main" id="{0D57E85C-0640-980E-A354-77B35D71E05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29">
              <a:extLst>
                <a:ext uri="{FF2B5EF4-FFF2-40B4-BE49-F238E27FC236}">
                  <a16:creationId xmlns:a16="http://schemas.microsoft.com/office/drawing/2014/main" id="{F3F60BA7-313F-C2BA-24B2-D9DC7D768577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30">
              <a:extLst>
                <a:ext uri="{FF2B5EF4-FFF2-40B4-BE49-F238E27FC236}">
                  <a16:creationId xmlns:a16="http://schemas.microsoft.com/office/drawing/2014/main" id="{952D7353-E96A-93AB-C21B-357273E781C0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31">
              <a:extLst>
                <a:ext uri="{FF2B5EF4-FFF2-40B4-BE49-F238E27FC236}">
                  <a16:creationId xmlns:a16="http://schemas.microsoft.com/office/drawing/2014/main" id="{BE22D422-F096-7CE3-7C18-93A06DB06332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32">
              <a:extLst>
                <a:ext uri="{FF2B5EF4-FFF2-40B4-BE49-F238E27FC236}">
                  <a16:creationId xmlns:a16="http://schemas.microsoft.com/office/drawing/2014/main" id="{018B8022-188C-B569-7133-E0EC86D88842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Text 33">
            <a:extLst>
              <a:ext uri="{FF2B5EF4-FFF2-40B4-BE49-F238E27FC236}">
                <a16:creationId xmlns:a16="http://schemas.microsoft.com/office/drawing/2014/main" id="{371FFE37-32E8-BCF4-2E78-238673A73BC6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560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입력: 외주, 자금현황 및 현장사진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503359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887407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655503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39551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23599" y="0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07647" y="0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71455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23599" y="384048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07647" y="384048"/>
            <a:ext cx="384048" cy="384048"/>
          </a:xfrm>
          <a:prstGeom prst="rect">
            <a:avLst/>
          </a:prstGeom>
          <a:solidFill>
            <a:srgbClr val="3F8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39551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07647" y="768096"/>
            <a:ext cx="384048" cy="384048"/>
          </a:xfrm>
          <a:prstGeom prst="rect">
            <a:avLst/>
          </a:prstGeom>
          <a:solidFill>
            <a:srgbClr val="AEE0F5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CA147F-BD2D-082C-5707-A167E3689BD6}"/>
              </a:ext>
            </a:extLst>
          </p:cNvPr>
          <p:cNvGrpSpPr/>
          <p:nvPr/>
        </p:nvGrpSpPr>
        <p:grpSpPr>
          <a:xfrm>
            <a:off x="320039" y="1817282"/>
            <a:ext cx="7075767" cy="3566335"/>
            <a:chOff x="603504" y="2271924"/>
            <a:chExt cx="6473152" cy="3161311"/>
          </a:xfrm>
        </p:grpSpPr>
        <p:sp>
          <p:nvSpPr>
            <p:cNvPr id="25" name="Shape 23"/>
            <p:cNvSpPr/>
            <p:nvPr/>
          </p:nvSpPr>
          <p:spPr>
            <a:xfrm>
              <a:off x="603504" y="2271924"/>
              <a:ext cx="6473152" cy="3161311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0" descr="screensho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2308500"/>
              <a:ext cx="6400000" cy="3088159"/>
            </a:xfrm>
            <a:prstGeom prst="rect">
              <a:avLst/>
            </a:prstGeom>
          </p:spPr>
        </p:pic>
        <p:sp>
          <p:nvSpPr>
            <p:cNvPr id="100" name="Box 1"/>
            <p:cNvSpPr/>
            <p:nvPr/>
          </p:nvSpPr>
          <p:spPr>
            <a:xfrm>
              <a:off x="1362075" y="3069517"/>
              <a:ext cx="5654635" cy="808102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Box 2"/>
            <p:cNvSpPr/>
            <p:nvPr/>
          </p:nvSpPr>
          <p:spPr>
            <a:xfrm>
              <a:off x="1362075" y="3961082"/>
              <a:ext cx="5654635" cy="884716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Box 3"/>
            <p:cNvSpPr/>
            <p:nvPr/>
          </p:nvSpPr>
          <p:spPr>
            <a:xfrm>
              <a:off x="1362075" y="4929260"/>
              <a:ext cx="5608764" cy="419027"/>
            </a:xfrm>
            <a:prstGeom prst="roundRect">
              <a:avLst>
                <a:gd name="adj" fmla="val 10000"/>
              </a:avLst>
            </a:prstGeom>
            <a:noFill/>
            <a:ln w="19050">
              <a:solidFill>
                <a:srgbClr val="1F3A6E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Callout 1"/>
            <p:cNvSpPr/>
            <p:nvPr/>
          </p:nvSpPr>
          <p:spPr>
            <a:xfrm>
              <a:off x="1242946" y="305262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01" name="Callout 2"/>
            <p:cNvSpPr/>
            <p:nvPr/>
          </p:nvSpPr>
          <p:spPr>
            <a:xfrm>
              <a:off x="1207946" y="3983625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2</a:t>
              </a:r>
            </a:p>
          </p:txBody>
        </p:sp>
        <p:sp>
          <p:nvSpPr>
            <p:cNvPr id="202" name="Callout 3"/>
            <p:cNvSpPr/>
            <p:nvPr/>
          </p:nvSpPr>
          <p:spPr>
            <a:xfrm>
              <a:off x="1252075" y="4845798"/>
              <a:ext cx="220000" cy="220000"/>
            </a:xfrm>
            <a:prstGeom prst="ellipse">
              <a:avLst/>
            </a:prstGeom>
            <a:solidFill>
              <a:srgbClr val="1F3A6E"/>
            </a:solidFill>
            <a:ln w="9525"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</a:rPr>
                <a:t>3</a:t>
              </a:r>
            </a:p>
          </p:txBody>
        </p:sp>
      </p:grpSp>
      <p:sp>
        <p:nvSpPr>
          <p:cNvPr id="300" name="Panel Header"/>
          <p:cNvSpPr/>
          <p:nvPr/>
        </p:nvSpPr>
        <p:spPr>
          <a:xfrm>
            <a:off x="7620140" y="1824617"/>
            <a:ext cx="4211840" cy="460000"/>
          </a:xfrm>
          <a:prstGeom prst="roundRect">
            <a:avLst>
              <a:gd name="adj" fmla="val 6000"/>
            </a:avLst>
          </a:prstGeom>
          <a:solidFill>
            <a:srgbClr val="3F8FD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설명</a:t>
            </a:r>
          </a:p>
        </p:txBody>
      </p:sp>
      <p:sp>
        <p:nvSpPr>
          <p:cNvPr id="301" name="Panel Body"/>
          <p:cNvSpPr/>
          <p:nvPr/>
        </p:nvSpPr>
        <p:spPr>
          <a:xfrm>
            <a:off x="7620140" y="2344617"/>
            <a:ext cx="4211840" cy="3039000"/>
          </a:xfrm>
          <a:prstGeom prst="rect">
            <a:avLst/>
          </a:prstGeom>
          <a:solidFill>
            <a:srgbClr val="F4F8FD"/>
          </a:solidFill>
          <a:ln w="9525">
            <a:solidFill>
              <a:srgbClr val="BFBF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81425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</a:t>
            </a:r>
            <a:endParaRPr lang="en-US" sz="10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A8636C-1BE3-07A8-288A-B2B7CE76AAD1}"/>
              </a:ext>
            </a:extLst>
          </p:cNvPr>
          <p:cNvGrpSpPr/>
          <p:nvPr/>
        </p:nvGrpSpPr>
        <p:grpSpPr>
          <a:xfrm>
            <a:off x="320040" y="498348"/>
            <a:ext cx="228600" cy="228600"/>
            <a:chOff x="457200" y="384048"/>
            <a:chExt cx="228600" cy="228600"/>
          </a:xfrm>
        </p:grpSpPr>
        <p:sp>
          <p:nvSpPr>
            <p:cNvPr id="59" name="Shape 1">
              <a:extLst>
                <a:ext uri="{FF2B5EF4-FFF2-40B4-BE49-F238E27FC236}">
                  <a16:creationId xmlns:a16="http://schemas.microsoft.com/office/drawing/2014/main" id="{121CAC59-1B51-FE66-260A-B9781541CCF9}"/>
                </a:ext>
              </a:extLst>
            </p:cNvPr>
            <p:cNvSpPr/>
            <p:nvPr/>
          </p:nvSpPr>
          <p:spPr>
            <a:xfrm>
              <a:off x="457200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">
              <a:extLst>
                <a:ext uri="{FF2B5EF4-FFF2-40B4-BE49-F238E27FC236}">
                  <a16:creationId xmlns:a16="http://schemas.microsoft.com/office/drawing/2014/main" id="{E1C2E947-6BF7-5EDB-8209-CDE64D1F4D01}"/>
                </a:ext>
              </a:extLst>
            </p:cNvPr>
            <p:cNvSpPr/>
            <p:nvPr/>
          </p:nvSpPr>
          <p:spPr>
            <a:xfrm>
              <a:off x="539496" y="3840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491BE5B7-F597-A176-6A25-579B567F313F}"/>
                </a:ext>
              </a:extLst>
            </p:cNvPr>
            <p:cNvSpPr/>
            <p:nvPr/>
          </p:nvSpPr>
          <p:spPr>
            <a:xfrm>
              <a:off x="621792" y="3840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4">
              <a:extLst>
                <a:ext uri="{FF2B5EF4-FFF2-40B4-BE49-F238E27FC236}">
                  <a16:creationId xmlns:a16="http://schemas.microsoft.com/office/drawing/2014/main" id="{D976AFE6-2CE2-BE9F-64F0-7F843B6392D5}"/>
                </a:ext>
              </a:extLst>
            </p:cNvPr>
            <p:cNvSpPr/>
            <p:nvPr/>
          </p:nvSpPr>
          <p:spPr>
            <a:xfrm>
              <a:off x="457200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Shape 5">
              <a:extLst>
                <a:ext uri="{FF2B5EF4-FFF2-40B4-BE49-F238E27FC236}">
                  <a16:creationId xmlns:a16="http://schemas.microsoft.com/office/drawing/2014/main" id="{C72AEAB1-FE5E-4D54-9BC3-9DA5ACF1B0E5}"/>
                </a:ext>
              </a:extLst>
            </p:cNvPr>
            <p:cNvSpPr/>
            <p:nvPr/>
          </p:nvSpPr>
          <p:spPr>
            <a:xfrm>
              <a:off x="539496" y="4663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Shape 6">
              <a:extLst>
                <a:ext uri="{FF2B5EF4-FFF2-40B4-BE49-F238E27FC236}">
                  <a16:creationId xmlns:a16="http://schemas.microsoft.com/office/drawing/2014/main" id="{ACBC1E79-DFBB-802E-60B4-14CE38040EA3}"/>
                </a:ext>
              </a:extLst>
            </p:cNvPr>
            <p:cNvSpPr/>
            <p:nvPr/>
          </p:nvSpPr>
          <p:spPr>
            <a:xfrm>
              <a:off x="621792" y="4663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7">
              <a:extLst>
                <a:ext uri="{FF2B5EF4-FFF2-40B4-BE49-F238E27FC236}">
                  <a16:creationId xmlns:a16="http://schemas.microsoft.com/office/drawing/2014/main" id="{118C2CA6-0117-0BC2-1BDF-C83DDA20C0DA}"/>
                </a:ext>
              </a:extLst>
            </p:cNvPr>
            <p:cNvSpPr/>
            <p:nvPr/>
          </p:nvSpPr>
          <p:spPr>
            <a:xfrm>
              <a:off x="457200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Shape 8">
              <a:extLst>
                <a:ext uri="{FF2B5EF4-FFF2-40B4-BE49-F238E27FC236}">
                  <a16:creationId xmlns:a16="http://schemas.microsoft.com/office/drawing/2014/main" id="{18456B5D-5FEF-7E5C-DE58-E216F227818D}"/>
                </a:ext>
              </a:extLst>
            </p:cNvPr>
            <p:cNvSpPr/>
            <p:nvPr/>
          </p:nvSpPr>
          <p:spPr>
            <a:xfrm>
              <a:off x="539496" y="548640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Shape 9">
              <a:extLst>
                <a:ext uri="{FF2B5EF4-FFF2-40B4-BE49-F238E27FC236}">
                  <a16:creationId xmlns:a16="http://schemas.microsoft.com/office/drawing/2014/main" id="{8839BBB0-63A9-1454-B91E-24CF031ACF4B}"/>
                </a:ext>
              </a:extLst>
            </p:cNvPr>
            <p:cNvSpPr/>
            <p:nvPr/>
          </p:nvSpPr>
          <p:spPr>
            <a:xfrm>
              <a:off x="621792" y="548640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4D8EF01-BC56-B87F-E490-2BFD55FEE3AF}"/>
              </a:ext>
            </a:extLst>
          </p:cNvPr>
          <p:cNvGrpSpPr/>
          <p:nvPr/>
        </p:nvGrpSpPr>
        <p:grpSpPr>
          <a:xfrm>
            <a:off x="320040" y="6473952"/>
            <a:ext cx="228600" cy="228600"/>
            <a:chOff x="320040" y="6473952"/>
            <a:chExt cx="228600" cy="228600"/>
          </a:xfrm>
        </p:grpSpPr>
        <p:sp>
          <p:nvSpPr>
            <p:cNvPr id="69" name="Shape 24">
              <a:extLst>
                <a:ext uri="{FF2B5EF4-FFF2-40B4-BE49-F238E27FC236}">
                  <a16:creationId xmlns:a16="http://schemas.microsoft.com/office/drawing/2014/main" id="{6C0E5B07-BA4E-50F7-F451-EAA393D08F67}"/>
                </a:ext>
              </a:extLst>
            </p:cNvPr>
            <p:cNvSpPr/>
            <p:nvPr/>
          </p:nvSpPr>
          <p:spPr>
            <a:xfrm>
              <a:off x="320040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Shape 25">
              <a:extLst>
                <a:ext uri="{FF2B5EF4-FFF2-40B4-BE49-F238E27FC236}">
                  <a16:creationId xmlns:a16="http://schemas.microsoft.com/office/drawing/2014/main" id="{0E46952B-2975-40DC-674F-859BF46DD17D}"/>
                </a:ext>
              </a:extLst>
            </p:cNvPr>
            <p:cNvSpPr/>
            <p:nvPr/>
          </p:nvSpPr>
          <p:spPr>
            <a:xfrm>
              <a:off x="402336" y="6473952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26">
              <a:extLst>
                <a:ext uri="{FF2B5EF4-FFF2-40B4-BE49-F238E27FC236}">
                  <a16:creationId xmlns:a16="http://schemas.microsoft.com/office/drawing/2014/main" id="{CA241657-965B-FAB1-E214-C23DDCFEE07E}"/>
                </a:ext>
              </a:extLst>
            </p:cNvPr>
            <p:cNvSpPr/>
            <p:nvPr/>
          </p:nvSpPr>
          <p:spPr>
            <a:xfrm>
              <a:off x="484632" y="6473952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429FD885-6C94-362E-3AE9-9F55FDAB155A}"/>
                </a:ext>
              </a:extLst>
            </p:cNvPr>
            <p:cNvSpPr/>
            <p:nvPr/>
          </p:nvSpPr>
          <p:spPr>
            <a:xfrm>
              <a:off x="320040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28">
              <a:extLst>
                <a:ext uri="{FF2B5EF4-FFF2-40B4-BE49-F238E27FC236}">
                  <a16:creationId xmlns:a16="http://schemas.microsoft.com/office/drawing/2014/main" id="{EA9AF314-2059-D536-0C35-F9FD02CC8868}"/>
                </a:ext>
              </a:extLst>
            </p:cNvPr>
            <p:cNvSpPr/>
            <p:nvPr/>
          </p:nvSpPr>
          <p:spPr>
            <a:xfrm>
              <a:off x="402336" y="6556248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Shape 29">
              <a:extLst>
                <a:ext uri="{FF2B5EF4-FFF2-40B4-BE49-F238E27FC236}">
                  <a16:creationId xmlns:a16="http://schemas.microsoft.com/office/drawing/2014/main" id="{B941EADD-1373-C557-235D-CBC833E7CF71}"/>
                </a:ext>
              </a:extLst>
            </p:cNvPr>
            <p:cNvSpPr/>
            <p:nvPr/>
          </p:nvSpPr>
          <p:spPr>
            <a:xfrm>
              <a:off x="484632" y="6556248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98703823-BFE4-EE30-110B-BE02218AE7E7}"/>
                </a:ext>
              </a:extLst>
            </p:cNvPr>
            <p:cNvSpPr/>
            <p:nvPr/>
          </p:nvSpPr>
          <p:spPr>
            <a:xfrm>
              <a:off x="320040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Shape 31">
              <a:extLst>
                <a:ext uri="{FF2B5EF4-FFF2-40B4-BE49-F238E27FC236}">
                  <a16:creationId xmlns:a16="http://schemas.microsoft.com/office/drawing/2014/main" id="{6FF537F6-F709-5840-BE54-B5400B3FFE74}"/>
                </a:ext>
              </a:extLst>
            </p:cNvPr>
            <p:cNvSpPr/>
            <p:nvPr/>
          </p:nvSpPr>
          <p:spPr>
            <a:xfrm>
              <a:off x="402336" y="6638544"/>
              <a:ext cx="64008" cy="64008"/>
            </a:xfrm>
            <a:prstGeom prst="rect">
              <a:avLst/>
            </a:prstGeom>
            <a:solidFill>
              <a:srgbClr val="3F8FD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32">
              <a:extLst>
                <a:ext uri="{FF2B5EF4-FFF2-40B4-BE49-F238E27FC236}">
                  <a16:creationId xmlns:a16="http://schemas.microsoft.com/office/drawing/2014/main" id="{4F6875A1-2C2F-C5F6-BAD8-B5B1BBDDEDAE}"/>
                </a:ext>
              </a:extLst>
            </p:cNvPr>
            <p:cNvSpPr/>
            <p:nvPr/>
          </p:nvSpPr>
          <p:spPr>
            <a:xfrm>
              <a:off x="484632" y="6638544"/>
              <a:ext cx="64008" cy="64008"/>
            </a:xfrm>
            <a:prstGeom prst="rect">
              <a:avLst/>
            </a:prstGeom>
            <a:solidFill>
              <a:srgbClr val="1F3A6E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8" name="Text 33">
            <a:extLst>
              <a:ext uri="{FF2B5EF4-FFF2-40B4-BE49-F238E27FC236}">
                <a16:creationId xmlns:a16="http://schemas.microsoft.com/office/drawing/2014/main" id="{25C04FDC-4892-1613-0E55-4667D163D5A6}"/>
              </a:ext>
            </a:extLst>
          </p:cNvPr>
          <p:cNvSpPr/>
          <p:nvPr/>
        </p:nvSpPr>
        <p:spPr>
          <a:xfrm>
            <a:off x="578543" y="64236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1100" dirty="0"/>
          </a:p>
        </p:txBody>
      </p:sp>
      <p:sp>
        <p:nvSpPr>
          <p:cNvPr id="4" name="Panel Text">
            <a:extLst>
              <a:ext uri="{FF2B5EF4-FFF2-40B4-BE49-F238E27FC236}">
                <a16:creationId xmlns:a16="http://schemas.microsoft.com/office/drawing/2014/main" id="{0938AE3C-75FB-9AD2-A9D8-6ECCCDBBD68E}"/>
              </a:ext>
            </a:extLst>
          </p:cNvPr>
          <p:cNvSpPr txBox="1"/>
          <p:nvPr/>
        </p:nvSpPr>
        <p:spPr>
          <a:xfrm>
            <a:off x="7820140" y="2494617"/>
            <a:ext cx="3811840" cy="225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8. 월별 자금현황(자금현황 탭):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현금 유입/유출: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PIMSVINA 동기화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자금현황 &gt; 보고서 &gt; 자금현황보고서 &gt; 수입 &gt; 월(1-12) 지출 &gt; 월(1-12)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현금잔액 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= 현금유입 – 현금유출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확정진도율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수동 입력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endParaRPr lang="en-US" sz="1100" dirty="0">
              <a:solidFill>
                <a:srgbClr val="262626"/>
              </a:solidFill>
              <a:latin typeface="Calibri" pitchFamily="34" charset="0"/>
            </a:endParaRPr>
          </a:p>
          <a:p>
            <a:pPr marL="228600" indent="-228600">
              <a:lnSpc>
                <a:spcPct val="106000"/>
              </a:lnSpc>
              <a:spcAft>
                <a:spcPts val="500"/>
              </a:spcAft>
              <a:buAutoNum type="arabicPlain" startAt="2"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</a:rPr>
              <a:t>현장사진</a:t>
            </a: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: 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업로드할 사진을 선택합니다</a:t>
            </a:r>
          </a:p>
          <a:p>
            <a:pPr marL="171450" indent="-171450">
              <a:lnSpc>
                <a:spcPct val="106000"/>
              </a:lnSpc>
              <a:spcAft>
                <a:spcPts val="500"/>
              </a:spcAft>
              <a:buFontTx/>
              <a:buChar char="-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</a:rPr>
              <a:t>슬라이드쇼 간격(초)을 설정하면 자동으로 전환되며, 0으로 설정하면 비활성화됩니다.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F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infoERP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PIMS Dashboard – 사용자 가이드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5E4590-4BF9-4E1D-A9C8-32A83CE733C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71e7eca-45c2-4654-91ce-e3101f7c97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3734</Words>
  <Application>Microsoft Office PowerPoint</Application>
  <PresentationFormat>Widescreen</PresentationFormat>
  <Paragraphs>541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ERP MS03</cp:lastModifiedBy>
  <cp:revision>7</cp:revision>
  <dcterms:created xsi:type="dcterms:W3CDTF">2026-10-09T08:57:08Z</dcterms:created>
  <dcterms:modified xsi:type="dcterms:W3CDTF">2026-10-13T06:21:58Z</dcterms:modified>
</cp:coreProperties>
</file>