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3359" y="0"/>
            <a:ext cx="384048" cy="384048"/>
          </a:xfrm>
          <a:prstGeom prst="rect">
            <a:avLst/>
          </a:prstGeom>
          <a:solidFill>
            <a:srgbClr val="AEE0F5"/>
          </a:solidFill>
          <a:ln/>
        </p:spPr>
      </p:sp>
      <p:sp>
        <p:nvSpPr>
          <p:cNvPr id="3" name="Shape 1"/>
          <p:cNvSpPr/>
          <p:nvPr/>
        </p:nvSpPr>
        <p:spPr>
          <a:xfrm>
            <a:off x="9887407" y="0"/>
            <a:ext cx="384048" cy="384048"/>
          </a:xfrm>
          <a:prstGeom prst="rect">
            <a:avLst/>
          </a:prstGeom>
          <a:solidFill>
            <a:srgbClr val="3F8FD0"/>
          </a:solidFill>
          <a:ln/>
        </p:spPr>
      </p:sp>
      <p:sp>
        <p:nvSpPr>
          <p:cNvPr id="4" name="Shape 2"/>
          <p:cNvSpPr/>
          <p:nvPr/>
        </p:nvSpPr>
        <p:spPr>
          <a:xfrm>
            <a:off x="10655503" y="0"/>
            <a:ext cx="384048" cy="384048"/>
          </a:xfrm>
          <a:prstGeom prst="rect">
            <a:avLst/>
          </a:prstGeom>
          <a:solidFill>
            <a:srgbClr val="3F8FD0"/>
          </a:solidFill>
          <a:ln/>
        </p:spPr>
      </p:sp>
      <p:sp>
        <p:nvSpPr>
          <p:cNvPr id="5" name="Shape 3"/>
          <p:cNvSpPr/>
          <p:nvPr/>
        </p:nvSpPr>
        <p:spPr>
          <a:xfrm>
            <a:off x="11039551" y="0"/>
            <a:ext cx="384048" cy="384048"/>
          </a:xfrm>
          <a:prstGeom prst="rect">
            <a:avLst/>
          </a:prstGeom>
          <a:solidFill>
            <a:srgbClr val="AEE0F5"/>
          </a:solidFill>
          <a:ln/>
        </p:spPr>
      </p:sp>
      <p:sp>
        <p:nvSpPr>
          <p:cNvPr id="6" name="Shape 4"/>
          <p:cNvSpPr/>
          <p:nvPr/>
        </p:nvSpPr>
        <p:spPr>
          <a:xfrm>
            <a:off x="11423599" y="0"/>
            <a:ext cx="384048" cy="384048"/>
          </a:xfrm>
          <a:prstGeom prst="rect">
            <a:avLst/>
          </a:prstGeom>
          <a:solidFill>
            <a:srgbClr val="3F8FD0"/>
          </a:solidFill>
          <a:ln/>
        </p:spPr>
      </p:sp>
      <p:sp>
        <p:nvSpPr>
          <p:cNvPr id="7" name="Shape 5"/>
          <p:cNvSpPr/>
          <p:nvPr/>
        </p:nvSpPr>
        <p:spPr>
          <a:xfrm>
            <a:off x="11807647" y="0"/>
            <a:ext cx="384048" cy="384048"/>
          </a:xfrm>
          <a:prstGeom prst="rect">
            <a:avLst/>
          </a:prstGeom>
          <a:solidFill>
            <a:srgbClr val="AEE0F5"/>
          </a:solidFill>
          <a:ln/>
        </p:spPr>
      </p:sp>
      <p:sp>
        <p:nvSpPr>
          <p:cNvPr id="8" name="Shape 6"/>
          <p:cNvSpPr/>
          <p:nvPr/>
        </p:nvSpPr>
        <p:spPr>
          <a:xfrm>
            <a:off x="10271455" y="384048"/>
            <a:ext cx="384048" cy="384048"/>
          </a:xfrm>
          <a:prstGeom prst="rect">
            <a:avLst/>
          </a:prstGeom>
          <a:solidFill>
            <a:srgbClr val="3F8FD0"/>
          </a:solidFill>
          <a:ln/>
        </p:spPr>
      </p:sp>
      <p:sp>
        <p:nvSpPr>
          <p:cNvPr id="9" name="Shape 7"/>
          <p:cNvSpPr/>
          <p:nvPr/>
        </p:nvSpPr>
        <p:spPr>
          <a:xfrm>
            <a:off x="11423599" y="384048"/>
            <a:ext cx="384048" cy="384048"/>
          </a:xfrm>
          <a:prstGeom prst="rect">
            <a:avLst/>
          </a:prstGeom>
          <a:solidFill>
            <a:srgbClr val="AEE0F5"/>
          </a:solidFill>
          <a:ln/>
        </p:spPr>
      </p:sp>
      <p:sp>
        <p:nvSpPr>
          <p:cNvPr id="10" name="Shape 8"/>
          <p:cNvSpPr/>
          <p:nvPr/>
        </p:nvSpPr>
        <p:spPr>
          <a:xfrm>
            <a:off x="11807647" y="384048"/>
            <a:ext cx="384048" cy="384048"/>
          </a:xfrm>
          <a:prstGeom prst="rect">
            <a:avLst/>
          </a:prstGeom>
          <a:solidFill>
            <a:srgbClr val="3F8FD0"/>
          </a:solidFill>
          <a:ln/>
        </p:spPr>
      </p:sp>
      <p:sp>
        <p:nvSpPr>
          <p:cNvPr id="11" name="Shape 9"/>
          <p:cNvSpPr/>
          <p:nvPr/>
        </p:nvSpPr>
        <p:spPr>
          <a:xfrm>
            <a:off x="11039551" y="768096"/>
            <a:ext cx="384048" cy="384048"/>
          </a:xfrm>
          <a:prstGeom prst="rect">
            <a:avLst/>
          </a:prstGeom>
          <a:solidFill>
            <a:srgbClr val="AEE0F5"/>
          </a:solidFill>
          <a:ln/>
        </p:spPr>
      </p:sp>
      <p:sp>
        <p:nvSpPr>
          <p:cNvPr id="12" name="Shape 10"/>
          <p:cNvSpPr/>
          <p:nvPr/>
        </p:nvSpPr>
        <p:spPr>
          <a:xfrm>
            <a:off x="11807647" y="768096"/>
            <a:ext cx="384048" cy="384048"/>
          </a:xfrm>
          <a:prstGeom prst="rect">
            <a:avLst/>
          </a:prstGeom>
          <a:solidFill>
            <a:srgbClr val="AEE0F5"/>
          </a:solidFill>
          <a:ln/>
        </p:spPr>
      </p:sp>
      <p:sp>
        <p:nvSpPr>
          <p:cNvPr id="13" name="Shape 11"/>
          <p:cNvSpPr/>
          <p:nvPr/>
        </p:nvSpPr>
        <p:spPr>
          <a:xfrm>
            <a:off x="548640" y="502920"/>
            <a:ext cx="64008" cy="64008"/>
          </a:xfrm>
          <a:prstGeom prst="rect">
            <a:avLst/>
          </a:prstGeom>
          <a:solidFill>
            <a:srgbClr val="1F3A6E"/>
          </a:solidFill>
          <a:ln/>
        </p:spPr>
      </p:sp>
      <p:sp>
        <p:nvSpPr>
          <p:cNvPr id="14" name="Shape 12"/>
          <p:cNvSpPr/>
          <p:nvPr/>
        </p:nvSpPr>
        <p:spPr>
          <a:xfrm>
            <a:off x="630936" y="502920"/>
            <a:ext cx="64008" cy="64008"/>
          </a:xfrm>
          <a:prstGeom prst="rect">
            <a:avLst/>
          </a:prstGeom>
          <a:solidFill>
            <a:srgbClr val="3F8FD0"/>
          </a:solidFill>
          <a:ln/>
        </p:spPr>
      </p:sp>
      <p:sp>
        <p:nvSpPr>
          <p:cNvPr id="15" name="Shape 13"/>
          <p:cNvSpPr/>
          <p:nvPr/>
        </p:nvSpPr>
        <p:spPr>
          <a:xfrm>
            <a:off x="713232" y="502920"/>
            <a:ext cx="64008" cy="64008"/>
          </a:xfrm>
          <a:prstGeom prst="rect">
            <a:avLst/>
          </a:prstGeom>
          <a:solidFill>
            <a:srgbClr val="1F3A6E"/>
          </a:solidFill>
          <a:ln/>
        </p:spPr>
      </p:sp>
      <p:sp>
        <p:nvSpPr>
          <p:cNvPr id="16" name="Shape 14"/>
          <p:cNvSpPr/>
          <p:nvPr/>
        </p:nvSpPr>
        <p:spPr>
          <a:xfrm>
            <a:off x="548640" y="585216"/>
            <a:ext cx="64008" cy="64008"/>
          </a:xfrm>
          <a:prstGeom prst="rect">
            <a:avLst/>
          </a:prstGeom>
          <a:solidFill>
            <a:srgbClr val="3F8FD0"/>
          </a:solidFill>
          <a:ln/>
        </p:spPr>
      </p:sp>
      <p:sp>
        <p:nvSpPr>
          <p:cNvPr id="17" name="Shape 15"/>
          <p:cNvSpPr/>
          <p:nvPr/>
        </p:nvSpPr>
        <p:spPr>
          <a:xfrm>
            <a:off x="630936" y="585216"/>
            <a:ext cx="64008" cy="64008"/>
          </a:xfrm>
          <a:prstGeom prst="rect">
            <a:avLst/>
          </a:prstGeom>
          <a:solidFill>
            <a:srgbClr val="1F3A6E"/>
          </a:solidFill>
          <a:ln/>
        </p:spPr>
      </p:sp>
      <p:sp>
        <p:nvSpPr>
          <p:cNvPr id="18" name="Shape 16"/>
          <p:cNvSpPr/>
          <p:nvPr/>
        </p:nvSpPr>
        <p:spPr>
          <a:xfrm>
            <a:off x="713232" y="585216"/>
            <a:ext cx="64008" cy="64008"/>
          </a:xfrm>
          <a:prstGeom prst="rect">
            <a:avLst/>
          </a:prstGeom>
          <a:solidFill>
            <a:srgbClr val="3F8FD0"/>
          </a:solidFill>
          <a:ln/>
        </p:spPr>
      </p:sp>
      <p:sp>
        <p:nvSpPr>
          <p:cNvPr id="19" name="Shape 17"/>
          <p:cNvSpPr/>
          <p:nvPr/>
        </p:nvSpPr>
        <p:spPr>
          <a:xfrm>
            <a:off x="548640" y="667512"/>
            <a:ext cx="64008" cy="64008"/>
          </a:xfrm>
          <a:prstGeom prst="rect">
            <a:avLst/>
          </a:prstGeom>
          <a:solidFill>
            <a:srgbClr val="1F3A6E"/>
          </a:solidFill>
          <a:ln/>
        </p:spPr>
      </p:sp>
      <p:sp>
        <p:nvSpPr>
          <p:cNvPr id="20" name="Shape 18"/>
          <p:cNvSpPr/>
          <p:nvPr/>
        </p:nvSpPr>
        <p:spPr>
          <a:xfrm>
            <a:off x="630936" y="667512"/>
            <a:ext cx="64008" cy="64008"/>
          </a:xfrm>
          <a:prstGeom prst="rect">
            <a:avLst/>
          </a:prstGeom>
          <a:solidFill>
            <a:srgbClr val="3F8FD0"/>
          </a:solidFill>
          <a:ln/>
        </p:spPr>
      </p:sp>
      <p:sp>
        <p:nvSpPr>
          <p:cNvPr id="21" name="Shape 19"/>
          <p:cNvSpPr/>
          <p:nvPr/>
        </p:nvSpPr>
        <p:spPr>
          <a:xfrm>
            <a:off x="713232" y="667512"/>
            <a:ext cx="64008" cy="64008"/>
          </a:xfrm>
          <a:prstGeom prst="rect">
            <a:avLst/>
          </a:prstGeom>
          <a:solidFill>
            <a:srgbClr val="1F3A6E"/>
          </a:solidFill>
          <a:ln/>
        </p:spPr>
      </p:sp>
      <p:sp>
        <p:nvSpPr>
          <p:cNvPr id="22" name="Text 20"/>
          <p:cNvSpPr/>
          <p:nvPr/>
        </p:nvSpPr>
        <p:spPr>
          <a:xfrm>
            <a:off x="914400" y="384048"/>
            <a:ext cx="2743200" cy="457200"/>
          </a:xfrm>
          <a:prstGeom prst="rect">
            <a:avLst/>
          </a:prstGeom>
          <a:noFill/>
          <a:ln/>
        </p:spPr>
        <p:txBody>
          <a:bodyPr wrap="square" lIns="0" tIns="0" rIns="0" bIns="0" rtlCol="0" anchor="ctr"/>
          <a:lstStyle/>
          <a:p>
            <a:pPr indent="0" marL="0">
              <a:buNone/>
            </a:pPr>
            <a:r>
              <a:rPr lang="en-US" sz="2000" b="1" dirty="0">
                <a:solidFill>
                  <a:srgbClr val="1F3A6E"/>
                </a:solidFill>
                <a:latin typeface="Calibri" pitchFamily="34" charset="0"/>
                <a:ea typeface="Calibri" pitchFamily="34" charset="-122"/>
                <a:cs typeface="Calibri" pitchFamily="34" charset="-120"/>
              </a:rPr>
              <a:t>infoERP</a:t>
            </a:r>
            <a:endParaRPr lang="en-US" sz="2000" dirty="0"/>
          </a:p>
        </p:txBody>
      </p:sp>
      <p:sp>
        <p:nvSpPr>
          <p:cNvPr id="23" name="Text 21"/>
          <p:cNvSpPr/>
          <p:nvPr/>
        </p:nvSpPr>
        <p:spPr>
          <a:xfrm>
            <a:off x="914400" y="804672"/>
            <a:ext cx="32004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
        <p:nvSpPr>
          <p:cNvPr id="24" name="Shape 22"/>
          <p:cNvSpPr/>
          <p:nvPr/>
        </p:nvSpPr>
        <p:spPr>
          <a:xfrm>
            <a:off x="914400" y="2880360"/>
            <a:ext cx="8412480" cy="1325880"/>
          </a:xfrm>
          <a:prstGeom prst="rect">
            <a:avLst/>
          </a:prstGeom>
          <a:solidFill>
            <a:srgbClr val="8C8C8C"/>
          </a:solidFill>
          <a:ln/>
        </p:spPr>
      </p:sp>
      <p:sp>
        <p:nvSpPr>
          <p:cNvPr id="25" name="Text 23"/>
          <p:cNvSpPr/>
          <p:nvPr/>
        </p:nvSpPr>
        <p:spPr>
          <a:xfrm>
            <a:off x="1188720" y="2971800"/>
            <a:ext cx="795528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PIMS Dashboard – Hướng Dẫn Sử Dụng</a:t>
            </a:r>
            <a:endParaRPr lang="en-US" sz="3200" dirty="0"/>
          </a:p>
        </p:txBody>
      </p:sp>
      <p:sp>
        <p:nvSpPr>
          <p:cNvPr id="26" name="Text 24"/>
          <p:cNvSpPr/>
          <p:nvPr/>
        </p:nvSpPr>
        <p:spPr>
          <a:xfrm>
            <a:off x="1188720" y="3703320"/>
            <a:ext cx="5486400" cy="365760"/>
          </a:xfrm>
          <a:prstGeom prst="rect">
            <a:avLst/>
          </a:prstGeom>
          <a:noFill/>
          <a:ln/>
        </p:spPr>
        <p:txBody>
          <a:bodyPr wrap="square" lIns="0" tIns="0" rIns="0" bIns="0" rtlCol="0" anchor="ctr"/>
          <a:lstStyle/>
          <a:p>
            <a:pPr indent="0" marL="0">
              <a:buNone/>
            </a:pPr>
            <a:r>
              <a:rPr lang="en-US" sz="1400" b="1" i="1" dirty="0">
                <a:solidFill>
                  <a:srgbClr val="D9611B"/>
                </a:solidFill>
                <a:latin typeface="Calibri" pitchFamily="34" charset="0"/>
                <a:ea typeface="Calibri" pitchFamily="34" charset="-122"/>
                <a:cs typeface="Calibri" pitchFamily="34" charset="-120"/>
              </a:rPr>
              <a:t>Dành cho Người Xem Bảng Điều Khiển &amp; Quản Lý Dữ Liệu</a:t>
            </a:r>
            <a:endParaRPr lang="en-US" sz="1400" dirty="0"/>
          </a:p>
        </p:txBody>
      </p:sp>
      <p:sp>
        <p:nvSpPr>
          <p:cNvPr id="27" name="Text 25"/>
          <p:cNvSpPr/>
          <p:nvPr/>
        </p:nvSpPr>
        <p:spPr>
          <a:xfrm>
            <a:off x="7772400" y="3703320"/>
            <a:ext cx="1463040" cy="365760"/>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Tháng 10 năm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Giới Thiệu – PIMS Dashboard</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4" name="Text 22"/>
          <p:cNvSpPr/>
          <p:nvPr/>
        </p:nvSpPr>
        <p:spPr>
          <a:xfrm>
            <a:off x="914400" y="1234440"/>
            <a:ext cx="10332720" cy="484632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00" b="1" dirty="0">
                <a:solidFill>
                  <a:srgbClr val="1F3A6E"/>
                </a:solidFill>
                <a:latin typeface="Calibri" pitchFamily="34" charset="0"/>
                <a:ea typeface="Calibri" pitchFamily="34" charset="-122"/>
                <a:cs typeface="Calibri" pitchFamily="34" charset="-120"/>
              </a:rPr>
              <a:t>Mục đích: </a:t>
            </a:r>
            <a:pPr indent="0" marL="0">
              <a:lnSpc>
                <a:spcPct val="115000"/>
              </a:lnSpc>
              <a:spcAft>
                <a:spcPts val="1400"/>
              </a:spcAft>
              <a:buNone/>
            </a:pPr>
            <a:r>
              <a:rPr lang="en-US" sz="1500" dirty="0">
                <a:solidFill>
                  <a:srgbClr val="262626"/>
                </a:solidFill>
                <a:latin typeface="Calibri" pitchFamily="34" charset="0"/>
                <a:ea typeface="Calibri" pitchFamily="34" charset="-122"/>
                <a:cs typeface="Calibri" pitchFamily="34" charset="-120"/>
              </a:rPr>
              <a:t>Tài liệu này hướng dẫn toàn bộ PIMS Management Dashboard từ đầu đến cuối — bao gồm các màn hình xem công khai mà bất kỳ người dùng nào cũng có thể truy cập, và các màn hình Nhập Liệu (Data Entry) dùng để cập nhật dữ liệu cho từng báo cáo.</a:t>
            </a:r>
            <a:endParaRPr lang="en-US" sz="1500" dirty="0"/>
          </a:p>
          <a:p>
            <a:pPr marL="342900" indent="-342900">
              <a:lnSpc>
                <a:spcPct val="115000"/>
              </a:lnSpc>
              <a:spcAft>
                <a:spcPts val="1400"/>
              </a:spcAft>
              <a:buSzPct val="100000"/>
              <a:buChar char="•"/>
            </a:pPr>
            <a:r>
              <a:rPr lang="en-US" sz="1500" b="1" dirty="0">
                <a:solidFill>
                  <a:srgbClr val="1F3A6E"/>
                </a:solidFill>
                <a:latin typeface="Calibri" pitchFamily="34" charset="0"/>
                <a:ea typeface="Calibri" pitchFamily="34" charset="-122"/>
                <a:cs typeface="Calibri" pitchFamily="34" charset="-120"/>
              </a:rPr>
              <a:t>Đối tượng: </a:t>
            </a:r>
            <a:pPr indent="0" marL="0">
              <a:lnSpc>
                <a:spcPct val="115000"/>
              </a:lnSpc>
              <a:spcAft>
                <a:spcPts val="1400"/>
              </a:spcAft>
              <a:buNone/>
            </a:pPr>
            <a:r>
              <a:rPr lang="en-US" sz="1500" dirty="0">
                <a:solidFill>
                  <a:srgbClr val="262626"/>
                </a:solidFill>
                <a:latin typeface="Calibri" pitchFamily="34" charset="0"/>
                <a:ea typeface="Calibri" pitchFamily="34" charset="-122"/>
                <a:cs typeface="Calibri" pitchFamily="34" charset="-120"/>
              </a:rPr>
              <a:t>Ban lãnh đạo và các bên liên quan theo dõi hiệu quả hoạt động của công ty và công trường, cùng với Quản lý Công trường / Quản lý Dữ liệu phụ trách cập nhật dữ liệu tiến độ, doanh thu, chi phí, thầu phụ và dòng tiền hàng tháng.</a:t>
            </a:r>
            <a:endParaRPr lang="en-US" sz="1500" dirty="0"/>
          </a:p>
          <a:p>
            <a:pPr marL="342900" indent="-342900">
              <a:lnSpc>
                <a:spcPct val="115000"/>
              </a:lnSpc>
              <a:spcAft>
                <a:spcPts val="1400"/>
              </a:spcAft>
              <a:buSzPct val="100000"/>
              <a:buChar char="•"/>
            </a:pPr>
            <a:r>
              <a:rPr lang="en-US" sz="1500" b="1" dirty="0">
                <a:solidFill>
                  <a:srgbClr val="1F3A6E"/>
                </a:solidFill>
                <a:latin typeface="Calibri" pitchFamily="34" charset="0"/>
                <a:ea typeface="Calibri" pitchFamily="34" charset="-122"/>
                <a:cs typeface="Calibri" pitchFamily="34" charset="-120"/>
              </a:rPr>
              <a:t>Phạm vi: </a:t>
            </a:r>
            <a:pPr indent="0" marL="0">
              <a:lnSpc>
                <a:spcPct val="115000"/>
              </a:lnSpc>
              <a:spcAft>
                <a:spcPts val="1400"/>
              </a:spcAft>
              <a:buNone/>
            </a:pPr>
            <a:r>
              <a:rPr lang="en-US" sz="1500" dirty="0">
                <a:solidFill>
                  <a:srgbClr val="262626"/>
                </a:solidFill>
                <a:latin typeface="Calibri" pitchFamily="34" charset="0"/>
                <a:ea typeface="Calibri" pitchFamily="34" charset="-122"/>
                <a:cs typeface="Calibri" pitchFamily="34" charset="-120"/>
              </a:rPr>
              <a:t>Bảng Điều Khiển Chính (chỉ số KPI toàn công ty) → Bảng Điều Khiển Dự Án Xây Dựng → Bảng Điều Khiển Dự Án Dịch Vụ → Nhập Liệu cho công trường Xây dựng → Nhập Liệu cho công trường Dịch vụ.</a:t>
            </a:r>
            <a:endParaRPr lang="en-US" sz="1500" dirty="0"/>
          </a:p>
          <a:p>
            <a:pPr marL="342900" indent="-342900">
              <a:lnSpc>
                <a:spcPct val="115000"/>
              </a:lnSpc>
              <a:spcAft>
                <a:spcPts val="1400"/>
              </a:spcAft>
              <a:buSzPct val="100000"/>
              <a:buChar char="•"/>
            </a:pPr>
            <a:r>
              <a:rPr lang="en-US" sz="1500" b="1" dirty="0">
                <a:solidFill>
                  <a:srgbClr val="1F3A6E"/>
                </a:solidFill>
                <a:latin typeface="Calibri" pitchFamily="34" charset="0"/>
                <a:ea typeface="Calibri" pitchFamily="34" charset="-122"/>
                <a:cs typeface="Calibri" pitchFamily="34" charset="-120"/>
              </a:rPr>
              <a:t>Truy cập: </a:t>
            </a:r>
            <a:pPr indent="0" marL="0">
              <a:lnSpc>
                <a:spcPct val="115000"/>
              </a:lnSpc>
              <a:spcAft>
                <a:spcPts val="1400"/>
              </a:spcAft>
              <a:buNone/>
            </a:pPr>
            <a:r>
              <a:rPr lang="en-US" sz="1500" dirty="0">
                <a:solidFill>
                  <a:srgbClr val="262626"/>
                </a:solidFill>
                <a:latin typeface="Calibri" pitchFamily="34" charset="0"/>
                <a:ea typeface="Calibri" pitchFamily="34" charset="-122"/>
                <a:cs typeface="Calibri" pitchFamily="34" charset="-120"/>
              </a:rPr>
              <a:t>Bảng Điều Khiển Chính và các bảng điều khiển dự án chỉ ở chế độ xem, không yêu cầu đăng nhập. Màn hình Nhập Liệu được truy cập theo từng công trường thông qua cây công trường bên trái, sau khi đăng nhập bằng tài khoản Quản lý Dữ liệu.</a:t>
            </a:r>
            <a:endParaRPr lang="en-US" sz="1500" dirty="0"/>
          </a:p>
          <a:p>
            <a:pPr marL="342900" indent="-342900">
              <a:lnSpc>
                <a:spcPct val="115000"/>
              </a:lnSpc>
              <a:spcAft>
                <a:spcPts val="1400"/>
              </a:spcAft>
              <a:buSzPct val="100000"/>
              <a:buChar char="•"/>
            </a:pPr>
            <a:r>
              <a:rPr lang="en-US" sz="1500" b="1" dirty="0">
                <a:solidFill>
                  <a:srgbClr val="1F3A6E"/>
                </a:solidFill>
                <a:latin typeface="Calibri" pitchFamily="34" charset="0"/>
                <a:ea typeface="Calibri" pitchFamily="34" charset="-122"/>
                <a:cs typeface="Calibri" pitchFamily="34" charset="-120"/>
              </a:rPr>
              <a:t>Điều hướng: </a:t>
            </a:r>
            <a:pPr indent="0" marL="0">
              <a:lnSpc>
                <a:spcPct val="115000"/>
              </a:lnSpc>
              <a:spcAft>
                <a:spcPts val="1400"/>
              </a:spcAft>
              <a:buNone/>
            </a:pPr>
            <a:r>
              <a:rPr lang="en-US" sz="1500" dirty="0">
                <a:solidFill>
                  <a:srgbClr val="262626"/>
                </a:solidFill>
                <a:latin typeface="Calibri" pitchFamily="34" charset="0"/>
                <a:ea typeface="Calibri" pitchFamily="34" charset="-122"/>
                <a:cs typeface="Calibri" pitchFamily="34" charset="-120"/>
              </a:rPr>
              <a:t>Sử dụng bảng bên trái để chọn công trường (Xây dựng / Dịch vụ / TCC / DE HEIM). Sử dụng Tỷ giá (USD / KRW / VND) và Đơn vị (USD / K USD) ở đầu mỗi màn hình để thay đổi đơn vị tiền tệ hiển thị.</a:t>
            </a:r>
            <a:endParaRPr lang="en-US" sz="1500" dirty="0"/>
          </a:p>
        </p:txBody>
      </p:sp>
      <p:sp>
        <p:nvSpPr>
          <p:cNvPr id="25" name="Shape 23"/>
          <p:cNvSpPr/>
          <p:nvPr/>
        </p:nvSpPr>
        <p:spPr>
          <a:xfrm>
            <a:off x="320040" y="6473952"/>
            <a:ext cx="64008" cy="64008"/>
          </a:xfrm>
          <a:prstGeom prst="rect">
            <a:avLst/>
          </a:prstGeom>
          <a:solidFill>
            <a:srgbClr val="1F3A6E"/>
          </a:solidFill>
          <a:ln/>
        </p:spPr>
      </p:sp>
      <p:sp>
        <p:nvSpPr>
          <p:cNvPr id="26" name="Shape 24"/>
          <p:cNvSpPr/>
          <p:nvPr/>
        </p:nvSpPr>
        <p:spPr>
          <a:xfrm>
            <a:off x="402336" y="6473952"/>
            <a:ext cx="64008" cy="64008"/>
          </a:xfrm>
          <a:prstGeom prst="rect">
            <a:avLst/>
          </a:prstGeom>
          <a:solidFill>
            <a:srgbClr val="3F8FD0"/>
          </a:solidFill>
          <a:ln/>
        </p:spPr>
      </p:sp>
      <p:sp>
        <p:nvSpPr>
          <p:cNvPr id="27" name="Shape 25"/>
          <p:cNvSpPr/>
          <p:nvPr/>
        </p:nvSpPr>
        <p:spPr>
          <a:xfrm>
            <a:off x="484632" y="6473952"/>
            <a:ext cx="64008" cy="64008"/>
          </a:xfrm>
          <a:prstGeom prst="rect">
            <a:avLst/>
          </a:prstGeom>
          <a:solidFill>
            <a:srgbClr val="1F3A6E"/>
          </a:solidFill>
          <a:ln/>
        </p:spPr>
      </p:sp>
      <p:sp>
        <p:nvSpPr>
          <p:cNvPr id="28" name="Shape 26"/>
          <p:cNvSpPr/>
          <p:nvPr/>
        </p:nvSpPr>
        <p:spPr>
          <a:xfrm>
            <a:off x="320040" y="6556248"/>
            <a:ext cx="64008" cy="64008"/>
          </a:xfrm>
          <a:prstGeom prst="rect">
            <a:avLst/>
          </a:prstGeom>
          <a:solidFill>
            <a:srgbClr val="3F8FD0"/>
          </a:solidFill>
          <a:ln/>
        </p:spPr>
      </p:sp>
      <p:sp>
        <p:nvSpPr>
          <p:cNvPr id="29" name="Shape 27"/>
          <p:cNvSpPr/>
          <p:nvPr/>
        </p:nvSpPr>
        <p:spPr>
          <a:xfrm>
            <a:off x="402336" y="6556248"/>
            <a:ext cx="64008" cy="64008"/>
          </a:xfrm>
          <a:prstGeom prst="rect">
            <a:avLst/>
          </a:prstGeom>
          <a:solidFill>
            <a:srgbClr val="1F3A6E"/>
          </a:solidFill>
          <a:ln/>
        </p:spPr>
      </p:sp>
      <p:sp>
        <p:nvSpPr>
          <p:cNvPr id="30" name="Shape 28"/>
          <p:cNvSpPr/>
          <p:nvPr/>
        </p:nvSpPr>
        <p:spPr>
          <a:xfrm>
            <a:off x="484632" y="6556248"/>
            <a:ext cx="64008" cy="64008"/>
          </a:xfrm>
          <a:prstGeom prst="rect">
            <a:avLst/>
          </a:prstGeom>
          <a:solidFill>
            <a:srgbClr val="3F8FD0"/>
          </a:solidFill>
          <a:ln/>
        </p:spPr>
      </p:sp>
      <p:sp>
        <p:nvSpPr>
          <p:cNvPr id="31" name="Shape 29"/>
          <p:cNvSpPr/>
          <p:nvPr/>
        </p:nvSpPr>
        <p:spPr>
          <a:xfrm>
            <a:off x="320040" y="6638544"/>
            <a:ext cx="64008" cy="64008"/>
          </a:xfrm>
          <a:prstGeom prst="rect">
            <a:avLst/>
          </a:prstGeom>
          <a:solidFill>
            <a:srgbClr val="1F3A6E"/>
          </a:solidFill>
          <a:ln/>
        </p:spPr>
      </p:sp>
      <p:sp>
        <p:nvSpPr>
          <p:cNvPr id="32" name="Shape 30"/>
          <p:cNvSpPr/>
          <p:nvPr/>
        </p:nvSpPr>
        <p:spPr>
          <a:xfrm>
            <a:off x="402336" y="6638544"/>
            <a:ext cx="64008" cy="64008"/>
          </a:xfrm>
          <a:prstGeom prst="rect">
            <a:avLst/>
          </a:prstGeom>
          <a:solidFill>
            <a:srgbClr val="3F8FD0"/>
          </a:solidFill>
          <a:ln/>
        </p:spPr>
      </p:sp>
      <p:sp>
        <p:nvSpPr>
          <p:cNvPr id="33" name="Shape 31"/>
          <p:cNvSpPr/>
          <p:nvPr/>
        </p:nvSpPr>
        <p:spPr>
          <a:xfrm>
            <a:off x="484632" y="6638544"/>
            <a:ext cx="64008" cy="64008"/>
          </a:xfrm>
          <a:prstGeom prst="rect">
            <a:avLst/>
          </a:prstGeom>
          <a:solidFill>
            <a:srgbClr val="1F3A6E"/>
          </a:solidFill>
          <a:ln/>
        </p:spPr>
      </p:sp>
      <p:sp>
        <p:nvSpPr>
          <p:cNvPr id="34" name="Text 32"/>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5" name="Text 33"/>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3359" y="0"/>
            <a:ext cx="384048" cy="384048"/>
          </a:xfrm>
          <a:prstGeom prst="rect">
            <a:avLst/>
          </a:prstGeom>
          <a:solidFill>
            <a:srgbClr val="AEE0F5"/>
          </a:solidFill>
          <a:ln/>
        </p:spPr>
      </p:sp>
      <p:sp>
        <p:nvSpPr>
          <p:cNvPr id="3" name="Shape 1"/>
          <p:cNvSpPr/>
          <p:nvPr/>
        </p:nvSpPr>
        <p:spPr>
          <a:xfrm>
            <a:off x="9887407" y="0"/>
            <a:ext cx="384048" cy="384048"/>
          </a:xfrm>
          <a:prstGeom prst="rect">
            <a:avLst/>
          </a:prstGeom>
          <a:solidFill>
            <a:srgbClr val="3F8FD0"/>
          </a:solidFill>
          <a:ln/>
        </p:spPr>
      </p:sp>
      <p:sp>
        <p:nvSpPr>
          <p:cNvPr id="4" name="Shape 2"/>
          <p:cNvSpPr/>
          <p:nvPr/>
        </p:nvSpPr>
        <p:spPr>
          <a:xfrm>
            <a:off x="10655503" y="0"/>
            <a:ext cx="384048" cy="384048"/>
          </a:xfrm>
          <a:prstGeom prst="rect">
            <a:avLst/>
          </a:prstGeom>
          <a:solidFill>
            <a:srgbClr val="3F8FD0"/>
          </a:solidFill>
          <a:ln/>
        </p:spPr>
      </p:sp>
      <p:sp>
        <p:nvSpPr>
          <p:cNvPr id="5" name="Shape 3"/>
          <p:cNvSpPr/>
          <p:nvPr/>
        </p:nvSpPr>
        <p:spPr>
          <a:xfrm>
            <a:off x="11039551" y="0"/>
            <a:ext cx="384048" cy="384048"/>
          </a:xfrm>
          <a:prstGeom prst="rect">
            <a:avLst/>
          </a:prstGeom>
          <a:solidFill>
            <a:srgbClr val="AEE0F5"/>
          </a:solidFill>
          <a:ln/>
        </p:spPr>
      </p:sp>
      <p:sp>
        <p:nvSpPr>
          <p:cNvPr id="6" name="Shape 4"/>
          <p:cNvSpPr/>
          <p:nvPr/>
        </p:nvSpPr>
        <p:spPr>
          <a:xfrm>
            <a:off x="11423599" y="0"/>
            <a:ext cx="384048" cy="384048"/>
          </a:xfrm>
          <a:prstGeom prst="rect">
            <a:avLst/>
          </a:prstGeom>
          <a:solidFill>
            <a:srgbClr val="3F8FD0"/>
          </a:solidFill>
          <a:ln/>
        </p:spPr>
      </p:sp>
      <p:sp>
        <p:nvSpPr>
          <p:cNvPr id="7" name="Shape 5"/>
          <p:cNvSpPr/>
          <p:nvPr/>
        </p:nvSpPr>
        <p:spPr>
          <a:xfrm>
            <a:off x="11807647" y="0"/>
            <a:ext cx="384048" cy="384048"/>
          </a:xfrm>
          <a:prstGeom prst="rect">
            <a:avLst/>
          </a:prstGeom>
          <a:solidFill>
            <a:srgbClr val="AEE0F5"/>
          </a:solidFill>
          <a:ln/>
        </p:spPr>
      </p:sp>
      <p:sp>
        <p:nvSpPr>
          <p:cNvPr id="8" name="Shape 6"/>
          <p:cNvSpPr/>
          <p:nvPr/>
        </p:nvSpPr>
        <p:spPr>
          <a:xfrm>
            <a:off x="10271455" y="384048"/>
            <a:ext cx="384048" cy="384048"/>
          </a:xfrm>
          <a:prstGeom prst="rect">
            <a:avLst/>
          </a:prstGeom>
          <a:solidFill>
            <a:srgbClr val="3F8FD0"/>
          </a:solidFill>
          <a:ln/>
        </p:spPr>
      </p:sp>
      <p:sp>
        <p:nvSpPr>
          <p:cNvPr id="9" name="Shape 7"/>
          <p:cNvSpPr/>
          <p:nvPr/>
        </p:nvSpPr>
        <p:spPr>
          <a:xfrm>
            <a:off x="11423599" y="384048"/>
            <a:ext cx="384048" cy="384048"/>
          </a:xfrm>
          <a:prstGeom prst="rect">
            <a:avLst/>
          </a:prstGeom>
          <a:solidFill>
            <a:srgbClr val="AEE0F5"/>
          </a:solidFill>
          <a:ln/>
        </p:spPr>
      </p:sp>
      <p:sp>
        <p:nvSpPr>
          <p:cNvPr id="10" name="Shape 8"/>
          <p:cNvSpPr/>
          <p:nvPr/>
        </p:nvSpPr>
        <p:spPr>
          <a:xfrm>
            <a:off x="11807647" y="384048"/>
            <a:ext cx="384048" cy="384048"/>
          </a:xfrm>
          <a:prstGeom prst="rect">
            <a:avLst/>
          </a:prstGeom>
          <a:solidFill>
            <a:srgbClr val="3F8FD0"/>
          </a:solidFill>
          <a:ln/>
        </p:spPr>
      </p:sp>
      <p:sp>
        <p:nvSpPr>
          <p:cNvPr id="11" name="Shape 9"/>
          <p:cNvSpPr/>
          <p:nvPr/>
        </p:nvSpPr>
        <p:spPr>
          <a:xfrm>
            <a:off x="11039551" y="768096"/>
            <a:ext cx="384048" cy="384048"/>
          </a:xfrm>
          <a:prstGeom prst="rect">
            <a:avLst/>
          </a:prstGeom>
          <a:solidFill>
            <a:srgbClr val="AEE0F5"/>
          </a:solidFill>
          <a:ln/>
        </p:spPr>
      </p:sp>
      <p:sp>
        <p:nvSpPr>
          <p:cNvPr id="12" name="Shape 10"/>
          <p:cNvSpPr/>
          <p:nvPr/>
        </p:nvSpPr>
        <p:spPr>
          <a:xfrm>
            <a:off x="11807647" y="768096"/>
            <a:ext cx="384048" cy="384048"/>
          </a:xfrm>
          <a:prstGeom prst="rect">
            <a:avLst/>
          </a:prstGeom>
          <a:solidFill>
            <a:srgbClr val="AEE0F5"/>
          </a:solidFill>
          <a:ln/>
        </p:spPr>
      </p:sp>
      <p:sp>
        <p:nvSpPr>
          <p:cNvPr id="13" name="Shape 11"/>
          <p:cNvSpPr/>
          <p:nvPr/>
        </p:nvSpPr>
        <p:spPr>
          <a:xfrm>
            <a:off x="548640" y="457200"/>
            <a:ext cx="64008" cy="64008"/>
          </a:xfrm>
          <a:prstGeom prst="rect">
            <a:avLst/>
          </a:prstGeom>
          <a:solidFill>
            <a:srgbClr val="1F3A6E"/>
          </a:solidFill>
          <a:ln/>
        </p:spPr>
      </p:sp>
      <p:sp>
        <p:nvSpPr>
          <p:cNvPr id="14" name="Shape 12"/>
          <p:cNvSpPr/>
          <p:nvPr/>
        </p:nvSpPr>
        <p:spPr>
          <a:xfrm>
            <a:off x="630936" y="457200"/>
            <a:ext cx="64008" cy="64008"/>
          </a:xfrm>
          <a:prstGeom prst="rect">
            <a:avLst/>
          </a:prstGeom>
          <a:solidFill>
            <a:srgbClr val="3F8FD0"/>
          </a:solidFill>
          <a:ln/>
        </p:spPr>
      </p:sp>
      <p:sp>
        <p:nvSpPr>
          <p:cNvPr id="15" name="Shape 13"/>
          <p:cNvSpPr/>
          <p:nvPr/>
        </p:nvSpPr>
        <p:spPr>
          <a:xfrm>
            <a:off x="713232" y="457200"/>
            <a:ext cx="64008" cy="64008"/>
          </a:xfrm>
          <a:prstGeom prst="rect">
            <a:avLst/>
          </a:prstGeom>
          <a:solidFill>
            <a:srgbClr val="1F3A6E"/>
          </a:solidFill>
          <a:ln/>
        </p:spPr>
      </p:sp>
      <p:sp>
        <p:nvSpPr>
          <p:cNvPr id="16" name="Shape 14"/>
          <p:cNvSpPr/>
          <p:nvPr/>
        </p:nvSpPr>
        <p:spPr>
          <a:xfrm>
            <a:off x="548640" y="539496"/>
            <a:ext cx="64008" cy="64008"/>
          </a:xfrm>
          <a:prstGeom prst="rect">
            <a:avLst/>
          </a:prstGeom>
          <a:solidFill>
            <a:srgbClr val="3F8FD0"/>
          </a:solidFill>
          <a:ln/>
        </p:spPr>
      </p:sp>
      <p:sp>
        <p:nvSpPr>
          <p:cNvPr id="17" name="Shape 15"/>
          <p:cNvSpPr/>
          <p:nvPr/>
        </p:nvSpPr>
        <p:spPr>
          <a:xfrm>
            <a:off x="630936" y="539496"/>
            <a:ext cx="64008" cy="64008"/>
          </a:xfrm>
          <a:prstGeom prst="rect">
            <a:avLst/>
          </a:prstGeom>
          <a:solidFill>
            <a:srgbClr val="1F3A6E"/>
          </a:solidFill>
          <a:ln/>
        </p:spPr>
      </p:sp>
      <p:sp>
        <p:nvSpPr>
          <p:cNvPr id="18" name="Shape 16"/>
          <p:cNvSpPr/>
          <p:nvPr/>
        </p:nvSpPr>
        <p:spPr>
          <a:xfrm>
            <a:off x="713232" y="539496"/>
            <a:ext cx="64008" cy="64008"/>
          </a:xfrm>
          <a:prstGeom prst="rect">
            <a:avLst/>
          </a:prstGeom>
          <a:solidFill>
            <a:srgbClr val="3F8FD0"/>
          </a:solidFill>
          <a:ln/>
        </p:spPr>
      </p:sp>
      <p:sp>
        <p:nvSpPr>
          <p:cNvPr id="19" name="Shape 17"/>
          <p:cNvSpPr/>
          <p:nvPr/>
        </p:nvSpPr>
        <p:spPr>
          <a:xfrm>
            <a:off x="548640" y="621792"/>
            <a:ext cx="64008" cy="64008"/>
          </a:xfrm>
          <a:prstGeom prst="rect">
            <a:avLst/>
          </a:prstGeom>
          <a:solidFill>
            <a:srgbClr val="1F3A6E"/>
          </a:solidFill>
          <a:ln/>
        </p:spPr>
      </p:sp>
      <p:sp>
        <p:nvSpPr>
          <p:cNvPr id="20" name="Shape 18"/>
          <p:cNvSpPr/>
          <p:nvPr/>
        </p:nvSpPr>
        <p:spPr>
          <a:xfrm>
            <a:off x="630936" y="621792"/>
            <a:ext cx="64008" cy="64008"/>
          </a:xfrm>
          <a:prstGeom prst="rect">
            <a:avLst/>
          </a:prstGeom>
          <a:solidFill>
            <a:srgbClr val="3F8FD0"/>
          </a:solidFill>
          <a:ln/>
        </p:spPr>
      </p:sp>
      <p:sp>
        <p:nvSpPr>
          <p:cNvPr id="21" name="Shape 19"/>
          <p:cNvSpPr/>
          <p:nvPr/>
        </p:nvSpPr>
        <p:spPr>
          <a:xfrm>
            <a:off x="713232" y="621792"/>
            <a:ext cx="64008" cy="64008"/>
          </a:xfrm>
          <a:prstGeom prst="rect">
            <a:avLst/>
          </a:prstGeom>
          <a:solidFill>
            <a:srgbClr val="1F3A6E"/>
          </a:solidFill>
          <a:ln/>
        </p:spPr>
      </p:sp>
      <p:sp>
        <p:nvSpPr>
          <p:cNvPr id="22" name="Shape 20"/>
          <p:cNvSpPr/>
          <p:nvPr/>
        </p:nvSpPr>
        <p:spPr>
          <a:xfrm>
            <a:off x="914400" y="2743200"/>
            <a:ext cx="1417320" cy="1417320"/>
          </a:xfrm>
          <a:prstGeom prst="rect">
            <a:avLst/>
          </a:prstGeom>
          <a:solidFill>
            <a:srgbClr val="1F3A6E"/>
          </a:solidFill>
          <a:ln/>
          <a:effectLst>
            <a:outerShdw sx="100000" sy="100000" kx="0" ky="0" algn="bl" rotWithShape="0" blurRad="76200" dist="38100" dir="2700000">
              <a:srgbClr val="000000">
                <a:alpha val="35000"/>
              </a:srgbClr>
            </a:outerShdw>
          </a:effectLst>
        </p:spPr>
      </p:sp>
      <p:sp>
        <p:nvSpPr>
          <p:cNvPr id="23" name="Text 21"/>
          <p:cNvSpPr/>
          <p:nvPr/>
        </p:nvSpPr>
        <p:spPr>
          <a:xfrm>
            <a:off x="914400" y="2743200"/>
            <a:ext cx="1417320" cy="1417320"/>
          </a:xfrm>
          <a:prstGeom prst="rect">
            <a:avLst/>
          </a:prstGeom>
          <a:noFill/>
          <a:ln/>
        </p:spPr>
        <p:txBody>
          <a:bodyPr wrap="square" lIns="0" tIns="0" rIns="0" bIns="0"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1</a:t>
            </a:r>
            <a:endParaRPr lang="en-US" sz="5400" dirty="0"/>
          </a:p>
        </p:txBody>
      </p:sp>
      <p:sp>
        <p:nvSpPr>
          <p:cNvPr id="24" name="Text 22"/>
          <p:cNvSpPr/>
          <p:nvPr/>
        </p:nvSpPr>
        <p:spPr>
          <a:xfrm>
            <a:off x="914400" y="4343400"/>
            <a:ext cx="9601200" cy="822960"/>
          </a:xfrm>
          <a:prstGeom prst="rect">
            <a:avLst/>
          </a:prstGeom>
          <a:noFill/>
          <a:ln/>
        </p:spPr>
        <p:txBody>
          <a:bodyPr wrap="square" lIns="0" tIns="0" rIns="0" bIns="0" rtlCol="0" anchor="ctr"/>
          <a:lstStyle/>
          <a:p>
            <a:pPr indent="0" marL="0">
              <a:buNone/>
            </a:pPr>
            <a:r>
              <a:rPr lang="en-US" sz="3000" b="1" dirty="0">
                <a:solidFill>
                  <a:srgbClr val="1F3A6E"/>
                </a:solidFill>
                <a:latin typeface="Calibri" pitchFamily="34" charset="0"/>
                <a:ea typeface="Calibri" pitchFamily="34" charset="-122"/>
                <a:cs typeface="Calibri" pitchFamily="34" charset="-120"/>
              </a:rPr>
              <a:t>Bảng Điều Khiển Chính</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Bảng Điều Khiển Chính: Bộ Lọc &amp; Chỉ Số KPI Tổng Quan</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51152"/>
          </a:xfrm>
          <a:prstGeom prst="rect">
            <a:avLst/>
          </a:prstGeom>
          <a:solidFill>
            <a:srgbClr val="F2F2F2"/>
          </a:solidFill>
          <a:ln w="9525">
            <a:solidFill>
              <a:srgbClr val="BFBFBF"/>
            </a:solidFill>
            <a:prstDash val="solid"/>
          </a:ln>
        </p:spPr>
      </p:sp>
      <p:pic>
        <p:nvPicPr>
          <p:cNvPr id="26" name="Image 0" descr="PIMS Dashboard main screen">    </p:cNvPr>
          <p:cNvPicPr>
            <a:picLocks noChangeAspect="1"/>
          </p:cNvPicPr>
          <p:nvPr/>
        </p:nvPicPr>
        <p:blipFill>
          <a:blip r:embed="rId1"/>
          <a:stretch>
            <a:fillRect/>
          </a:stretch>
        </p:blipFill>
        <p:spPr>
          <a:xfrm>
            <a:off x="640080" y="2308500"/>
            <a:ext cx="6400000" cy="3078000"/>
          </a:xfrm>
          <a:prstGeom prst="rect">
            <a:avLst/>
          </a:prstGeom>
        </p:spPr>
      </p:pic>
      <p:sp>
        <p:nvSpPr>
          <p:cNvPr id="50" name="Box 1"/>
          <p:cNvSpPr/>
          <p:nvPr/>
        </p:nvSpPr>
        <p:spPr>
          <a:xfrm>
            <a:off x="1405543" y="2568053"/>
            <a:ext cx="4293249" cy="153070"/>
          </a:xfrm>
          <a:prstGeom prst="roundRect">
            <a:avLst>
              <a:gd name="adj" fmla="val 16667"/>
            </a:avLst>
          </a:prstGeom>
          <a:noFill/>
          <a:ln w="19050">
            <a:solidFill>
              <a:srgbClr val="1F3A6E"/>
            </a:solidFill>
          </a:ln>
        </p:spPr>
      </p:sp>
      <p:sp>
        <p:nvSpPr>
          <p:cNvPr id="51" name="Box 2"/>
          <p:cNvSpPr/>
          <p:nvPr/>
        </p:nvSpPr>
        <p:spPr>
          <a:xfrm>
            <a:off x="6424126" y="2568053"/>
            <a:ext cx="555793" cy="153070"/>
          </a:xfrm>
          <a:prstGeom prst="roundRect">
            <a:avLst>
              <a:gd name="adj" fmla="val 16667"/>
            </a:avLst>
          </a:prstGeom>
          <a:noFill/>
          <a:ln w="19050">
            <a:solidFill>
              <a:srgbClr val="1F3A6E"/>
            </a:solidFill>
          </a:ln>
        </p:spPr>
      </p:sp>
      <p:sp>
        <p:nvSpPr>
          <p:cNvPr id="52" name="Box 3"/>
          <p:cNvSpPr/>
          <p:nvPr/>
        </p:nvSpPr>
        <p:spPr>
          <a:xfrm>
            <a:off x="1478961" y="2747743"/>
            <a:ext cx="419341" cy="86518"/>
          </a:xfrm>
          <a:prstGeom prst="roundRect">
            <a:avLst>
              <a:gd name="adj" fmla="val 16667"/>
            </a:avLst>
          </a:prstGeom>
          <a:noFill/>
          <a:ln w="19050">
            <a:solidFill>
              <a:srgbClr val="1F3A6E"/>
            </a:solidFill>
          </a:ln>
        </p:spPr>
      </p:sp>
      <p:sp>
        <p:nvSpPr>
          <p:cNvPr id="53" name="Box 4"/>
          <p:cNvSpPr/>
          <p:nvPr/>
        </p:nvSpPr>
        <p:spPr>
          <a:xfrm>
            <a:off x="5774122" y="2568053"/>
            <a:ext cx="615699" cy="153070"/>
          </a:xfrm>
          <a:prstGeom prst="roundRect">
            <a:avLst>
              <a:gd name="adj" fmla="val 16667"/>
            </a:avLst>
          </a:prstGeom>
          <a:noFill/>
          <a:ln w="19050">
            <a:solidFill>
              <a:srgbClr val="1F3A6E"/>
            </a:solidFill>
          </a:ln>
        </p:spPr>
      </p:sp>
      <p:sp>
        <p:nvSpPr>
          <p:cNvPr id="54" name="Box 5"/>
          <p:cNvSpPr/>
          <p:nvPr/>
        </p:nvSpPr>
        <p:spPr>
          <a:xfrm>
            <a:off x="1405543" y="2957382"/>
            <a:ext cx="5556927" cy="482502"/>
          </a:xfrm>
          <a:prstGeom prst="roundRect">
            <a:avLst>
              <a:gd name="adj" fmla="val 8333"/>
            </a:avLst>
          </a:prstGeom>
          <a:noFill/>
          <a:ln w="19050">
            <a:solidFill>
              <a:srgbClr val="1F3A6E"/>
            </a:solidFill>
          </a:ln>
        </p:spPr>
      </p:sp>
      <p:sp>
        <p:nvSpPr>
          <p:cNvPr id="40" name="Callout 1"/>
          <p:cNvSpPr/>
          <p:nvPr/>
        </p:nvSpPr>
        <p:spPr>
          <a:xfrm>
            <a:off x="1295543" y="2458053"/>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41" name="Callout 2"/>
          <p:cNvSpPr/>
          <p:nvPr/>
        </p:nvSpPr>
        <p:spPr>
          <a:xfrm>
            <a:off x="6314126" y="2458053"/>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42" name="Callout 3"/>
          <p:cNvSpPr/>
          <p:nvPr/>
        </p:nvSpPr>
        <p:spPr>
          <a:xfrm>
            <a:off x="1368961" y="2637743"/>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3</a:t>
            </a:r>
          </a:p>
        </p:txBody>
      </p:sp>
      <p:sp>
        <p:nvSpPr>
          <p:cNvPr id="43" name="Callout 4"/>
          <p:cNvSpPr/>
          <p:nvPr/>
        </p:nvSpPr>
        <p:spPr>
          <a:xfrm>
            <a:off x="5664122" y="2458053"/>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4</a:t>
            </a:r>
          </a:p>
        </p:txBody>
      </p:sp>
      <p:sp>
        <p:nvSpPr>
          <p:cNvPr id="44" name="Callout 5"/>
          <p:cNvSpPr/>
          <p:nvPr/>
        </p:nvSpPr>
        <p:spPr>
          <a:xfrm>
            <a:off x="1295543" y="2847382"/>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5</a:t>
            </a:r>
          </a:p>
        </p:txBody>
      </p:sp>
      <p:sp>
        <p:nvSpPr>
          <p:cNvPr id="6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61" name="Panel Body"/>
          <p:cNvSpPr/>
          <p:nvPr/>
        </p:nvSpPr>
        <p:spPr>
          <a:xfrm>
            <a:off x="7340080" y="2768500"/>
            <a:ext cx="4211840" cy="2618000"/>
          </a:xfrm>
          <a:prstGeom prst="rect">
            <a:avLst/>
          </a:prstGeom>
          <a:solidFill>
            <a:srgbClr val="F4F8FD"/>
          </a:solidFill>
          <a:ln w="9525">
            <a:solidFill>
              <a:srgbClr val="BFBFBF"/>
            </a:solidFill>
          </a:ln>
        </p:spPr>
      </p:sp>
      <p:sp>
        <p:nvSpPr>
          <p:cNvPr id="62" name="Panel Text"/>
          <p:cNvSpPr txBox="1"/>
          <p:nvPr/>
        </p:nvSpPr>
        <p:spPr>
          <a:xfrm>
            <a:off x="7540080" y="2918500"/>
            <a:ext cx="3811840" cy="2318000"/>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Mở bảng điều khiển và chọn Dự án, Kỳ báo cáo / Tháng cơ sở, Xem theo (Tháng), Tỷ giá và Đơn vị (USD hoặc K USD); tất cả thẻ và biểu đồ sẽ cùng cập nhật.</a:t>
            </a:r>
          </a:p>
          <a:p>
            <a:pPr indent="0" marL="0">
              <a:lnSpc>
                <a:spcPct val="106000"/>
              </a:lnSpc>
              <a:spcAft>
                <a:spcPts val="500"/>
              </a:spcAft>
              <a:buNone/>
            </a:pPr>
            <a:r>
              <a:rPr lang="en-US" sz="1100" b="1" dirty="0">
                <a:solidFill>
                  <a:srgbClr val="1F3A6E"/>
                </a:solidFill>
                <a:latin typeface="Calibri" pitchFamily="34" charset="0"/>
              </a:rPr>
              <a:t>2  Tải lên Excel: </a:t>
            </a:r>
            <a:r>
              <a:rPr lang="en-US" sz="1100" dirty="0">
                <a:solidFill>
                  <a:srgbClr val="262626"/>
                </a:solidFill>
                <a:latin typeface="Calibri" pitchFamily="34" charset="0"/>
              </a:rPr>
              <a:t>nhập báo cáo hàng tháng mới.</a:t>
            </a:r>
          </a:p>
          <a:p>
            <a:pPr indent="0" marL="0">
              <a:lnSpc>
                <a:spcPct val="106000"/>
              </a:lnSpc>
              <a:spcAft>
                <a:spcPts val="500"/>
              </a:spcAft>
              <a:buNone/>
            </a:pPr>
            <a:r>
              <a:rPr lang="en-US" sz="1100" b="1" dirty="0">
                <a:solidFill>
                  <a:srgbClr val="1F3A6E"/>
                </a:solidFill>
                <a:latin typeface="Calibri" pitchFamily="34" charset="0"/>
              </a:rPr>
              <a:t>3  Tải xuống: </a:t>
            </a:r>
            <a:r>
              <a:rPr lang="en-US" sz="1100" dirty="0">
                <a:solidFill>
                  <a:srgbClr val="262626"/>
                </a:solidFill>
                <a:latin typeface="Calibri" pitchFamily="34" charset="0"/>
              </a:rPr>
              <a:t>xuất dữ liệu bảng điều khiển hiện tại.</a:t>
            </a:r>
          </a:p>
          <a:p>
            <a:pPr indent="0" marL="0">
              <a:lnSpc>
                <a:spcPct val="106000"/>
              </a:lnSpc>
              <a:spcAft>
                <a:spcPts val="500"/>
              </a:spcAft>
              <a:buNone/>
            </a:pPr>
            <a:r>
              <a:rPr lang="en-US" sz="1100" b="1" dirty="0">
                <a:solidFill>
                  <a:srgbClr val="1F3A6E"/>
                </a:solidFill>
                <a:latin typeface="Calibri" pitchFamily="34" charset="0"/>
              </a:rPr>
              <a:t>4  Cài đặt Tỷ giá: </a:t>
            </a:r>
            <a:r>
              <a:rPr lang="en-US" sz="1100" dirty="0">
                <a:solidFill>
                  <a:srgbClr val="262626"/>
                </a:solidFill>
                <a:latin typeface="Calibri" pitchFamily="34" charset="0"/>
              </a:rPr>
              <a:t>xem hoặc chỉnh sửa tỷ giá dùng để quy đổi.</a:t>
            </a:r>
          </a:p>
          <a:p>
            <a:pPr indent="0" marL="0">
              <a:lnSpc>
                <a:spcPct val="106000"/>
              </a:lnSpc>
              <a:spcAft>
                <a:spcPts val="400"/>
              </a:spcAft>
              <a:buNone/>
            </a:pPr>
            <a:r>
              <a:rPr lang="en-US" sz="1100" b="1" dirty="0">
                <a:solidFill>
                  <a:srgbClr val="1F3A6E"/>
                </a:solidFill>
                <a:latin typeface="Calibri" pitchFamily="34" charset="0"/>
              </a:rPr>
              <a:t>5  </a:t>
            </a:r>
            <a:r>
              <a:rPr lang="en-US" sz="1100" dirty="0">
                <a:solidFill>
                  <a:srgbClr val="262626"/>
                </a:solidFill>
                <a:latin typeface="Calibri" pitchFamily="34" charset="0"/>
              </a:rPr>
              <a:t>Bốn thẻ KPI tóm tắt số liệu cả năm:</a:t>
            </a:r>
          </a:p>
          <a:p>
            <a:pPr marL="228600" indent="-228600">
              <a:lnSpc>
                <a:spcPct val="106000"/>
              </a:lnSpc>
              <a:spcAft>
                <a:spcPts val="400"/>
              </a:spcAft>
              <a:buChar char="•"/>
            </a:pPr>
            <a:r>
              <a:rPr lang="en-US" sz="1050" dirty="0">
                <a:solidFill>
                  <a:srgbClr val="262626"/>
                </a:solidFill>
                <a:latin typeface="Calibri" pitchFamily="34" charset="0"/>
              </a:rPr>
              <a:t>Doanh thu lũy kế (YTD), Lợi nhuận hoạt động lũy kế (YTD) (cả hai từ Tháng 1 – Tháng cơ sở)</a:t>
            </a:r>
          </a:p>
          <a:p>
            <a:pPr marL="228600" indent="-228600">
              <a:lnSpc>
                <a:spcPct val="106000"/>
              </a:lnSpc>
              <a:spcAft>
                <a:spcPts val="400"/>
              </a:spcAft>
              <a:buChar char="•"/>
            </a:pPr>
            <a:r>
              <a:rPr lang="en-US" sz="1050" dirty="0">
                <a:solidFill>
                  <a:srgbClr val="262626"/>
                </a:solidFill>
                <a:latin typeface="Calibri" pitchFamily="34" charset="0"/>
              </a:rPr>
              <a:t>Doanh thu cả năm và Lợi nhuận hoạt động cả năm (Tháng 1 – 12)</a:t>
            </a:r>
          </a:p>
          <a:p>
            <a:pPr marL="228600" indent="-228600">
              <a:lnSpc>
                <a:spcPct val="106000"/>
              </a:lnSpc>
              <a:buChar char="•"/>
            </a:pPr>
            <a:r>
              <a:rPr lang="en-US" sz="1050" dirty="0">
                <a:solidFill>
                  <a:srgbClr val="262626"/>
                </a:solidFill>
                <a:latin typeface="Calibri" pitchFamily="34" charset="0"/>
              </a:rPr>
              <a:t>Dữ liệu lấy từ tệp Excel đã nhập.</a:t>
            </a:r>
            <a:endParaRPr lang="en-US" sz="1050" dirty="0"/>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Bảng Điều Khiển Chính: Biểu Đồ &amp; Xem Chi Tiết</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58092"/>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84940"/>
          </a:xfrm>
          <a:prstGeom prst="rect">
            <a:avLst/>
          </a:prstGeom>
        </p:spPr>
      </p:pic>
      <p:sp>
        <p:nvSpPr>
          <p:cNvPr id="100" name="Box 1"/>
          <p:cNvSpPr/>
          <p:nvPr/>
        </p:nvSpPr>
        <p:spPr>
          <a:xfrm>
            <a:off x="1407146" y="2358526"/>
            <a:ext cx="2184471" cy="1150599"/>
          </a:xfrm>
          <a:prstGeom prst="roundRect">
            <a:avLst>
              <a:gd name="adj" fmla="val 10000"/>
            </a:avLst>
          </a:prstGeom>
          <a:noFill/>
          <a:ln w="19050">
            <a:solidFill>
              <a:srgbClr val="1F3A6E"/>
            </a:solidFill>
          </a:ln>
        </p:spPr>
      </p:sp>
      <p:sp>
        <p:nvSpPr>
          <p:cNvPr id="101" name="Box 2"/>
          <p:cNvSpPr/>
          <p:nvPr/>
        </p:nvSpPr>
        <p:spPr>
          <a:xfrm>
            <a:off x="3641643" y="2358526"/>
            <a:ext cx="2201146" cy="1150599"/>
          </a:xfrm>
          <a:prstGeom prst="roundRect">
            <a:avLst>
              <a:gd name="adj" fmla="val 10000"/>
            </a:avLst>
          </a:prstGeom>
          <a:noFill/>
          <a:ln w="19050">
            <a:solidFill>
              <a:srgbClr val="1F3A6E"/>
            </a:solidFill>
          </a:ln>
        </p:spPr>
      </p:sp>
      <p:sp>
        <p:nvSpPr>
          <p:cNvPr id="102" name="Box 3"/>
          <p:cNvSpPr/>
          <p:nvPr/>
        </p:nvSpPr>
        <p:spPr>
          <a:xfrm>
            <a:off x="5892816" y="2358526"/>
            <a:ext cx="1117249" cy="1150599"/>
          </a:xfrm>
          <a:prstGeom prst="roundRect">
            <a:avLst>
              <a:gd name="adj" fmla="val 10000"/>
            </a:avLst>
          </a:prstGeom>
          <a:noFill/>
          <a:ln w="19050">
            <a:solidFill>
              <a:srgbClr val="1F3A6E"/>
            </a:solidFill>
          </a:ln>
        </p:spPr>
      </p:sp>
      <p:sp>
        <p:nvSpPr>
          <p:cNvPr id="103" name="Box 4"/>
          <p:cNvSpPr/>
          <p:nvPr/>
        </p:nvSpPr>
        <p:spPr>
          <a:xfrm>
            <a:off x="3641643" y="3642528"/>
            <a:ext cx="2201146" cy="933820"/>
          </a:xfrm>
          <a:prstGeom prst="roundRect">
            <a:avLst>
              <a:gd name="adj" fmla="val 10000"/>
            </a:avLst>
          </a:prstGeom>
          <a:noFill/>
          <a:ln w="19050">
            <a:solidFill>
              <a:srgbClr val="1F3A6E"/>
            </a:solidFill>
          </a:ln>
        </p:spPr>
      </p:sp>
      <p:sp>
        <p:nvSpPr>
          <p:cNvPr id="104" name="Box 5"/>
          <p:cNvSpPr/>
          <p:nvPr/>
        </p:nvSpPr>
        <p:spPr>
          <a:xfrm>
            <a:off x="5892816" y="3609177"/>
            <a:ext cx="1117249" cy="967170"/>
          </a:xfrm>
          <a:prstGeom prst="roundRect">
            <a:avLst>
              <a:gd name="adj" fmla="val 10000"/>
            </a:avLst>
          </a:prstGeom>
          <a:noFill/>
          <a:ln w="19050">
            <a:solidFill>
              <a:srgbClr val="1F3A6E"/>
            </a:solidFill>
          </a:ln>
        </p:spPr>
      </p:sp>
      <p:sp>
        <p:nvSpPr>
          <p:cNvPr id="200" name="Callout 1"/>
          <p:cNvSpPr/>
          <p:nvPr/>
        </p:nvSpPr>
        <p:spPr>
          <a:xfrm>
            <a:off x="1297146" y="2248526"/>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3531643" y="2248526"/>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202" name="Callout 3"/>
          <p:cNvSpPr/>
          <p:nvPr/>
        </p:nvSpPr>
        <p:spPr>
          <a:xfrm>
            <a:off x="5782816" y="2248526"/>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3</a:t>
            </a:r>
          </a:p>
        </p:txBody>
      </p:sp>
      <p:sp>
        <p:nvSpPr>
          <p:cNvPr id="203" name="Callout 4"/>
          <p:cNvSpPr/>
          <p:nvPr/>
        </p:nvSpPr>
        <p:spPr>
          <a:xfrm>
            <a:off x="3531643" y="3532528"/>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4</a:t>
            </a:r>
          </a:p>
        </p:txBody>
      </p:sp>
      <p:sp>
        <p:nvSpPr>
          <p:cNvPr id="204" name="Callout 5"/>
          <p:cNvSpPr/>
          <p:nvPr/>
        </p:nvSpPr>
        <p:spPr>
          <a:xfrm>
            <a:off x="5782816" y="3499177"/>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5</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64940"/>
          </a:xfrm>
          <a:prstGeom prst="rect">
            <a:avLst/>
          </a:prstGeom>
          <a:solidFill>
            <a:srgbClr val="F4F8FD"/>
          </a:solidFill>
          <a:ln w="9525">
            <a:solidFill>
              <a:srgbClr val="BFBFBF"/>
            </a:solidFill>
          </a:ln>
        </p:spPr>
      </p:sp>
      <p:sp>
        <p:nvSpPr>
          <p:cNvPr id="302" name="Panel Text"/>
          <p:cNvSpPr txBox="1"/>
          <p:nvPr/>
        </p:nvSpPr>
        <p:spPr>
          <a:xfrm>
            <a:off x="7540080" y="2978500"/>
            <a:ext cx="3811840" cy="2264940"/>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Sales Actual &amp; Forecast so sánh Doanh số (Kế hoạch), Doanh số (Thực tế) và Doanh số (Dự báo) theo từng tháng, kèm theo tỷ lệ đạt (%) bên dưới mỗi cột; nhấp View Details để xem chi tiết theo tháng.</a:t>
            </a:r>
          </a:p>
          <a:p>
            <a:pPr indent="0" marL="0">
              <a:lnSpc>
                <a:spcPct val="106000"/>
              </a:lnSpc>
              <a:spcAft>
                <a:spcPts val="5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Profit &amp; Loss Status xếp chồng Lợi nhuận hoạt động và SG&amp;A để thể hiện toàn bộ cột Lợi nhuận gộp theo từng tháng, cùng với biên lợi nhuận hoạt động (%) bên dưới.</a:t>
            </a:r>
          </a:p>
          <a:p>
            <a:pPr indent="0" marL="0">
              <a:lnSpc>
                <a:spcPct val="106000"/>
              </a:lnSpc>
              <a:spcAft>
                <a:spcPts val="5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Order Status (biểu đồ donut) theo dõi Đơn hàng nhận được so với Kế hoạch đơn hàng năm và dự báo; Cash Flow thể hiện Dòng tiền vào / ra cùng với Số dư tiền lũy kế trên đường biểu đồ. View Details có sẵn ở Sales Actual &amp; Forecast, Profit &amp; Loss Status và Cash Flow, mỗi mục sẽ mở chi tiết theo tháng.</a:t>
            </a:r>
          </a:p>
          <a:p>
            <a:pPr indent="0" marL="0">
              <a:lnSpc>
                <a:spcPct val="106000"/>
              </a:lnSpc>
              <a:spcAft>
                <a:spcPts val="500"/>
              </a:spcAft>
              <a:buNone/>
            </a:pPr>
            <a:r>
              <a:rPr lang="en-US" sz="1100" b="1" dirty="0">
                <a:solidFill>
                  <a:srgbClr val="1F3A6E"/>
                </a:solidFill>
                <a:latin typeface="Calibri" pitchFamily="34" charset="0"/>
              </a:rPr>
              <a:t>4  </a:t>
            </a:r>
            <a:r>
              <a:rPr lang="en-US" sz="1100" dirty="0">
                <a:solidFill>
                  <a:srgbClr val="262626"/>
                </a:solidFill>
                <a:latin typeface="Calibri" pitchFamily="34" charset="0"/>
              </a:rPr>
              <a:t>Management Performance Status so sánh Kế hoạch so với Thực tế so với Dự báo cho Doanh thu, Lợi nhuận gộp, SG&amp;A, Lợi nhuận hoạt động và Lợi nhuận thường xuyên cho cả tháng hiện tại và cả năm; mọi số liệu được tổng hợp trên toàn công ty từ dữ liệu Doanh thu hàng tháng, Kế hoạch/Thực tế chi phí và Tình hình thực hiện ngân sách của từng công trường đã nhập trong Nhập Liệu.</a:t>
            </a:r>
          </a:p>
          <a:p>
            <a:pPr indent="0" marL="0">
              <a:lnSpc>
                <a:spcPct val="106000"/>
              </a:lnSpc>
              <a:spcAft>
                <a:spcPts val="400"/>
              </a:spcAft>
              <a:buNone/>
            </a:pPr>
            <a:r>
              <a:rPr lang="en-US" sz="1100" b="1" dirty="0">
                <a:solidFill>
                  <a:srgbClr val="1F3A6E"/>
                </a:solidFill>
                <a:latin typeface="Calibri" pitchFamily="34" charset="0"/>
              </a:rPr>
              <a:t>5  </a:t>
            </a:r>
            <a:r>
              <a:rPr lang="en-US" sz="1100" dirty="0">
                <a:solidFill>
                  <a:srgbClr val="262626"/>
                </a:solidFill>
                <a:latin typeface="Calibri" pitchFamily="34" charset="0"/>
              </a:rPr>
              <a:t>Detail Info (Xem Chi Tiết) liệt kê Kết quả đơn hàng và các công trường có Doanh thu cao nhất trong tháng; các ô ghi chú Thực tế / Dự báo lưu lại ghi chú hàng tháng theo từng tháng.</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Bảng Điều Khiển Xây Dựng &amp; Bảng Điều Khiển Dịch Vụ</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51675"/>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78523"/>
          </a:xfrm>
          <a:prstGeom prst="rect">
            <a:avLst/>
          </a:prstGeom>
        </p:spPr>
      </p:pic>
      <p:sp>
        <p:nvSpPr>
          <p:cNvPr id="100" name="Box 1"/>
          <p:cNvSpPr/>
          <p:nvPr/>
        </p:nvSpPr>
        <p:spPr>
          <a:xfrm>
            <a:off x="673361" y="2574751"/>
            <a:ext cx="648986" cy="73219"/>
          </a:xfrm>
          <a:prstGeom prst="roundRect">
            <a:avLst>
              <a:gd name="adj" fmla="val 10000"/>
            </a:avLst>
          </a:prstGeom>
          <a:noFill/>
          <a:ln w="19050">
            <a:solidFill>
              <a:srgbClr val="1F3A6E"/>
            </a:solidFill>
          </a:ln>
        </p:spPr>
      </p:sp>
      <p:sp>
        <p:nvSpPr>
          <p:cNvPr id="101" name="Box 2"/>
          <p:cNvSpPr/>
          <p:nvPr/>
        </p:nvSpPr>
        <p:spPr>
          <a:xfrm>
            <a:off x="673361" y="2667938"/>
            <a:ext cx="648986" cy="73219"/>
          </a:xfrm>
          <a:prstGeom prst="roundRect">
            <a:avLst>
              <a:gd name="adj" fmla="val 10000"/>
            </a:avLst>
          </a:prstGeom>
          <a:noFill/>
          <a:ln w="19050">
            <a:solidFill>
              <a:srgbClr val="1F3A6E"/>
            </a:solidFill>
          </a:ln>
        </p:spPr>
      </p:sp>
      <p:sp>
        <p:nvSpPr>
          <p:cNvPr id="200" name="Callout 1"/>
          <p:cNvSpPr/>
          <p:nvPr/>
        </p:nvSpPr>
        <p:spPr>
          <a:xfrm>
            <a:off x="563361" y="2557938"/>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563361" y="2557938"/>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58523"/>
          </a:xfrm>
          <a:prstGeom prst="rect">
            <a:avLst/>
          </a:prstGeom>
          <a:solidFill>
            <a:srgbClr val="F4F8FD"/>
          </a:solidFill>
          <a:ln w="9525">
            <a:solidFill>
              <a:srgbClr val="BFBFBF"/>
            </a:solidFill>
          </a:ln>
        </p:spPr>
      </p:sp>
      <p:sp>
        <p:nvSpPr>
          <p:cNvPr id="302" name="Panel Text"/>
          <p:cNvSpPr txBox="1"/>
          <p:nvPr/>
        </p:nvSpPr>
        <p:spPr>
          <a:xfrm>
            <a:off x="7540080" y="2978500"/>
            <a:ext cx="3811840" cy="2258523"/>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Giữa Bảng Điều Khiển Chính và một dự án cụ thể, cây bên trái cung cấp cấp độ Xây dựng và Dịch vụ — nhấp vào tiêu đề nhóm (không phải một công trường cụ thể) để xem bố cục KPI / biểu đồ giống như Bảng Điều Khiển Chính, nhưng chỉ giới hạn trong các công trường của nhóm đó.</a:t>
            </a:r>
          </a:p>
          <a:p>
            <a:pPr indent="0" marL="0">
              <a:lnSpc>
                <a:spcPct val="106000"/>
              </a:lnSpc>
              <a:spcAft>
                <a:spcPts val="4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Sử dụng cấp độ này để so sánh hiệu quả riêng của nhóm Xây dựng hoặc Dịch vụ trước khi đi sâu vào Bảng Điều Khiển Dự Án của từng công trường; tất cả bộ lọc (Dự án, Kỳ báo cáo, Tỷ giá, Đơn vị) hoạt động giống hệt như trên Bảng Điều Khiển Chính.</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Bảng Điều Khiển Chính: Tải lên Excel</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53152"/>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80000"/>
          </a:xfrm>
          <a:prstGeom prst="rect">
            <a:avLst/>
          </a:prstGeom>
        </p:spPr>
      </p:pic>
      <p:sp>
        <p:nvSpPr>
          <p:cNvPr id="100" name="Box 1"/>
          <p:cNvSpPr/>
          <p:nvPr/>
        </p:nvSpPr>
        <p:spPr>
          <a:xfrm>
            <a:off x="2770080" y="3325167"/>
            <a:ext cx="2203333" cy="150000"/>
          </a:xfrm>
          <a:prstGeom prst="roundRect">
            <a:avLst>
              <a:gd name="adj" fmla="val 10000"/>
            </a:avLst>
          </a:prstGeom>
          <a:noFill/>
          <a:ln w="19050">
            <a:solidFill>
              <a:srgbClr val="1F3A6E"/>
            </a:solidFill>
          </a:ln>
        </p:spPr>
      </p:sp>
      <p:sp>
        <p:nvSpPr>
          <p:cNvPr id="101" name="Box 2"/>
          <p:cNvSpPr/>
          <p:nvPr/>
        </p:nvSpPr>
        <p:spPr>
          <a:xfrm>
            <a:off x="2770080" y="3508500"/>
            <a:ext cx="2203333" cy="1273333"/>
          </a:xfrm>
          <a:prstGeom prst="roundRect">
            <a:avLst>
              <a:gd name="adj" fmla="val 10000"/>
            </a:avLst>
          </a:prstGeom>
          <a:noFill/>
          <a:ln w="19050">
            <a:solidFill>
              <a:srgbClr val="1F3A6E"/>
            </a:solidFill>
          </a:ln>
        </p:spPr>
      </p:sp>
      <p:sp>
        <p:nvSpPr>
          <p:cNvPr id="102" name="Box 3"/>
          <p:cNvSpPr/>
          <p:nvPr/>
        </p:nvSpPr>
        <p:spPr>
          <a:xfrm>
            <a:off x="2840080" y="3718500"/>
            <a:ext cx="2100000" cy="790000"/>
          </a:xfrm>
          <a:prstGeom prst="roundRect">
            <a:avLst>
              <a:gd name="adj" fmla="val 10000"/>
            </a:avLst>
          </a:prstGeom>
          <a:noFill/>
          <a:ln w="19050">
            <a:solidFill>
              <a:srgbClr val="1F3A6E"/>
            </a:solidFill>
          </a:ln>
        </p:spPr>
      </p:sp>
      <p:sp>
        <p:nvSpPr>
          <p:cNvPr id="200" name="Callout 1"/>
          <p:cNvSpPr/>
          <p:nvPr/>
        </p:nvSpPr>
        <p:spPr>
          <a:xfrm>
            <a:off x="2660080" y="3215167"/>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2660080" y="3398500"/>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202" name="Callout 3"/>
          <p:cNvSpPr/>
          <p:nvPr/>
        </p:nvSpPr>
        <p:spPr>
          <a:xfrm>
            <a:off x="2730080" y="3608500"/>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3</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60000"/>
          </a:xfrm>
          <a:prstGeom prst="rect">
            <a:avLst/>
          </a:prstGeom>
          <a:solidFill>
            <a:srgbClr val="F4F8FD"/>
          </a:solidFill>
          <a:ln w="9525">
            <a:solidFill>
              <a:srgbClr val="BFBFBF"/>
            </a:solidFill>
          </a:ln>
        </p:spPr>
      </p:sp>
      <p:sp>
        <p:nvSpPr>
          <p:cNvPr id="302" name="Panel Text"/>
          <p:cNvSpPr txBox="1"/>
          <p:nvPr/>
        </p:nvSpPr>
        <p:spPr>
          <a:xfrm>
            <a:off x="7540080" y="2978500"/>
            <a:ext cx="3811840" cy="2260000"/>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Nhấp Tải lên Excel, chọn Loại dữ liệu (Management Report, Cash Flow, Revenue/COGS hoặc Order Plan &amp; Performance) và Năm áp dụng, sau đó Chọn tệp Excel (.xlsx).</a:t>
            </a:r>
          </a:p>
          <a:p>
            <a:pPr indent="0" marL="0">
              <a:lnSpc>
                <a:spcPct val="106000"/>
              </a:lnSpc>
              <a:spcAft>
                <a:spcPts val="5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Tệp sẽ được tự động phân tích để Xem trước (Preview) trước khi áp dụng — kiểm tra nội dung đã phân tích, sau đó nhấp Áp dụng (Apply) để cập nhật bảng điều khiển với dữ liệu mới.</a:t>
            </a:r>
          </a:p>
          <a:p>
            <a:pPr indent="0" marL="0">
              <a:lnSpc>
                <a:spcPct val="106000"/>
              </a:lnSpc>
              <a:spcAft>
                <a:spcPts val="4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Recent Uploads liệt kê mọi lần nhập trước đó kèm thời gian áp dụng và tên tệp; sử dụng Khôi phục dữ liệu trước đó (Revert to previous data) trên bất kỳ dòng nào để đưa bảng điều khiển về trạng thái ngay trước lần nhập đó.</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Bảng Điều Khiển Chính: Cài đặt Tỷ giá – Tỷ Giá Hiện Tại</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88108"/>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114956"/>
          </a:xfrm>
          <a:prstGeom prst="rect">
            <a:avLst/>
          </a:prstGeom>
        </p:spPr>
      </p:pic>
      <p:sp>
        <p:nvSpPr>
          <p:cNvPr id="100" name="Box 1"/>
          <p:cNvSpPr/>
          <p:nvPr/>
        </p:nvSpPr>
        <p:spPr>
          <a:xfrm>
            <a:off x="5415901" y="2558630"/>
            <a:ext cx="1013861" cy="1117249"/>
          </a:xfrm>
          <a:prstGeom prst="roundRect">
            <a:avLst>
              <a:gd name="adj" fmla="val 10000"/>
            </a:avLst>
          </a:prstGeom>
          <a:noFill/>
          <a:ln w="19050">
            <a:solidFill>
              <a:srgbClr val="1F3A6E"/>
            </a:solidFill>
          </a:ln>
        </p:spPr>
      </p:sp>
      <p:sp>
        <p:nvSpPr>
          <p:cNvPr id="101" name="Box 2"/>
          <p:cNvSpPr/>
          <p:nvPr/>
        </p:nvSpPr>
        <p:spPr>
          <a:xfrm>
            <a:off x="5482602" y="3192294"/>
            <a:ext cx="887129" cy="483585"/>
          </a:xfrm>
          <a:prstGeom prst="roundRect">
            <a:avLst>
              <a:gd name="adj" fmla="val 10000"/>
            </a:avLst>
          </a:prstGeom>
          <a:noFill/>
          <a:ln w="19050">
            <a:solidFill>
              <a:srgbClr val="1F3A6E"/>
            </a:solidFill>
          </a:ln>
        </p:spPr>
      </p:sp>
      <p:sp>
        <p:nvSpPr>
          <p:cNvPr id="200" name="Callout 1"/>
          <p:cNvSpPr/>
          <p:nvPr/>
        </p:nvSpPr>
        <p:spPr>
          <a:xfrm>
            <a:off x="5305901" y="2448630"/>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5372602" y="3082294"/>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94956"/>
          </a:xfrm>
          <a:prstGeom prst="rect">
            <a:avLst/>
          </a:prstGeom>
          <a:solidFill>
            <a:srgbClr val="F4F8FD"/>
          </a:solidFill>
          <a:ln w="9525">
            <a:solidFill>
              <a:srgbClr val="BFBFBF"/>
            </a:solidFill>
          </a:ln>
        </p:spPr>
      </p:sp>
      <p:sp>
        <p:nvSpPr>
          <p:cNvPr id="302" name="Panel Text"/>
          <p:cNvSpPr txBox="1"/>
          <p:nvPr/>
        </p:nvSpPr>
        <p:spPr>
          <a:xfrm>
            <a:off x="7540080" y="2978500"/>
            <a:ext cx="3811840" cy="2294956"/>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Nhấp Cài đặt Tỷ giá để mở bảng tỷ giá gắn dưới thanh trên cùng; tab Current Rate (Tỷ Giá Hiện Tại) thiết lập tỷ giá (dựa trên USD) dùng để quy đổi mọi KPI và biểu đồ trên bảng điều khiển.</a:t>
            </a:r>
          </a:p>
          <a:p>
            <a:pPr indent="0" marL="0">
              <a:lnSpc>
                <a:spcPct val="106000"/>
              </a:lnSpc>
              <a:spcAft>
                <a:spcPts val="4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Nhập tỷ giá cho KRW và VND so với 1 USD, sau đó nhấp Lưu (Save) để áp dụng ngay trên toàn bảng điều khiển.</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Bảng Điều Khiển Chính: Cài đặt Tỷ giá – Tỷ Giá Doanh Thu Hàng Tháng</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51422"/>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78270"/>
          </a:xfrm>
          <a:prstGeom prst="rect">
            <a:avLst/>
          </a:prstGeom>
        </p:spPr>
      </p:pic>
      <p:sp>
        <p:nvSpPr>
          <p:cNvPr id="100" name="Box 1"/>
          <p:cNvSpPr/>
          <p:nvPr/>
        </p:nvSpPr>
        <p:spPr>
          <a:xfrm>
            <a:off x="5375880" y="2735389"/>
            <a:ext cx="1057217" cy="80042"/>
          </a:xfrm>
          <a:prstGeom prst="roundRect">
            <a:avLst>
              <a:gd name="adj" fmla="val 10000"/>
            </a:avLst>
          </a:prstGeom>
          <a:noFill/>
          <a:ln w="19050">
            <a:solidFill>
              <a:srgbClr val="1F3A6E"/>
            </a:solidFill>
          </a:ln>
        </p:spPr>
      </p:sp>
      <p:sp>
        <p:nvSpPr>
          <p:cNvPr id="101" name="Box 2"/>
          <p:cNvSpPr/>
          <p:nvPr/>
        </p:nvSpPr>
        <p:spPr>
          <a:xfrm>
            <a:off x="5469262" y="2842111"/>
            <a:ext cx="900469" cy="1033872"/>
          </a:xfrm>
          <a:prstGeom prst="roundRect">
            <a:avLst>
              <a:gd name="adj" fmla="val 10000"/>
            </a:avLst>
          </a:prstGeom>
          <a:noFill/>
          <a:ln w="19050">
            <a:solidFill>
              <a:srgbClr val="1F3A6E"/>
            </a:solidFill>
          </a:ln>
        </p:spPr>
      </p:sp>
      <p:sp>
        <p:nvSpPr>
          <p:cNvPr id="200" name="Callout 1"/>
          <p:cNvSpPr/>
          <p:nvPr/>
        </p:nvSpPr>
        <p:spPr>
          <a:xfrm>
            <a:off x="5265880" y="2625389"/>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5359262" y="2732111"/>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58270"/>
          </a:xfrm>
          <a:prstGeom prst="rect">
            <a:avLst/>
          </a:prstGeom>
          <a:solidFill>
            <a:srgbClr val="F4F8FD"/>
          </a:solidFill>
          <a:ln w="9525">
            <a:solidFill>
              <a:srgbClr val="BFBFBF"/>
            </a:solidFill>
          </a:ln>
        </p:spPr>
      </p:sp>
      <p:sp>
        <p:nvSpPr>
          <p:cNvPr id="302" name="Panel Text"/>
          <p:cNvSpPr txBox="1"/>
          <p:nvPr/>
        </p:nvSpPr>
        <p:spPr>
          <a:xfrm>
            <a:off x="7540080" y="2978500"/>
            <a:ext cx="3811840" cy="2258270"/>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Chuyển sang tab Monthly Revenue Rate (Tỷ Giá Doanh Thu Hàng Tháng) để thiết lập tỷ giá riêng cho từng Năm / Tháng — hữu ích khi doanh thu ghi nhận trong một tháng cụ thể cần được quy đổi theo tỷ giá thực tế của tháng đó thay vì tỷ giá hiện tại.</a:t>
            </a:r>
          </a:p>
          <a:p>
            <a:pPr indent="0" marL="0">
              <a:lnSpc>
                <a:spcPct val="106000"/>
              </a:lnSpc>
              <a:spcAft>
                <a:spcPts val="4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Chọn Năm và Tháng, nhập tỷ giá KRW / VND cho kỳ đó, sau đó nhấp Lưu. Số liệu doanh thu trên Bảng Điều Khiển Chính sẽ sử dụng tỷ giá theo tháng này ở bất kỳ nơi nào đã được thiết lập.</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3359" y="0"/>
            <a:ext cx="384048" cy="384048"/>
          </a:xfrm>
          <a:prstGeom prst="rect">
            <a:avLst/>
          </a:prstGeom>
          <a:solidFill>
            <a:srgbClr val="AEE0F5"/>
          </a:solidFill>
          <a:ln/>
        </p:spPr>
      </p:sp>
      <p:sp>
        <p:nvSpPr>
          <p:cNvPr id="3" name="Shape 1"/>
          <p:cNvSpPr/>
          <p:nvPr/>
        </p:nvSpPr>
        <p:spPr>
          <a:xfrm>
            <a:off x="9887407" y="0"/>
            <a:ext cx="384048" cy="384048"/>
          </a:xfrm>
          <a:prstGeom prst="rect">
            <a:avLst/>
          </a:prstGeom>
          <a:solidFill>
            <a:srgbClr val="3F8FD0"/>
          </a:solidFill>
          <a:ln/>
        </p:spPr>
      </p:sp>
      <p:sp>
        <p:nvSpPr>
          <p:cNvPr id="4" name="Shape 2"/>
          <p:cNvSpPr/>
          <p:nvPr/>
        </p:nvSpPr>
        <p:spPr>
          <a:xfrm>
            <a:off x="10655503" y="0"/>
            <a:ext cx="384048" cy="384048"/>
          </a:xfrm>
          <a:prstGeom prst="rect">
            <a:avLst/>
          </a:prstGeom>
          <a:solidFill>
            <a:srgbClr val="3F8FD0"/>
          </a:solidFill>
          <a:ln/>
        </p:spPr>
      </p:sp>
      <p:sp>
        <p:nvSpPr>
          <p:cNvPr id="5" name="Shape 3"/>
          <p:cNvSpPr/>
          <p:nvPr/>
        </p:nvSpPr>
        <p:spPr>
          <a:xfrm>
            <a:off x="11039551" y="0"/>
            <a:ext cx="384048" cy="384048"/>
          </a:xfrm>
          <a:prstGeom prst="rect">
            <a:avLst/>
          </a:prstGeom>
          <a:solidFill>
            <a:srgbClr val="AEE0F5"/>
          </a:solidFill>
          <a:ln/>
        </p:spPr>
      </p:sp>
      <p:sp>
        <p:nvSpPr>
          <p:cNvPr id="6" name="Shape 4"/>
          <p:cNvSpPr/>
          <p:nvPr/>
        </p:nvSpPr>
        <p:spPr>
          <a:xfrm>
            <a:off x="11423599" y="0"/>
            <a:ext cx="384048" cy="384048"/>
          </a:xfrm>
          <a:prstGeom prst="rect">
            <a:avLst/>
          </a:prstGeom>
          <a:solidFill>
            <a:srgbClr val="3F8FD0"/>
          </a:solidFill>
          <a:ln/>
        </p:spPr>
      </p:sp>
      <p:sp>
        <p:nvSpPr>
          <p:cNvPr id="7" name="Shape 5"/>
          <p:cNvSpPr/>
          <p:nvPr/>
        </p:nvSpPr>
        <p:spPr>
          <a:xfrm>
            <a:off x="11807647" y="0"/>
            <a:ext cx="384048" cy="384048"/>
          </a:xfrm>
          <a:prstGeom prst="rect">
            <a:avLst/>
          </a:prstGeom>
          <a:solidFill>
            <a:srgbClr val="AEE0F5"/>
          </a:solidFill>
          <a:ln/>
        </p:spPr>
      </p:sp>
      <p:sp>
        <p:nvSpPr>
          <p:cNvPr id="8" name="Shape 6"/>
          <p:cNvSpPr/>
          <p:nvPr/>
        </p:nvSpPr>
        <p:spPr>
          <a:xfrm>
            <a:off x="10271455" y="384048"/>
            <a:ext cx="384048" cy="384048"/>
          </a:xfrm>
          <a:prstGeom prst="rect">
            <a:avLst/>
          </a:prstGeom>
          <a:solidFill>
            <a:srgbClr val="3F8FD0"/>
          </a:solidFill>
          <a:ln/>
        </p:spPr>
      </p:sp>
      <p:sp>
        <p:nvSpPr>
          <p:cNvPr id="9" name="Shape 7"/>
          <p:cNvSpPr/>
          <p:nvPr/>
        </p:nvSpPr>
        <p:spPr>
          <a:xfrm>
            <a:off x="11423599" y="384048"/>
            <a:ext cx="384048" cy="384048"/>
          </a:xfrm>
          <a:prstGeom prst="rect">
            <a:avLst/>
          </a:prstGeom>
          <a:solidFill>
            <a:srgbClr val="AEE0F5"/>
          </a:solidFill>
          <a:ln/>
        </p:spPr>
      </p:sp>
      <p:sp>
        <p:nvSpPr>
          <p:cNvPr id="10" name="Shape 8"/>
          <p:cNvSpPr/>
          <p:nvPr/>
        </p:nvSpPr>
        <p:spPr>
          <a:xfrm>
            <a:off x="11807647" y="384048"/>
            <a:ext cx="384048" cy="384048"/>
          </a:xfrm>
          <a:prstGeom prst="rect">
            <a:avLst/>
          </a:prstGeom>
          <a:solidFill>
            <a:srgbClr val="3F8FD0"/>
          </a:solidFill>
          <a:ln/>
        </p:spPr>
      </p:sp>
      <p:sp>
        <p:nvSpPr>
          <p:cNvPr id="11" name="Shape 9"/>
          <p:cNvSpPr/>
          <p:nvPr/>
        </p:nvSpPr>
        <p:spPr>
          <a:xfrm>
            <a:off x="11039551" y="768096"/>
            <a:ext cx="384048" cy="384048"/>
          </a:xfrm>
          <a:prstGeom prst="rect">
            <a:avLst/>
          </a:prstGeom>
          <a:solidFill>
            <a:srgbClr val="AEE0F5"/>
          </a:solidFill>
          <a:ln/>
        </p:spPr>
      </p:sp>
      <p:sp>
        <p:nvSpPr>
          <p:cNvPr id="12" name="Shape 10"/>
          <p:cNvSpPr/>
          <p:nvPr/>
        </p:nvSpPr>
        <p:spPr>
          <a:xfrm>
            <a:off x="11807647" y="768096"/>
            <a:ext cx="384048" cy="384048"/>
          </a:xfrm>
          <a:prstGeom prst="rect">
            <a:avLst/>
          </a:prstGeom>
          <a:solidFill>
            <a:srgbClr val="AEE0F5"/>
          </a:solidFill>
          <a:ln/>
        </p:spPr>
      </p:sp>
      <p:sp>
        <p:nvSpPr>
          <p:cNvPr id="13" name="Shape 11"/>
          <p:cNvSpPr/>
          <p:nvPr/>
        </p:nvSpPr>
        <p:spPr>
          <a:xfrm>
            <a:off x="548640" y="457200"/>
            <a:ext cx="64008" cy="64008"/>
          </a:xfrm>
          <a:prstGeom prst="rect">
            <a:avLst/>
          </a:prstGeom>
          <a:solidFill>
            <a:srgbClr val="1F3A6E"/>
          </a:solidFill>
          <a:ln/>
        </p:spPr>
      </p:sp>
      <p:sp>
        <p:nvSpPr>
          <p:cNvPr id="14" name="Shape 12"/>
          <p:cNvSpPr/>
          <p:nvPr/>
        </p:nvSpPr>
        <p:spPr>
          <a:xfrm>
            <a:off x="630936" y="457200"/>
            <a:ext cx="64008" cy="64008"/>
          </a:xfrm>
          <a:prstGeom prst="rect">
            <a:avLst/>
          </a:prstGeom>
          <a:solidFill>
            <a:srgbClr val="3F8FD0"/>
          </a:solidFill>
          <a:ln/>
        </p:spPr>
      </p:sp>
      <p:sp>
        <p:nvSpPr>
          <p:cNvPr id="15" name="Shape 13"/>
          <p:cNvSpPr/>
          <p:nvPr/>
        </p:nvSpPr>
        <p:spPr>
          <a:xfrm>
            <a:off x="713232" y="457200"/>
            <a:ext cx="64008" cy="64008"/>
          </a:xfrm>
          <a:prstGeom prst="rect">
            <a:avLst/>
          </a:prstGeom>
          <a:solidFill>
            <a:srgbClr val="1F3A6E"/>
          </a:solidFill>
          <a:ln/>
        </p:spPr>
      </p:sp>
      <p:sp>
        <p:nvSpPr>
          <p:cNvPr id="16" name="Shape 14"/>
          <p:cNvSpPr/>
          <p:nvPr/>
        </p:nvSpPr>
        <p:spPr>
          <a:xfrm>
            <a:off x="548640" y="539496"/>
            <a:ext cx="64008" cy="64008"/>
          </a:xfrm>
          <a:prstGeom prst="rect">
            <a:avLst/>
          </a:prstGeom>
          <a:solidFill>
            <a:srgbClr val="3F8FD0"/>
          </a:solidFill>
          <a:ln/>
        </p:spPr>
      </p:sp>
      <p:sp>
        <p:nvSpPr>
          <p:cNvPr id="17" name="Shape 15"/>
          <p:cNvSpPr/>
          <p:nvPr/>
        </p:nvSpPr>
        <p:spPr>
          <a:xfrm>
            <a:off x="630936" y="539496"/>
            <a:ext cx="64008" cy="64008"/>
          </a:xfrm>
          <a:prstGeom prst="rect">
            <a:avLst/>
          </a:prstGeom>
          <a:solidFill>
            <a:srgbClr val="1F3A6E"/>
          </a:solidFill>
          <a:ln/>
        </p:spPr>
      </p:sp>
      <p:sp>
        <p:nvSpPr>
          <p:cNvPr id="18" name="Shape 16"/>
          <p:cNvSpPr/>
          <p:nvPr/>
        </p:nvSpPr>
        <p:spPr>
          <a:xfrm>
            <a:off x="713232" y="539496"/>
            <a:ext cx="64008" cy="64008"/>
          </a:xfrm>
          <a:prstGeom prst="rect">
            <a:avLst/>
          </a:prstGeom>
          <a:solidFill>
            <a:srgbClr val="3F8FD0"/>
          </a:solidFill>
          <a:ln/>
        </p:spPr>
      </p:sp>
      <p:sp>
        <p:nvSpPr>
          <p:cNvPr id="19" name="Shape 17"/>
          <p:cNvSpPr/>
          <p:nvPr/>
        </p:nvSpPr>
        <p:spPr>
          <a:xfrm>
            <a:off x="548640" y="621792"/>
            <a:ext cx="64008" cy="64008"/>
          </a:xfrm>
          <a:prstGeom prst="rect">
            <a:avLst/>
          </a:prstGeom>
          <a:solidFill>
            <a:srgbClr val="1F3A6E"/>
          </a:solidFill>
          <a:ln/>
        </p:spPr>
      </p:sp>
      <p:sp>
        <p:nvSpPr>
          <p:cNvPr id="20" name="Shape 18"/>
          <p:cNvSpPr/>
          <p:nvPr/>
        </p:nvSpPr>
        <p:spPr>
          <a:xfrm>
            <a:off x="630936" y="621792"/>
            <a:ext cx="64008" cy="64008"/>
          </a:xfrm>
          <a:prstGeom prst="rect">
            <a:avLst/>
          </a:prstGeom>
          <a:solidFill>
            <a:srgbClr val="3F8FD0"/>
          </a:solidFill>
          <a:ln/>
        </p:spPr>
      </p:sp>
      <p:sp>
        <p:nvSpPr>
          <p:cNvPr id="21" name="Shape 19"/>
          <p:cNvSpPr/>
          <p:nvPr/>
        </p:nvSpPr>
        <p:spPr>
          <a:xfrm>
            <a:off x="713232" y="621792"/>
            <a:ext cx="64008" cy="64008"/>
          </a:xfrm>
          <a:prstGeom prst="rect">
            <a:avLst/>
          </a:prstGeom>
          <a:solidFill>
            <a:srgbClr val="1F3A6E"/>
          </a:solidFill>
          <a:ln/>
        </p:spPr>
      </p:sp>
      <p:sp>
        <p:nvSpPr>
          <p:cNvPr id="22" name="Shape 20"/>
          <p:cNvSpPr/>
          <p:nvPr/>
        </p:nvSpPr>
        <p:spPr>
          <a:xfrm>
            <a:off x="914400" y="2743200"/>
            <a:ext cx="1417320" cy="1417320"/>
          </a:xfrm>
          <a:prstGeom prst="rect">
            <a:avLst/>
          </a:prstGeom>
          <a:solidFill>
            <a:srgbClr val="1F3A6E"/>
          </a:solidFill>
          <a:ln/>
          <a:effectLst>
            <a:outerShdw sx="100000" sy="100000" kx="0" ky="0" algn="bl" rotWithShape="0" blurRad="76200" dist="38100" dir="2700000">
              <a:srgbClr val="000000">
                <a:alpha val="35000"/>
              </a:srgbClr>
            </a:outerShdw>
          </a:effectLst>
        </p:spPr>
      </p:sp>
      <p:sp>
        <p:nvSpPr>
          <p:cNvPr id="23" name="Text 21"/>
          <p:cNvSpPr/>
          <p:nvPr/>
        </p:nvSpPr>
        <p:spPr>
          <a:xfrm>
            <a:off x="914400" y="2743200"/>
            <a:ext cx="1417320" cy="1417320"/>
          </a:xfrm>
          <a:prstGeom prst="rect">
            <a:avLst/>
          </a:prstGeom>
          <a:noFill/>
          <a:ln/>
        </p:spPr>
        <p:txBody>
          <a:bodyPr wrap="square" lIns="0" tIns="0" rIns="0" bIns="0"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2</a:t>
            </a:r>
            <a:endParaRPr lang="en-US" sz="5400" dirty="0"/>
          </a:p>
        </p:txBody>
      </p:sp>
      <p:sp>
        <p:nvSpPr>
          <p:cNvPr id="24" name="Text 22"/>
          <p:cNvSpPr/>
          <p:nvPr/>
        </p:nvSpPr>
        <p:spPr>
          <a:xfrm>
            <a:off x="914400" y="4343400"/>
            <a:ext cx="9601200" cy="822960"/>
          </a:xfrm>
          <a:prstGeom prst="rect">
            <a:avLst/>
          </a:prstGeom>
          <a:noFill/>
          <a:ln/>
        </p:spPr>
        <p:txBody>
          <a:bodyPr wrap="square" lIns="0" tIns="0" rIns="0" bIns="0" rtlCol="0" anchor="ctr"/>
          <a:lstStyle/>
          <a:p>
            <a:pPr indent="0" marL="0">
              <a:buNone/>
            </a:pPr>
            <a:r>
              <a:rPr lang="en-US" sz="3000" b="1" dirty="0">
                <a:solidFill>
                  <a:srgbClr val="1F3A6E"/>
                </a:solidFill>
                <a:latin typeface="Calibri" pitchFamily="34" charset="0"/>
                <a:ea typeface="Calibri" pitchFamily="34" charset="-122"/>
                <a:cs typeface="Calibri" pitchFamily="34" charset="-120"/>
              </a:rPr>
              <a:t>Bảng Điều Khiển Dự Án – Xây Dựng</a:t>
            </a:r>
            <a:endParaRPr lang="en-US" sz="3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Tổng Quan</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69926"/>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96774"/>
          </a:xfrm>
          <a:prstGeom prst="rect">
            <a:avLst/>
          </a:prstGeom>
        </p:spPr>
      </p:pic>
      <p:sp>
        <p:nvSpPr>
          <p:cNvPr id="100" name="Box 1"/>
          <p:cNvSpPr/>
          <p:nvPr/>
        </p:nvSpPr>
        <p:spPr>
          <a:xfrm>
            <a:off x="1405949" y="2568229"/>
            <a:ext cx="5594173" cy="406243"/>
          </a:xfrm>
          <a:prstGeom prst="roundRect">
            <a:avLst>
              <a:gd name="adj" fmla="val 10000"/>
            </a:avLst>
          </a:prstGeom>
          <a:noFill/>
          <a:ln w="19050">
            <a:solidFill>
              <a:srgbClr val="1F3A6E"/>
            </a:solidFill>
          </a:ln>
        </p:spPr>
      </p:sp>
      <p:sp>
        <p:nvSpPr>
          <p:cNvPr id="101" name="Box 2"/>
          <p:cNvSpPr/>
          <p:nvPr/>
        </p:nvSpPr>
        <p:spPr>
          <a:xfrm>
            <a:off x="1405949" y="2358448"/>
            <a:ext cx="1964620" cy="99896"/>
          </a:xfrm>
          <a:prstGeom prst="roundRect">
            <a:avLst>
              <a:gd name="adj" fmla="val 10000"/>
            </a:avLst>
          </a:prstGeom>
          <a:noFill/>
          <a:ln w="19050">
            <a:solidFill>
              <a:srgbClr val="1F3A6E"/>
            </a:solidFill>
          </a:ln>
        </p:spPr>
      </p:sp>
      <p:sp>
        <p:nvSpPr>
          <p:cNvPr id="102" name="Box 3"/>
          <p:cNvSpPr/>
          <p:nvPr/>
        </p:nvSpPr>
        <p:spPr>
          <a:xfrm>
            <a:off x="1405949" y="3190914"/>
            <a:ext cx="5594173" cy="982310"/>
          </a:xfrm>
          <a:prstGeom prst="roundRect">
            <a:avLst>
              <a:gd name="adj" fmla="val 10000"/>
            </a:avLst>
          </a:prstGeom>
          <a:noFill/>
          <a:ln w="19050">
            <a:solidFill>
              <a:srgbClr val="1F3A6E"/>
            </a:solidFill>
          </a:ln>
        </p:spPr>
      </p:sp>
      <p:sp>
        <p:nvSpPr>
          <p:cNvPr id="103" name="Box 4"/>
          <p:cNvSpPr/>
          <p:nvPr/>
        </p:nvSpPr>
        <p:spPr>
          <a:xfrm>
            <a:off x="3653608" y="4223172"/>
            <a:ext cx="3346514" cy="949011"/>
          </a:xfrm>
          <a:prstGeom prst="roundRect">
            <a:avLst>
              <a:gd name="adj" fmla="val 10000"/>
            </a:avLst>
          </a:prstGeom>
          <a:noFill/>
          <a:ln w="19050">
            <a:solidFill>
              <a:srgbClr val="1F3A6E"/>
            </a:solidFill>
          </a:ln>
        </p:spPr>
      </p:sp>
      <p:sp>
        <p:nvSpPr>
          <p:cNvPr id="104" name="Box 5"/>
          <p:cNvSpPr/>
          <p:nvPr/>
        </p:nvSpPr>
        <p:spPr>
          <a:xfrm>
            <a:off x="6151006" y="2358448"/>
            <a:ext cx="865765" cy="99896"/>
          </a:xfrm>
          <a:prstGeom prst="roundRect">
            <a:avLst>
              <a:gd name="adj" fmla="val 10000"/>
            </a:avLst>
          </a:prstGeom>
          <a:noFill/>
          <a:ln w="19050">
            <a:solidFill>
              <a:srgbClr val="1F3A6E"/>
            </a:solidFill>
          </a:ln>
        </p:spPr>
      </p:sp>
      <p:sp>
        <p:nvSpPr>
          <p:cNvPr id="200" name="Callout 1"/>
          <p:cNvSpPr/>
          <p:nvPr/>
        </p:nvSpPr>
        <p:spPr>
          <a:xfrm>
            <a:off x="6041006" y="2248448"/>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1295949" y="2248448"/>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202" name="Callout 3"/>
          <p:cNvSpPr/>
          <p:nvPr/>
        </p:nvSpPr>
        <p:spPr>
          <a:xfrm>
            <a:off x="1295949" y="3080914"/>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3</a:t>
            </a:r>
          </a:p>
        </p:txBody>
      </p:sp>
      <p:sp>
        <p:nvSpPr>
          <p:cNvPr id="203" name="Callout 4"/>
          <p:cNvSpPr/>
          <p:nvPr/>
        </p:nvSpPr>
        <p:spPr>
          <a:xfrm>
            <a:off x="3543608" y="4113172"/>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4</a:t>
            </a:r>
          </a:p>
        </p:txBody>
      </p:sp>
      <p:sp>
        <p:nvSpPr>
          <p:cNvPr id="204" name="Callout 5"/>
          <p:cNvSpPr/>
          <p:nvPr/>
        </p:nvSpPr>
        <p:spPr>
          <a:xfrm>
            <a:off x="6041006" y="2248448"/>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5</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76774"/>
          </a:xfrm>
          <a:prstGeom prst="rect">
            <a:avLst/>
          </a:prstGeom>
          <a:solidFill>
            <a:srgbClr val="F4F8FD"/>
          </a:solidFill>
          <a:ln w="9525">
            <a:solidFill>
              <a:srgbClr val="BFBFBF"/>
            </a:solidFill>
          </a:ln>
        </p:spPr>
      </p:sp>
      <p:sp>
        <p:nvSpPr>
          <p:cNvPr id="302" name="Panel Text"/>
          <p:cNvSpPr txBox="1"/>
          <p:nvPr/>
        </p:nvSpPr>
        <p:spPr>
          <a:xfrm>
            <a:off x="7540080" y="2978500"/>
            <a:ext cx="3811840" cy="2276774"/>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Chọn một công trường xây dựng từ cây bên trái (ví dụ: K8HH1 도급공사 [SITE23]) để mở bảng điều khiển dự án của công trường đó; phần đầu trang luôn hiển thị Chủ đầu tư, Thời gian thi công, Quy mô thi công, Giá trị hợp đồng và Trạng thái.</a:t>
            </a:r>
          </a:p>
          <a:p>
            <a:pPr indent="0" marL="0">
              <a:lnSpc>
                <a:spcPct val="106000"/>
              </a:lnSpc>
              <a:spcAft>
                <a:spcPts val="5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Tỷ giá (USD / KRW / VND) và Đơn vị (USD / K USD) nằm phía trên mọi tab của công trường và áp dụng cho tất cả màn hình — Overview, Report, Progress, Revenue/Cost, Outsourcing, Cashflow và Data Entry.</a:t>
            </a:r>
          </a:p>
          <a:p>
            <a:pPr indent="0" marL="0">
              <a:lnSpc>
                <a:spcPct val="106000"/>
              </a:lnSpc>
              <a:spcAft>
                <a:spcPts val="5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Site Photo hiển thị hình ảnh mới đăng ký gần nhất; Construction Info liệt kê Vị trí, Diện tích công trường, Tổng diện tích sàn, Mục đích sử dụng, Tỷ lệ sở hữu và Công ty đối tác.</a:t>
            </a:r>
          </a:p>
          <a:p>
            <a:pPr indent="0" marL="0">
              <a:lnSpc>
                <a:spcPct val="106000"/>
              </a:lnSpc>
              <a:spcAft>
                <a:spcPts val="500"/>
              </a:spcAft>
              <a:buNone/>
            </a:pPr>
            <a:r>
              <a:rPr lang="en-US" sz="1100" b="1" dirty="0">
                <a:solidFill>
                  <a:srgbClr val="1F3A6E"/>
                </a:solidFill>
                <a:latin typeface="Calibri" pitchFamily="34" charset="0"/>
              </a:rPr>
              <a:t>4  </a:t>
            </a:r>
            <a:r>
              <a:rPr lang="en-US" sz="1100" dirty="0">
                <a:solidFill>
                  <a:srgbClr val="262626"/>
                </a:solidFill>
                <a:latin typeface="Calibri" pitchFamily="34" charset="0"/>
              </a:rPr>
              <a:t>Contract Info liệt kê Chủ đầu tư, Giá trị hợp đồng (kèm tỷ giá hợp đồng), Phương thức hợp đồng, Điều khoản thanh toán, Thời gian/Bảo lãnh bảo hành, Tạm ứng, Giữ lại và Điều khoản VE.</a:t>
            </a:r>
          </a:p>
          <a:p>
            <a:pPr indent="0" marL="0">
              <a:lnSpc>
                <a:spcPct val="106000"/>
              </a:lnSpc>
              <a:spcAft>
                <a:spcPts val="400"/>
              </a:spcAft>
              <a:buNone/>
            </a:pPr>
            <a:r>
              <a:rPr lang="en-US" sz="1100" b="1" dirty="0">
                <a:solidFill>
                  <a:srgbClr val="1F3A6E"/>
                </a:solidFill>
                <a:latin typeface="Calibri" pitchFamily="34" charset="0"/>
              </a:rPr>
              <a:t>5  </a:t>
            </a:r>
            <a:r>
              <a:rPr lang="en-US" sz="1100" dirty="0">
                <a:solidFill>
                  <a:srgbClr val="262626"/>
                </a:solidFill>
                <a:latin typeface="Calibri" pitchFamily="34" charset="0"/>
              </a:rPr>
              <a:t>Nhấp Sync PIMSVINA bất kỳ lúc nào để cập nhật dữ liệu dự án từ hệ thống nguồn.</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Report</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40234"/>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67082"/>
          </a:xfrm>
          <a:prstGeom prst="rect">
            <a:avLst/>
          </a:prstGeom>
        </p:spPr>
      </p:pic>
      <p:sp>
        <p:nvSpPr>
          <p:cNvPr id="100" name="Box 1"/>
          <p:cNvSpPr/>
          <p:nvPr/>
        </p:nvSpPr>
        <p:spPr>
          <a:xfrm>
            <a:off x="1404358" y="2989705"/>
            <a:ext cx="5582555" cy="299065"/>
          </a:xfrm>
          <a:prstGeom prst="roundRect">
            <a:avLst>
              <a:gd name="adj" fmla="val 10000"/>
            </a:avLst>
          </a:prstGeom>
          <a:noFill/>
          <a:ln w="19050">
            <a:solidFill>
              <a:srgbClr val="1F3A6E"/>
            </a:solidFill>
          </a:ln>
        </p:spPr>
      </p:sp>
      <p:sp>
        <p:nvSpPr>
          <p:cNvPr id="101" name="Box 2"/>
          <p:cNvSpPr/>
          <p:nvPr/>
        </p:nvSpPr>
        <p:spPr>
          <a:xfrm>
            <a:off x="1404358" y="3338614"/>
            <a:ext cx="1844237" cy="1096573"/>
          </a:xfrm>
          <a:prstGeom prst="roundRect">
            <a:avLst>
              <a:gd name="adj" fmla="val 10000"/>
            </a:avLst>
          </a:prstGeom>
          <a:noFill/>
          <a:ln w="19050">
            <a:solidFill>
              <a:srgbClr val="1F3A6E"/>
            </a:solidFill>
          </a:ln>
        </p:spPr>
      </p:sp>
      <p:sp>
        <p:nvSpPr>
          <p:cNvPr id="102" name="Box 3"/>
          <p:cNvSpPr/>
          <p:nvPr/>
        </p:nvSpPr>
        <p:spPr>
          <a:xfrm>
            <a:off x="3298439" y="3338614"/>
            <a:ext cx="1794393" cy="1096573"/>
          </a:xfrm>
          <a:prstGeom prst="roundRect">
            <a:avLst>
              <a:gd name="adj" fmla="val 10000"/>
            </a:avLst>
          </a:prstGeom>
          <a:noFill/>
          <a:ln w="19050">
            <a:solidFill>
              <a:srgbClr val="1F3A6E"/>
            </a:solidFill>
          </a:ln>
        </p:spPr>
      </p:sp>
      <p:sp>
        <p:nvSpPr>
          <p:cNvPr id="103" name="Box 4"/>
          <p:cNvSpPr/>
          <p:nvPr/>
        </p:nvSpPr>
        <p:spPr>
          <a:xfrm>
            <a:off x="1404358" y="4451802"/>
            <a:ext cx="5582555" cy="880582"/>
          </a:xfrm>
          <a:prstGeom prst="roundRect">
            <a:avLst>
              <a:gd name="adj" fmla="val 10000"/>
            </a:avLst>
          </a:prstGeom>
          <a:noFill/>
          <a:ln w="19050">
            <a:solidFill>
              <a:srgbClr val="1F3A6E"/>
            </a:solidFill>
          </a:ln>
        </p:spPr>
      </p:sp>
      <p:sp>
        <p:nvSpPr>
          <p:cNvPr id="200" name="Callout 1"/>
          <p:cNvSpPr/>
          <p:nvPr/>
        </p:nvSpPr>
        <p:spPr>
          <a:xfrm>
            <a:off x="1294358" y="2879705"/>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1294358" y="3228614"/>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202" name="Callout 3"/>
          <p:cNvSpPr/>
          <p:nvPr/>
        </p:nvSpPr>
        <p:spPr>
          <a:xfrm>
            <a:off x="3188439" y="3228614"/>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3</a:t>
            </a:r>
          </a:p>
        </p:txBody>
      </p:sp>
      <p:sp>
        <p:nvSpPr>
          <p:cNvPr id="203" name="Callout 4"/>
          <p:cNvSpPr/>
          <p:nvPr/>
        </p:nvSpPr>
        <p:spPr>
          <a:xfrm>
            <a:off x="1294358" y="4341802"/>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4</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47082"/>
          </a:xfrm>
          <a:prstGeom prst="rect">
            <a:avLst/>
          </a:prstGeom>
          <a:solidFill>
            <a:srgbClr val="F4F8FD"/>
          </a:solidFill>
          <a:ln w="9525">
            <a:solidFill>
              <a:srgbClr val="BFBFBF"/>
            </a:solidFill>
          </a:ln>
        </p:spPr>
      </p:sp>
      <p:sp>
        <p:nvSpPr>
          <p:cNvPr id="302" name="Panel Text"/>
          <p:cNvSpPr txBox="1"/>
          <p:nvPr/>
        </p:nvSpPr>
        <p:spPr>
          <a:xfrm>
            <a:off x="7540080" y="2978500"/>
            <a:ext cx="3811840" cy="2247082"/>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Tab Report là bản tóm tắt điều hành hàng tháng của công trường. Chọn Tháng cơ sở (Base Month), sau đó nhấp Xuất Báo Cáo (Export Report) để lấy tệp có thể chia sẻ.</a:t>
            </a:r>
          </a:p>
          <a:p>
            <a:pPr indent="0" marL="0">
              <a:lnSpc>
                <a:spcPct val="106000"/>
              </a:lnSpc>
              <a:spcAft>
                <a:spcPts val="5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Progress hiển thị tỷ lệ tiến độ hàng tháng và lũy kế (Kế hoạch so với Thực tế) kèm tỷ lệ đạt (%), cùng với tỷ lệ thời gian (Duration rate) (thời gian thi công đã trôi qua / tổng thời gian) và chênh lệch giữa tỷ lệ thời gian và tiến độ lũy kế.</a:t>
            </a:r>
          </a:p>
          <a:p>
            <a:pPr indent="0" marL="0">
              <a:lnSpc>
                <a:spcPct val="106000"/>
              </a:lnSpc>
              <a:spcAft>
                <a:spcPts val="5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Revenue Actual &amp; Forecast biểu diễn Doanh thu hàng tháng (Kế hoạch / Thực tế / Dự báo) cùng tổng lũy kế theo năm và tổng lũy kế toàn dự án cùng tỷ lệ đạt tương ứng.</a:t>
            </a:r>
          </a:p>
          <a:p>
            <a:pPr indent="0" marL="0">
              <a:lnSpc>
                <a:spcPct val="106000"/>
              </a:lnSpc>
              <a:spcAft>
                <a:spcPts val="400"/>
              </a:spcAft>
              <a:buNone/>
            </a:pPr>
            <a:r>
              <a:rPr lang="en-US" sz="1100" b="1" dirty="0">
                <a:solidFill>
                  <a:srgbClr val="1F3A6E"/>
                </a:solidFill>
                <a:latin typeface="Calibri" pitchFamily="34" charset="0"/>
              </a:rPr>
              <a:t>4  </a:t>
            </a:r>
            <a:r>
              <a:rPr lang="en-US" sz="1100" dirty="0">
                <a:solidFill>
                  <a:srgbClr val="262626"/>
                </a:solidFill>
                <a:latin typeface="Calibri" pitchFamily="34" charset="0"/>
              </a:rPr>
              <a:t>Status hiển thị đèn báo trạng thái cho Tiến độ, Doanh thu và Chi phí theo tháng và lũy kế năm; Cost (Cumulative Execution) phân tách Chi phí trực tiếp, Chi phí gián tiếp và Dự phòng; Cashflow hiển thị Tỷ lệ thu tiền so với doanh thu lũy kế; Key Issues &amp; Action Plan ghi lại ghi chú hàng tháng.</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Progress</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41691"/>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68539"/>
          </a:xfrm>
          <a:prstGeom prst="rect">
            <a:avLst/>
          </a:prstGeom>
        </p:spPr>
      </p:pic>
      <p:sp>
        <p:nvSpPr>
          <p:cNvPr id="100" name="Box 1"/>
          <p:cNvSpPr/>
          <p:nvPr/>
        </p:nvSpPr>
        <p:spPr>
          <a:xfrm>
            <a:off x="1405551" y="3207096"/>
            <a:ext cx="2745710" cy="2146646"/>
          </a:xfrm>
          <a:prstGeom prst="roundRect">
            <a:avLst>
              <a:gd name="adj" fmla="val 10000"/>
            </a:avLst>
          </a:prstGeom>
          <a:noFill/>
          <a:ln w="19050">
            <a:solidFill>
              <a:srgbClr val="1F3A6E"/>
            </a:solidFill>
          </a:ln>
        </p:spPr>
      </p:sp>
      <p:sp>
        <p:nvSpPr>
          <p:cNvPr id="101" name="Box 2"/>
          <p:cNvSpPr/>
          <p:nvPr/>
        </p:nvSpPr>
        <p:spPr>
          <a:xfrm>
            <a:off x="4201182" y="3207096"/>
            <a:ext cx="2795632" cy="1481019"/>
          </a:xfrm>
          <a:prstGeom prst="roundRect">
            <a:avLst>
              <a:gd name="adj" fmla="val 10000"/>
            </a:avLst>
          </a:prstGeom>
          <a:noFill/>
          <a:ln w="19050">
            <a:solidFill>
              <a:srgbClr val="1F3A6E"/>
            </a:solidFill>
          </a:ln>
        </p:spPr>
      </p:sp>
      <p:sp>
        <p:nvSpPr>
          <p:cNvPr id="200" name="Callout 1"/>
          <p:cNvSpPr/>
          <p:nvPr/>
        </p:nvSpPr>
        <p:spPr>
          <a:xfrm>
            <a:off x="4091182" y="3097096"/>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4091182" y="3097096"/>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48539"/>
          </a:xfrm>
          <a:prstGeom prst="rect">
            <a:avLst/>
          </a:prstGeom>
          <a:solidFill>
            <a:srgbClr val="F4F8FD"/>
          </a:solidFill>
          <a:ln w="9525">
            <a:solidFill>
              <a:srgbClr val="BFBFBF"/>
            </a:solidFill>
          </a:ln>
        </p:spPr>
      </p:sp>
      <p:sp>
        <p:nvSpPr>
          <p:cNvPr id="302" name="Panel Text"/>
          <p:cNvSpPr txBox="1"/>
          <p:nvPr/>
        </p:nvSpPr>
        <p:spPr>
          <a:xfrm>
            <a:off x="7540080" y="2978500"/>
            <a:ext cx="3811840" cy="2248539"/>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Tab Progress mở đầu với ảnh Site Progress Status (Tình trạng tiến độ công trường) cho tháng được chọn (sử dụng bộ lọc tháng và thanh chuyển ảnh bên dưới) cùng với chỉ số tỷ lệ thời gian (Duration rate).</a:t>
            </a:r>
          </a:p>
          <a:p>
            <a:pPr indent="0" marL="0">
              <a:lnSpc>
                <a:spcPct val="106000"/>
              </a:lnSpc>
              <a:spcAft>
                <a:spcPts val="4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Ba biểu đồ donut tóm tắt tiến độ Hàng tháng, Hàng năm và Lũy kế, mỗi biểu đồ thể hiện Kế hoạch so với Thực tế và Tỷ lệ đạt tương ứng.</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Progress: Xu Hướng Hàng Tháng &amp; Mốc Tiến Độ</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33733"/>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60581"/>
          </a:xfrm>
          <a:prstGeom prst="rect">
            <a:avLst/>
          </a:prstGeom>
        </p:spPr>
      </p:pic>
      <p:sp>
        <p:nvSpPr>
          <p:cNvPr id="100" name="Box 1"/>
          <p:cNvSpPr/>
          <p:nvPr/>
        </p:nvSpPr>
        <p:spPr>
          <a:xfrm>
            <a:off x="1403565" y="2358293"/>
            <a:ext cx="5576763" cy="1228216"/>
          </a:xfrm>
          <a:prstGeom prst="roundRect">
            <a:avLst>
              <a:gd name="adj" fmla="val 10000"/>
            </a:avLst>
          </a:prstGeom>
          <a:noFill/>
          <a:ln w="19050">
            <a:solidFill>
              <a:srgbClr val="1F3A6E"/>
            </a:solidFill>
          </a:ln>
        </p:spPr>
      </p:sp>
      <p:sp>
        <p:nvSpPr>
          <p:cNvPr id="101" name="Box 2"/>
          <p:cNvSpPr/>
          <p:nvPr/>
        </p:nvSpPr>
        <p:spPr>
          <a:xfrm>
            <a:off x="1403565" y="3686093"/>
            <a:ext cx="5576763" cy="1078838"/>
          </a:xfrm>
          <a:prstGeom prst="roundRect">
            <a:avLst>
              <a:gd name="adj" fmla="val 10000"/>
            </a:avLst>
          </a:prstGeom>
          <a:noFill/>
          <a:ln w="19050">
            <a:solidFill>
              <a:srgbClr val="1F3A6E"/>
            </a:solidFill>
          </a:ln>
        </p:spPr>
      </p:sp>
      <p:sp>
        <p:nvSpPr>
          <p:cNvPr id="102" name="Box 3"/>
          <p:cNvSpPr/>
          <p:nvPr/>
        </p:nvSpPr>
        <p:spPr>
          <a:xfrm>
            <a:off x="1403565" y="4964102"/>
            <a:ext cx="5576763" cy="381743"/>
          </a:xfrm>
          <a:prstGeom prst="roundRect">
            <a:avLst>
              <a:gd name="adj" fmla="val 10000"/>
            </a:avLst>
          </a:prstGeom>
          <a:noFill/>
          <a:ln w="19050">
            <a:solidFill>
              <a:srgbClr val="1F3A6E"/>
            </a:solidFill>
          </a:ln>
        </p:spPr>
      </p:sp>
      <p:sp>
        <p:nvSpPr>
          <p:cNvPr id="200" name="Callout 1"/>
          <p:cNvSpPr/>
          <p:nvPr/>
        </p:nvSpPr>
        <p:spPr>
          <a:xfrm>
            <a:off x="1293565" y="4854102"/>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1293565" y="3576093"/>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202" name="Callout 3"/>
          <p:cNvSpPr/>
          <p:nvPr/>
        </p:nvSpPr>
        <p:spPr>
          <a:xfrm>
            <a:off x="1293565" y="4854102"/>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3</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40581"/>
          </a:xfrm>
          <a:prstGeom prst="rect">
            <a:avLst/>
          </a:prstGeom>
          <a:solidFill>
            <a:srgbClr val="F4F8FD"/>
          </a:solidFill>
          <a:ln w="9525">
            <a:solidFill>
              <a:srgbClr val="BFBFBF"/>
            </a:solidFill>
          </a:ln>
        </p:spPr>
      </p:sp>
      <p:sp>
        <p:nvSpPr>
          <p:cNvPr id="302" name="Panel Text"/>
          <p:cNvSpPr txBox="1"/>
          <p:nvPr/>
        </p:nvSpPr>
        <p:spPr>
          <a:xfrm>
            <a:off x="7540080" y="2978500"/>
            <a:ext cx="3811840" cy="2240581"/>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Monthly Progress Plan &amp; Actual thể hiện Kế hoạch hàng tháng / Thực tế hàng tháng dưới dạng cột, cùng Kế hoạch lũy kế / Thực tế lũy kế dưới dạng đường trong suốt thời gian thi công.</a:t>
            </a:r>
          </a:p>
          <a:p>
            <a:pPr indent="0" marL="0">
              <a:lnSpc>
                <a:spcPct val="106000"/>
              </a:lnSpc>
              <a:spcAft>
                <a:spcPts val="5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Milestone liệt kê từng giai đoạn thi công (착공, 토공사, 지하/지상 골조 공사, 내·외부 마감공사, 준공 …) với khoảng thời gian Kế hoạch và Thực tế trên một dòng thời gian; một vạch đánh dấu thẳng đứng thể hiện tháng tham chiếu hiện tại.</a:t>
            </a:r>
          </a:p>
          <a:p>
            <a:pPr indent="0" marL="0">
              <a:lnSpc>
                <a:spcPct val="106000"/>
              </a:lnSpc>
              <a:spcAft>
                <a:spcPts val="4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Sử dụng ô Comment bên dưới (lọc theo tháng) để ghi lại ghi chú tiến độ cho kỳ đó.</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Revenue/Cost</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31706"/>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58554"/>
          </a:xfrm>
          <a:prstGeom prst="rect">
            <a:avLst/>
          </a:prstGeom>
        </p:spPr>
      </p:pic>
      <p:sp>
        <p:nvSpPr>
          <p:cNvPr id="100" name="Box 1"/>
          <p:cNvSpPr/>
          <p:nvPr/>
        </p:nvSpPr>
        <p:spPr>
          <a:xfrm>
            <a:off x="1405551" y="3207096"/>
            <a:ext cx="5591264" cy="965159"/>
          </a:xfrm>
          <a:prstGeom prst="roundRect">
            <a:avLst>
              <a:gd name="adj" fmla="val 10000"/>
            </a:avLst>
          </a:prstGeom>
          <a:noFill/>
          <a:ln w="19050">
            <a:solidFill>
              <a:srgbClr val="1F3A6E"/>
            </a:solidFill>
          </a:ln>
        </p:spPr>
      </p:sp>
      <p:sp>
        <p:nvSpPr>
          <p:cNvPr id="101" name="Box 2"/>
          <p:cNvSpPr/>
          <p:nvPr/>
        </p:nvSpPr>
        <p:spPr>
          <a:xfrm>
            <a:off x="1405551" y="4288739"/>
            <a:ext cx="5591264" cy="832033"/>
          </a:xfrm>
          <a:prstGeom prst="roundRect">
            <a:avLst>
              <a:gd name="adj" fmla="val 10000"/>
            </a:avLst>
          </a:prstGeom>
          <a:noFill/>
          <a:ln w="19050">
            <a:solidFill>
              <a:srgbClr val="1F3A6E"/>
            </a:solidFill>
          </a:ln>
        </p:spPr>
      </p:sp>
      <p:sp>
        <p:nvSpPr>
          <p:cNvPr id="102" name="Box 3"/>
          <p:cNvSpPr/>
          <p:nvPr/>
        </p:nvSpPr>
        <p:spPr>
          <a:xfrm>
            <a:off x="6647360" y="3207096"/>
            <a:ext cx="282891" cy="83203"/>
          </a:xfrm>
          <a:prstGeom prst="roundRect">
            <a:avLst>
              <a:gd name="adj" fmla="val 10000"/>
            </a:avLst>
          </a:prstGeom>
          <a:noFill/>
          <a:ln w="19050">
            <a:solidFill>
              <a:srgbClr val="1F3A6E"/>
            </a:solidFill>
          </a:ln>
        </p:spPr>
      </p:sp>
      <p:sp>
        <p:nvSpPr>
          <p:cNvPr id="200" name="Callout 1"/>
          <p:cNvSpPr/>
          <p:nvPr/>
        </p:nvSpPr>
        <p:spPr>
          <a:xfrm>
            <a:off x="1295551" y="3097096"/>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1295551" y="4178739"/>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202" name="Callout 3"/>
          <p:cNvSpPr/>
          <p:nvPr/>
        </p:nvSpPr>
        <p:spPr>
          <a:xfrm>
            <a:off x="6537360" y="3097096"/>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3</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38554"/>
          </a:xfrm>
          <a:prstGeom prst="rect">
            <a:avLst/>
          </a:prstGeom>
          <a:solidFill>
            <a:srgbClr val="F4F8FD"/>
          </a:solidFill>
          <a:ln w="9525">
            <a:solidFill>
              <a:srgbClr val="BFBFBF"/>
            </a:solidFill>
          </a:ln>
        </p:spPr>
      </p:sp>
      <p:sp>
        <p:nvSpPr>
          <p:cNvPr id="302" name="Panel Text"/>
          <p:cNvSpPr txBox="1"/>
          <p:nvPr/>
        </p:nvSpPr>
        <p:spPr>
          <a:xfrm>
            <a:off x="7540080" y="2978500"/>
            <a:ext cx="3811840" cy="2238554"/>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Revenue (K USD) biểu diễn Kế hoạch hàng tháng so với Thực tế cho năm được chọn, với các cột nét đứt đánh dấu các tháng dự báo chưa chốt số liệu.</a:t>
            </a:r>
          </a:p>
          <a:p>
            <a:pPr indent="0" marL="0">
              <a:lnSpc>
                <a:spcPct val="106000"/>
              </a:lnSpc>
              <a:spcAft>
                <a:spcPts val="5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Cumulative Cost Ratio (%) thể hiện xu hướng tỷ lệ chi phí trên doanh thu trong năm trên một đường duy nhất, với giá trị mới nhất được tô sáng.</a:t>
            </a:r>
          </a:p>
          <a:p>
            <a:pPr indent="0" marL="0">
              <a:lnSpc>
                <a:spcPct val="106000"/>
              </a:lnSpc>
              <a:spcAft>
                <a:spcPts val="4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Sử dụng bộ chọn năm trên mỗi biểu đồ để xem lại một năm tài chính khác.</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Revenue/Cost: Tỷ Lệ Chi Phí &amp; Tình Hình Thực Hiện Ngân Sách</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53774"/>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80622"/>
          </a:xfrm>
          <a:prstGeom prst="rect">
            <a:avLst/>
          </a:prstGeom>
        </p:spPr>
      </p:pic>
      <p:sp>
        <p:nvSpPr>
          <p:cNvPr id="100" name="Box 1"/>
          <p:cNvSpPr/>
          <p:nvPr/>
        </p:nvSpPr>
        <p:spPr>
          <a:xfrm>
            <a:off x="1402774" y="2358241"/>
            <a:ext cx="5570984" cy="911917"/>
          </a:xfrm>
          <a:prstGeom prst="roundRect">
            <a:avLst>
              <a:gd name="adj" fmla="val 10000"/>
            </a:avLst>
          </a:prstGeom>
          <a:noFill/>
          <a:ln w="19050">
            <a:solidFill>
              <a:srgbClr val="1F3A6E"/>
            </a:solidFill>
          </a:ln>
        </p:spPr>
      </p:sp>
      <p:sp>
        <p:nvSpPr>
          <p:cNvPr id="101" name="Box 2"/>
          <p:cNvSpPr/>
          <p:nvPr/>
        </p:nvSpPr>
        <p:spPr>
          <a:xfrm>
            <a:off x="1402774" y="3336479"/>
            <a:ext cx="5570984" cy="2022798"/>
          </a:xfrm>
          <a:prstGeom prst="roundRect">
            <a:avLst>
              <a:gd name="adj" fmla="val 10000"/>
            </a:avLst>
          </a:prstGeom>
          <a:noFill/>
          <a:ln w="19050">
            <a:solidFill>
              <a:srgbClr val="1F3A6E"/>
            </a:solidFill>
          </a:ln>
        </p:spPr>
      </p:sp>
      <p:sp>
        <p:nvSpPr>
          <p:cNvPr id="200" name="Callout 1"/>
          <p:cNvSpPr/>
          <p:nvPr/>
        </p:nvSpPr>
        <p:spPr>
          <a:xfrm>
            <a:off x="1292774" y="2248241"/>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1292774" y="3226479"/>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60622"/>
          </a:xfrm>
          <a:prstGeom prst="rect">
            <a:avLst/>
          </a:prstGeom>
          <a:solidFill>
            <a:srgbClr val="F4F8FD"/>
          </a:solidFill>
          <a:ln w="9525">
            <a:solidFill>
              <a:srgbClr val="BFBFBF"/>
            </a:solidFill>
          </a:ln>
        </p:spPr>
      </p:sp>
      <p:sp>
        <p:nvSpPr>
          <p:cNvPr id="302" name="Panel Text"/>
          <p:cNvSpPr txBox="1"/>
          <p:nvPr/>
        </p:nvSpPr>
        <p:spPr>
          <a:xfrm>
            <a:off x="7540080" y="2978500"/>
            <a:ext cx="3811840" cy="2260622"/>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Cost Rate hiển thị ba biểu đồ donut — Bidding, Execution Budget Setup và Standard Estimated Cost Ratio — mỗi biểu đồ là Chi phí / Giá trị hợp đồng kèm số liệu chi tiết bên dưới.</a:t>
            </a:r>
          </a:p>
          <a:p>
            <a:pPr indent="0" marL="0">
              <a:lnSpc>
                <a:spcPct val="106000"/>
              </a:lnSpc>
              <a:spcAft>
                <a:spcPts val="4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Budget Execution Status chia tổng ngân sách thành Chi phí trực tiếp, Thầu phụ, Chung, Chi phí 1, Chi phí gián tiếp, Chi phí 2 và Dự phòng, mỗi mục có cột Kế hoạch thực hiện so với Thực tế (Tỷ lệ thực hiện) và số tiền còn lại bên phải.</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Revenue/Cost: Tình Hình Thực Hiện Ngân Sách (chi tiết)</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58331"/>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85179"/>
          </a:xfrm>
          <a:prstGeom prst="rect">
            <a:avLst/>
          </a:prstGeom>
        </p:spPr>
      </p:pic>
      <p:sp>
        <p:nvSpPr>
          <p:cNvPr id="100" name="Box 1"/>
          <p:cNvSpPr/>
          <p:nvPr/>
        </p:nvSpPr>
        <p:spPr>
          <a:xfrm>
            <a:off x="1405551" y="2358422"/>
            <a:ext cx="5591264" cy="2113365"/>
          </a:xfrm>
          <a:prstGeom prst="roundRect">
            <a:avLst>
              <a:gd name="adj" fmla="val 10000"/>
            </a:avLst>
          </a:prstGeom>
          <a:noFill/>
          <a:ln w="19050">
            <a:solidFill>
              <a:srgbClr val="1F3A6E"/>
            </a:solidFill>
          </a:ln>
        </p:spPr>
      </p:sp>
      <p:sp>
        <p:nvSpPr>
          <p:cNvPr id="101" name="Box 2"/>
          <p:cNvSpPr/>
          <p:nvPr/>
        </p:nvSpPr>
        <p:spPr>
          <a:xfrm>
            <a:off x="1405551" y="4621553"/>
            <a:ext cx="5591264" cy="682267"/>
          </a:xfrm>
          <a:prstGeom prst="roundRect">
            <a:avLst>
              <a:gd name="adj" fmla="val 10000"/>
            </a:avLst>
          </a:prstGeom>
          <a:noFill/>
          <a:ln w="19050">
            <a:solidFill>
              <a:srgbClr val="1F3A6E"/>
            </a:solidFill>
          </a:ln>
        </p:spPr>
      </p:sp>
      <p:sp>
        <p:nvSpPr>
          <p:cNvPr id="200" name="Callout 1"/>
          <p:cNvSpPr/>
          <p:nvPr/>
        </p:nvSpPr>
        <p:spPr>
          <a:xfrm>
            <a:off x="1295551" y="4511553"/>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1295551" y="4511553"/>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65179"/>
          </a:xfrm>
          <a:prstGeom prst="rect">
            <a:avLst/>
          </a:prstGeom>
          <a:solidFill>
            <a:srgbClr val="F4F8FD"/>
          </a:solidFill>
          <a:ln w="9525">
            <a:solidFill>
              <a:srgbClr val="BFBFBF"/>
            </a:solidFill>
          </a:ln>
        </p:spPr>
      </p:sp>
      <p:sp>
        <p:nvSpPr>
          <p:cNvPr id="302" name="Panel Text"/>
          <p:cNvSpPr txBox="1"/>
          <p:nvPr/>
        </p:nvSpPr>
        <p:spPr>
          <a:xfrm>
            <a:off x="7540080" y="2978500"/>
            <a:ext cx="3811840" cy="2265179"/>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Cuộn xuống để xem đầy đủ bảng Budget Execution Status và dòng Total Budget, tổng hợp Chi phí trực tiếp + Chi phí gián tiếp + Dự phòng so với Kế hoạch và Thực tế.</a:t>
            </a:r>
          </a:p>
          <a:p>
            <a:pPr indent="0" marL="0">
              <a:lnSpc>
                <a:spcPct val="106000"/>
              </a:lnSpc>
              <a:spcAft>
                <a:spcPts val="4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Sử dụng ô Comment bên dưới bảng (lọc theo tháng) để ghi lại ghi chú về việc thực hiện chi phí trong kỳ.</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Outsourcing</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38222"/>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65070"/>
          </a:xfrm>
          <a:prstGeom prst="rect">
            <a:avLst/>
          </a:prstGeom>
        </p:spPr>
      </p:pic>
      <p:sp>
        <p:nvSpPr>
          <p:cNvPr id="100" name="Box 1"/>
          <p:cNvSpPr/>
          <p:nvPr/>
        </p:nvSpPr>
        <p:spPr>
          <a:xfrm>
            <a:off x="1406348" y="3208031"/>
            <a:ext cx="2432067" cy="2132223"/>
          </a:xfrm>
          <a:prstGeom prst="roundRect">
            <a:avLst>
              <a:gd name="adj" fmla="val 10000"/>
            </a:avLst>
          </a:prstGeom>
          <a:noFill/>
          <a:ln w="19050">
            <a:solidFill>
              <a:srgbClr val="1F3A6E"/>
            </a:solidFill>
          </a:ln>
        </p:spPr>
      </p:sp>
      <p:sp>
        <p:nvSpPr>
          <p:cNvPr id="101" name="Box 2"/>
          <p:cNvSpPr/>
          <p:nvPr/>
        </p:nvSpPr>
        <p:spPr>
          <a:xfrm>
            <a:off x="3838414" y="3208031"/>
            <a:ext cx="1299323" cy="2132223"/>
          </a:xfrm>
          <a:prstGeom prst="roundRect">
            <a:avLst>
              <a:gd name="adj" fmla="val 10000"/>
            </a:avLst>
          </a:prstGeom>
          <a:noFill/>
          <a:ln w="19050">
            <a:solidFill>
              <a:srgbClr val="1F3A6E"/>
            </a:solidFill>
          </a:ln>
        </p:spPr>
      </p:sp>
      <p:sp>
        <p:nvSpPr>
          <p:cNvPr id="102" name="Box 3"/>
          <p:cNvSpPr/>
          <p:nvPr/>
        </p:nvSpPr>
        <p:spPr>
          <a:xfrm>
            <a:off x="5137737" y="3208031"/>
            <a:ext cx="1865695" cy="2132223"/>
          </a:xfrm>
          <a:prstGeom prst="roundRect">
            <a:avLst>
              <a:gd name="adj" fmla="val 10000"/>
            </a:avLst>
          </a:prstGeom>
          <a:noFill/>
          <a:ln w="19050">
            <a:solidFill>
              <a:srgbClr val="1F3A6E"/>
            </a:solidFill>
          </a:ln>
        </p:spPr>
      </p:sp>
      <p:sp>
        <p:nvSpPr>
          <p:cNvPr id="200" name="Callout 1"/>
          <p:cNvSpPr/>
          <p:nvPr/>
        </p:nvSpPr>
        <p:spPr>
          <a:xfrm>
            <a:off x="1296348" y="3098031"/>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3728414" y="3098031"/>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202" name="Callout 3"/>
          <p:cNvSpPr/>
          <p:nvPr/>
        </p:nvSpPr>
        <p:spPr>
          <a:xfrm>
            <a:off x="5027737" y="3098031"/>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3</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45070"/>
          </a:xfrm>
          <a:prstGeom prst="rect">
            <a:avLst/>
          </a:prstGeom>
          <a:solidFill>
            <a:srgbClr val="F4F8FD"/>
          </a:solidFill>
          <a:ln w="9525">
            <a:solidFill>
              <a:srgbClr val="BFBFBF"/>
            </a:solidFill>
          </a:ln>
        </p:spPr>
      </p:sp>
      <p:sp>
        <p:nvSpPr>
          <p:cNvPr id="302" name="Panel Text"/>
          <p:cNvSpPr txBox="1"/>
          <p:nvPr/>
        </p:nvSpPr>
        <p:spPr>
          <a:xfrm>
            <a:off x="7540080" y="2978500"/>
            <a:ext cx="3811840" cy="2245070"/>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Outsourcing &amp; Materials liệt kê mọi hợp đồng thầu phụ và đơn hàng vật tư của công trường: Ngành nghề (Nhóm / Ngành nghề chi tiết), Tên nhà cung cấp, Ngày hợp đồng ban đầu và Lần thay đổi hợp đồng.</a:t>
            </a:r>
          </a:p>
          <a:p>
            <a:pPr indent="0" marL="0">
              <a:lnSpc>
                <a:spcPct val="106000"/>
              </a:lnSpc>
              <a:spcAft>
                <a:spcPts val="5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Budget (A), Executed Budget và Resolved Amount (B) theo dõi giá trị hợp đồng qua các lần thay đổi; Resolved Rate (B/A) đánh dấu màu đỏ cho các hợp đồng vượt quá 100%.</a:t>
            </a:r>
          </a:p>
          <a:p>
            <a:pPr indent="0" marL="0">
              <a:lnSpc>
                <a:spcPct val="106000"/>
              </a:lnSpc>
              <a:spcAft>
                <a:spcPts val="4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Progress Billing Status hiển thị This Month, Cumulative (C), Ratio (C/B) và Remaining Billing (B−C) theo từng nhà cung cấp, với tháng cơ sở có thể chọn ở góc trên bên phải.</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Outsourcing (tiếp theo) &amp; Tổng Hợp</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44885"/>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71733"/>
          </a:xfrm>
          <a:prstGeom prst="rect">
            <a:avLst/>
          </a:prstGeom>
        </p:spPr>
      </p:pic>
      <p:sp>
        <p:nvSpPr>
          <p:cNvPr id="100" name="Box 1"/>
          <p:cNvSpPr/>
          <p:nvPr/>
        </p:nvSpPr>
        <p:spPr>
          <a:xfrm>
            <a:off x="1406348" y="2358474"/>
            <a:ext cx="5597085" cy="2148881"/>
          </a:xfrm>
          <a:prstGeom prst="roundRect">
            <a:avLst>
              <a:gd name="adj" fmla="val 10000"/>
            </a:avLst>
          </a:prstGeom>
          <a:noFill/>
          <a:ln w="19050">
            <a:solidFill>
              <a:srgbClr val="1F3A6E"/>
            </a:solidFill>
          </a:ln>
        </p:spPr>
      </p:sp>
      <p:sp>
        <p:nvSpPr>
          <p:cNvPr id="101" name="Box 2"/>
          <p:cNvSpPr/>
          <p:nvPr/>
        </p:nvSpPr>
        <p:spPr>
          <a:xfrm>
            <a:off x="1406348" y="4640619"/>
            <a:ext cx="5597085" cy="666320"/>
          </a:xfrm>
          <a:prstGeom prst="roundRect">
            <a:avLst>
              <a:gd name="adj" fmla="val 10000"/>
            </a:avLst>
          </a:prstGeom>
          <a:noFill/>
          <a:ln w="19050">
            <a:solidFill>
              <a:srgbClr val="1F3A6E"/>
            </a:solidFill>
          </a:ln>
        </p:spPr>
      </p:sp>
      <p:sp>
        <p:nvSpPr>
          <p:cNvPr id="200" name="Callout 1"/>
          <p:cNvSpPr/>
          <p:nvPr/>
        </p:nvSpPr>
        <p:spPr>
          <a:xfrm>
            <a:off x="1296348" y="4530619"/>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1296348" y="4530619"/>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51733"/>
          </a:xfrm>
          <a:prstGeom prst="rect">
            <a:avLst/>
          </a:prstGeom>
          <a:solidFill>
            <a:srgbClr val="F4F8FD"/>
          </a:solidFill>
          <a:ln w="9525">
            <a:solidFill>
              <a:srgbClr val="BFBFBF"/>
            </a:solidFill>
          </a:ln>
        </p:spPr>
      </p:sp>
      <p:sp>
        <p:nvSpPr>
          <p:cNvPr id="302" name="Panel Text"/>
          <p:cNvSpPr txBox="1"/>
          <p:nvPr/>
        </p:nvSpPr>
        <p:spPr>
          <a:xfrm>
            <a:off x="7540080" y="2978500"/>
            <a:ext cx="3811840" cy="2251733"/>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Cuộn bảng để xem từng dòng nhà cung cấp; dòng Total ở cuối bảng tổng hợp Budget, Executed Budget, Resolved Amount, This Month, Cumulative và Remaining Billing của tất cả hợp đồng tại công trường.</a:t>
            </a:r>
          </a:p>
          <a:p>
            <a:pPr indent="0" marL="0">
              <a:lnSpc>
                <a:spcPct val="106000"/>
              </a:lnSpc>
              <a:spcAft>
                <a:spcPts val="4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Sử dụng ô Comment bên dưới bảng (lọc theo tháng) để ghi lại ghi chú về thầu phụ cho kỳ đó.</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Cashflow</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53152"/>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80000"/>
          </a:xfrm>
          <a:prstGeom prst="rect">
            <a:avLst/>
          </a:prstGeom>
        </p:spPr>
      </p:pic>
      <p:sp>
        <p:nvSpPr>
          <p:cNvPr id="100" name="Box 1"/>
          <p:cNvSpPr/>
          <p:nvPr/>
        </p:nvSpPr>
        <p:spPr>
          <a:xfrm>
            <a:off x="1406747" y="3208500"/>
            <a:ext cx="5600000" cy="1833333"/>
          </a:xfrm>
          <a:prstGeom prst="roundRect">
            <a:avLst>
              <a:gd name="adj" fmla="val 10000"/>
            </a:avLst>
          </a:prstGeom>
          <a:noFill/>
          <a:ln w="19050">
            <a:solidFill>
              <a:srgbClr val="1F3A6E"/>
            </a:solidFill>
          </a:ln>
        </p:spPr>
      </p:sp>
      <p:sp>
        <p:nvSpPr>
          <p:cNvPr id="101" name="Box 2"/>
          <p:cNvSpPr/>
          <p:nvPr/>
        </p:nvSpPr>
        <p:spPr>
          <a:xfrm>
            <a:off x="6440080" y="3208500"/>
            <a:ext cx="566667" cy="100000"/>
          </a:xfrm>
          <a:prstGeom prst="roundRect">
            <a:avLst>
              <a:gd name="adj" fmla="val 10000"/>
            </a:avLst>
          </a:prstGeom>
          <a:noFill/>
          <a:ln w="19050">
            <a:solidFill>
              <a:srgbClr val="1F3A6E"/>
            </a:solidFill>
          </a:ln>
        </p:spPr>
      </p:sp>
      <p:sp>
        <p:nvSpPr>
          <p:cNvPr id="200" name="Callout 1"/>
          <p:cNvSpPr/>
          <p:nvPr/>
        </p:nvSpPr>
        <p:spPr>
          <a:xfrm>
            <a:off x="1296747" y="3098500"/>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6330080" y="3098500"/>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60000"/>
          </a:xfrm>
          <a:prstGeom prst="rect">
            <a:avLst/>
          </a:prstGeom>
          <a:solidFill>
            <a:srgbClr val="F4F8FD"/>
          </a:solidFill>
          <a:ln w="9525">
            <a:solidFill>
              <a:srgbClr val="BFBFBF"/>
            </a:solidFill>
          </a:ln>
        </p:spPr>
      </p:sp>
      <p:sp>
        <p:nvSpPr>
          <p:cNvPr id="302" name="Panel Text"/>
          <p:cNvSpPr txBox="1"/>
          <p:nvPr/>
        </p:nvSpPr>
        <p:spPr>
          <a:xfrm>
            <a:off x="7540080" y="2978500"/>
            <a:ext cx="3811840" cy="2260000"/>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Cash Flow biểu diễn toàn bộ thời gian thi công (từ khi bắt đầu đến khi kết thúc) dưới dạng cột Thực tế tiền vào và tiền ra cùng đường Số dư (Balance) chạy liên tục; vạch Reference month (tháng tham chiếu) nét đứt cho biết điểm kết thúc số liệu thực tế và bắt đầu dự báo.</a:t>
            </a:r>
          </a:p>
          <a:p>
            <a:pPr indent="0" marL="0">
              <a:lnSpc>
                <a:spcPct val="106000"/>
              </a:lnSpc>
              <a:spcAft>
                <a:spcPts val="4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Sử dụng bộ chọn năm (góc trên bên phải) để xem riêng một năm trong toàn bộ dòng thời gian; di chuột vào bất kỳ cột hoặc điểm nào để xem số liệu chính xác theo tháng.</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3359" y="0"/>
            <a:ext cx="384048" cy="384048"/>
          </a:xfrm>
          <a:prstGeom prst="rect">
            <a:avLst/>
          </a:prstGeom>
          <a:solidFill>
            <a:srgbClr val="AEE0F5"/>
          </a:solidFill>
          <a:ln/>
        </p:spPr>
      </p:sp>
      <p:sp>
        <p:nvSpPr>
          <p:cNvPr id="3" name="Shape 1"/>
          <p:cNvSpPr/>
          <p:nvPr/>
        </p:nvSpPr>
        <p:spPr>
          <a:xfrm>
            <a:off x="9887407" y="0"/>
            <a:ext cx="384048" cy="384048"/>
          </a:xfrm>
          <a:prstGeom prst="rect">
            <a:avLst/>
          </a:prstGeom>
          <a:solidFill>
            <a:srgbClr val="3F8FD0"/>
          </a:solidFill>
          <a:ln/>
        </p:spPr>
      </p:sp>
      <p:sp>
        <p:nvSpPr>
          <p:cNvPr id="4" name="Shape 2"/>
          <p:cNvSpPr/>
          <p:nvPr/>
        </p:nvSpPr>
        <p:spPr>
          <a:xfrm>
            <a:off x="10655503" y="0"/>
            <a:ext cx="384048" cy="384048"/>
          </a:xfrm>
          <a:prstGeom prst="rect">
            <a:avLst/>
          </a:prstGeom>
          <a:solidFill>
            <a:srgbClr val="3F8FD0"/>
          </a:solidFill>
          <a:ln/>
        </p:spPr>
      </p:sp>
      <p:sp>
        <p:nvSpPr>
          <p:cNvPr id="5" name="Shape 3"/>
          <p:cNvSpPr/>
          <p:nvPr/>
        </p:nvSpPr>
        <p:spPr>
          <a:xfrm>
            <a:off x="11039551" y="0"/>
            <a:ext cx="384048" cy="384048"/>
          </a:xfrm>
          <a:prstGeom prst="rect">
            <a:avLst/>
          </a:prstGeom>
          <a:solidFill>
            <a:srgbClr val="AEE0F5"/>
          </a:solidFill>
          <a:ln/>
        </p:spPr>
      </p:sp>
      <p:sp>
        <p:nvSpPr>
          <p:cNvPr id="6" name="Shape 4"/>
          <p:cNvSpPr/>
          <p:nvPr/>
        </p:nvSpPr>
        <p:spPr>
          <a:xfrm>
            <a:off x="11423599" y="0"/>
            <a:ext cx="384048" cy="384048"/>
          </a:xfrm>
          <a:prstGeom prst="rect">
            <a:avLst/>
          </a:prstGeom>
          <a:solidFill>
            <a:srgbClr val="3F8FD0"/>
          </a:solidFill>
          <a:ln/>
        </p:spPr>
      </p:sp>
      <p:sp>
        <p:nvSpPr>
          <p:cNvPr id="7" name="Shape 5"/>
          <p:cNvSpPr/>
          <p:nvPr/>
        </p:nvSpPr>
        <p:spPr>
          <a:xfrm>
            <a:off x="11807647" y="0"/>
            <a:ext cx="384048" cy="384048"/>
          </a:xfrm>
          <a:prstGeom prst="rect">
            <a:avLst/>
          </a:prstGeom>
          <a:solidFill>
            <a:srgbClr val="AEE0F5"/>
          </a:solidFill>
          <a:ln/>
        </p:spPr>
      </p:sp>
      <p:sp>
        <p:nvSpPr>
          <p:cNvPr id="8" name="Shape 6"/>
          <p:cNvSpPr/>
          <p:nvPr/>
        </p:nvSpPr>
        <p:spPr>
          <a:xfrm>
            <a:off x="10271455" y="384048"/>
            <a:ext cx="384048" cy="384048"/>
          </a:xfrm>
          <a:prstGeom prst="rect">
            <a:avLst/>
          </a:prstGeom>
          <a:solidFill>
            <a:srgbClr val="3F8FD0"/>
          </a:solidFill>
          <a:ln/>
        </p:spPr>
      </p:sp>
      <p:sp>
        <p:nvSpPr>
          <p:cNvPr id="9" name="Shape 7"/>
          <p:cNvSpPr/>
          <p:nvPr/>
        </p:nvSpPr>
        <p:spPr>
          <a:xfrm>
            <a:off x="11423599" y="384048"/>
            <a:ext cx="384048" cy="384048"/>
          </a:xfrm>
          <a:prstGeom prst="rect">
            <a:avLst/>
          </a:prstGeom>
          <a:solidFill>
            <a:srgbClr val="AEE0F5"/>
          </a:solidFill>
          <a:ln/>
        </p:spPr>
      </p:sp>
      <p:sp>
        <p:nvSpPr>
          <p:cNvPr id="10" name="Shape 8"/>
          <p:cNvSpPr/>
          <p:nvPr/>
        </p:nvSpPr>
        <p:spPr>
          <a:xfrm>
            <a:off x="11807647" y="384048"/>
            <a:ext cx="384048" cy="384048"/>
          </a:xfrm>
          <a:prstGeom prst="rect">
            <a:avLst/>
          </a:prstGeom>
          <a:solidFill>
            <a:srgbClr val="3F8FD0"/>
          </a:solidFill>
          <a:ln/>
        </p:spPr>
      </p:sp>
      <p:sp>
        <p:nvSpPr>
          <p:cNvPr id="11" name="Shape 9"/>
          <p:cNvSpPr/>
          <p:nvPr/>
        </p:nvSpPr>
        <p:spPr>
          <a:xfrm>
            <a:off x="11039551" y="768096"/>
            <a:ext cx="384048" cy="384048"/>
          </a:xfrm>
          <a:prstGeom prst="rect">
            <a:avLst/>
          </a:prstGeom>
          <a:solidFill>
            <a:srgbClr val="AEE0F5"/>
          </a:solidFill>
          <a:ln/>
        </p:spPr>
      </p:sp>
      <p:sp>
        <p:nvSpPr>
          <p:cNvPr id="12" name="Shape 10"/>
          <p:cNvSpPr/>
          <p:nvPr/>
        </p:nvSpPr>
        <p:spPr>
          <a:xfrm>
            <a:off x="11807647" y="768096"/>
            <a:ext cx="384048" cy="384048"/>
          </a:xfrm>
          <a:prstGeom prst="rect">
            <a:avLst/>
          </a:prstGeom>
          <a:solidFill>
            <a:srgbClr val="AEE0F5"/>
          </a:solidFill>
          <a:ln/>
        </p:spPr>
      </p:sp>
      <p:sp>
        <p:nvSpPr>
          <p:cNvPr id="13" name="Shape 11"/>
          <p:cNvSpPr/>
          <p:nvPr/>
        </p:nvSpPr>
        <p:spPr>
          <a:xfrm>
            <a:off x="548640" y="457200"/>
            <a:ext cx="64008" cy="64008"/>
          </a:xfrm>
          <a:prstGeom prst="rect">
            <a:avLst/>
          </a:prstGeom>
          <a:solidFill>
            <a:srgbClr val="1F3A6E"/>
          </a:solidFill>
          <a:ln/>
        </p:spPr>
      </p:sp>
      <p:sp>
        <p:nvSpPr>
          <p:cNvPr id="14" name="Shape 12"/>
          <p:cNvSpPr/>
          <p:nvPr/>
        </p:nvSpPr>
        <p:spPr>
          <a:xfrm>
            <a:off x="630936" y="457200"/>
            <a:ext cx="64008" cy="64008"/>
          </a:xfrm>
          <a:prstGeom prst="rect">
            <a:avLst/>
          </a:prstGeom>
          <a:solidFill>
            <a:srgbClr val="3F8FD0"/>
          </a:solidFill>
          <a:ln/>
        </p:spPr>
      </p:sp>
      <p:sp>
        <p:nvSpPr>
          <p:cNvPr id="15" name="Shape 13"/>
          <p:cNvSpPr/>
          <p:nvPr/>
        </p:nvSpPr>
        <p:spPr>
          <a:xfrm>
            <a:off x="713232" y="457200"/>
            <a:ext cx="64008" cy="64008"/>
          </a:xfrm>
          <a:prstGeom prst="rect">
            <a:avLst/>
          </a:prstGeom>
          <a:solidFill>
            <a:srgbClr val="1F3A6E"/>
          </a:solidFill>
          <a:ln/>
        </p:spPr>
      </p:sp>
      <p:sp>
        <p:nvSpPr>
          <p:cNvPr id="16" name="Shape 14"/>
          <p:cNvSpPr/>
          <p:nvPr/>
        </p:nvSpPr>
        <p:spPr>
          <a:xfrm>
            <a:off x="548640" y="539496"/>
            <a:ext cx="64008" cy="64008"/>
          </a:xfrm>
          <a:prstGeom prst="rect">
            <a:avLst/>
          </a:prstGeom>
          <a:solidFill>
            <a:srgbClr val="3F8FD0"/>
          </a:solidFill>
          <a:ln/>
        </p:spPr>
      </p:sp>
      <p:sp>
        <p:nvSpPr>
          <p:cNvPr id="17" name="Shape 15"/>
          <p:cNvSpPr/>
          <p:nvPr/>
        </p:nvSpPr>
        <p:spPr>
          <a:xfrm>
            <a:off x="630936" y="539496"/>
            <a:ext cx="64008" cy="64008"/>
          </a:xfrm>
          <a:prstGeom prst="rect">
            <a:avLst/>
          </a:prstGeom>
          <a:solidFill>
            <a:srgbClr val="1F3A6E"/>
          </a:solidFill>
          <a:ln/>
        </p:spPr>
      </p:sp>
      <p:sp>
        <p:nvSpPr>
          <p:cNvPr id="18" name="Shape 16"/>
          <p:cNvSpPr/>
          <p:nvPr/>
        </p:nvSpPr>
        <p:spPr>
          <a:xfrm>
            <a:off x="713232" y="539496"/>
            <a:ext cx="64008" cy="64008"/>
          </a:xfrm>
          <a:prstGeom prst="rect">
            <a:avLst/>
          </a:prstGeom>
          <a:solidFill>
            <a:srgbClr val="3F8FD0"/>
          </a:solidFill>
          <a:ln/>
        </p:spPr>
      </p:sp>
      <p:sp>
        <p:nvSpPr>
          <p:cNvPr id="19" name="Shape 17"/>
          <p:cNvSpPr/>
          <p:nvPr/>
        </p:nvSpPr>
        <p:spPr>
          <a:xfrm>
            <a:off x="548640" y="621792"/>
            <a:ext cx="64008" cy="64008"/>
          </a:xfrm>
          <a:prstGeom prst="rect">
            <a:avLst/>
          </a:prstGeom>
          <a:solidFill>
            <a:srgbClr val="1F3A6E"/>
          </a:solidFill>
          <a:ln/>
        </p:spPr>
      </p:sp>
      <p:sp>
        <p:nvSpPr>
          <p:cNvPr id="20" name="Shape 18"/>
          <p:cNvSpPr/>
          <p:nvPr/>
        </p:nvSpPr>
        <p:spPr>
          <a:xfrm>
            <a:off x="630936" y="621792"/>
            <a:ext cx="64008" cy="64008"/>
          </a:xfrm>
          <a:prstGeom prst="rect">
            <a:avLst/>
          </a:prstGeom>
          <a:solidFill>
            <a:srgbClr val="3F8FD0"/>
          </a:solidFill>
          <a:ln/>
        </p:spPr>
      </p:sp>
      <p:sp>
        <p:nvSpPr>
          <p:cNvPr id="21" name="Shape 19"/>
          <p:cNvSpPr/>
          <p:nvPr/>
        </p:nvSpPr>
        <p:spPr>
          <a:xfrm>
            <a:off x="713232" y="621792"/>
            <a:ext cx="64008" cy="64008"/>
          </a:xfrm>
          <a:prstGeom prst="rect">
            <a:avLst/>
          </a:prstGeom>
          <a:solidFill>
            <a:srgbClr val="1F3A6E"/>
          </a:solidFill>
          <a:ln/>
        </p:spPr>
      </p:sp>
      <p:sp>
        <p:nvSpPr>
          <p:cNvPr id="22" name="Shape 20"/>
          <p:cNvSpPr/>
          <p:nvPr/>
        </p:nvSpPr>
        <p:spPr>
          <a:xfrm>
            <a:off x="914400" y="2743200"/>
            <a:ext cx="1417320" cy="1417320"/>
          </a:xfrm>
          <a:prstGeom prst="rect">
            <a:avLst/>
          </a:prstGeom>
          <a:solidFill>
            <a:srgbClr val="1F3A6E"/>
          </a:solidFill>
          <a:ln/>
          <a:effectLst>
            <a:outerShdw sx="100000" sy="100000" kx="0" ky="0" algn="bl" rotWithShape="0" blurRad="76200" dist="38100" dir="2700000">
              <a:srgbClr val="000000">
                <a:alpha val="35000"/>
              </a:srgbClr>
            </a:outerShdw>
          </a:effectLst>
        </p:spPr>
      </p:sp>
      <p:sp>
        <p:nvSpPr>
          <p:cNvPr id="23" name="Text 21"/>
          <p:cNvSpPr/>
          <p:nvPr/>
        </p:nvSpPr>
        <p:spPr>
          <a:xfrm>
            <a:off x="914400" y="2743200"/>
            <a:ext cx="1417320" cy="1417320"/>
          </a:xfrm>
          <a:prstGeom prst="rect">
            <a:avLst/>
          </a:prstGeom>
          <a:noFill/>
          <a:ln/>
        </p:spPr>
        <p:txBody>
          <a:bodyPr wrap="square" lIns="0" tIns="0" rIns="0" bIns="0"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3</a:t>
            </a:r>
            <a:endParaRPr lang="en-US" sz="5400" dirty="0"/>
          </a:p>
        </p:txBody>
      </p:sp>
      <p:sp>
        <p:nvSpPr>
          <p:cNvPr id="24" name="Text 22"/>
          <p:cNvSpPr/>
          <p:nvPr/>
        </p:nvSpPr>
        <p:spPr>
          <a:xfrm>
            <a:off x="914400" y="4343400"/>
            <a:ext cx="9601200" cy="822960"/>
          </a:xfrm>
          <a:prstGeom prst="rect">
            <a:avLst/>
          </a:prstGeom>
          <a:noFill/>
          <a:ln/>
        </p:spPr>
        <p:txBody>
          <a:bodyPr wrap="square" lIns="0" tIns="0" rIns="0" bIns="0" rtlCol="0" anchor="ctr"/>
          <a:lstStyle/>
          <a:p>
            <a:pPr indent="0" marL="0">
              <a:buNone/>
            </a:pPr>
            <a:r>
              <a:rPr lang="en-US" sz="3000" b="1" dirty="0">
                <a:solidFill>
                  <a:srgbClr val="1F3A6E"/>
                </a:solidFill>
                <a:latin typeface="Calibri" pitchFamily="34" charset="0"/>
                <a:ea typeface="Calibri" pitchFamily="34" charset="-122"/>
                <a:cs typeface="Calibri" pitchFamily="34" charset="-120"/>
              </a:rPr>
              <a:t>Nhập Liệu – Xây Dựng</a:t>
            </a:r>
            <a:endParaRPr lang="en-US" sz="3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Đăng Nhập &amp; Quyền Truy Cập Quản Lý Dữ Liệu</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4" name="Text 22"/>
          <p:cNvSpPr/>
          <p:nvPr/>
        </p:nvSpPr>
        <p:spPr>
          <a:xfrm>
            <a:off x="914400" y="1234440"/>
            <a:ext cx="10332720" cy="484632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00" b="1" dirty="0">
                <a:solidFill>
                  <a:srgbClr val="1F3A6E"/>
                </a:solidFill>
                <a:latin typeface="Calibri" pitchFamily="34" charset="0"/>
                <a:ea typeface="Calibri" pitchFamily="34" charset="-122"/>
                <a:cs typeface="Calibri" pitchFamily="34" charset="-120"/>
              </a:rPr>
              <a:t>Đăng nhập: </a:t>
            </a:r>
            <a:pPr indent="0" marL="0">
              <a:lnSpc>
                <a:spcPct val="115000"/>
              </a:lnSpc>
              <a:spcAft>
                <a:spcPts val="1400"/>
              </a:spcAft>
              <a:buNone/>
            </a:pPr>
            <a:r>
              <a:rPr lang="en-US" sz="1500" dirty="0">
                <a:solidFill>
                  <a:srgbClr val="262626"/>
                </a:solidFill>
                <a:latin typeface="Calibri" pitchFamily="34" charset="0"/>
                <a:ea typeface="Calibri" pitchFamily="34" charset="-122"/>
                <a:cs typeface="Calibri" pitchFamily="34" charset="-120"/>
              </a:rPr>
              <a:t>Màn hình Nhập Liệu yêu cầu tài khoản Quản lý Dữ liệu (hoặc Quản lý Công trường). Đăng nhập PIMS bằng tài khoản công ty trước khi cây công trường bên trái và tab Nhập Liệu xuất hiện.</a:t>
            </a:r>
            <a:endParaRPr lang="en-US" sz="1500" dirty="0"/>
          </a:p>
          <a:p>
            <a:pPr marL="342900" indent="-342900">
              <a:lnSpc>
                <a:spcPct val="115000"/>
              </a:lnSpc>
              <a:spcAft>
                <a:spcPts val="1400"/>
              </a:spcAft>
              <a:buSzPct val="100000"/>
              <a:buChar char="•"/>
            </a:pPr>
            <a:r>
              <a:rPr lang="en-US" sz="1500" b="1" dirty="0">
                <a:solidFill>
                  <a:srgbClr val="1F3A6E"/>
                </a:solidFill>
                <a:latin typeface="Calibri" pitchFamily="34" charset="0"/>
                <a:ea typeface="Calibri" pitchFamily="34" charset="-122"/>
                <a:cs typeface="Calibri" pitchFamily="34" charset="-120"/>
              </a:rPr>
              <a:t>Chọn phạm vi: </a:t>
            </a:r>
            <a:pPr indent="0" marL="0">
              <a:lnSpc>
                <a:spcPct val="115000"/>
              </a:lnSpc>
              <a:spcAft>
                <a:spcPts val="1400"/>
              </a:spcAft>
              <a:buNone/>
            </a:pPr>
            <a:r>
              <a:rPr lang="en-US" sz="1500" dirty="0">
                <a:solidFill>
                  <a:srgbClr val="262626"/>
                </a:solidFill>
                <a:latin typeface="Calibri" pitchFamily="34" charset="0"/>
                <a:ea typeface="Calibri" pitchFamily="34" charset="-122"/>
                <a:cs typeface="Calibri" pitchFamily="34" charset="-120"/>
              </a:rPr>
              <a:t>Sau khi đăng nhập, chọn công trường từ cây bên trái, sau đó chọn “시공” (Xây dựng) hoặc “용역” (Dịch vụ) để chuyển đổi bộ thẻ Nhập Liệu hiển thị cho công trường đó.</a:t>
            </a:r>
            <a:endParaRPr lang="en-US" sz="1500" dirty="0"/>
          </a:p>
          <a:p>
            <a:pPr marL="342900" indent="-342900">
              <a:lnSpc>
                <a:spcPct val="115000"/>
              </a:lnSpc>
              <a:spcAft>
                <a:spcPts val="1400"/>
              </a:spcAft>
              <a:buSzPct val="100000"/>
              <a:buChar char="•"/>
            </a:pPr>
            <a:r>
              <a:rPr lang="en-US" sz="1500" b="1" dirty="0">
                <a:solidFill>
                  <a:srgbClr val="1F3A6E"/>
                </a:solidFill>
                <a:latin typeface="Calibri" pitchFamily="34" charset="0"/>
                <a:ea typeface="Calibri" pitchFamily="34" charset="-122"/>
                <a:cs typeface="Calibri" pitchFamily="34" charset="-120"/>
              </a:rPr>
              <a:t>Kiểm soát trạng thái: </a:t>
            </a:r>
            <a:pPr indent="0" marL="0">
              <a:lnSpc>
                <a:spcPct val="115000"/>
              </a:lnSpc>
              <a:spcAft>
                <a:spcPts val="1400"/>
              </a:spcAft>
              <a:buNone/>
            </a:pPr>
            <a:r>
              <a:rPr lang="en-US" sz="1500" dirty="0">
                <a:solidFill>
                  <a:srgbClr val="262626"/>
                </a:solidFill>
                <a:latin typeface="Calibri" pitchFamily="34" charset="0"/>
                <a:ea typeface="Calibri" pitchFamily="34" charset="-122"/>
                <a:cs typeface="Calibri" pitchFamily="34" charset="-120"/>
              </a:rPr>
              <a:t>Sử dụng tùy chọn In Progress / Change to closed trên tab Nhập Liệu để đánh dấu một công trường đã hoàn thành khi kết thúc — thao tác này cũng ảnh hưởng đến danh sách dự án (Đang thực hiện hay Đã đóng) mà công trường xuất hiện trong cây bên trái.</a:t>
            </a:r>
            <a:endParaRPr lang="en-US" sz="1500" dirty="0"/>
          </a:p>
          <a:p>
            <a:pPr marL="342900" indent="-342900">
              <a:lnSpc>
                <a:spcPct val="115000"/>
              </a:lnSpc>
              <a:spcAft>
                <a:spcPts val="1400"/>
              </a:spcAft>
              <a:buSzPct val="100000"/>
              <a:buChar char="•"/>
            </a:pPr>
            <a:r>
              <a:rPr lang="en-US" sz="1500" b="1" dirty="0">
                <a:solidFill>
                  <a:srgbClr val="1F3A6E"/>
                </a:solidFill>
                <a:latin typeface="Calibri" pitchFamily="34" charset="0"/>
                <a:ea typeface="Calibri" pitchFamily="34" charset="-122"/>
                <a:cs typeface="Calibri" pitchFamily="34" charset="-120"/>
              </a:rPr>
              <a:t>Hành vi Lưu: </a:t>
            </a:r>
            <a:pPr indent="0" marL="0">
              <a:lnSpc>
                <a:spcPct val="115000"/>
              </a:lnSpc>
              <a:spcAft>
                <a:spcPts val="1400"/>
              </a:spcAft>
              <a:buNone/>
            </a:pPr>
            <a:r>
              <a:rPr lang="en-US" sz="1500" dirty="0">
                <a:solidFill>
                  <a:srgbClr val="262626"/>
                </a:solidFill>
                <a:latin typeface="Calibri" pitchFamily="34" charset="0"/>
                <a:ea typeface="Calibri" pitchFamily="34" charset="-122"/>
                <a:cs typeface="Calibri" pitchFamily="34" charset="-120"/>
              </a:rPr>
              <a:t>Mỗi thẻ đánh số có nút Lưu (Save) riêng, cùng với lối tắt Lưu tất cả (Save all) ở trên cùng; sử dụng công tắc Khóa (Lock) trên một thẻ để ngăn chỉnh sửa thêm khi kế hoạch đã được chốt.</a:t>
            </a:r>
            <a:endParaRPr lang="en-US" sz="1500" dirty="0"/>
          </a:p>
        </p:txBody>
      </p:sp>
      <p:sp>
        <p:nvSpPr>
          <p:cNvPr id="25" name="Shape 23"/>
          <p:cNvSpPr/>
          <p:nvPr/>
        </p:nvSpPr>
        <p:spPr>
          <a:xfrm>
            <a:off x="320040" y="6473952"/>
            <a:ext cx="64008" cy="64008"/>
          </a:xfrm>
          <a:prstGeom prst="rect">
            <a:avLst/>
          </a:prstGeom>
          <a:solidFill>
            <a:srgbClr val="1F3A6E"/>
          </a:solidFill>
          <a:ln/>
        </p:spPr>
      </p:sp>
      <p:sp>
        <p:nvSpPr>
          <p:cNvPr id="26" name="Shape 24"/>
          <p:cNvSpPr/>
          <p:nvPr/>
        </p:nvSpPr>
        <p:spPr>
          <a:xfrm>
            <a:off x="402336" y="6473952"/>
            <a:ext cx="64008" cy="64008"/>
          </a:xfrm>
          <a:prstGeom prst="rect">
            <a:avLst/>
          </a:prstGeom>
          <a:solidFill>
            <a:srgbClr val="3F8FD0"/>
          </a:solidFill>
          <a:ln/>
        </p:spPr>
      </p:sp>
      <p:sp>
        <p:nvSpPr>
          <p:cNvPr id="27" name="Shape 25"/>
          <p:cNvSpPr/>
          <p:nvPr/>
        </p:nvSpPr>
        <p:spPr>
          <a:xfrm>
            <a:off x="484632" y="6473952"/>
            <a:ext cx="64008" cy="64008"/>
          </a:xfrm>
          <a:prstGeom prst="rect">
            <a:avLst/>
          </a:prstGeom>
          <a:solidFill>
            <a:srgbClr val="1F3A6E"/>
          </a:solidFill>
          <a:ln/>
        </p:spPr>
      </p:sp>
      <p:sp>
        <p:nvSpPr>
          <p:cNvPr id="28" name="Shape 26"/>
          <p:cNvSpPr/>
          <p:nvPr/>
        </p:nvSpPr>
        <p:spPr>
          <a:xfrm>
            <a:off x="320040" y="6556248"/>
            <a:ext cx="64008" cy="64008"/>
          </a:xfrm>
          <a:prstGeom prst="rect">
            <a:avLst/>
          </a:prstGeom>
          <a:solidFill>
            <a:srgbClr val="3F8FD0"/>
          </a:solidFill>
          <a:ln/>
        </p:spPr>
      </p:sp>
      <p:sp>
        <p:nvSpPr>
          <p:cNvPr id="29" name="Shape 27"/>
          <p:cNvSpPr/>
          <p:nvPr/>
        </p:nvSpPr>
        <p:spPr>
          <a:xfrm>
            <a:off x="402336" y="6556248"/>
            <a:ext cx="64008" cy="64008"/>
          </a:xfrm>
          <a:prstGeom prst="rect">
            <a:avLst/>
          </a:prstGeom>
          <a:solidFill>
            <a:srgbClr val="1F3A6E"/>
          </a:solidFill>
          <a:ln/>
        </p:spPr>
      </p:sp>
      <p:sp>
        <p:nvSpPr>
          <p:cNvPr id="30" name="Shape 28"/>
          <p:cNvSpPr/>
          <p:nvPr/>
        </p:nvSpPr>
        <p:spPr>
          <a:xfrm>
            <a:off x="484632" y="6556248"/>
            <a:ext cx="64008" cy="64008"/>
          </a:xfrm>
          <a:prstGeom prst="rect">
            <a:avLst/>
          </a:prstGeom>
          <a:solidFill>
            <a:srgbClr val="3F8FD0"/>
          </a:solidFill>
          <a:ln/>
        </p:spPr>
      </p:sp>
      <p:sp>
        <p:nvSpPr>
          <p:cNvPr id="31" name="Shape 29"/>
          <p:cNvSpPr/>
          <p:nvPr/>
        </p:nvSpPr>
        <p:spPr>
          <a:xfrm>
            <a:off x="320040" y="6638544"/>
            <a:ext cx="64008" cy="64008"/>
          </a:xfrm>
          <a:prstGeom prst="rect">
            <a:avLst/>
          </a:prstGeom>
          <a:solidFill>
            <a:srgbClr val="1F3A6E"/>
          </a:solidFill>
          <a:ln/>
        </p:spPr>
      </p:sp>
      <p:sp>
        <p:nvSpPr>
          <p:cNvPr id="32" name="Shape 30"/>
          <p:cNvSpPr/>
          <p:nvPr/>
        </p:nvSpPr>
        <p:spPr>
          <a:xfrm>
            <a:off x="402336" y="6638544"/>
            <a:ext cx="64008" cy="64008"/>
          </a:xfrm>
          <a:prstGeom prst="rect">
            <a:avLst/>
          </a:prstGeom>
          <a:solidFill>
            <a:srgbClr val="3F8FD0"/>
          </a:solidFill>
          <a:ln/>
        </p:spPr>
      </p:sp>
      <p:sp>
        <p:nvSpPr>
          <p:cNvPr id="33" name="Shape 31"/>
          <p:cNvSpPr/>
          <p:nvPr/>
        </p:nvSpPr>
        <p:spPr>
          <a:xfrm>
            <a:off x="484632" y="6638544"/>
            <a:ext cx="64008" cy="64008"/>
          </a:xfrm>
          <a:prstGeom prst="rect">
            <a:avLst/>
          </a:prstGeom>
          <a:solidFill>
            <a:srgbClr val="1F3A6E"/>
          </a:solidFill>
          <a:ln/>
        </p:spPr>
      </p:sp>
      <p:sp>
        <p:nvSpPr>
          <p:cNvPr id="34" name="Text 32"/>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5" name="Text 33"/>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Nhập Liệu: Tổng Quan &amp; Tiến Độ Hàng Tháng</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68316"/>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95164"/>
          </a:xfrm>
          <a:prstGeom prst="rect">
            <a:avLst/>
          </a:prstGeom>
        </p:spPr>
      </p:pic>
      <p:sp>
        <p:nvSpPr>
          <p:cNvPr id="100" name="Box 1"/>
          <p:cNvSpPr/>
          <p:nvPr/>
        </p:nvSpPr>
        <p:spPr>
          <a:xfrm>
            <a:off x="5332748" y="3207096"/>
            <a:ext cx="1664067" cy="99844"/>
          </a:xfrm>
          <a:prstGeom prst="roundRect">
            <a:avLst>
              <a:gd name="adj" fmla="val 10000"/>
            </a:avLst>
          </a:prstGeom>
          <a:noFill/>
          <a:ln w="19050">
            <a:solidFill>
              <a:srgbClr val="1F3A6E"/>
            </a:solidFill>
          </a:ln>
        </p:spPr>
      </p:sp>
      <p:sp>
        <p:nvSpPr>
          <p:cNvPr id="101" name="Box 2"/>
          <p:cNvSpPr/>
          <p:nvPr/>
        </p:nvSpPr>
        <p:spPr>
          <a:xfrm>
            <a:off x="1405551" y="3406784"/>
            <a:ext cx="5591264" cy="898596"/>
          </a:xfrm>
          <a:prstGeom prst="roundRect">
            <a:avLst>
              <a:gd name="adj" fmla="val 10000"/>
            </a:avLst>
          </a:prstGeom>
          <a:noFill/>
          <a:ln w="19050">
            <a:solidFill>
              <a:srgbClr val="1F3A6E"/>
            </a:solidFill>
          </a:ln>
        </p:spPr>
      </p:sp>
      <p:sp>
        <p:nvSpPr>
          <p:cNvPr id="102" name="Box 3"/>
          <p:cNvSpPr/>
          <p:nvPr/>
        </p:nvSpPr>
        <p:spPr>
          <a:xfrm>
            <a:off x="1405551" y="4355302"/>
            <a:ext cx="5591264" cy="1015081"/>
          </a:xfrm>
          <a:prstGeom prst="roundRect">
            <a:avLst>
              <a:gd name="adj" fmla="val 10000"/>
            </a:avLst>
          </a:prstGeom>
          <a:noFill/>
          <a:ln w="19050">
            <a:solidFill>
              <a:srgbClr val="1F3A6E"/>
            </a:solidFill>
          </a:ln>
        </p:spPr>
      </p:sp>
      <p:sp>
        <p:nvSpPr>
          <p:cNvPr id="103" name="Box 4"/>
          <p:cNvSpPr/>
          <p:nvPr/>
        </p:nvSpPr>
        <p:spPr>
          <a:xfrm>
            <a:off x="6447672" y="3416768"/>
            <a:ext cx="549142" cy="83203"/>
          </a:xfrm>
          <a:prstGeom prst="roundRect">
            <a:avLst>
              <a:gd name="adj" fmla="val 10000"/>
            </a:avLst>
          </a:prstGeom>
          <a:noFill/>
          <a:ln w="19050">
            <a:solidFill>
              <a:srgbClr val="1F3A6E"/>
            </a:solidFill>
          </a:ln>
        </p:spPr>
      </p:sp>
      <p:sp>
        <p:nvSpPr>
          <p:cNvPr id="200" name="Callout 1"/>
          <p:cNvSpPr/>
          <p:nvPr/>
        </p:nvSpPr>
        <p:spPr>
          <a:xfrm>
            <a:off x="5222748" y="3097096"/>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1295551" y="3296784"/>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202" name="Callout 3"/>
          <p:cNvSpPr/>
          <p:nvPr/>
        </p:nvSpPr>
        <p:spPr>
          <a:xfrm>
            <a:off x="1295551" y="4245302"/>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3</a:t>
            </a:r>
          </a:p>
        </p:txBody>
      </p:sp>
      <p:sp>
        <p:nvSpPr>
          <p:cNvPr id="203" name="Callout 4"/>
          <p:cNvSpPr/>
          <p:nvPr/>
        </p:nvSpPr>
        <p:spPr>
          <a:xfrm>
            <a:off x="6337672" y="3306768"/>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4</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75164"/>
          </a:xfrm>
          <a:prstGeom prst="rect">
            <a:avLst/>
          </a:prstGeom>
          <a:solidFill>
            <a:srgbClr val="F4F8FD"/>
          </a:solidFill>
          <a:ln w="9525">
            <a:solidFill>
              <a:srgbClr val="BFBFBF"/>
            </a:solidFill>
          </a:ln>
        </p:spPr>
      </p:sp>
      <p:sp>
        <p:nvSpPr>
          <p:cNvPr id="302" name="Panel Text"/>
          <p:cNvSpPr txBox="1"/>
          <p:nvPr/>
        </p:nvSpPr>
        <p:spPr>
          <a:xfrm>
            <a:off x="7540080" y="2978500"/>
            <a:ext cx="3811840" cy="2275164"/>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Mở tab Nhập Liệu của công trường, chọn phạm vi 시공 (Xây dựng) hoặc 용역 (Dịch vụ) và trạng thái công trường (In Progress / Change to closed), sau đó chỉnh sửa từng thẻ đánh số và nhấp nút Lưu riêng (hoặc Lưu tất cả ở trên cùng).</a:t>
            </a:r>
          </a:p>
          <a:p>
            <a:pPr indent="0" marL="0">
              <a:lnSpc>
                <a:spcPct val="106000"/>
              </a:lnSpc>
              <a:spcAft>
                <a:spcPts val="5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0. Overview (tab Overview): Giá trị hợp đồng, Ngày bắt đầu/kết thúc thi công, Chủ đầu tư, Quy mô, Vị trí, Diện tích công trường, Tổng diện tích sàn, Mục đích sử dụng, Tỷ lệ sở hữu, Công ty đối tác, Phương thức hợp đồng, Điều khoản thanh toán, Thời gian/Bảo lãnh bảo hành, Tạm ứng, Giữ lại và Điều khoản VE.</a:t>
            </a:r>
          </a:p>
          <a:p>
            <a:pPr indent="0" marL="0">
              <a:lnSpc>
                <a:spcPct val="106000"/>
              </a:lnSpc>
              <a:spcAft>
                <a:spcPts val="5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1. Monthly Progress (tab Progress): Năm, Tháng, Kế hoạch hàng tháng (%), Thực tế hàng tháng (%), Kế hoạch lũy kế (%) và Thực tế lũy kế (%) cung cấp dữ liệu cho biểu đồ donut và biểu đồ xu hướng Progress.</a:t>
            </a:r>
          </a:p>
          <a:p>
            <a:pPr indent="0" marL="0">
              <a:lnSpc>
                <a:spcPct val="106000"/>
              </a:lnSpc>
              <a:spcAft>
                <a:spcPts val="400"/>
              </a:spcAft>
              <a:buNone/>
            </a:pPr>
            <a:r>
              <a:rPr lang="en-US" sz="1100" b="1" dirty="0">
                <a:solidFill>
                  <a:srgbClr val="1F3A6E"/>
                </a:solidFill>
                <a:latin typeface="Calibri" pitchFamily="34" charset="0"/>
              </a:rPr>
              <a:t>4  </a:t>
            </a:r>
            <a:r>
              <a:rPr lang="en-US" sz="1100" dirty="0">
                <a:solidFill>
                  <a:srgbClr val="262626"/>
                </a:solidFill>
                <a:latin typeface="Calibri" pitchFamily="34" charset="0"/>
              </a:rPr>
              <a:t>Mỗi thẻ hiển thị phiên bản Kế hoạch nguồn (ví dụ “Plan v581”) và công tắc Khóa để ngăn chỉnh sửa thêm khi đã chốt.</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Nhập Liệu: Doanh Thu Hàng Tháng &amp; Mốc Tiến Độ</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46880"/>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73728"/>
          </a:xfrm>
          <a:prstGeom prst="rect">
            <a:avLst/>
          </a:prstGeom>
        </p:spPr>
      </p:pic>
      <p:sp>
        <p:nvSpPr>
          <p:cNvPr id="100" name="Box 1"/>
          <p:cNvSpPr/>
          <p:nvPr/>
        </p:nvSpPr>
        <p:spPr>
          <a:xfrm>
            <a:off x="1404358" y="2491262"/>
            <a:ext cx="5582555" cy="1644860"/>
          </a:xfrm>
          <a:prstGeom prst="roundRect">
            <a:avLst>
              <a:gd name="adj" fmla="val 10000"/>
            </a:avLst>
          </a:prstGeom>
          <a:noFill/>
          <a:ln w="19050">
            <a:solidFill>
              <a:srgbClr val="1F3A6E"/>
            </a:solidFill>
          </a:ln>
        </p:spPr>
      </p:sp>
      <p:sp>
        <p:nvSpPr>
          <p:cNvPr id="101" name="Box 2"/>
          <p:cNvSpPr/>
          <p:nvPr/>
        </p:nvSpPr>
        <p:spPr>
          <a:xfrm>
            <a:off x="1404358" y="4152737"/>
            <a:ext cx="5582555" cy="166147"/>
          </a:xfrm>
          <a:prstGeom prst="roundRect">
            <a:avLst>
              <a:gd name="adj" fmla="val 10000"/>
            </a:avLst>
          </a:prstGeom>
          <a:noFill/>
          <a:ln w="19050">
            <a:solidFill>
              <a:srgbClr val="1F3A6E"/>
            </a:solidFill>
          </a:ln>
        </p:spPr>
      </p:sp>
      <p:sp>
        <p:nvSpPr>
          <p:cNvPr id="102" name="Box 3"/>
          <p:cNvSpPr/>
          <p:nvPr/>
        </p:nvSpPr>
        <p:spPr>
          <a:xfrm>
            <a:off x="1404358" y="4352114"/>
            <a:ext cx="5582555" cy="1013499"/>
          </a:xfrm>
          <a:prstGeom prst="roundRect">
            <a:avLst>
              <a:gd name="adj" fmla="val 10000"/>
            </a:avLst>
          </a:prstGeom>
          <a:noFill/>
          <a:ln w="19050">
            <a:solidFill>
              <a:srgbClr val="1F3A6E"/>
            </a:solidFill>
          </a:ln>
        </p:spPr>
      </p:sp>
      <p:sp>
        <p:nvSpPr>
          <p:cNvPr id="200" name="Callout 1"/>
          <p:cNvSpPr/>
          <p:nvPr/>
        </p:nvSpPr>
        <p:spPr>
          <a:xfrm>
            <a:off x="1294358" y="2381262"/>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1294358" y="4042737"/>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202" name="Callout 3"/>
          <p:cNvSpPr/>
          <p:nvPr/>
        </p:nvSpPr>
        <p:spPr>
          <a:xfrm>
            <a:off x="1294358" y="4242114"/>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3</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53728"/>
          </a:xfrm>
          <a:prstGeom prst="rect">
            <a:avLst/>
          </a:prstGeom>
          <a:solidFill>
            <a:srgbClr val="F4F8FD"/>
          </a:solidFill>
          <a:ln w="9525">
            <a:solidFill>
              <a:srgbClr val="BFBFBF"/>
            </a:solidFill>
          </a:ln>
        </p:spPr>
      </p:sp>
      <p:sp>
        <p:nvSpPr>
          <p:cNvPr id="302" name="Panel Text"/>
          <p:cNvSpPr txBox="1"/>
          <p:nvPr/>
        </p:nvSpPr>
        <p:spPr>
          <a:xfrm>
            <a:off x="7540080" y="2978500"/>
            <a:ext cx="3811840" cy="2253728"/>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2. Monthly Revenue (tab Revenue, K USD): nhập Sales Plan và Sales Actual theo Năm / Tháng; sử dụng + Add Prior-Year Cumulative để thêm một dòng Năm/Tháng/Kế hoạch/Thực tế tự do đại diện cho doanh thu lũy kế trước năm hiện tại (quy ước Tháng = 0).</a:t>
            </a:r>
          </a:p>
          <a:p>
            <a:pPr indent="0" marL="0">
              <a:lnSpc>
                <a:spcPct val="106000"/>
              </a:lnSpc>
              <a:spcAft>
                <a:spcPts val="5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Bảng này là nguồn dữ liệu cho biểu đồ Revenue Actual &amp; Forecast của tab Report — các điều chỉnh nên thực hiện qua tải lên Excel chính, không phải màn hình này, theo ghi chú trên màn hình.</a:t>
            </a:r>
          </a:p>
          <a:p>
            <a:pPr indent="0" marL="0">
              <a:lnSpc>
                <a:spcPct val="106000"/>
              </a:lnSpc>
              <a:spcAft>
                <a:spcPts val="4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3. Milestones (tab Progress): thêm dòng với ngày Plan Start/End và Actual Start/End cho từng mốc tiến độ; sử dụng Excel Download / Excel Upload để chỉnh sửa hàng loạt, hoặc + Add milestone để thêm dòng mới.</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Nhập Liệu: Kế Hoạch/Thực Tế Chi Phí Theo Loại Công Việc</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41554"/>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68402"/>
          </a:xfrm>
          <a:prstGeom prst="rect">
            <a:avLst/>
          </a:prstGeom>
        </p:spPr>
      </p:pic>
      <p:sp>
        <p:nvSpPr>
          <p:cNvPr id="100" name="Box 1"/>
          <p:cNvSpPr/>
          <p:nvPr/>
        </p:nvSpPr>
        <p:spPr>
          <a:xfrm>
            <a:off x="1406348" y="3940983"/>
            <a:ext cx="5597085" cy="1432587"/>
          </a:xfrm>
          <a:prstGeom prst="roundRect">
            <a:avLst>
              <a:gd name="adj" fmla="val 10000"/>
            </a:avLst>
          </a:prstGeom>
          <a:noFill/>
          <a:ln w="19050">
            <a:solidFill>
              <a:srgbClr val="1F3A6E"/>
            </a:solidFill>
          </a:ln>
        </p:spPr>
      </p:sp>
      <p:sp>
        <p:nvSpPr>
          <p:cNvPr id="101" name="Box 2"/>
          <p:cNvSpPr/>
          <p:nvPr/>
        </p:nvSpPr>
        <p:spPr>
          <a:xfrm>
            <a:off x="6187191" y="3974299"/>
            <a:ext cx="816242" cy="83290"/>
          </a:xfrm>
          <a:prstGeom prst="roundRect">
            <a:avLst>
              <a:gd name="adj" fmla="val 10000"/>
            </a:avLst>
          </a:prstGeom>
          <a:noFill/>
          <a:ln w="19050">
            <a:solidFill>
              <a:srgbClr val="1F3A6E"/>
            </a:solidFill>
          </a:ln>
        </p:spPr>
      </p:sp>
      <p:sp>
        <p:nvSpPr>
          <p:cNvPr id="200" name="Callout 1"/>
          <p:cNvSpPr/>
          <p:nvPr/>
        </p:nvSpPr>
        <p:spPr>
          <a:xfrm>
            <a:off x="1296348" y="3830983"/>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6077191" y="3864299"/>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48402"/>
          </a:xfrm>
          <a:prstGeom prst="rect">
            <a:avLst/>
          </a:prstGeom>
          <a:solidFill>
            <a:srgbClr val="F4F8FD"/>
          </a:solidFill>
          <a:ln w="9525">
            <a:solidFill>
              <a:srgbClr val="BFBFBF"/>
            </a:solidFill>
          </a:ln>
        </p:spPr>
      </p:sp>
      <p:sp>
        <p:nvSpPr>
          <p:cNvPr id="302" name="Panel Text"/>
          <p:cNvSpPr txBox="1"/>
          <p:nvPr/>
        </p:nvSpPr>
        <p:spPr>
          <a:xfrm>
            <a:off x="7540080" y="2978500"/>
            <a:ext cx="3811840" cy="2248402"/>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4. Cost Plan/Actual by Work Type: nhập Chi phí Kế hoạch và Thực tế hàng tháng cho từng loại công việc — Major work, Architecture, Mechanical, Electrical, Civil, Landscaping, Expense 1/2 và các loại khác — cho năm được chọn.</a:t>
            </a:r>
          </a:p>
          <a:p>
            <a:pPr indent="0" marL="0">
              <a:lnSpc>
                <a:spcPct val="106000"/>
              </a:lnSpc>
              <a:spcAft>
                <a:spcPts val="4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Tổng số liệu tại đây sẽ được đưa vào số liệu chi phí ở tab Report và Revenue/Cost; sử dụng bộ chọn năm ở góc trên bên phải để chuyển đổi năm tài chính.</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Nhập Liệu: Tỷ Lệ Chi Phí &amp; Tình Hình Thực Hiện Ngân Sách</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43557"/>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70405"/>
          </a:xfrm>
          <a:prstGeom prst="rect">
            <a:avLst/>
          </a:prstGeom>
        </p:spPr>
      </p:pic>
      <p:sp>
        <p:nvSpPr>
          <p:cNvPr id="100" name="Box 1"/>
          <p:cNvSpPr/>
          <p:nvPr/>
        </p:nvSpPr>
        <p:spPr>
          <a:xfrm>
            <a:off x="1404358" y="2358344"/>
            <a:ext cx="5582555" cy="714434"/>
          </a:xfrm>
          <a:prstGeom prst="roundRect">
            <a:avLst>
              <a:gd name="adj" fmla="val 10000"/>
            </a:avLst>
          </a:prstGeom>
          <a:noFill/>
          <a:ln w="19050">
            <a:solidFill>
              <a:srgbClr val="1F3A6E"/>
            </a:solidFill>
          </a:ln>
        </p:spPr>
      </p:sp>
      <p:sp>
        <p:nvSpPr>
          <p:cNvPr id="101" name="Box 2"/>
          <p:cNvSpPr/>
          <p:nvPr/>
        </p:nvSpPr>
        <p:spPr>
          <a:xfrm>
            <a:off x="1404358" y="2800296"/>
            <a:ext cx="5582555" cy="179439"/>
          </a:xfrm>
          <a:prstGeom prst="roundRect">
            <a:avLst>
              <a:gd name="adj" fmla="val 10000"/>
            </a:avLst>
          </a:prstGeom>
          <a:noFill/>
          <a:ln w="19050">
            <a:solidFill>
              <a:srgbClr val="1F3A6E"/>
            </a:solidFill>
          </a:ln>
        </p:spPr>
      </p:sp>
      <p:sp>
        <p:nvSpPr>
          <p:cNvPr id="102" name="Box 3"/>
          <p:cNvSpPr/>
          <p:nvPr/>
        </p:nvSpPr>
        <p:spPr>
          <a:xfrm>
            <a:off x="1404358" y="3189082"/>
            <a:ext cx="5582555" cy="1212876"/>
          </a:xfrm>
          <a:prstGeom prst="roundRect">
            <a:avLst>
              <a:gd name="adj" fmla="val 10000"/>
            </a:avLst>
          </a:prstGeom>
          <a:noFill/>
          <a:ln w="19050">
            <a:solidFill>
              <a:srgbClr val="1F3A6E"/>
            </a:solidFill>
          </a:ln>
        </p:spPr>
      </p:sp>
      <p:sp>
        <p:nvSpPr>
          <p:cNvPr id="200" name="Callout 1"/>
          <p:cNvSpPr/>
          <p:nvPr/>
        </p:nvSpPr>
        <p:spPr>
          <a:xfrm>
            <a:off x="1294358" y="3079082"/>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1294358" y="2690296"/>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202" name="Callout 3"/>
          <p:cNvSpPr/>
          <p:nvPr/>
        </p:nvSpPr>
        <p:spPr>
          <a:xfrm>
            <a:off x="1294358" y="3079082"/>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3</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50405"/>
          </a:xfrm>
          <a:prstGeom prst="rect">
            <a:avLst/>
          </a:prstGeom>
          <a:solidFill>
            <a:srgbClr val="F4F8FD"/>
          </a:solidFill>
          <a:ln w="9525">
            <a:solidFill>
              <a:srgbClr val="BFBFBF"/>
            </a:solidFill>
          </a:ln>
        </p:spPr>
      </p:sp>
      <p:sp>
        <p:nvSpPr>
          <p:cNvPr id="302" name="Panel Text"/>
          <p:cNvSpPr txBox="1"/>
          <p:nvPr/>
        </p:nvSpPr>
        <p:spPr>
          <a:xfrm>
            <a:off x="7540080" y="2978500"/>
            <a:ext cx="3811840" cy="2250405"/>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5. Cost Rate (tab Cost): thiết lập Tháng cơ sở, Giá trị hợp đồng và Chi phí cho Bidding, Execution Budget Setup và Estimated Completion Cost Rate; Ratio (%) được tự động tính bằng Chi phí / Giá trị hợp đồng.</a:t>
            </a:r>
          </a:p>
          <a:p>
            <a:pPr indent="0" marL="0">
              <a:lnSpc>
                <a:spcPct val="106000"/>
              </a:lnSpc>
              <a:spcAft>
                <a:spcPts val="5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Chi phí của Execution Budget Setup là ngân sách được duyệt ban đầu; Estimated Completion Cost Rate phản ánh số liệu Execution của cùng Tháng cơ sở đó.</a:t>
            </a:r>
          </a:p>
          <a:p>
            <a:pPr indent="0" marL="0">
              <a:lnSpc>
                <a:spcPct val="106000"/>
              </a:lnSpc>
              <a:spcAft>
                <a:spcPts val="4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6. Budget Execution Status (tab Cost): nhập Common, Expense 1 (Chi phí trực tiếp) và Expense 2 / Contingency (Chi phí gián tiếp) Budget, giá trị hàng tháng và lũy kế cho Tháng / Năm được chọn; các dòng loại Outsourcing được tự động tổng hợp từ bảng Outsourcing/Materials bên dưới — không cần nhập thủ công ở đây.</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Nhập Liệu: Kế Hoạch/Thực Tế Hàng Tháng &amp; Thầu Phụ</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69819"/>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96667"/>
          </a:xfrm>
          <a:prstGeom prst="rect">
            <a:avLst/>
          </a:prstGeom>
        </p:spPr>
      </p:pic>
      <p:sp>
        <p:nvSpPr>
          <p:cNvPr id="100" name="Box 1"/>
          <p:cNvSpPr/>
          <p:nvPr/>
        </p:nvSpPr>
        <p:spPr>
          <a:xfrm>
            <a:off x="1406747" y="2358500"/>
            <a:ext cx="5600000" cy="2250000"/>
          </a:xfrm>
          <a:prstGeom prst="roundRect">
            <a:avLst>
              <a:gd name="adj" fmla="val 10000"/>
            </a:avLst>
          </a:prstGeom>
          <a:noFill/>
          <a:ln w="19050">
            <a:solidFill>
              <a:srgbClr val="1F3A6E"/>
            </a:solidFill>
          </a:ln>
        </p:spPr>
      </p:sp>
      <p:sp>
        <p:nvSpPr>
          <p:cNvPr id="101" name="Box 2"/>
          <p:cNvSpPr/>
          <p:nvPr/>
        </p:nvSpPr>
        <p:spPr>
          <a:xfrm>
            <a:off x="1406747" y="4758500"/>
            <a:ext cx="5600000" cy="616667"/>
          </a:xfrm>
          <a:prstGeom prst="roundRect">
            <a:avLst>
              <a:gd name="adj" fmla="val 10000"/>
            </a:avLst>
          </a:prstGeom>
          <a:noFill/>
          <a:ln w="19050">
            <a:solidFill>
              <a:srgbClr val="1F3A6E"/>
            </a:solidFill>
          </a:ln>
        </p:spPr>
      </p:sp>
      <p:sp>
        <p:nvSpPr>
          <p:cNvPr id="102" name="Box 3"/>
          <p:cNvSpPr/>
          <p:nvPr/>
        </p:nvSpPr>
        <p:spPr>
          <a:xfrm>
            <a:off x="5956747" y="4758500"/>
            <a:ext cx="1050000" cy="83333"/>
          </a:xfrm>
          <a:prstGeom prst="roundRect">
            <a:avLst>
              <a:gd name="adj" fmla="val 10000"/>
            </a:avLst>
          </a:prstGeom>
          <a:noFill/>
          <a:ln w="19050">
            <a:solidFill>
              <a:srgbClr val="1F3A6E"/>
            </a:solidFill>
          </a:ln>
        </p:spPr>
      </p:sp>
      <p:sp>
        <p:nvSpPr>
          <p:cNvPr id="200" name="Callout 1"/>
          <p:cNvSpPr/>
          <p:nvPr/>
        </p:nvSpPr>
        <p:spPr>
          <a:xfrm>
            <a:off x="5846747" y="4648500"/>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1296747" y="4648500"/>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202" name="Callout 3"/>
          <p:cNvSpPr/>
          <p:nvPr/>
        </p:nvSpPr>
        <p:spPr>
          <a:xfrm>
            <a:off x="5846747" y="4648500"/>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3</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76667"/>
          </a:xfrm>
          <a:prstGeom prst="rect">
            <a:avLst/>
          </a:prstGeom>
          <a:solidFill>
            <a:srgbClr val="F4F8FD"/>
          </a:solidFill>
          <a:ln w="9525">
            <a:solidFill>
              <a:srgbClr val="BFBFBF"/>
            </a:solidFill>
          </a:ln>
        </p:spPr>
      </p:sp>
      <p:sp>
        <p:nvSpPr>
          <p:cNvPr id="302" name="Panel Text"/>
          <p:cNvSpPr txBox="1"/>
          <p:nvPr/>
        </p:nvSpPr>
        <p:spPr>
          <a:xfrm>
            <a:off x="7540080" y="2978500"/>
            <a:ext cx="3811840" cy="2276667"/>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Monthly Plan / Actual (year): chọn một hạng mục (ví dụ Common) và năm để nhập số liệu Kế hoạch và Thực tế theo từng tháng, cung cấp dữ liệu cho thẻ Budget Execution Status phía trên.</a:t>
            </a:r>
          </a:p>
          <a:p>
            <a:pPr indent="0" marL="0">
              <a:lnSpc>
                <a:spcPct val="106000"/>
              </a:lnSpc>
              <a:spcAft>
                <a:spcPts val="5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7. Outsourcing/Materials (tab Outsourcing): mỗi dòng là một hợp đồng nhà cung cấp — Trade Group, Trade, Tên nhà cung cấp, Category, Ngày hợp đồng ban đầu, Change No., Budget (A), Executed Budget, Resolved Amount (B), Progress Payment của tháng này và Progress Payment lũy kế (C).</a:t>
            </a:r>
          </a:p>
          <a:p>
            <a:pPr indent="0" marL="0">
              <a:lnSpc>
                <a:spcPct val="106000"/>
              </a:lnSpc>
              <a:spcAft>
                <a:spcPts val="4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Chọn Tháng / Năm ở góc trên bên phải trước khi nhập progress payment cho kỳ đó, sau đó nhấp Lưu.</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Nhập Liệu: Thầu Phụ, Dòng Tiền &amp; Hình Ảnh Công Trường</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53027"/>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79875"/>
          </a:xfrm>
          <a:prstGeom prst="rect">
            <a:avLst/>
          </a:prstGeom>
        </p:spPr>
      </p:pic>
      <p:sp>
        <p:nvSpPr>
          <p:cNvPr id="100" name="Box 1"/>
          <p:cNvSpPr/>
          <p:nvPr/>
        </p:nvSpPr>
        <p:spPr>
          <a:xfrm>
            <a:off x="1407546" y="2308500"/>
            <a:ext cx="5605839" cy="1117831"/>
          </a:xfrm>
          <a:prstGeom prst="roundRect">
            <a:avLst>
              <a:gd name="adj" fmla="val 10000"/>
            </a:avLst>
          </a:prstGeom>
          <a:noFill/>
          <a:ln w="19050">
            <a:solidFill>
              <a:srgbClr val="1F3A6E"/>
            </a:solidFill>
          </a:ln>
        </p:spPr>
      </p:sp>
      <p:sp>
        <p:nvSpPr>
          <p:cNvPr id="101" name="Box 2"/>
          <p:cNvSpPr/>
          <p:nvPr/>
        </p:nvSpPr>
        <p:spPr>
          <a:xfrm>
            <a:off x="1407546" y="3493067"/>
            <a:ext cx="5605839" cy="1251303"/>
          </a:xfrm>
          <a:prstGeom prst="roundRect">
            <a:avLst>
              <a:gd name="adj" fmla="val 10000"/>
            </a:avLst>
          </a:prstGeom>
          <a:noFill/>
          <a:ln w="19050">
            <a:solidFill>
              <a:srgbClr val="1F3A6E"/>
            </a:solidFill>
          </a:ln>
        </p:spPr>
      </p:sp>
      <p:sp>
        <p:nvSpPr>
          <p:cNvPr id="102" name="Box 3"/>
          <p:cNvSpPr/>
          <p:nvPr/>
        </p:nvSpPr>
        <p:spPr>
          <a:xfrm>
            <a:off x="1407546" y="4961263"/>
            <a:ext cx="5605839" cy="350365"/>
          </a:xfrm>
          <a:prstGeom prst="roundRect">
            <a:avLst>
              <a:gd name="adj" fmla="val 10000"/>
            </a:avLst>
          </a:prstGeom>
          <a:noFill/>
          <a:ln w="19050">
            <a:solidFill>
              <a:srgbClr val="1F3A6E"/>
            </a:solidFill>
          </a:ln>
        </p:spPr>
      </p:sp>
      <p:sp>
        <p:nvSpPr>
          <p:cNvPr id="200" name="Callout 1"/>
          <p:cNvSpPr/>
          <p:nvPr/>
        </p:nvSpPr>
        <p:spPr>
          <a:xfrm>
            <a:off x="1297546" y="4851263"/>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1297546" y="3383067"/>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202" name="Callout 3"/>
          <p:cNvSpPr/>
          <p:nvPr/>
        </p:nvSpPr>
        <p:spPr>
          <a:xfrm>
            <a:off x="1297546" y="4851263"/>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3</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59875"/>
          </a:xfrm>
          <a:prstGeom prst="rect">
            <a:avLst/>
          </a:prstGeom>
          <a:solidFill>
            <a:srgbClr val="F4F8FD"/>
          </a:solidFill>
          <a:ln w="9525">
            <a:solidFill>
              <a:srgbClr val="BFBFBF"/>
            </a:solidFill>
          </a:ln>
        </p:spPr>
      </p:sp>
      <p:sp>
        <p:nvSpPr>
          <p:cNvPr id="302" name="Panel Text"/>
          <p:cNvSpPr txBox="1"/>
          <p:nvPr/>
        </p:nvSpPr>
        <p:spPr>
          <a:xfrm>
            <a:off x="7540080" y="2978500"/>
            <a:ext cx="3811840" cy="2259875"/>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Tiếp tục nhập các dòng thầu phụ khi cần; tổng số liệu từ bảng này sẽ tự động cập nhật vào tab Outsourcing và thẻ Budget Execution Status.</a:t>
            </a:r>
          </a:p>
          <a:p>
            <a:pPr indent="0" marL="0">
              <a:lnSpc>
                <a:spcPct val="106000"/>
              </a:lnSpc>
              <a:spcAft>
                <a:spcPts val="5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8. Monthly Cash Flow (tab Cash Flow): nhập Năm, Tháng, Cash In, Cash Out (dưới dạng số dương — biểu đồ sẽ hiển thị đi xuống) và Confirmed Progress; Cash Balance được tính tự động và số VND được quy đổi sang nghìn USD khi lưu. Sử dụng + Add month để thêm dòng mới.</a:t>
            </a:r>
          </a:p>
          <a:p>
            <a:pPr indent="0" marL="0">
              <a:lnSpc>
                <a:spcPct val="106000"/>
              </a:lnSpc>
              <a:spcAft>
                <a:spcPts val="4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Site Photos: sử dụng Select Photos để tải ảnh lên cho công trường; thiết lập Slideshow interval (giây) để tự động chuyển ảnh, hoặc 0 để tắt.</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3359" y="0"/>
            <a:ext cx="384048" cy="384048"/>
          </a:xfrm>
          <a:prstGeom prst="rect">
            <a:avLst/>
          </a:prstGeom>
          <a:solidFill>
            <a:srgbClr val="AEE0F5"/>
          </a:solidFill>
          <a:ln/>
        </p:spPr>
      </p:sp>
      <p:sp>
        <p:nvSpPr>
          <p:cNvPr id="3" name="Shape 1"/>
          <p:cNvSpPr/>
          <p:nvPr/>
        </p:nvSpPr>
        <p:spPr>
          <a:xfrm>
            <a:off x="9887407" y="0"/>
            <a:ext cx="384048" cy="384048"/>
          </a:xfrm>
          <a:prstGeom prst="rect">
            <a:avLst/>
          </a:prstGeom>
          <a:solidFill>
            <a:srgbClr val="3F8FD0"/>
          </a:solidFill>
          <a:ln/>
        </p:spPr>
      </p:sp>
      <p:sp>
        <p:nvSpPr>
          <p:cNvPr id="4" name="Shape 2"/>
          <p:cNvSpPr/>
          <p:nvPr/>
        </p:nvSpPr>
        <p:spPr>
          <a:xfrm>
            <a:off x="10655503" y="0"/>
            <a:ext cx="384048" cy="384048"/>
          </a:xfrm>
          <a:prstGeom prst="rect">
            <a:avLst/>
          </a:prstGeom>
          <a:solidFill>
            <a:srgbClr val="3F8FD0"/>
          </a:solidFill>
          <a:ln/>
        </p:spPr>
      </p:sp>
      <p:sp>
        <p:nvSpPr>
          <p:cNvPr id="5" name="Shape 3"/>
          <p:cNvSpPr/>
          <p:nvPr/>
        </p:nvSpPr>
        <p:spPr>
          <a:xfrm>
            <a:off x="11039551" y="0"/>
            <a:ext cx="384048" cy="384048"/>
          </a:xfrm>
          <a:prstGeom prst="rect">
            <a:avLst/>
          </a:prstGeom>
          <a:solidFill>
            <a:srgbClr val="AEE0F5"/>
          </a:solidFill>
          <a:ln/>
        </p:spPr>
      </p:sp>
      <p:sp>
        <p:nvSpPr>
          <p:cNvPr id="6" name="Shape 4"/>
          <p:cNvSpPr/>
          <p:nvPr/>
        </p:nvSpPr>
        <p:spPr>
          <a:xfrm>
            <a:off x="11423599" y="0"/>
            <a:ext cx="384048" cy="384048"/>
          </a:xfrm>
          <a:prstGeom prst="rect">
            <a:avLst/>
          </a:prstGeom>
          <a:solidFill>
            <a:srgbClr val="3F8FD0"/>
          </a:solidFill>
          <a:ln/>
        </p:spPr>
      </p:sp>
      <p:sp>
        <p:nvSpPr>
          <p:cNvPr id="7" name="Shape 5"/>
          <p:cNvSpPr/>
          <p:nvPr/>
        </p:nvSpPr>
        <p:spPr>
          <a:xfrm>
            <a:off x="11807647" y="0"/>
            <a:ext cx="384048" cy="384048"/>
          </a:xfrm>
          <a:prstGeom prst="rect">
            <a:avLst/>
          </a:prstGeom>
          <a:solidFill>
            <a:srgbClr val="AEE0F5"/>
          </a:solidFill>
          <a:ln/>
        </p:spPr>
      </p:sp>
      <p:sp>
        <p:nvSpPr>
          <p:cNvPr id="8" name="Shape 6"/>
          <p:cNvSpPr/>
          <p:nvPr/>
        </p:nvSpPr>
        <p:spPr>
          <a:xfrm>
            <a:off x="10271455" y="384048"/>
            <a:ext cx="384048" cy="384048"/>
          </a:xfrm>
          <a:prstGeom prst="rect">
            <a:avLst/>
          </a:prstGeom>
          <a:solidFill>
            <a:srgbClr val="3F8FD0"/>
          </a:solidFill>
          <a:ln/>
        </p:spPr>
      </p:sp>
      <p:sp>
        <p:nvSpPr>
          <p:cNvPr id="9" name="Shape 7"/>
          <p:cNvSpPr/>
          <p:nvPr/>
        </p:nvSpPr>
        <p:spPr>
          <a:xfrm>
            <a:off x="11423599" y="384048"/>
            <a:ext cx="384048" cy="384048"/>
          </a:xfrm>
          <a:prstGeom prst="rect">
            <a:avLst/>
          </a:prstGeom>
          <a:solidFill>
            <a:srgbClr val="AEE0F5"/>
          </a:solidFill>
          <a:ln/>
        </p:spPr>
      </p:sp>
      <p:sp>
        <p:nvSpPr>
          <p:cNvPr id="10" name="Shape 8"/>
          <p:cNvSpPr/>
          <p:nvPr/>
        </p:nvSpPr>
        <p:spPr>
          <a:xfrm>
            <a:off x="11807647" y="384048"/>
            <a:ext cx="384048" cy="384048"/>
          </a:xfrm>
          <a:prstGeom prst="rect">
            <a:avLst/>
          </a:prstGeom>
          <a:solidFill>
            <a:srgbClr val="3F8FD0"/>
          </a:solidFill>
          <a:ln/>
        </p:spPr>
      </p:sp>
      <p:sp>
        <p:nvSpPr>
          <p:cNvPr id="11" name="Shape 9"/>
          <p:cNvSpPr/>
          <p:nvPr/>
        </p:nvSpPr>
        <p:spPr>
          <a:xfrm>
            <a:off x="11039551" y="768096"/>
            <a:ext cx="384048" cy="384048"/>
          </a:xfrm>
          <a:prstGeom prst="rect">
            <a:avLst/>
          </a:prstGeom>
          <a:solidFill>
            <a:srgbClr val="AEE0F5"/>
          </a:solidFill>
          <a:ln/>
        </p:spPr>
      </p:sp>
      <p:sp>
        <p:nvSpPr>
          <p:cNvPr id="12" name="Shape 10"/>
          <p:cNvSpPr/>
          <p:nvPr/>
        </p:nvSpPr>
        <p:spPr>
          <a:xfrm>
            <a:off x="11807647" y="768096"/>
            <a:ext cx="384048" cy="384048"/>
          </a:xfrm>
          <a:prstGeom prst="rect">
            <a:avLst/>
          </a:prstGeom>
          <a:solidFill>
            <a:srgbClr val="AEE0F5"/>
          </a:solidFill>
          <a:ln/>
        </p:spPr>
      </p:sp>
      <p:sp>
        <p:nvSpPr>
          <p:cNvPr id="13" name="Shape 11"/>
          <p:cNvSpPr/>
          <p:nvPr/>
        </p:nvSpPr>
        <p:spPr>
          <a:xfrm>
            <a:off x="548640" y="457200"/>
            <a:ext cx="64008" cy="64008"/>
          </a:xfrm>
          <a:prstGeom prst="rect">
            <a:avLst/>
          </a:prstGeom>
          <a:solidFill>
            <a:srgbClr val="1F3A6E"/>
          </a:solidFill>
          <a:ln/>
        </p:spPr>
      </p:sp>
      <p:sp>
        <p:nvSpPr>
          <p:cNvPr id="14" name="Shape 12"/>
          <p:cNvSpPr/>
          <p:nvPr/>
        </p:nvSpPr>
        <p:spPr>
          <a:xfrm>
            <a:off x="630936" y="457200"/>
            <a:ext cx="64008" cy="64008"/>
          </a:xfrm>
          <a:prstGeom prst="rect">
            <a:avLst/>
          </a:prstGeom>
          <a:solidFill>
            <a:srgbClr val="3F8FD0"/>
          </a:solidFill>
          <a:ln/>
        </p:spPr>
      </p:sp>
      <p:sp>
        <p:nvSpPr>
          <p:cNvPr id="15" name="Shape 13"/>
          <p:cNvSpPr/>
          <p:nvPr/>
        </p:nvSpPr>
        <p:spPr>
          <a:xfrm>
            <a:off x="713232" y="457200"/>
            <a:ext cx="64008" cy="64008"/>
          </a:xfrm>
          <a:prstGeom prst="rect">
            <a:avLst/>
          </a:prstGeom>
          <a:solidFill>
            <a:srgbClr val="1F3A6E"/>
          </a:solidFill>
          <a:ln/>
        </p:spPr>
      </p:sp>
      <p:sp>
        <p:nvSpPr>
          <p:cNvPr id="16" name="Shape 14"/>
          <p:cNvSpPr/>
          <p:nvPr/>
        </p:nvSpPr>
        <p:spPr>
          <a:xfrm>
            <a:off x="548640" y="539496"/>
            <a:ext cx="64008" cy="64008"/>
          </a:xfrm>
          <a:prstGeom prst="rect">
            <a:avLst/>
          </a:prstGeom>
          <a:solidFill>
            <a:srgbClr val="3F8FD0"/>
          </a:solidFill>
          <a:ln/>
        </p:spPr>
      </p:sp>
      <p:sp>
        <p:nvSpPr>
          <p:cNvPr id="17" name="Shape 15"/>
          <p:cNvSpPr/>
          <p:nvPr/>
        </p:nvSpPr>
        <p:spPr>
          <a:xfrm>
            <a:off x="630936" y="539496"/>
            <a:ext cx="64008" cy="64008"/>
          </a:xfrm>
          <a:prstGeom prst="rect">
            <a:avLst/>
          </a:prstGeom>
          <a:solidFill>
            <a:srgbClr val="1F3A6E"/>
          </a:solidFill>
          <a:ln/>
        </p:spPr>
      </p:sp>
      <p:sp>
        <p:nvSpPr>
          <p:cNvPr id="18" name="Shape 16"/>
          <p:cNvSpPr/>
          <p:nvPr/>
        </p:nvSpPr>
        <p:spPr>
          <a:xfrm>
            <a:off x="713232" y="539496"/>
            <a:ext cx="64008" cy="64008"/>
          </a:xfrm>
          <a:prstGeom prst="rect">
            <a:avLst/>
          </a:prstGeom>
          <a:solidFill>
            <a:srgbClr val="3F8FD0"/>
          </a:solidFill>
          <a:ln/>
        </p:spPr>
      </p:sp>
      <p:sp>
        <p:nvSpPr>
          <p:cNvPr id="19" name="Shape 17"/>
          <p:cNvSpPr/>
          <p:nvPr/>
        </p:nvSpPr>
        <p:spPr>
          <a:xfrm>
            <a:off x="548640" y="621792"/>
            <a:ext cx="64008" cy="64008"/>
          </a:xfrm>
          <a:prstGeom prst="rect">
            <a:avLst/>
          </a:prstGeom>
          <a:solidFill>
            <a:srgbClr val="1F3A6E"/>
          </a:solidFill>
          <a:ln/>
        </p:spPr>
      </p:sp>
      <p:sp>
        <p:nvSpPr>
          <p:cNvPr id="20" name="Shape 18"/>
          <p:cNvSpPr/>
          <p:nvPr/>
        </p:nvSpPr>
        <p:spPr>
          <a:xfrm>
            <a:off x="630936" y="621792"/>
            <a:ext cx="64008" cy="64008"/>
          </a:xfrm>
          <a:prstGeom prst="rect">
            <a:avLst/>
          </a:prstGeom>
          <a:solidFill>
            <a:srgbClr val="3F8FD0"/>
          </a:solidFill>
          <a:ln/>
        </p:spPr>
      </p:sp>
      <p:sp>
        <p:nvSpPr>
          <p:cNvPr id="21" name="Shape 19"/>
          <p:cNvSpPr/>
          <p:nvPr/>
        </p:nvSpPr>
        <p:spPr>
          <a:xfrm>
            <a:off x="713232" y="621792"/>
            <a:ext cx="64008" cy="64008"/>
          </a:xfrm>
          <a:prstGeom prst="rect">
            <a:avLst/>
          </a:prstGeom>
          <a:solidFill>
            <a:srgbClr val="1F3A6E"/>
          </a:solidFill>
          <a:ln/>
        </p:spPr>
      </p:sp>
      <p:sp>
        <p:nvSpPr>
          <p:cNvPr id="22" name="Shape 20"/>
          <p:cNvSpPr/>
          <p:nvPr/>
        </p:nvSpPr>
        <p:spPr>
          <a:xfrm>
            <a:off x="914400" y="2743200"/>
            <a:ext cx="1417320" cy="1417320"/>
          </a:xfrm>
          <a:prstGeom prst="rect">
            <a:avLst/>
          </a:prstGeom>
          <a:solidFill>
            <a:srgbClr val="1F3A6E"/>
          </a:solidFill>
          <a:ln/>
          <a:effectLst>
            <a:outerShdw sx="100000" sy="100000" kx="0" ky="0" algn="bl" rotWithShape="0" blurRad="76200" dist="38100" dir="2700000">
              <a:srgbClr val="000000">
                <a:alpha val="35000"/>
              </a:srgbClr>
            </a:outerShdw>
          </a:effectLst>
        </p:spPr>
      </p:sp>
      <p:sp>
        <p:nvSpPr>
          <p:cNvPr id="23" name="Text 21"/>
          <p:cNvSpPr/>
          <p:nvPr/>
        </p:nvSpPr>
        <p:spPr>
          <a:xfrm>
            <a:off x="914400" y="2743200"/>
            <a:ext cx="1417320" cy="1417320"/>
          </a:xfrm>
          <a:prstGeom prst="rect">
            <a:avLst/>
          </a:prstGeom>
          <a:noFill/>
          <a:ln/>
        </p:spPr>
        <p:txBody>
          <a:bodyPr wrap="square" lIns="0" tIns="0" rIns="0" bIns="0"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4</a:t>
            </a:r>
            <a:endParaRPr lang="en-US" sz="5400" dirty="0"/>
          </a:p>
        </p:txBody>
      </p:sp>
      <p:sp>
        <p:nvSpPr>
          <p:cNvPr id="24" name="Text 22"/>
          <p:cNvSpPr/>
          <p:nvPr/>
        </p:nvSpPr>
        <p:spPr>
          <a:xfrm>
            <a:off x="914400" y="4343400"/>
            <a:ext cx="9601200" cy="822960"/>
          </a:xfrm>
          <a:prstGeom prst="rect">
            <a:avLst/>
          </a:prstGeom>
          <a:noFill/>
          <a:ln/>
        </p:spPr>
        <p:txBody>
          <a:bodyPr wrap="square" lIns="0" tIns="0" rIns="0" bIns="0" rtlCol="0" anchor="ctr"/>
          <a:lstStyle/>
          <a:p>
            <a:pPr indent="0" marL="0">
              <a:buNone/>
            </a:pPr>
            <a:r>
              <a:rPr lang="en-US" sz="3000" b="1" dirty="0">
                <a:solidFill>
                  <a:srgbClr val="1F3A6E"/>
                </a:solidFill>
                <a:latin typeface="Calibri" pitchFamily="34" charset="0"/>
                <a:ea typeface="Calibri" pitchFamily="34" charset="-122"/>
                <a:cs typeface="Calibri" pitchFamily="34" charset="-120"/>
              </a:rPr>
              <a:t>Bảng Điều Khiển Dự Án – Dịch Vụ</a:t>
            </a:r>
            <a:endParaRPr lang="en-US" sz="3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Report</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48735"/>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75583"/>
          </a:xfrm>
          <a:prstGeom prst="rect">
            <a:avLst/>
          </a:prstGeom>
        </p:spPr>
      </p:pic>
      <p:sp>
        <p:nvSpPr>
          <p:cNvPr id="100" name="Box 1"/>
          <p:cNvSpPr/>
          <p:nvPr/>
        </p:nvSpPr>
        <p:spPr>
          <a:xfrm>
            <a:off x="1403170" y="2540745"/>
            <a:ext cx="5573872" cy="331778"/>
          </a:xfrm>
          <a:prstGeom prst="roundRect">
            <a:avLst>
              <a:gd name="adj" fmla="val 10000"/>
            </a:avLst>
          </a:prstGeom>
          <a:noFill/>
          <a:ln w="19050">
            <a:solidFill>
              <a:srgbClr val="1F3A6E"/>
            </a:solidFill>
          </a:ln>
        </p:spPr>
      </p:sp>
      <p:sp>
        <p:nvSpPr>
          <p:cNvPr id="101" name="Box 2"/>
          <p:cNvSpPr/>
          <p:nvPr/>
        </p:nvSpPr>
        <p:spPr>
          <a:xfrm>
            <a:off x="1403170" y="3287245"/>
            <a:ext cx="5573872" cy="1824780"/>
          </a:xfrm>
          <a:prstGeom prst="roundRect">
            <a:avLst>
              <a:gd name="adj" fmla="val 10000"/>
            </a:avLst>
          </a:prstGeom>
          <a:noFill/>
          <a:ln w="19050">
            <a:solidFill>
              <a:srgbClr val="1F3A6E"/>
            </a:solidFill>
          </a:ln>
        </p:spPr>
      </p:sp>
      <p:sp>
        <p:nvSpPr>
          <p:cNvPr id="102" name="Box 3"/>
          <p:cNvSpPr/>
          <p:nvPr/>
        </p:nvSpPr>
        <p:spPr>
          <a:xfrm>
            <a:off x="1403170" y="3104767"/>
            <a:ext cx="5573872" cy="116122"/>
          </a:xfrm>
          <a:prstGeom prst="roundRect">
            <a:avLst>
              <a:gd name="adj" fmla="val 10000"/>
            </a:avLst>
          </a:prstGeom>
          <a:noFill/>
          <a:ln w="19050">
            <a:solidFill>
              <a:srgbClr val="1F3A6E"/>
            </a:solidFill>
          </a:ln>
        </p:spPr>
      </p:sp>
      <p:sp>
        <p:nvSpPr>
          <p:cNvPr id="200" name="Callout 1"/>
          <p:cNvSpPr/>
          <p:nvPr/>
        </p:nvSpPr>
        <p:spPr>
          <a:xfrm>
            <a:off x="1293170" y="2994767"/>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1293170" y="3177245"/>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202" name="Callout 3"/>
          <p:cNvSpPr/>
          <p:nvPr/>
        </p:nvSpPr>
        <p:spPr>
          <a:xfrm>
            <a:off x="1293170" y="2994767"/>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3</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55583"/>
          </a:xfrm>
          <a:prstGeom prst="rect">
            <a:avLst/>
          </a:prstGeom>
          <a:solidFill>
            <a:srgbClr val="F4F8FD"/>
          </a:solidFill>
          <a:ln w="9525">
            <a:solidFill>
              <a:srgbClr val="BFBFBF"/>
            </a:solidFill>
          </a:ln>
        </p:spPr>
      </p:sp>
      <p:sp>
        <p:nvSpPr>
          <p:cNvPr id="302" name="Panel Text"/>
          <p:cNvSpPr txBox="1"/>
          <p:nvPr/>
        </p:nvSpPr>
        <p:spPr>
          <a:xfrm>
            <a:off x="7540080" y="2978500"/>
            <a:ext cx="3811840" cy="2255583"/>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Chọn một công trường dịch vụ từ cây bên trái (ví dụ: K8CT1 모델하우스 [SITE39]); phần đầu trang hiển thị Chủ đầu tư, Thời gian dự án, Phạm vi công việc và Giá trị hợp đồng.</a:t>
            </a:r>
          </a:p>
          <a:p>
            <a:pPr indent="0" marL="0">
              <a:lnSpc>
                <a:spcPct val="106000"/>
              </a:lnSpc>
              <a:spcAft>
                <a:spcPts val="5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Report có cấu trúc tương tự báo cáo của công trường Xây dựng nhưng không có phần Progress: Overview, Revenue Actual &amp; Forecast, Status (Revenue / Cost / Funds), Cost (Cumulative Execution), Cashflow và Key Issues &amp; Action Plan.</a:t>
            </a:r>
          </a:p>
          <a:p>
            <a:pPr indent="0" marL="0">
              <a:lnSpc>
                <a:spcPct val="106000"/>
              </a:lnSpc>
              <a:spcAft>
                <a:spcPts val="4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Sử dụng Xuất Báo Cáo (Export Report), bộ chọn Tháng cơ sở và ô Comment (theo tháng) giống hệt như tab Report của công trường xây dựng.</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Revenue/Cost</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21722"/>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48570"/>
          </a:xfrm>
          <a:prstGeom prst="rect">
            <a:avLst/>
          </a:prstGeom>
        </p:spPr>
      </p:pic>
      <p:sp>
        <p:nvSpPr>
          <p:cNvPr id="100" name="Box 1"/>
          <p:cNvSpPr/>
          <p:nvPr/>
        </p:nvSpPr>
        <p:spPr>
          <a:xfrm>
            <a:off x="1405551" y="3123893"/>
            <a:ext cx="5591264" cy="965159"/>
          </a:xfrm>
          <a:prstGeom prst="roundRect">
            <a:avLst>
              <a:gd name="adj" fmla="val 10000"/>
            </a:avLst>
          </a:prstGeom>
          <a:noFill/>
          <a:ln w="19050">
            <a:solidFill>
              <a:srgbClr val="1F3A6E"/>
            </a:solidFill>
          </a:ln>
        </p:spPr>
      </p:sp>
      <p:sp>
        <p:nvSpPr>
          <p:cNvPr id="101" name="Box 2"/>
          <p:cNvSpPr/>
          <p:nvPr/>
        </p:nvSpPr>
        <p:spPr>
          <a:xfrm>
            <a:off x="1405551" y="4188895"/>
            <a:ext cx="5591264" cy="881955"/>
          </a:xfrm>
          <a:prstGeom prst="roundRect">
            <a:avLst>
              <a:gd name="adj" fmla="val 10000"/>
            </a:avLst>
          </a:prstGeom>
          <a:noFill/>
          <a:ln w="19050">
            <a:solidFill>
              <a:srgbClr val="1F3A6E"/>
            </a:solidFill>
          </a:ln>
        </p:spPr>
      </p:sp>
      <p:sp>
        <p:nvSpPr>
          <p:cNvPr id="102" name="Box 3"/>
          <p:cNvSpPr/>
          <p:nvPr/>
        </p:nvSpPr>
        <p:spPr>
          <a:xfrm>
            <a:off x="1405551" y="5120772"/>
            <a:ext cx="5591264" cy="232969"/>
          </a:xfrm>
          <a:prstGeom prst="roundRect">
            <a:avLst>
              <a:gd name="adj" fmla="val 10000"/>
            </a:avLst>
          </a:prstGeom>
          <a:noFill/>
          <a:ln w="19050">
            <a:solidFill>
              <a:srgbClr val="1F3A6E"/>
            </a:solidFill>
          </a:ln>
        </p:spPr>
      </p:sp>
      <p:sp>
        <p:nvSpPr>
          <p:cNvPr id="200" name="Callout 1"/>
          <p:cNvSpPr/>
          <p:nvPr/>
        </p:nvSpPr>
        <p:spPr>
          <a:xfrm>
            <a:off x="1295551" y="3013893"/>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1295551" y="4078895"/>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202" name="Callout 3"/>
          <p:cNvSpPr/>
          <p:nvPr/>
        </p:nvSpPr>
        <p:spPr>
          <a:xfrm>
            <a:off x="1295551" y="5010772"/>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3</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28570"/>
          </a:xfrm>
          <a:prstGeom prst="rect">
            <a:avLst/>
          </a:prstGeom>
          <a:solidFill>
            <a:srgbClr val="F4F8FD"/>
          </a:solidFill>
          <a:ln w="9525">
            <a:solidFill>
              <a:srgbClr val="BFBFBF"/>
            </a:solidFill>
          </a:ln>
        </p:spPr>
      </p:sp>
      <p:sp>
        <p:nvSpPr>
          <p:cNvPr id="302" name="Panel Text"/>
          <p:cNvSpPr txBox="1"/>
          <p:nvPr/>
        </p:nvSpPr>
        <p:spPr>
          <a:xfrm>
            <a:off x="7540080" y="2978500"/>
            <a:ext cx="3811840" cy="2228570"/>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Revenue (K USD) biểu diễn Kế hoạch hàng tháng so với Thực tế cho năm được chọn, với các cột nét đứt cho các tháng dự báo sắp tới.</a:t>
            </a:r>
          </a:p>
          <a:p>
            <a:pPr indent="0" marL="0">
              <a:lnSpc>
                <a:spcPct val="106000"/>
              </a:lnSpc>
              <a:spcAft>
                <a:spcPts val="5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Cost Rate hiển thị ba biểu đồ donut — Bidding, Execution Budget Setup và Standard Estimated Cost Ratio — dưới dạng Chi phí / Giá trị hợp đồng, có cấu trúc giống hệt thẻ Cost Rate của công trường Xây dựng.</a:t>
            </a:r>
          </a:p>
          <a:p>
            <a:pPr indent="0" marL="0">
              <a:lnSpc>
                <a:spcPct val="106000"/>
              </a:lnSpc>
              <a:spcAft>
                <a:spcPts val="4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Sử dụng ô Comment bên dưới (lọc theo tháng) để ghi lại ghi chú doanh thu/chi phí cho kỳ đó.</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Outsourcing</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35464"/>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62312"/>
          </a:xfrm>
          <a:prstGeom prst="rect">
            <a:avLst/>
          </a:prstGeom>
        </p:spPr>
      </p:pic>
      <p:sp>
        <p:nvSpPr>
          <p:cNvPr id="100" name="Box 1"/>
          <p:cNvSpPr/>
          <p:nvPr/>
        </p:nvSpPr>
        <p:spPr>
          <a:xfrm>
            <a:off x="1403170" y="3154534"/>
            <a:ext cx="3782271" cy="846034"/>
          </a:xfrm>
          <a:prstGeom prst="roundRect">
            <a:avLst>
              <a:gd name="adj" fmla="val 10000"/>
            </a:avLst>
          </a:prstGeom>
          <a:noFill/>
          <a:ln w="19050">
            <a:solidFill>
              <a:srgbClr val="1F3A6E"/>
            </a:solidFill>
          </a:ln>
        </p:spPr>
      </p:sp>
      <p:sp>
        <p:nvSpPr>
          <p:cNvPr id="101" name="Box 2"/>
          <p:cNvSpPr/>
          <p:nvPr/>
        </p:nvSpPr>
        <p:spPr>
          <a:xfrm>
            <a:off x="5185440" y="3154534"/>
            <a:ext cx="1791602" cy="846034"/>
          </a:xfrm>
          <a:prstGeom prst="roundRect">
            <a:avLst>
              <a:gd name="adj" fmla="val 10000"/>
            </a:avLst>
          </a:prstGeom>
          <a:noFill/>
          <a:ln w="19050">
            <a:solidFill>
              <a:srgbClr val="1F3A6E"/>
            </a:solidFill>
          </a:ln>
        </p:spPr>
      </p:sp>
      <p:sp>
        <p:nvSpPr>
          <p:cNvPr id="200" name="Callout 1"/>
          <p:cNvSpPr/>
          <p:nvPr/>
        </p:nvSpPr>
        <p:spPr>
          <a:xfrm>
            <a:off x="1293170" y="3044534"/>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5075440" y="3044534"/>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42312"/>
          </a:xfrm>
          <a:prstGeom prst="rect">
            <a:avLst/>
          </a:prstGeom>
          <a:solidFill>
            <a:srgbClr val="F4F8FD"/>
          </a:solidFill>
          <a:ln w="9525">
            <a:solidFill>
              <a:srgbClr val="BFBFBF"/>
            </a:solidFill>
          </a:ln>
        </p:spPr>
      </p:sp>
      <p:sp>
        <p:nvSpPr>
          <p:cNvPr id="302" name="Panel Text"/>
          <p:cNvSpPr txBox="1"/>
          <p:nvPr/>
        </p:nvSpPr>
        <p:spPr>
          <a:xfrm>
            <a:off x="7540080" y="2978500"/>
            <a:ext cx="3811840" cy="2242312"/>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Outsourcing &amp; Materials liệt kê từng hợp đồng nhà cung cấp của công trường dịch vụ với cùng các cột như Xây dựng: Category / Detailed Trade, Tên nhà cung cấp, Ngày hợp đồng ban đầu, Change Contract Round, Budget (A), Executed Budget, Resolved Amount (B), Resolved Rate (B/A).</a:t>
            </a:r>
          </a:p>
          <a:p>
            <a:pPr indent="0" marL="0">
              <a:lnSpc>
                <a:spcPct val="106000"/>
              </a:lnSpc>
              <a:spcAft>
                <a:spcPts val="4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Progress Billing Status hiển thị This Month, Cumulative (C), Ratio (C/B) và Remaining Billing (B−C); dòng Total tổng hợp mọi cột trên tất cả nhà cung cấp của công trường.</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Cash</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43152"/>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70000"/>
          </a:xfrm>
          <a:prstGeom prst="rect">
            <a:avLst/>
          </a:prstGeom>
        </p:spPr>
      </p:pic>
      <p:sp>
        <p:nvSpPr>
          <p:cNvPr id="100" name="Box 1"/>
          <p:cNvSpPr/>
          <p:nvPr/>
        </p:nvSpPr>
        <p:spPr>
          <a:xfrm>
            <a:off x="1406747" y="3141833"/>
            <a:ext cx="5600000" cy="1750000"/>
          </a:xfrm>
          <a:prstGeom prst="roundRect">
            <a:avLst>
              <a:gd name="adj" fmla="val 10000"/>
            </a:avLst>
          </a:prstGeom>
          <a:noFill/>
          <a:ln w="19050">
            <a:solidFill>
              <a:srgbClr val="1F3A6E"/>
            </a:solidFill>
          </a:ln>
        </p:spPr>
      </p:sp>
      <p:sp>
        <p:nvSpPr>
          <p:cNvPr id="101" name="Box 2"/>
          <p:cNvSpPr/>
          <p:nvPr/>
        </p:nvSpPr>
        <p:spPr>
          <a:xfrm>
            <a:off x="6423413" y="3141833"/>
            <a:ext cx="266667" cy="66667"/>
          </a:xfrm>
          <a:prstGeom prst="roundRect">
            <a:avLst>
              <a:gd name="adj" fmla="val 10000"/>
            </a:avLst>
          </a:prstGeom>
          <a:noFill/>
          <a:ln w="19050">
            <a:solidFill>
              <a:srgbClr val="1F3A6E"/>
            </a:solidFill>
          </a:ln>
        </p:spPr>
      </p:sp>
      <p:sp>
        <p:nvSpPr>
          <p:cNvPr id="200" name="Callout 1"/>
          <p:cNvSpPr/>
          <p:nvPr/>
        </p:nvSpPr>
        <p:spPr>
          <a:xfrm>
            <a:off x="1296747" y="3031833"/>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6313413" y="3031833"/>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50000"/>
          </a:xfrm>
          <a:prstGeom prst="rect">
            <a:avLst/>
          </a:prstGeom>
          <a:solidFill>
            <a:srgbClr val="F4F8FD"/>
          </a:solidFill>
          <a:ln w="9525">
            <a:solidFill>
              <a:srgbClr val="BFBFBF"/>
            </a:solidFill>
          </a:ln>
        </p:spPr>
      </p:sp>
      <p:sp>
        <p:nvSpPr>
          <p:cNvPr id="302" name="Panel Text"/>
          <p:cNvSpPr txBox="1"/>
          <p:nvPr/>
        </p:nvSpPr>
        <p:spPr>
          <a:xfrm>
            <a:off x="7540080" y="2978500"/>
            <a:ext cx="3811840" cy="2250000"/>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Cash Flow biểu diễn toàn bộ thời gian thực hiện dịch vụ dưới dạng cột Thực tế tiền vào / tiền ra cùng đường Số dư chạy liên tục và vạch Reference month nét đứt, giống hệt như ở công trường Xây dựng.</a:t>
            </a:r>
          </a:p>
          <a:p>
            <a:pPr indent="0" marL="0">
              <a:lnSpc>
                <a:spcPct val="106000"/>
              </a:lnSpc>
              <a:spcAft>
                <a:spcPts val="4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Sử dụng bộ chọn năm ở góc trên bên phải để xem riêng một năm, và ô Comment bên dưới (lọc theo tháng) để ghi chú.</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3359" y="0"/>
            <a:ext cx="384048" cy="384048"/>
          </a:xfrm>
          <a:prstGeom prst="rect">
            <a:avLst/>
          </a:prstGeom>
          <a:solidFill>
            <a:srgbClr val="AEE0F5"/>
          </a:solidFill>
          <a:ln/>
        </p:spPr>
      </p:sp>
      <p:sp>
        <p:nvSpPr>
          <p:cNvPr id="3" name="Shape 1"/>
          <p:cNvSpPr/>
          <p:nvPr/>
        </p:nvSpPr>
        <p:spPr>
          <a:xfrm>
            <a:off x="9887407" y="0"/>
            <a:ext cx="384048" cy="384048"/>
          </a:xfrm>
          <a:prstGeom prst="rect">
            <a:avLst/>
          </a:prstGeom>
          <a:solidFill>
            <a:srgbClr val="3F8FD0"/>
          </a:solidFill>
          <a:ln/>
        </p:spPr>
      </p:sp>
      <p:sp>
        <p:nvSpPr>
          <p:cNvPr id="4" name="Shape 2"/>
          <p:cNvSpPr/>
          <p:nvPr/>
        </p:nvSpPr>
        <p:spPr>
          <a:xfrm>
            <a:off x="10655503" y="0"/>
            <a:ext cx="384048" cy="384048"/>
          </a:xfrm>
          <a:prstGeom prst="rect">
            <a:avLst/>
          </a:prstGeom>
          <a:solidFill>
            <a:srgbClr val="3F8FD0"/>
          </a:solidFill>
          <a:ln/>
        </p:spPr>
      </p:sp>
      <p:sp>
        <p:nvSpPr>
          <p:cNvPr id="5" name="Shape 3"/>
          <p:cNvSpPr/>
          <p:nvPr/>
        </p:nvSpPr>
        <p:spPr>
          <a:xfrm>
            <a:off x="11039551" y="0"/>
            <a:ext cx="384048" cy="384048"/>
          </a:xfrm>
          <a:prstGeom prst="rect">
            <a:avLst/>
          </a:prstGeom>
          <a:solidFill>
            <a:srgbClr val="AEE0F5"/>
          </a:solidFill>
          <a:ln/>
        </p:spPr>
      </p:sp>
      <p:sp>
        <p:nvSpPr>
          <p:cNvPr id="6" name="Shape 4"/>
          <p:cNvSpPr/>
          <p:nvPr/>
        </p:nvSpPr>
        <p:spPr>
          <a:xfrm>
            <a:off x="11423599" y="0"/>
            <a:ext cx="384048" cy="384048"/>
          </a:xfrm>
          <a:prstGeom prst="rect">
            <a:avLst/>
          </a:prstGeom>
          <a:solidFill>
            <a:srgbClr val="3F8FD0"/>
          </a:solidFill>
          <a:ln/>
        </p:spPr>
      </p:sp>
      <p:sp>
        <p:nvSpPr>
          <p:cNvPr id="7" name="Shape 5"/>
          <p:cNvSpPr/>
          <p:nvPr/>
        </p:nvSpPr>
        <p:spPr>
          <a:xfrm>
            <a:off x="11807647" y="0"/>
            <a:ext cx="384048" cy="384048"/>
          </a:xfrm>
          <a:prstGeom prst="rect">
            <a:avLst/>
          </a:prstGeom>
          <a:solidFill>
            <a:srgbClr val="AEE0F5"/>
          </a:solidFill>
          <a:ln/>
        </p:spPr>
      </p:sp>
      <p:sp>
        <p:nvSpPr>
          <p:cNvPr id="8" name="Shape 6"/>
          <p:cNvSpPr/>
          <p:nvPr/>
        </p:nvSpPr>
        <p:spPr>
          <a:xfrm>
            <a:off x="10271455" y="384048"/>
            <a:ext cx="384048" cy="384048"/>
          </a:xfrm>
          <a:prstGeom prst="rect">
            <a:avLst/>
          </a:prstGeom>
          <a:solidFill>
            <a:srgbClr val="3F8FD0"/>
          </a:solidFill>
          <a:ln/>
        </p:spPr>
      </p:sp>
      <p:sp>
        <p:nvSpPr>
          <p:cNvPr id="9" name="Shape 7"/>
          <p:cNvSpPr/>
          <p:nvPr/>
        </p:nvSpPr>
        <p:spPr>
          <a:xfrm>
            <a:off x="11423599" y="384048"/>
            <a:ext cx="384048" cy="384048"/>
          </a:xfrm>
          <a:prstGeom prst="rect">
            <a:avLst/>
          </a:prstGeom>
          <a:solidFill>
            <a:srgbClr val="AEE0F5"/>
          </a:solidFill>
          <a:ln/>
        </p:spPr>
      </p:sp>
      <p:sp>
        <p:nvSpPr>
          <p:cNvPr id="10" name="Shape 8"/>
          <p:cNvSpPr/>
          <p:nvPr/>
        </p:nvSpPr>
        <p:spPr>
          <a:xfrm>
            <a:off x="11807647" y="384048"/>
            <a:ext cx="384048" cy="384048"/>
          </a:xfrm>
          <a:prstGeom prst="rect">
            <a:avLst/>
          </a:prstGeom>
          <a:solidFill>
            <a:srgbClr val="3F8FD0"/>
          </a:solidFill>
          <a:ln/>
        </p:spPr>
      </p:sp>
      <p:sp>
        <p:nvSpPr>
          <p:cNvPr id="11" name="Shape 9"/>
          <p:cNvSpPr/>
          <p:nvPr/>
        </p:nvSpPr>
        <p:spPr>
          <a:xfrm>
            <a:off x="11039551" y="768096"/>
            <a:ext cx="384048" cy="384048"/>
          </a:xfrm>
          <a:prstGeom prst="rect">
            <a:avLst/>
          </a:prstGeom>
          <a:solidFill>
            <a:srgbClr val="AEE0F5"/>
          </a:solidFill>
          <a:ln/>
        </p:spPr>
      </p:sp>
      <p:sp>
        <p:nvSpPr>
          <p:cNvPr id="12" name="Shape 10"/>
          <p:cNvSpPr/>
          <p:nvPr/>
        </p:nvSpPr>
        <p:spPr>
          <a:xfrm>
            <a:off x="11807647" y="768096"/>
            <a:ext cx="384048" cy="384048"/>
          </a:xfrm>
          <a:prstGeom prst="rect">
            <a:avLst/>
          </a:prstGeom>
          <a:solidFill>
            <a:srgbClr val="AEE0F5"/>
          </a:solidFill>
          <a:ln/>
        </p:spPr>
      </p:sp>
      <p:sp>
        <p:nvSpPr>
          <p:cNvPr id="13" name="Shape 11"/>
          <p:cNvSpPr/>
          <p:nvPr/>
        </p:nvSpPr>
        <p:spPr>
          <a:xfrm>
            <a:off x="548640" y="457200"/>
            <a:ext cx="64008" cy="64008"/>
          </a:xfrm>
          <a:prstGeom prst="rect">
            <a:avLst/>
          </a:prstGeom>
          <a:solidFill>
            <a:srgbClr val="1F3A6E"/>
          </a:solidFill>
          <a:ln/>
        </p:spPr>
      </p:sp>
      <p:sp>
        <p:nvSpPr>
          <p:cNvPr id="14" name="Shape 12"/>
          <p:cNvSpPr/>
          <p:nvPr/>
        </p:nvSpPr>
        <p:spPr>
          <a:xfrm>
            <a:off x="630936" y="457200"/>
            <a:ext cx="64008" cy="64008"/>
          </a:xfrm>
          <a:prstGeom prst="rect">
            <a:avLst/>
          </a:prstGeom>
          <a:solidFill>
            <a:srgbClr val="3F8FD0"/>
          </a:solidFill>
          <a:ln/>
        </p:spPr>
      </p:sp>
      <p:sp>
        <p:nvSpPr>
          <p:cNvPr id="15" name="Shape 13"/>
          <p:cNvSpPr/>
          <p:nvPr/>
        </p:nvSpPr>
        <p:spPr>
          <a:xfrm>
            <a:off x="713232" y="457200"/>
            <a:ext cx="64008" cy="64008"/>
          </a:xfrm>
          <a:prstGeom prst="rect">
            <a:avLst/>
          </a:prstGeom>
          <a:solidFill>
            <a:srgbClr val="1F3A6E"/>
          </a:solidFill>
          <a:ln/>
        </p:spPr>
      </p:sp>
      <p:sp>
        <p:nvSpPr>
          <p:cNvPr id="16" name="Shape 14"/>
          <p:cNvSpPr/>
          <p:nvPr/>
        </p:nvSpPr>
        <p:spPr>
          <a:xfrm>
            <a:off x="548640" y="539496"/>
            <a:ext cx="64008" cy="64008"/>
          </a:xfrm>
          <a:prstGeom prst="rect">
            <a:avLst/>
          </a:prstGeom>
          <a:solidFill>
            <a:srgbClr val="3F8FD0"/>
          </a:solidFill>
          <a:ln/>
        </p:spPr>
      </p:sp>
      <p:sp>
        <p:nvSpPr>
          <p:cNvPr id="17" name="Shape 15"/>
          <p:cNvSpPr/>
          <p:nvPr/>
        </p:nvSpPr>
        <p:spPr>
          <a:xfrm>
            <a:off x="630936" y="539496"/>
            <a:ext cx="64008" cy="64008"/>
          </a:xfrm>
          <a:prstGeom prst="rect">
            <a:avLst/>
          </a:prstGeom>
          <a:solidFill>
            <a:srgbClr val="1F3A6E"/>
          </a:solidFill>
          <a:ln/>
        </p:spPr>
      </p:sp>
      <p:sp>
        <p:nvSpPr>
          <p:cNvPr id="18" name="Shape 16"/>
          <p:cNvSpPr/>
          <p:nvPr/>
        </p:nvSpPr>
        <p:spPr>
          <a:xfrm>
            <a:off x="713232" y="539496"/>
            <a:ext cx="64008" cy="64008"/>
          </a:xfrm>
          <a:prstGeom prst="rect">
            <a:avLst/>
          </a:prstGeom>
          <a:solidFill>
            <a:srgbClr val="3F8FD0"/>
          </a:solidFill>
          <a:ln/>
        </p:spPr>
      </p:sp>
      <p:sp>
        <p:nvSpPr>
          <p:cNvPr id="19" name="Shape 17"/>
          <p:cNvSpPr/>
          <p:nvPr/>
        </p:nvSpPr>
        <p:spPr>
          <a:xfrm>
            <a:off x="548640" y="621792"/>
            <a:ext cx="64008" cy="64008"/>
          </a:xfrm>
          <a:prstGeom prst="rect">
            <a:avLst/>
          </a:prstGeom>
          <a:solidFill>
            <a:srgbClr val="1F3A6E"/>
          </a:solidFill>
          <a:ln/>
        </p:spPr>
      </p:sp>
      <p:sp>
        <p:nvSpPr>
          <p:cNvPr id="20" name="Shape 18"/>
          <p:cNvSpPr/>
          <p:nvPr/>
        </p:nvSpPr>
        <p:spPr>
          <a:xfrm>
            <a:off x="630936" y="621792"/>
            <a:ext cx="64008" cy="64008"/>
          </a:xfrm>
          <a:prstGeom prst="rect">
            <a:avLst/>
          </a:prstGeom>
          <a:solidFill>
            <a:srgbClr val="3F8FD0"/>
          </a:solidFill>
          <a:ln/>
        </p:spPr>
      </p:sp>
      <p:sp>
        <p:nvSpPr>
          <p:cNvPr id="21" name="Shape 19"/>
          <p:cNvSpPr/>
          <p:nvPr/>
        </p:nvSpPr>
        <p:spPr>
          <a:xfrm>
            <a:off x="713232" y="621792"/>
            <a:ext cx="64008" cy="64008"/>
          </a:xfrm>
          <a:prstGeom prst="rect">
            <a:avLst/>
          </a:prstGeom>
          <a:solidFill>
            <a:srgbClr val="1F3A6E"/>
          </a:solidFill>
          <a:ln/>
        </p:spPr>
      </p:sp>
      <p:sp>
        <p:nvSpPr>
          <p:cNvPr id="22" name="Shape 20"/>
          <p:cNvSpPr/>
          <p:nvPr/>
        </p:nvSpPr>
        <p:spPr>
          <a:xfrm>
            <a:off x="914400" y="2743200"/>
            <a:ext cx="1417320" cy="1417320"/>
          </a:xfrm>
          <a:prstGeom prst="rect">
            <a:avLst/>
          </a:prstGeom>
          <a:solidFill>
            <a:srgbClr val="1F3A6E"/>
          </a:solidFill>
          <a:ln/>
          <a:effectLst>
            <a:outerShdw sx="100000" sy="100000" kx="0" ky="0" algn="bl" rotWithShape="0" blurRad="76200" dist="38100" dir="2700000">
              <a:srgbClr val="000000">
                <a:alpha val="35000"/>
              </a:srgbClr>
            </a:outerShdw>
          </a:effectLst>
        </p:spPr>
      </p:sp>
      <p:sp>
        <p:nvSpPr>
          <p:cNvPr id="23" name="Text 21"/>
          <p:cNvSpPr/>
          <p:nvPr/>
        </p:nvSpPr>
        <p:spPr>
          <a:xfrm>
            <a:off x="914400" y="2743200"/>
            <a:ext cx="1417320" cy="1417320"/>
          </a:xfrm>
          <a:prstGeom prst="rect">
            <a:avLst/>
          </a:prstGeom>
          <a:noFill/>
          <a:ln/>
        </p:spPr>
        <p:txBody>
          <a:bodyPr wrap="square" lIns="0" tIns="0" rIns="0" bIns="0"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5</a:t>
            </a:r>
            <a:endParaRPr lang="en-US" sz="5400" dirty="0"/>
          </a:p>
        </p:txBody>
      </p:sp>
      <p:sp>
        <p:nvSpPr>
          <p:cNvPr id="24" name="Text 22"/>
          <p:cNvSpPr/>
          <p:nvPr/>
        </p:nvSpPr>
        <p:spPr>
          <a:xfrm>
            <a:off x="914400" y="4343400"/>
            <a:ext cx="9601200" cy="822960"/>
          </a:xfrm>
          <a:prstGeom prst="rect">
            <a:avLst/>
          </a:prstGeom>
          <a:noFill/>
          <a:ln/>
        </p:spPr>
        <p:txBody>
          <a:bodyPr wrap="square" lIns="0" tIns="0" rIns="0" bIns="0" rtlCol="0" anchor="ctr"/>
          <a:lstStyle/>
          <a:p>
            <a:pPr indent="0" marL="0">
              <a:buNone/>
            </a:pPr>
            <a:r>
              <a:rPr lang="en-US" sz="3000" b="1" dirty="0">
                <a:solidFill>
                  <a:srgbClr val="1F3A6E"/>
                </a:solidFill>
                <a:latin typeface="Calibri" pitchFamily="34" charset="0"/>
                <a:ea typeface="Calibri" pitchFamily="34" charset="-122"/>
                <a:cs typeface="Calibri" pitchFamily="34" charset="-120"/>
              </a:rPr>
              <a:t>Nhập Liệu – Dịch Vụ</a:t>
            </a:r>
            <a:endParaRPr lang="en-US" sz="3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Nhập Liệu: Tổng Quan, Giá Trị Hợp Đồng &amp; Chi Phí, Doanh Thu</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36911"/>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63759"/>
          </a:xfrm>
          <a:prstGeom prst="rect">
            <a:avLst/>
          </a:prstGeom>
        </p:spPr>
      </p:pic>
      <p:sp>
        <p:nvSpPr>
          <p:cNvPr id="100" name="Box 1"/>
          <p:cNvSpPr/>
          <p:nvPr/>
        </p:nvSpPr>
        <p:spPr>
          <a:xfrm>
            <a:off x="1404358" y="3454917"/>
            <a:ext cx="5582555" cy="348910"/>
          </a:xfrm>
          <a:prstGeom prst="roundRect">
            <a:avLst>
              <a:gd name="adj" fmla="val 10000"/>
            </a:avLst>
          </a:prstGeom>
          <a:noFill/>
          <a:ln w="19050">
            <a:solidFill>
              <a:srgbClr val="1F3A6E"/>
            </a:solidFill>
          </a:ln>
        </p:spPr>
      </p:sp>
      <p:sp>
        <p:nvSpPr>
          <p:cNvPr id="101" name="Box 2"/>
          <p:cNvSpPr/>
          <p:nvPr/>
        </p:nvSpPr>
        <p:spPr>
          <a:xfrm>
            <a:off x="1404358" y="3903516"/>
            <a:ext cx="5582555" cy="647975"/>
          </a:xfrm>
          <a:prstGeom prst="roundRect">
            <a:avLst>
              <a:gd name="adj" fmla="val 10000"/>
            </a:avLst>
          </a:prstGeom>
          <a:noFill/>
          <a:ln w="19050">
            <a:solidFill>
              <a:srgbClr val="1F3A6E"/>
            </a:solidFill>
          </a:ln>
        </p:spPr>
      </p:sp>
      <p:sp>
        <p:nvSpPr>
          <p:cNvPr id="102" name="Box 3"/>
          <p:cNvSpPr/>
          <p:nvPr/>
        </p:nvSpPr>
        <p:spPr>
          <a:xfrm>
            <a:off x="1404358" y="4651179"/>
            <a:ext cx="5582555" cy="714434"/>
          </a:xfrm>
          <a:prstGeom prst="roundRect">
            <a:avLst>
              <a:gd name="adj" fmla="val 10000"/>
            </a:avLst>
          </a:prstGeom>
          <a:noFill/>
          <a:ln w="19050">
            <a:solidFill>
              <a:srgbClr val="1F3A6E"/>
            </a:solidFill>
          </a:ln>
        </p:spPr>
      </p:sp>
      <p:sp>
        <p:nvSpPr>
          <p:cNvPr id="200" name="Callout 1"/>
          <p:cNvSpPr/>
          <p:nvPr/>
        </p:nvSpPr>
        <p:spPr>
          <a:xfrm>
            <a:off x="1294358" y="4541179"/>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1294358" y="3793516"/>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202" name="Callout 3"/>
          <p:cNvSpPr/>
          <p:nvPr/>
        </p:nvSpPr>
        <p:spPr>
          <a:xfrm>
            <a:off x="1294358" y="4541179"/>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3</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43759"/>
          </a:xfrm>
          <a:prstGeom prst="rect">
            <a:avLst/>
          </a:prstGeom>
          <a:solidFill>
            <a:srgbClr val="F4F8FD"/>
          </a:solidFill>
          <a:ln w="9525">
            <a:solidFill>
              <a:srgbClr val="BFBFBF"/>
            </a:solidFill>
          </a:ln>
        </p:spPr>
      </p:sp>
      <p:sp>
        <p:nvSpPr>
          <p:cNvPr id="302" name="Panel Text"/>
          <p:cNvSpPr txBox="1"/>
          <p:nvPr/>
        </p:nvSpPr>
        <p:spPr>
          <a:xfrm>
            <a:off x="7540080" y="2978500"/>
            <a:ext cx="3811840" cy="2243759"/>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0. Overview (tab Overview): Giá trị hợp đồng, Ngày bắt đầu/kết thúc thực hiện, Thời gian thực hiện, Chủ đầu tư, Phạm vi công việc và Điều khoản thanh toán.</a:t>
            </a:r>
          </a:p>
          <a:p>
            <a:pPr indent="0" marL="0">
              <a:lnSpc>
                <a:spcPct val="106000"/>
              </a:lnSpc>
              <a:spcAft>
                <a:spcPts val="5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1. Contract Amount &amp; Cost (Overview): Tháng cơ sở, Giá trị hợp đồng và Chi phí cho Bidding, Execution Budget Setup và Estimated Completion Cost Rate, với Ratio (%) được tự động tính — tương đương thẻ Cost Rate của công trường Xây dựng.</a:t>
            </a:r>
          </a:p>
          <a:p>
            <a:pPr indent="0" marL="0">
              <a:lnSpc>
                <a:spcPct val="106000"/>
              </a:lnSpc>
              <a:spcAft>
                <a:spcPts val="4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2. Monthly Revenue (tab Revenue, K USD): nhập Sales Plan và Sales Actual theo Năm / Tháng; số liệu này cung cấp dữ liệu cho biểu đồ Revenue Actual &amp; Forecast ở tab Report.</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Nhập Liệu: Giá Vốn Hàng Tháng &amp; Thực Hiện Ngân Sách</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35178"/>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62026"/>
          </a:xfrm>
          <a:prstGeom prst="rect">
            <a:avLst/>
          </a:prstGeom>
        </p:spPr>
      </p:pic>
      <p:sp>
        <p:nvSpPr>
          <p:cNvPr id="100" name="Box 1"/>
          <p:cNvSpPr/>
          <p:nvPr/>
        </p:nvSpPr>
        <p:spPr>
          <a:xfrm>
            <a:off x="1404755" y="2458110"/>
            <a:ext cx="5585455" cy="1828571"/>
          </a:xfrm>
          <a:prstGeom prst="roundRect">
            <a:avLst>
              <a:gd name="adj" fmla="val 10000"/>
            </a:avLst>
          </a:prstGeom>
          <a:noFill/>
          <a:ln w="19050">
            <a:solidFill>
              <a:srgbClr val="1F3A6E"/>
            </a:solidFill>
          </a:ln>
        </p:spPr>
      </p:sp>
      <p:sp>
        <p:nvSpPr>
          <p:cNvPr id="101" name="Box 2"/>
          <p:cNvSpPr/>
          <p:nvPr/>
        </p:nvSpPr>
        <p:spPr>
          <a:xfrm>
            <a:off x="1404755" y="4369799"/>
            <a:ext cx="5585455" cy="997403"/>
          </a:xfrm>
          <a:prstGeom prst="roundRect">
            <a:avLst>
              <a:gd name="adj" fmla="val 10000"/>
            </a:avLst>
          </a:prstGeom>
          <a:noFill/>
          <a:ln w="19050">
            <a:solidFill>
              <a:srgbClr val="1F3A6E"/>
            </a:solidFill>
          </a:ln>
        </p:spPr>
      </p:sp>
      <p:sp>
        <p:nvSpPr>
          <p:cNvPr id="200" name="Callout 1"/>
          <p:cNvSpPr/>
          <p:nvPr/>
        </p:nvSpPr>
        <p:spPr>
          <a:xfrm>
            <a:off x="1294755" y="2348110"/>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1294755" y="4259799"/>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42026"/>
          </a:xfrm>
          <a:prstGeom prst="rect">
            <a:avLst/>
          </a:prstGeom>
          <a:solidFill>
            <a:srgbClr val="F4F8FD"/>
          </a:solidFill>
          <a:ln w="9525">
            <a:solidFill>
              <a:srgbClr val="BFBFBF"/>
            </a:solidFill>
          </a:ln>
        </p:spPr>
      </p:sp>
      <p:sp>
        <p:nvSpPr>
          <p:cNvPr id="302" name="Panel Text"/>
          <p:cNvSpPr txBox="1"/>
          <p:nvPr/>
        </p:nvSpPr>
        <p:spPr>
          <a:xfrm>
            <a:off x="7540080" y="2978500"/>
            <a:ext cx="3811840" cy="2242026"/>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3. Monthly Cost of Revenue (tab Revenue, K USD): nhập Accounting COGS theo Năm / Tháng; sử dụng + Add Prior-Year Cumulative tương tự như ở thẻ Revenue. Số VND tự động quy đổi sang nghìn USD khi lưu.</a:t>
            </a:r>
          </a:p>
          <a:p>
            <a:pPr indent="0" marL="0">
              <a:lnSpc>
                <a:spcPct val="106000"/>
              </a:lnSpc>
              <a:spcAft>
                <a:spcPts val="4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4. Budget Execution Status (tab Budget Execution): nhập Common, Expense 1 (Chi phí trực tiếp) và Expense 2 (Chi phí gián tiếp) Budget / Monthly / Cumulative cho Tháng / Năm được chọn; các dòng loại Outsourcing được tự động tổng hợp từ bảng Outsourcing/Materials bên dưới.</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Nhập Liệu: Kế Hoạch/Thực Tế Hàng Tháng &amp; Thầu Phụ</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19194"/>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46042"/>
          </a:xfrm>
          <a:prstGeom prst="rect">
            <a:avLst/>
          </a:prstGeom>
        </p:spPr>
      </p:pic>
      <p:sp>
        <p:nvSpPr>
          <p:cNvPr id="100" name="Box 1"/>
          <p:cNvSpPr/>
          <p:nvPr/>
        </p:nvSpPr>
        <p:spPr>
          <a:xfrm>
            <a:off x="1401591" y="2358164"/>
            <a:ext cx="5562338" cy="2218314"/>
          </a:xfrm>
          <a:prstGeom prst="roundRect">
            <a:avLst>
              <a:gd name="adj" fmla="val 10000"/>
            </a:avLst>
          </a:prstGeom>
          <a:noFill/>
          <a:ln w="19050">
            <a:solidFill>
              <a:srgbClr val="1F3A6E"/>
            </a:solidFill>
          </a:ln>
        </p:spPr>
      </p:sp>
      <p:sp>
        <p:nvSpPr>
          <p:cNvPr id="101" name="Box 2"/>
          <p:cNvSpPr/>
          <p:nvPr/>
        </p:nvSpPr>
        <p:spPr>
          <a:xfrm>
            <a:off x="1401591" y="4708914"/>
            <a:ext cx="5562338" cy="645629"/>
          </a:xfrm>
          <a:prstGeom prst="roundRect">
            <a:avLst>
              <a:gd name="adj" fmla="val 10000"/>
            </a:avLst>
          </a:prstGeom>
          <a:noFill/>
          <a:ln w="19050">
            <a:solidFill>
              <a:srgbClr val="1F3A6E"/>
            </a:solidFill>
          </a:ln>
        </p:spPr>
      </p:sp>
      <p:sp>
        <p:nvSpPr>
          <p:cNvPr id="200" name="Callout 1"/>
          <p:cNvSpPr/>
          <p:nvPr/>
        </p:nvSpPr>
        <p:spPr>
          <a:xfrm>
            <a:off x="1291591" y="2248164"/>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1291591" y="4598914"/>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26042"/>
          </a:xfrm>
          <a:prstGeom prst="rect">
            <a:avLst/>
          </a:prstGeom>
          <a:solidFill>
            <a:srgbClr val="F4F8FD"/>
          </a:solidFill>
          <a:ln w="9525">
            <a:solidFill>
              <a:srgbClr val="BFBFBF"/>
            </a:solidFill>
          </a:ln>
        </p:spPr>
      </p:sp>
      <p:sp>
        <p:nvSpPr>
          <p:cNvPr id="302" name="Panel Text"/>
          <p:cNvSpPr txBox="1"/>
          <p:nvPr/>
        </p:nvSpPr>
        <p:spPr>
          <a:xfrm>
            <a:off x="7540080" y="2978500"/>
            <a:ext cx="3811840" cy="2226042"/>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Monthly Plan / Actual (year): chọn một hạng mục (ví dụ Common) và năm để nhập số liệu Kế hoạch và Thực tế theo từng tháng, cung cấp dữ liệu cho Budget Execution Status phía trên.</a:t>
            </a:r>
          </a:p>
          <a:p>
            <a:pPr indent="0" marL="0">
              <a:lnSpc>
                <a:spcPct val="106000"/>
              </a:lnSpc>
              <a:spcAft>
                <a:spcPts val="4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5. Outsourcing/Materials (tab Outsourcing): mỗi dòng là một nhà cung cấp — Trade Group, Trade, Tên nhà cung cấp, Category, Ngày hợp đồng ban đầu, Change No., Budget (A), Executed Budget, Resolved Amount (B), Progress Payment của tháng này và Progress Payment lũy kế (C); chọn Tháng / Năm trước, sau đó nhấp Lưu.</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8FD0"/>
          </a:solidFill>
          <a:ln/>
        </p:spPr>
      </p:sp>
      <p:sp>
        <p:nvSpPr>
          <p:cNvPr id="3" name="Shape 1"/>
          <p:cNvSpPr/>
          <p:nvPr/>
        </p:nvSpPr>
        <p:spPr>
          <a:xfrm>
            <a:off x="457200" y="384048"/>
            <a:ext cx="64008" cy="64008"/>
          </a:xfrm>
          <a:prstGeom prst="rect">
            <a:avLst/>
          </a:prstGeom>
          <a:solidFill>
            <a:srgbClr val="1F3A6E"/>
          </a:solidFill>
          <a:ln/>
        </p:spPr>
      </p:sp>
      <p:sp>
        <p:nvSpPr>
          <p:cNvPr id="4" name="Shape 2"/>
          <p:cNvSpPr/>
          <p:nvPr/>
        </p:nvSpPr>
        <p:spPr>
          <a:xfrm>
            <a:off x="539496" y="384048"/>
            <a:ext cx="64008" cy="64008"/>
          </a:xfrm>
          <a:prstGeom prst="rect">
            <a:avLst/>
          </a:prstGeom>
          <a:solidFill>
            <a:srgbClr val="3F8FD0"/>
          </a:solidFill>
          <a:ln/>
        </p:spPr>
      </p:sp>
      <p:sp>
        <p:nvSpPr>
          <p:cNvPr id="5" name="Shape 3"/>
          <p:cNvSpPr/>
          <p:nvPr/>
        </p:nvSpPr>
        <p:spPr>
          <a:xfrm>
            <a:off x="621792" y="384048"/>
            <a:ext cx="64008" cy="64008"/>
          </a:xfrm>
          <a:prstGeom prst="rect">
            <a:avLst/>
          </a:prstGeom>
          <a:solidFill>
            <a:srgbClr val="1F3A6E"/>
          </a:solidFill>
          <a:ln/>
        </p:spPr>
      </p:sp>
      <p:sp>
        <p:nvSpPr>
          <p:cNvPr id="6" name="Shape 4"/>
          <p:cNvSpPr/>
          <p:nvPr/>
        </p:nvSpPr>
        <p:spPr>
          <a:xfrm>
            <a:off x="457200" y="466344"/>
            <a:ext cx="64008" cy="64008"/>
          </a:xfrm>
          <a:prstGeom prst="rect">
            <a:avLst/>
          </a:prstGeom>
          <a:solidFill>
            <a:srgbClr val="3F8FD0"/>
          </a:solidFill>
          <a:ln/>
        </p:spPr>
      </p:sp>
      <p:sp>
        <p:nvSpPr>
          <p:cNvPr id="7" name="Shape 5"/>
          <p:cNvSpPr/>
          <p:nvPr/>
        </p:nvSpPr>
        <p:spPr>
          <a:xfrm>
            <a:off x="539496" y="466344"/>
            <a:ext cx="64008" cy="64008"/>
          </a:xfrm>
          <a:prstGeom prst="rect">
            <a:avLst/>
          </a:prstGeom>
          <a:solidFill>
            <a:srgbClr val="1F3A6E"/>
          </a:solidFill>
          <a:ln/>
        </p:spPr>
      </p:sp>
      <p:sp>
        <p:nvSpPr>
          <p:cNvPr id="8" name="Shape 6"/>
          <p:cNvSpPr/>
          <p:nvPr/>
        </p:nvSpPr>
        <p:spPr>
          <a:xfrm>
            <a:off x="621792" y="466344"/>
            <a:ext cx="64008" cy="64008"/>
          </a:xfrm>
          <a:prstGeom prst="rect">
            <a:avLst/>
          </a:prstGeom>
          <a:solidFill>
            <a:srgbClr val="3F8FD0"/>
          </a:solidFill>
          <a:ln/>
        </p:spPr>
      </p:sp>
      <p:sp>
        <p:nvSpPr>
          <p:cNvPr id="9" name="Shape 7"/>
          <p:cNvSpPr/>
          <p:nvPr/>
        </p:nvSpPr>
        <p:spPr>
          <a:xfrm>
            <a:off x="457200" y="548640"/>
            <a:ext cx="64008" cy="64008"/>
          </a:xfrm>
          <a:prstGeom prst="rect">
            <a:avLst/>
          </a:prstGeom>
          <a:solidFill>
            <a:srgbClr val="1F3A6E"/>
          </a:solidFill>
          <a:ln/>
        </p:spPr>
      </p:sp>
      <p:sp>
        <p:nvSpPr>
          <p:cNvPr id="10" name="Shape 8"/>
          <p:cNvSpPr/>
          <p:nvPr/>
        </p:nvSpPr>
        <p:spPr>
          <a:xfrm>
            <a:off x="539496" y="548640"/>
            <a:ext cx="64008" cy="64008"/>
          </a:xfrm>
          <a:prstGeom prst="rect">
            <a:avLst/>
          </a:prstGeom>
          <a:solidFill>
            <a:srgbClr val="3F8FD0"/>
          </a:solidFill>
          <a:ln/>
        </p:spPr>
      </p:sp>
      <p:sp>
        <p:nvSpPr>
          <p:cNvPr id="11" name="Shape 9"/>
          <p:cNvSpPr/>
          <p:nvPr/>
        </p:nvSpPr>
        <p:spPr>
          <a:xfrm>
            <a:off x="621792" y="548640"/>
            <a:ext cx="64008" cy="64008"/>
          </a:xfrm>
          <a:prstGeom prst="rect">
            <a:avLst/>
          </a:prstGeom>
          <a:solidFill>
            <a:srgbClr val="1F3A6E"/>
          </a:solidFill>
          <a:ln/>
        </p:spPr>
      </p:sp>
      <p:sp>
        <p:nvSpPr>
          <p:cNvPr id="12" name="Text 10"/>
          <p:cNvSpPr/>
          <p:nvPr/>
        </p:nvSpPr>
        <p:spPr>
          <a:xfrm>
            <a:off x="868680" y="256032"/>
            <a:ext cx="9692640" cy="640080"/>
          </a:xfrm>
          <a:prstGeom prst="rect">
            <a:avLst/>
          </a:prstGeom>
          <a:noFill/>
          <a:ln/>
        </p:spPr>
        <p:txBody>
          <a:bodyPr wrap="square" lIns="0" tIns="0" rIns="0" bIns="0" rtlCol="0" anchor="ctr"/>
          <a:lstStyle/>
          <a:p>
            <a:pPr indent="0" marL="0">
              <a:buNone/>
            </a:pPr>
            <a:r>
              <a:rPr lang="en-US" sz="2800" b="1" dirty="0">
                <a:solidFill>
                  <a:srgbClr val="1F3A6E"/>
                </a:solidFill>
                <a:latin typeface="Calibri" pitchFamily="34" charset="0"/>
                <a:ea typeface="Calibri" pitchFamily="34" charset="-122"/>
                <a:cs typeface="Calibri" pitchFamily="34" charset="-120"/>
              </a:rPr>
              <a:t>Nhập Liệu: Thầu Phụ, Dòng Tiền &amp; Hình Ảnh Công Trường</a:t>
            </a:r>
            <a:endParaRPr lang="en-US" sz="2800" dirty="0"/>
          </a:p>
        </p:txBody>
      </p:sp>
      <p:sp>
        <p:nvSpPr>
          <p:cNvPr id="13" name="Shape 11"/>
          <p:cNvSpPr/>
          <p:nvPr/>
        </p:nvSpPr>
        <p:spPr>
          <a:xfrm>
            <a:off x="9503359" y="0"/>
            <a:ext cx="384048" cy="384048"/>
          </a:xfrm>
          <a:prstGeom prst="rect">
            <a:avLst/>
          </a:prstGeom>
          <a:solidFill>
            <a:srgbClr val="AEE0F5"/>
          </a:solidFill>
          <a:ln/>
        </p:spPr>
      </p:sp>
      <p:sp>
        <p:nvSpPr>
          <p:cNvPr id="14" name="Shape 12"/>
          <p:cNvSpPr/>
          <p:nvPr/>
        </p:nvSpPr>
        <p:spPr>
          <a:xfrm>
            <a:off x="9887407" y="0"/>
            <a:ext cx="384048" cy="384048"/>
          </a:xfrm>
          <a:prstGeom prst="rect">
            <a:avLst/>
          </a:prstGeom>
          <a:solidFill>
            <a:srgbClr val="3F8FD0"/>
          </a:solidFill>
          <a:ln/>
        </p:spPr>
      </p:sp>
      <p:sp>
        <p:nvSpPr>
          <p:cNvPr id="15" name="Shape 13"/>
          <p:cNvSpPr/>
          <p:nvPr/>
        </p:nvSpPr>
        <p:spPr>
          <a:xfrm>
            <a:off x="10655503" y="0"/>
            <a:ext cx="384048" cy="384048"/>
          </a:xfrm>
          <a:prstGeom prst="rect">
            <a:avLst/>
          </a:prstGeom>
          <a:solidFill>
            <a:srgbClr val="3F8FD0"/>
          </a:solidFill>
          <a:ln/>
        </p:spPr>
      </p:sp>
      <p:sp>
        <p:nvSpPr>
          <p:cNvPr id="16" name="Shape 14"/>
          <p:cNvSpPr/>
          <p:nvPr/>
        </p:nvSpPr>
        <p:spPr>
          <a:xfrm>
            <a:off x="11039551" y="0"/>
            <a:ext cx="384048" cy="384048"/>
          </a:xfrm>
          <a:prstGeom prst="rect">
            <a:avLst/>
          </a:prstGeom>
          <a:solidFill>
            <a:srgbClr val="AEE0F5"/>
          </a:solidFill>
          <a:ln/>
        </p:spPr>
      </p:sp>
      <p:sp>
        <p:nvSpPr>
          <p:cNvPr id="17" name="Shape 15"/>
          <p:cNvSpPr/>
          <p:nvPr/>
        </p:nvSpPr>
        <p:spPr>
          <a:xfrm>
            <a:off x="11423599" y="0"/>
            <a:ext cx="384048" cy="384048"/>
          </a:xfrm>
          <a:prstGeom prst="rect">
            <a:avLst/>
          </a:prstGeom>
          <a:solidFill>
            <a:srgbClr val="3F8FD0"/>
          </a:solidFill>
          <a:ln/>
        </p:spPr>
      </p:sp>
      <p:sp>
        <p:nvSpPr>
          <p:cNvPr id="18" name="Shape 16"/>
          <p:cNvSpPr/>
          <p:nvPr/>
        </p:nvSpPr>
        <p:spPr>
          <a:xfrm>
            <a:off x="11807647" y="0"/>
            <a:ext cx="384048" cy="384048"/>
          </a:xfrm>
          <a:prstGeom prst="rect">
            <a:avLst/>
          </a:prstGeom>
          <a:solidFill>
            <a:srgbClr val="AEE0F5"/>
          </a:solidFill>
          <a:ln/>
        </p:spPr>
      </p:sp>
      <p:sp>
        <p:nvSpPr>
          <p:cNvPr id="19" name="Shape 17"/>
          <p:cNvSpPr/>
          <p:nvPr/>
        </p:nvSpPr>
        <p:spPr>
          <a:xfrm>
            <a:off x="10271455" y="384048"/>
            <a:ext cx="384048" cy="384048"/>
          </a:xfrm>
          <a:prstGeom prst="rect">
            <a:avLst/>
          </a:prstGeom>
          <a:solidFill>
            <a:srgbClr val="3F8FD0"/>
          </a:solidFill>
          <a:ln/>
        </p:spPr>
      </p:sp>
      <p:sp>
        <p:nvSpPr>
          <p:cNvPr id="20" name="Shape 18"/>
          <p:cNvSpPr/>
          <p:nvPr/>
        </p:nvSpPr>
        <p:spPr>
          <a:xfrm>
            <a:off x="11423599" y="384048"/>
            <a:ext cx="384048" cy="384048"/>
          </a:xfrm>
          <a:prstGeom prst="rect">
            <a:avLst/>
          </a:prstGeom>
          <a:solidFill>
            <a:srgbClr val="AEE0F5"/>
          </a:solidFill>
          <a:ln/>
        </p:spPr>
      </p:sp>
      <p:sp>
        <p:nvSpPr>
          <p:cNvPr id="21" name="Shape 19"/>
          <p:cNvSpPr/>
          <p:nvPr/>
        </p:nvSpPr>
        <p:spPr>
          <a:xfrm>
            <a:off x="11807647" y="384048"/>
            <a:ext cx="384048" cy="384048"/>
          </a:xfrm>
          <a:prstGeom prst="rect">
            <a:avLst/>
          </a:prstGeom>
          <a:solidFill>
            <a:srgbClr val="3F8FD0"/>
          </a:solidFill>
          <a:ln/>
        </p:spPr>
      </p:sp>
      <p:sp>
        <p:nvSpPr>
          <p:cNvPr id="22" name="Shape 20"/>
          <p:cNvSpPr/>
          <p:nvPr/>
        </p:nvSpPr>
        <p:spPr>
          <a:xfrm>
            <a:off x="11039551" y="768096"/>
            <a:ext cx="384048" cy="384048"/>
          </a:xfrm>
          <a:prstGeom prst="rect">
            <a:avLst/>
          </a:prstGeom>
          <a:solidFill>
            <a:srgbClr val="AEE0F5"/>
          </a:solidFill>
          <a:ln/>
        </p:spPr>
      </p:sp>
      <p:sp>
        <p:nvSpPr>
          <p:cNvPr id="23" name="Shape 21"/>
          <p:cNvSpPr/>
          <p:nvPr/>
        </p:nvSpPr>
        <p:spPr>
          <a:xfrm>
            <a:off x="11807647" y="768096"/>
            <a:ext cx="384048" cy="384048"/>
          </a:xfrm>
          <a:prstGeom prst="rect">
            <a:avLst/>
          </a:prstGeom>
          <a:solidFill>
            <a:srgbClr val="AEE0F5"/>
          </a:solidFill>
          <a:ln/>
        </p:spPr>
      </p:sp>
      <p:sp>
        <p:nvSpPr>
          <p:cNvPr id="25" name="Shape 23"/>
          <p:cNvSpPr/>
          <p:nvPr/>
        </p:nvSpPr>
        <p:spPr>
          <a:xfrm>
            <a:off x="603504" y="2271924"/>
            <a:ext cx="6473152" cy="3161311"/>
          </a:xfrm>
          <a:prstGeom prst="rect">
            <a:avLst/>
          </a:prstGeom>
          <a:solidFill>
            <a:srgbClr val="F2F2F2"/>
          </a:solidFill>
          <a:ln w="9525">
            <a:solidFill>
              <a:srgbClr val="BFBFBF"/>
            </a:solidFill>
            <a:prstDash val="solid"/>
          </a:ln>
        </p:spPr>
      </p:sp>
      <p:pic>
        <p:nvPicPr>
          <p:cNvPr id="26" name="Image 0" descr="screenshot">    </p:cNvPr>
          <p:cNvPicPr>
            <a:picLocks noChangeAspect="1"/>
          </p:cNvPicPr>
          <p:nvPr/>
        </p:nvPicPr>
        <p:blipFill>
          <a:blip r:embed="rId1"/>
          <a:stretch>
            <a:fillRect/>
          </a:stretch>
        </p:blipFill>
        <p:spPr>
          <a:xfrm>
            <a:off x="640080" y="2308500"/>
            <a:ext cx="6400000" cy="3088159"/>
          </a:xfrm>
          <a:prstGeom prst="rect">
            <a:avLst/>
          </a:prstGeom>
        </p:spPr>
      </p:pic>
      <p:sp>
        <p:nvSpPr>
          <p:cNvPr id="100" name="Box 1"/>
          <p:cNvSpPr/>
          <p:nvPr/>
        </p:nvSpPr>
        <p:spPr>
          <a:xfrm>
            <a:off x="1407946" y="3126445"/>
            <a:ext cx="5608764" cy="751174"/>
          </a:xfrm>
          <a:prstGeom prst="roundRect">
            <a:avLst>
              <a:gd name="adj" fmla="val 10000"/>
            </a:avLst>
          </a:prstGeom>
          <a:noFill/>
          <a:ln w="19050">
            <a:solidFill>
              <a:srgbClr val="1F3A6E"/>
            </a:solidFill>
          </a:ln>
        </p:spPr>
      </p:sp>
      <p:sp>
        <p:nvSpPr>
          <p:cNvPr id="101" name="Box 2"/>
          <p:cNvSpPr/>
          <p:nvPr/>
        </p:nvSpPr>
        <p:spPr>
          <a:xfrm>
            <a:off x="1407946" y="3961082"/>
            <a:ext cx="5608764" cy="884716"/>
          </a:xfrm>
          <a:prstGeom prst="roundRect">
            <a:avLst>
              <a:gd name="adj" fmla="val 10000"/>
            </a:avLst>
          </a:prstGeom>
          <a:noFill/>
          <a:ln w="19050">
            <a:solidFill>
              <a:srgbClr val="1F3A6E"/>
            </a:solidFill>
          </a:ln>
        </p:spPr>
      </p:sp>
      <p:sp>
        <p:nvSpPr>
          <p:cNvPr id="102" name="Box 3"/>
          <p:cNvSpPr/>
          <p:nvPr/>
        </p:nvSpPr>
        <p:spPr>
          <a:xfrm>
            <a:off x="1407946" y="4962647"/>
            <a:ext cx="5608764" cy="350548"/>
          </a:xfrm>
          <a:prstGeom prst="roundRect">
            <a:avLst>
              <a:gd name="adj" fmla="val 10000"/>
            </a:avLst>
          </a:prstGeom>
          <a:noFill/>
          <a:ln w="19050">
            <a:solidFill>
              <a:srgbClr val="1F3A6E"/>
            </a:solidFill>
          </a:ln>
        </p:spPr>
      </p:sp>
      <p:sp>
        <p:nvSpPr>
          <p:cNvPr id="200" name="Callout 1"/>
          <p:cNvSpPr/>
          <p:nvPr/>
        </p:nvSpPr>
        <p:spPr>
          <a:xfrm>
            <a:off x="1297946" y="4852647"/>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1</a:t>
            </a:r>
          </a:p>
        </p:txBody>
      </p:sp>
      <p:sp>
        <p:nvSpPr>
          <p:cNvPr id="201" name="Callout 2"/>
          <p:cNvSpPr/>
          <p:nvPr/>
        </p:nvSpPr>
        <p:spPr>
          <a:xfrm>
            <a:off x="1297946" y="3851082"/>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2</a:t>
            </a:r>
          </a:p>
        </p:txBody>
      </p:sp>
      <p:sp>
        <p:nvSpPr>
          <p:cNvPr id="202" name="Callout 3"/>
          <p:cNvSpPr/>
          <p:nvPr/>
        </p:nvSpPr>
        <p:spPr>
          <a:xfrm>
            <a:off x="1297946" y="4852647"/>
            <a:ext cx="220000" cy="220000"/>
          </a:xfrm>
          <a:prstGeom prst="ellipse">
            <a:avLst/>
          </a:prstGeom>
          <a:solidFill>
            <a:srgbClr val="1F3A6E"/>
          </a:solidFill>
          <a:ln w="9525">
            <a:solidFill>
              <a:srgbClr val="FFFFFF"/>
            </a:solidFill>
          </a:ln>
        </p:spPr>
        <p:txBody>
          <a:bodyPr wrap="square" lIns="0" tIns="0" rIns="0" bIns="0" rtlCol="0" anchor="ctr"/>
          <a:lstStyle/>
          <a:p>
            <a:pPr algn="ctr" indent="0" marL="0">
              <a:buNone/>
            </a:pPr>
            <a:r>
              <a:rPr lang="en-US" sz="1000" b="1" dirty="0">
                <a:solidFill>
                  <a:srgbClr val="FFFFFF"/>
                </a:solidFill>
                <a:latin typeface="Calibri" pitchFamily="34" charset="0"/>
              </a:rPr>
              <a:t>3</a:t>
            </a:r>
          </a:p>
        </p:txBody>
      </p:sp>
      <p:sp>
        <p:nvSpPr>
          <p:cNvPr id="300" name="Panel Header"/>
          <p:cNvSpPr/>
          <p:nvPr/>
        </p:nvSpPr>
        <p:spPr>
          <a:xfrm>
            <a:off x="7340080" y="2308500"/>
            <a:ext cx="4211840" cy="460000"/>
          </a:xfrm>
          <a:prstGeom prst="roundRect">
            <a:avLst>
              <a:gd name="adj" fmla="val 6000"/>
            </a:avLst>
          </a:prstGeom>
          <a:solidFill>
            <a:srgbClr val="3F8FD0"/>
          </a:solidFill>
          <a:ln/>
        </p:spPr>
        <p:txBody>
          <a:bodyPr wrap="square" rtlCol="0" anchor="ctr"/>
          <a:lstStyle/>
          <a:p>
            <a:pPr algn="ctr" indent="0" marL="0">
              <a:buNone/>
            </a:pPr>
            <a:r>
              <a:rPr lang="en-US" sz="1800" b="1" dirty="0">
                <a:solidFill>
                  <a:srgbClr val="FFFFFF"/>
                </a:solidFill>
                <a:latin typeface="Calibri" pitchFamily="34" charset="0"/>
              </a:rPr>
              <a:t>Mô Tả</a:t>
            </a:r>
          </a:p>
        </p:txBody>
      </p:sp>
      <p:sp>
        <p:nvSpPr>
          <p:cNvPr id="301" name="Panel Body"/>
          <p:cNvSpPr/>
          <p:nvPr/>
        </p:nvSpPr>
        <p:spPr>
          <a:xfrm>
            <a:off x="7340080" y="2828500"/>
            <a:ext cx="4211840" cy="2568159"/>
          </a:xfrm>
          <a:prstGeom prst="rect">
            <a:avLst/>
          </a:prstGeom>
          <a:solidFill>
            <a:srgbClr val="F4F8FD"/>
          </a:solidFill>
          <a:ln w="9525">
            <a:solidFill>
              <a:srgbClr val="BFBFBF"/>
            </a:solidFill>
          </a:ln>
        </p:spPr>
      </p:sp>
      <p:sp>
        <p:nvSpPr>
          <p:cNvPr id="302" name="Panel Text"/>
          <p:cNvSpPr txBox="1"/>
          <p:nvPr/>
        </p:nvSpPr>
        <p:spPr>
          <a:xfrm>
            <a:off x="7540080" y="2978500"/>
            <a:ext cx="3811840" cy="2268159"/>
          </a:xfrm>
          <a:prstGeom prst="rect">
            <a:avLst/>
          </a:prstGeom>
          <a:noFill/>
          <a:ln/>
        </p:spPr>
        <p:txBody>
          <a:bodyPr wrap="square" lIns="0" tIns="0" rIns="0" bIns="0" rtlCol="0" anchor="t"/>
          <a:lstStyle/>
          <a:p>
            <a:pPr indent="0" marL="0">
              <a:lnSpc>
                <a:spcPct val="106000"/>
              </a:lnSpc>
              <a:spcAft>
                <a:spcPts val="500"/>
              </a:spcAft>
              <a:buNone/>
            </a:pPr>
            <a:r>
              <a:rPr lang="en-US" sz="1100" b="1" dirty="0">
                <a:solidFill>
                  <a:srgbClr val="1F3A6E"/>
                </a:solidFill>
                <a:latin typeface="Calibri" pitchFamily="34" charset="0"/>
              </a:rPr>
              <a:t>1  </a:t>
            </a:r>
            <a:r>
              <a:rPr lang="en-US" sz="1100" dirty="0">
                <a:solidFill>
                  <a:srgbClr val="262626"/>
                </a:solidFill>
                <a:latin typeface="Calibri" pitchFamily="34" charset="0"/>
              </a:rPr>
              <a:t>Tiếp tục nhập các dòng thầu phụ khi cần; tổng số liệu sẽ tự động cập nhật vào tab Outsourcing và thẻ Budget Execution Status của công trường dịch vụ.</a:t>
            </a:r>
          </a:p>
          <a:p>
            <a:pPr indent="0" marL="0">
              <a:lnSpc>
                <a:spcPct val="106000"/>
              </a:lnSpc>
              <a:spcAft>
                <a:spcPts val="500"/>
              </a:spcAft>
              <a:buNone/>
            </a:pPr>
            <a:r>
              <a:rPr lang="en-US" sz="1100" b="1" dirty="0">
                <a:solidFill>
                  <a:srgbClr val="1F3A6E"/>
                </a:solidFill>
                <a:latin typeface="Calibri" pitchFamily="34" charset="0"/>
              </a:rPr>
              <a:t>2  </a:t>
            </a:r>
            <a:r>
              <a:rPr lang="en-US" sz="1100" dirty="0">
                <a:solidFill>
                  <a:srgbClr val="262626"/>
                </a:solidFill>
                <a:latin typeface="Calibri" pitchFamily="34" charset="0"/>
              </a:rPr>
              <a:t>6. Monthly Cash Flow (tab Cash Flow): nhập Năm, Tháng, Cash In, Cash Out (dưới dạng số dương) và Confirmed Progress; Cash Balance được tính tự động và số VND được quy đổi sang nghìn USD khi lưu. Sử dụng + Add month để thêm dòng mới.</a:t>
            </a:r>
          </a:p>
          <a:p>
            <a:pPr indent="0" marL="0">
              <a:lnSpc>
                <a:spcPct val="106000"/>
              </a:lnSpc>
              <a:spcAft>
                <a:spcPts val="400"/>
              </a:spcAft>
              <a:buNone/>
            </a:pPr>
            <a:r>
              <a:rPr lang="en-US" sz="1100" b="1" dirty="0">
                <a:solidFill>
                  <a:srgbClr val="1F3A6E"/>
                </a:solidFill>
                <a:latin typeface="Calibri" pitchFamily="34" charset="0"/>
              </a:rPr>
              <a:t>3  </a:t>
            </a:r>
            <a:r>
              <a:rPr lang="en-US" sz="1100" dirty="0">
                <a:solidFill>
                  <a:srgbClr val="262626"/>
                </a:solidFill>
                <a:latin typeface="Calibri" pitchFamily="34" charset="0"/>
              </a:rPr>
              <a:t>Site Photos: sử dụng Select Photos để tải ảnh lên cho công trường dịch vụ.</a:t>
            </a:r>
          </a:p>
        </p:txBody>
      </p:sp>
      <p:sp>
        <p:nvSpPr>
          <p:cNvPr id="27" name="Shape 24"/>
          <p:cNvSpPr/>
          <p:nvPr/>
        </p:nvSpPr>
        <p:spPr>
          <a:xfrm>
            <a:off x="320040" y="6473952"/>
            <a:ext cx="64008" cy="64008"/>
          </a:xfrm>
          <a:prstGeom prst="rect">
            <a:avLst/>
          </a:prstGeom>
          <a:solidFill>
            <a:srgbClr val="1F3A6E"/>
          </a:solidFill>
          <a:ln/>
        </p:spPr>
      </p:sp>
      <p:sp>
        <p:nvSpPr>
          <p:cNvPr id="28" name="Shape 25"/>
          <p:cNvSpPr/>
          <p:nvPr/>
        </p:nvSpPr>
        <p:spPr>
          <a:xfrm>
            <a:off x="402336" y="6473952"/>
            <a:ext cx="64008" cy="64008"/>
          </a:xfrm>
          <a:prstGeom prst="rect">
            <a:avLst/>
          </a:prstGeom>
          <a:solidFill>
            <a:srgbClr val="3F8FD0"/>
          </a:solidFill>
          <a:ln/>
        </p:spPr>
      </p:sp>
      <p:sp>
        <p:nvSpPr>
          <p:cNvPr id="29" name="Shape 26"/>
          <p:cNvSpPr/>
          <p:nvPr/>
        </p:nvSpPr>
        <p:spPr>
          <a:xfrm>
            <a:off x="484632" y="6473952"/>
            <a:ext cx="64008" cy="64008"/>
          </a:xfrm>
          <a:prstGeom prst="rect">
            <a:avLst/>
          </a:prstGeom>
          <a:solidFill>
            <a:srgbClr val="1F3A6E"/>
          </a:solidFill>
          <a:ln/>
        </p:spPr>
      </p:sp>
      <p:sp>
        <p:nvSpPr>
          <p:cNvPr id="30" name="Shape 27"/>
          <p:cNvSpPr/>
          <p:nvPr/>
        </p:nvSpPr>
        <p:spPr>
          <a:xfrm>
            <a:off x="320040" y="6556248"/>
            <a:ext cx="64008" cy="64008"/>
          </a:xfrm>
          <a:prstGeom prst="rect">
            <a:avLst/>
          </a:prstGeom>
          <a:solidFill>
            <a:srgbClr val="3F8FD0"/>
          </a:solidFill>
          <a:ln/>
        </p:spPr>
      </p:sp>
      <p:sp>
        <p:nvSpPr>
          <p:cNvPr id="31" name="Shape 28"/>
          <p:cNvSpPr/>
          <p:nvPr/>
        </p:nvSpPr>
        <p:spPr>
          <a:xfrm>
            <a:off x="402336" y="6556248"/>
            <a:ext cx="64008" cy="64008"/>
          </a:xfrm>
          <a:prstGeom prst="rect">
            <a:avLst/>
          </a:prstGeom>
          <a:solidFill>
            <a:srgbClr val="1F3A6E"/>
          </a:solidFill>
          <a:ln/>
        </p:spPr>
      </p:sp>
      <p:sp>
        <p:nvSpPr>
          <p:cNvPr id="32" name="Shape 29"/>
          <p:cNvSpPr/>
          <p:nvPr/>
        </p:nvSpPr>
        <p:spPr>
          <a:xfrm>
            <a:off x="484632" y="6556248"/>
            <a:ext cx="64008" cy="64008"/>
          </a:xfrm>
          <a:prstGeom prst="rect">
            <a:avLst/>
          </a:prstGeom>
          <a:solidFill>
            <a:srgbClr val="3F8FD0"/>
          </a:solidFill>
          <a:ln/>
        </p:spPr>
      </p:sp>
      <p:sp>
        <p:nvSpPr>
          <p:cNvPr id="33" name="Shape 30"/>
          <p:cNvSpPr/>
          <p:nvPr/>
        </p:nvSpPr>
        <p:spPr>
          <a:xfrm>
            <a:off x="320040" y="6638544"/>
            <a:ext cx="64008" cy="64008"/>
          </a:xfrm>
          <a:prstGeom prst="rect">
            <a:avLst/>
          </a:prstGeom>
          <a:solidFill>
            <a:srgbClr val="1F3A6E"/>
          </a:solidFill>
          <a:ln/>
        </p:spPr>
      </p:sp>
      <p:sp>
        <p:nvSpPr>
          <p:cNvPr id="34" name="Shape 31"/>
          <p:cNvSpPr/>
          <p:nvPr/>
        </p:nvSpPr>
        <p:spPr>
          <a:xfrm>
            <a:off x="402336" y="6638544"/>
            <a:ext cx="64008" cy="64008"/>
          </a:xfrm>
          <a:prstGeom prst="rect">
            <a:avLst/>
          </a:prstGeom>
          <a:solidFill>
            <a:srgbClr val="3F8FD0"/>
          </a:solidFill>
          <a:ln/>
        </p:spPr>
      </p:sp>
      <p:sp>
        <p:nvSpPr>
          <p:cNvPr id="35" name="Shape 32"/>
          <p:cNvSpPr/>
          <p:nvPr/>
        </p:nvSpPr>
        <p:spPr>
          <a:xfrm>
            <a:off x="484632" y="6638544"/>
            <a:ext cx="64008" cy="64008"/>
          </a:xfrm>
          <a:prstGeom prst="rect">
            <a:avLst/>
          </a:prstGeom>
          <a:solidFill>
            <a:srgbClr val="1F3A6E"/>
          </a:solidFill>
          <a:ln/>
        </p:spPr>
      </p:sp>
      <p:sp>
        <p:nvSpPr>
          <p:cNvPr id="36" name="Text 33"/>
          <p:cNvSpPr/>
          <p:nvPr/>
        </p:nvSpPr>
        <p:spPr>
          <a:xfrm>
            <a:off x="502920" y="6419088"/>
            <a:ext cx="1828800" cy="320040"/>
          </a:xfrm>
          <a:prstGeom prst="rect">
            <a:avLst/>
          </a:prstGeom>
          <a:noFill/>
          <a:ln/>
        </p:spPr>
        <p:txBody>
          <a:bodyPr wrap="square" lIns="0" tIns="0" rIns="0" bIns="0" rtlCol="0" anchor="ctr"/>
          <a:lstStyle/>
          <a:p>
            <a:pPr indent="0" marL="0">
              <a:buNone/>
            </a:pPr>
            <a:r>
              <a:rPr lang="en-US" sz="1100" b="1" dirty="0">
                <a:solidFill>
                  <a:srgbClr val="1F3A6E"/>
                </a:solidFill>
                <a:latin typeface="Calibri" pitchFamily="34" charset="0"/>
                <a:ea typeface="Calibri" pitchFamily="34" charset="-122"/>
                <a:cs typeface="Calibri" pitchFamily="34" charset="-120"/>
              </a:rPr>
              <a:t>infoERP</a:t>
            </a:r>
            <a:endParaRPr lang="en-US" sz="1100" dirty="0"/>
          </a:p>
        </p:txBody>
      </p:sp>
      <p:sp>
        <p:nvSpPr>
          <p:cNvPr id="37" name="Text 34"/>
          <p:cNvSpPr/>
          <p:nvPr/>
        </p:nvSpPr>
        <p:spPr>
          <a:xfrm>
            <a:off x="9814255" y="6446520"/>
            <a:ext cx="2103120" cy="274320"/>
          </a:xfrm>
          <a:prstGeom prst="rect">
            <a:avLst/>
          </a:prstGeom>
          <a:noFill/>
          <a:ln/>
        </p:spPr>
        <p:txBody>
          <a:bodyPr wrap="square" lIns="0" tIns="0" rIns="0" bIns="0"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PIMS Dashboard</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F3A6E"/>
        </a:solidFill>
      </p:bgPr>
    </p:bg>
    <p:spTree>
      <p:nvGrpSpPr>
        <p:cNvPr id="1" name=""/>
        <p:cNvGrpSpPr/>
        <p:nvPr/>
      </p:nvGrpSpPr>
      <p:grpSpPr>
        <a:xfrm>
          <a:off x="0" y="0"/>
          <a:ext cx="0" cy="0"/>
          <a:chOff x="0" y="0"/>
          <a:chExt cx="0" cy="0"/>
        </a:xfrm>
      </p:grpSpPr>
      <p:sp>
        <p:nvSpPr>
          <p:cNvPr id="2" name="Text 0"/>
          <p:cNvSpPr/>
          <p:nvPr/>
        </p:nvSpPr>
        <p:spPr>
          <a:xfrm>
            <a:off x="914400" y="2286000"/>
            <a:ext cx="7315200" cy="10972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Cảm ơn!</a:t>
            </a:r>
            <a:endParaRPr lang="en-US" sz="4400" dirty="0"/>
          </a:p>
        </p:txBody>
      </p:sp>
      <p:sp>
        <p:nvSpPr>
          <p:cNvPr id="3" name="Text 1"/>
          <p:cNvSpPr/>
          <p:nvPr/>
        </p:nvSpPr>
        <p:spPr>
          <a:xfrm>
            <a:off x="914400" y="5120640"/>
            <a:ext cx="27432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infoERP</a:t>
            </a:r>
            <a:endParaRPr lang="en-US" sz="2000" dirty="0"/>
          </a:p>
        </p:txBody>
      </p:sp>
      <p:sp>
        <p:nvSpPr>
          <p:cNvPr id="4" name="Text 2"/>
          <p:cNvSpPr/>
          <p:nvPr/>
        </p:nvSpPr>
        <p:spPr>
          <a:xfrm>
            <a:off x="914400" y="5577840"/>
            <a:ext cx="5486400" cy="365760"/>
          </a:xfrm>
          <a:prstGeom prst="rect">
            <a:avLst/>
          </a:prstGeom>
          <a:noFill/>
          <a:ln/>
        </p:spPr>
        <p:txBody>
          <a:bodyPr wrap="square" lIns="0" tIns="0" rIns="0" bIns="0" rtlCol="0" anchor="ctr"/>
          <a:lstStyle/>
          <a:p>
            <a:pPr indent="0" marL="0">
              <a:buNone/>
            </a:pPr>
            <a:r>
              <a:rPr lang="en-US" sz="1300" dirty="0">
                <a:solidFill>
                  <a:srgbClr val="AEE0F5"/>
                </a:solidFill>
                <a:latin typeface="Calibri" pitchFamily="34" charset="0"/>
                <a:ea typeface="Calibri" pitchFamily="34" charset="-122"/>
                <a:cs typeface="Calibri" pitchFamily="34" charset="-120"/>
              </a:rPr>
              <a:t>PIMS Dashboard – Hướng Dẫn Sử Dụng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2026-10-09T08:57:08Z</dcterms:created>
  <dcterms:modified xsi:type="dcterms:W3CDTF">2026-10-09T08:57:08Z</dcterms:modified>
</cp:coreProperties>
</file>