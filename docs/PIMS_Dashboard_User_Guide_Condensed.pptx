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3" r:id="rId6"/>
    <p:sldId id="264" r:id="rId7"/>
    <p:sldId id="260" r:id="rId8"/>
    <p:sldId id="295" r:id="rId9"/>
    <p:sldId id="261" r:id="rId10"/>
    <p:sldId id="262" r:id="rId11"/>
    <p:sldId id="265" r:id="rId12"/>
    <p:sldId id="266" r:id="rId13"/>
    <p:sldId id="267" r:id="rId14"/>
    <p:sldId id="299" r:id="rId15"/>
    <p:sldId id="268" r:id="rId16"/>
    <p:sldId id="269" r:id="rId17"/>
    <p:sldId id="270" r:id="rId18"/>
    <p:sldId id="271" r:id="rId19"/>
    <p:sldId id="273" r:id="rId20"/>
    <p:sldId id="275" r:id="rId21"/>
    <p:sldId id="276" r:id="rId22"/>
    <p:sldId id="277" r:id="rId23"/>
    <p:sldId id="296" r:id="rId24"/>
    <p:sldId id="297" r:id="rId25"/>
    <p:sldId id="278" r:id="rId26"/>
    <p:sldId id="29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3A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50" d="100"/>
          <a:sy n="150" d="100"/>
        </p:scale>
        <p:origin x="-432" y="-12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0968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57729-5E9F-9A87-F206-E8DD2A51B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2D9E8D-6ACB-18BC-C529-BCF52592D7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06534E-6D24-0953-8441-CD52AE49EF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24BCE0-9774-3270-07C9-016B7261D3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9728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FA1F4-2CB1-2030-7E5C-D37B13317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A0B2F1-0116-34FC-3D87-D483236740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80C5F9-BC1F-F28E-AA29-8D006FD752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9263C2-E659-1F2A-BF65-7EE76646FF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0576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84968-04EA-6671-60EE-4057067FD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1E57CA-DE06-40E5-768E-F1C16E184D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620821-28D7-E848-2A02-B617FCFF52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0339F3-D4AD-1CF2-B1CF-20497AFBED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62186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D9EBE-6712-4147-FC6A-36DE4EC55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4C95AA-B8E4-9D7B-4E2F-E3BD7A46DB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0A209F-0123-1162-842B-26649FD241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F6E0A1-9FBD-4D01-55AB-78E32D594A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565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D1A95-DBE4-C2FA-9DEC-E1950F688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0355AD-191B-475C-8F8D-DFA66CBD94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CBA3DE-BCDD-E093-6A20-85D58D76EB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0327C0-1440-9C94-3410-6FC08FDDB3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24220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502920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30936" y="502920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13232" y="502920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" y="585216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30936" y="585216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13232" y="585216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" y="667512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30936" y="667512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13232" y="667512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14400" y="3840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14400" y="804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14400" y="2880360"/>
            <a:ext cx="8412480" cy="132588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188720" y="297180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 – User Guide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1188720" y="3703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D96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Dashboard Viewer &amp; Data Manager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772400" y="3703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0839" y="29260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– PIMS Dashboard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98855" y="1593342"/>
            <a:ext cx="10332720" cy="3842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</a:t>
            </a: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guide walks through the PIMS Management Dashboard end to end — the public-facing views any visitor can browse, and the Data Entry screens used to feed each report.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</a:t>
            </a: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Executives and stakeholders who monitor company and site performance, and Site Managers / Data Managers who maintain monthly progress, revenue, cost, outsourcing and cash-flow data.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</a:t>
            </a: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Dashboard (company-wide KPIs) → Construction Project Dashboard → Service Project Dashboard → Data Entry for Construction sites → Data Entry for Service sites.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Access: </a:t>
            </a: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Dashboard and project dashboards are read-only and require no login. Data Entry screens are accessed per site via the left-hand site tree, after logging in with a Data Manager account.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Navigation: </a:t>
            </a: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left panel to pick a site (Construction / Service / TCC / DE HEIM). Use Exchange Rate (USD / KRW / VND) and Unit (USD / K USD) at the top of every screen to change the display currency.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C983486A-2F5D-9986-26C0-DE397249BD5E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7" name="Shape 1">
              <a:extLst>
                <a:ext uri="{FF2B5EF4-FFF2-40B4-BE49-F238E27FC236}">
                  <a16:creationId xmlns:a16="http://schemas.microsoft.com/office/drawing/2014/main" id="{0FDEFC72-DFB7-5FF7-C5A3-33109F268F04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Shape 2">
              <a:extLst>
                <a:ext uri="{FF2B5EF4-FFF2-40B4-BE49-F238E27FC236}">
                  <a16:creationId xmlns:a16="http://schemas.microsoft.com/office/drawing/2014/main" id="{FA5D9E53-DC91-F438-152E-C564A6C7AFBA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3">
              <a:extLst>
                <a:ext uri="{FF2B5EF4-FFF2-40B4-BE49-F238E27FC236}">
                  <a16:creationId xmlns:a16="http://schemas.microsoft.com/office/drawing/2014/main" id="{710ED4EF-72A0-67EC-7F1B-48FEC57AC24B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4">
              <a:extLst>
                <a:ext uri="{FF2B5EF4-FFF2-40B4-BE49-F238E27FC236}">
                  <a16:creationId xmlns:a16="http://schemas.microsoft.com/office/drawing/2014/main" id="{B0BBE8C1-E797-2124-D751-06B8719538C9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5">
              <a:extLst>
                <a:ext uri="{FF2B5EF4-FFF2-40B4-BE49-F238E27FC236}">
                  <a16:creationId xmlns:a16="http://schemas.microsoft.com/office/drawing/2014/main" id="{7A47A71E-7ED6-3F8E-4F98-73BA69682430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6">
              <a:extLst>
                <a:ext uri="{FF2B5EF4-FFF2-40B4-BE49-F238E27FC236}">
                  <a16:creationId xmlns:a16="http://schemas.microsoft.com/office/drawing/2014/main" id="{C329F704-E2F8-082E-F215-5E48FEF0D0DE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7">
              <a:extLst>
                <a:ext uri="{FF2B5EF4-FFF2-40B4-BE49-F238E27FC236}">
                  <a16:creationId xmlns:a16="http://schemas.microsoft.com/office/drawing/2014/main" id="{3AF2C597-4B63-D1C3-871A-CD98ABBF919A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8">
              <a:extLst>
                <a:ext uri="{FF2B5EF4-FFF2-40B4-BE49-F238E27FC236}">
                  <a16:creationId xmlns:a16="http://schemas.microsoft.com/office/drawing/2014/main" id="{B7648809-CEFA-E714-CAA7-7004AFF77649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9">
              <a:extLst>
                <a:ext uri="{FF2B5EF4-FFF2-40B4-BE49-F238E27FC236}">
                  <a16:creationId xmlns:a16="http://schemas.microsoft.com/office/drawing/2014/main" id="{AB380E78-43C4-7D96-2426-D30FB6E5DCBD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078EFB0C-C7FF-B3C7-3F5D-8307C6AAFFA0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7" name="Shape 24">
              <a:extLst>
                <a:ext uri="{FF2B5EF4-FFF2-40B4-BE49-F238E27FC236}">
                  <a16:creationId xmlns:a16="http://schemas.microsoft.com/office/drawing/2014/main" id="{9BAA19CE-6B75-B52F-069E-70CD1412F375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Shape 25">
              <a:extLst>
                <a:ext uri="{FF2B5EF4-FFF2-40B4-BE49-F238E27FC236}">
                  <a16:creationId xmlns:a16="http://schemas.microsoft.com/office/drawing/2014/main" id="{673714CA-280C-E824-35E9-9A1B29C01E1A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6">
              <a:extLst>
                <a:ext uri="{FF2B5EF4-FFF2-40B4-BE49-F238E27FC236}">
                  <a16:creationId xmlns:a16="http://schemas.microsoft.com/office/drawing/2014/main" id="{D37373D6-DB30-39DB-E660-6FAD30AC012F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7">
              <a:extLst>
                <a:ext uri="{FF2B5EF4-FFF2-40B4-BE49-F238E27FC236}">
                  <a16:creationId xmlns:a16="http://schemas.microsoft.com/office/drawing/2014/main" id="{B09F2DFE-57B0-7C22-BC72-7A367E8B5563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8">
              <a:extLst>
                <a:ext uri="{FF2B5EF4-FFF2-40B4-BE49-F238E27FC236}">
                  <a16:creationId xmlns:a16="http://schemas.microsoft.com/office/drawing/2014/main" id="{4448D449-9E7A-54E4-F40A-1B1F227A8421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9">
              <a:extLst>
                <a:ext uri="{FF2B5EF4-FFF2-40B4-BE49-F238E27FC236}">
                  <a16:creationId xmlns:a16="http://schemas.microsoft.com/office/drawing/2014/main" id="{966DB12F-542B-9A40-785C-2C2C58876C28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30">
              <a:extLst>
                <a:ext uri="{FF2B5EF4-FFF2-40B4-BE49-F238E27FC236}">
                  <a16:creationId xmlns:a16="http://schemas.microsoft.com/office/drawing/2014/main" id="{55DB26D6-A11C-0879-24E8-00B3C9E3AFB4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1">
              <a:extLst>
                <a:ext uri="{FF2B5EF4-FFF2-40B4-BE49-F238E27FC236}">
                  <a16:creationId xmlns:a16="http://schemas.microsoft.com/office/drawing/2014/main" id="{D4364774-6F96-3FF7-1AA9-B28575A0984A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2">
              <a:extLst>
                <a:ext uri="{FF2B5EF4-FFF2-40B4-BE49-F238E27FC236}">
                  <a16:creationId xmlns:a16="http://schemas.microsoft.com/office/drawing/2014/main" id="{24E584C9-8A05-EE8F-5AA1-CFAA126D506C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6" name="Text 33">
            <a:extLst>
              <a:ext uri="{FF2B5EF4-FFF2-40B4-BE49-F238E27FC236}">
                <a16:creationId xmlns:a16="http://schemas.microsoft.com/office/drawing/2014/main" id="{5471630A-7D2D-CA9E-8C39-3C318596EB36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457200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30936" y="457200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13232" y="457200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" y="539496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30936" y="539496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13232" y="539496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" y="621792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30936" y="621792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13232" y="621792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14400" y="2743200"/>
            <a:ext cx="1417320" cy="1417320"/>
          </a:xfrm>
          <a:prstGeom prst="rect">
            <a:avLst/>
          </a:prstGeom>
          <a:solidFill>
            <a:srgbClr val="1F3A6E"/>
          </a:solidFill>
          <a:ln/>
          <a:effectLst>
            <a:outerShdw blurRad="762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14400" y="27432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400" dirty="0"/>
          </a:p>
        </p:txBody>
      </p:sp>
      <p:sp>
        <p:nvSpPr>
          <p:cNvPr id="24" name="Text 22"/>
          <p:cNvSpPr/>
          <p:nvPr/>
        </p:nvSpPr>
        <p:spPr>
          <a:xfrm>
            <a:off x="914400" y="43434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Viewer - Main Dashboard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73">
            <a:extLst>
              <a:ext uri="{FF2B5EF4-FFF2-40B4-BE49-F238E27FC236}">
                <a16:creationId xmlns:a16="http://schemas.microsoft.com/office/drawing/2014/main" id="{18DED404-9B27-31C2-3E30-3F8F10F33C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045" y="2053194"/>
            <a:ext cx="7304050" cy="3384617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F758668-28C2-B874-3125-4569E49026DD}"/>
              </a:ext>
            </a:extLst>
          </p:cNvPr>
          <p:cNvGrpSpPr/>
          <p:nvPr/>
        </p:nvGrpSpPr>
        <p:grpSpPr>
          <a:xfrm>
            <a:off x="320040" y="491129"/>
            <a:ext cx="228600" cy="228600"/>
            <a:chOff x="457200" y="384048"/>
            <a:chExt cx="228600" cy="228600"/>
          </a:xfrm>
        </p:grpSpPr>
        <p:sp>
          <p:nvSpPr>
            <p:cNvPr id="3" name="Shape 1"/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Shape 2"/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Shape 3"/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Shape 4"/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Shape 5"/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Shape 6"/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Shape 7"/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Shape 8"/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Shape 9"/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 10"/>
          <p:cNvSpPr/>
          <p:nvPr/>
        </p:nvSpPr>
        <p:spPr>
          <a:xfrm>
            <a:off x="745067" y="29150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Dashboard: Filters &amp; Summary KPIs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Panel Header"/>
          <p:cNvSpPr/>
          <p:nvPr/>
        </p:nvSpPr>
        <p:spPr>
          <a:xfrm>
            <a:off x="7595807" y="2051075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Description</a:t>
            </a:r>
          </a:p>
        </p:txBody>
      </p:sp>
      <p:sp>
        <p:nvSpPr>
          <p:cNvPr id="61" name="Panel Body"/>
          <p:cNvSpPr/>
          <p:nvPr/>
        </p:nvSpPr>
        <p:spPr>
          <a:xfrm>
            <a:off x="7595807" y="2579595"/>
            <a:ext cx="4211840" cy="2858216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2" name="Panel Text"/>
          <p:cNvSpPr txBox="1"/>
          <p:nvPr/>
        </p:nvSpPr>
        <p:spPr>
          <a:xfrm>
            <a:off x="7795807" y="2729594"/>
            <a:ext cx="3811840" cy="2753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Settings: 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lang="en-US" sz="1100" dirty="0"/>
              <a:t>Select </a:t>
            </a: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Project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, </a:t>
            </a: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Period / Base Month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, </a:t>
            </a: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View by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(Month), </a:t>
            </a: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Exchange Rate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and </a:t>
            </a: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Unit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 (USD or K USD </a:t>
            </a:r>
            <a:r>
              <a:rPr lang="en-US" sz="1100" dirty="0"/>
              <a:t>to refresh all cards and charts.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endParaRPr lang="en-US" sz="1100" dirty="0"/>
          </a:p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 startAt="2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Download: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export the current dashboard.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endParaRPr lang="en-US" sz="1100" dirty="0">
              <a:solidFill>
                <a:srgbClr val="262626"/>
              </a:solidFill>
              <a:latin typeface="Calibri" pitchFamily="34" charset="0"/>
            </a:endParaRPr>
          </a:p>
          <a:p>
            <a:pPr marL="0" indent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3  </a:t>
            </a:r>
            <a:r>
              <a:rPr lang="en-US" sz="1100" dirty="0"/>
              <a:t>KPI Summary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:</a:t>
            </a:r>
          </a:p>
          <a:p>
            <a:pPr marL="228600" indent="-228600">
              <a:lnSpc>
                <a:spcPct val="106000"/>
              </a:lnSpc>
              <a:spcAft>
                <a:spcPts val="400"/>
              </a:spcAft>
              <a:buChar char="•"/>
            </a:pPr>
            <a:r>
              <a:rPr lang="en-US" sz="1050" b="1" dirty="0">
                <a:solidFill>
                  <a:srgbClr val="1F3A6E"/>
                </a:solidFill>
                <a:latin typeface="Calibri" pitchFamily="34" charset="0"/>
              </a:rPr>
              <a:t>YTD Revenue, YTD Operating Profit </a:t>
            </a:r>
            <a:r>
              <a:rPr lang="en-US" sz="1050" dirty="0">
                <a:solidFill>
                  <a:srgbClr val="262626"/>
                </a:solidFill>
                <a:latin typeface="Calibri" pitchFamily="34" charset="0"/>
              </a:rPr>
              <a:t>(both Month 1 – Base Month)</a:t>
            </a:r>
          </a:p>
          <a:p>
            <a:pPr marL="228600" indent="-228600">
              <a:lnSpc>
                <a:spcPct val="106000"/>
              </a:lnSpc>
              <a:spcAft>
                <a:spcPts val="400"/>
              </a:spcAft>
              <a:buChar char="•"/>
            </a:pPr>
            <a:r>
              <a:rPr lang="en-US" sz="1050" b="1" dirty="0">
                <a:solidFill>
                  <a:srgbClr val="1F3A6E"/>
                </a:solidFill>
                <a:latin typeface="Calibri" pitchFamily="34" charset="0"/>
              </a:rPr>
              <a:t>Full Year Revenue and Full Year Operating Profit </a:t>
            </a:r>
            <a:r>
              <a:rPr lang="en-US" sz="1050" dirty="0">
                <a:solidFill>
                  <a:srgbClr val="262626"/>
                </a:solidFill>
                <a:latin typeface="Calibri" pitchFamily="34" charset="0"/>
              </a:rPr>
              <a:t>(Month 1 – 12)</a:t>
            </a:r>
          </a:p>
          <a:p>
            <a:pPr marL="228600" indent="-228600">
              <a:lnSpc>
                <a:spcPct val="100000"/>
              </a:lnSpc>
              <a:buChar char="•"/>
            </a:pPr>
            <a:r>
              <a:rPr lang="en-US" sz="1050" dirty="0"/>
              <a:t>Source: Imported Excel Data</a:t>
            </a:r>
          </a:p>
        </p:txBody>
      </p:sp>
      <p:sp>
        <p:nvSpPr>
          <p:cNvPr id="27" name="Shape 24"/>
          <p:cNvSpPr/>
          <p:nvPr/>
        </p:nvSpPr>
        <p:spPr>
          <a:xfrm>
            <a:off x="320040" y="6473952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402336" y="6473952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484632" y="6473952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320040" y="65562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402336" y="65562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484632" y="65562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320040" y="66385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402336" y="66385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484632" y="66385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567933" y="64190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01994EA-C65F-83B5-5767-69EE6C166144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45" name="Shape 1">
              <a:extLst>
                <a:ext uri="{FF2B5EF4-FFF2-40B4-BE49-F238E27FC236}">
                  <a16:creationId xmlns:a16="http://schemas.microsoft.com/office/drawing/2014/main" id="{27A47108-86D0-AD6E-9EC3-B612DA9DD484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2">
              <a:extLst>
                <a:ext uri="{FF2B5EF4-FFF2-40B4-BE49-F238E27FC236}">
                  <a16:creationId xmlns:a16="http://schemas.microsoft.com/office/drawing/2014/main" id="{01472BD7-DA03-9AF7-0513-9A363EA62754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Shape 3">
              <a:extLst>
                <a:ext uri="{FF2B5EF4-FFF2-40B4-BE49-F238E27FC236}">
                  <a16:creationId xmlns:a16="http://schemas.microsoft.com/office/drawing/2014/main" id="{8DBCFAE3-627F-8A50-B312-580D73C7C90C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Shape 4">
              <a:extLst>
                <a:ext uri="{FF2B5EF4-FFF2-40B4-BE49-F238E27FC236}">
                  <a16:creationId xmlns:a16="http://schemas.microsoft.com/office/drawing/2014/main" id="{63274FB6-980F-A207-2C0A-087CAE6DFA43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5">
              <a:extLst>
                <a:ext uri="{FF2B5EF4-FFF2-40B4-BE49-F238E27FC236}">
                  <a16:creationId xmlns:a16="http://schemas.microsoft.com/office/drawing/2014/main" id="{B79BBE8A-A478-06D1-7571-D44BF24F9943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6">
              <a:extLst>
                <a:ext uri="{FF2B5EF4-FFF2-40B4-BE49-F238E27FC236}">
                  <a16:creationId xmlns:a16="http://schemas.microsoft.com/office/drawing/2014/main" id="{F4330B29-93DC-D34D-E2CA-07F0401309F1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7">
              <a:extLst>
                <a:ext uri="{FF2B5EF4-FFF2-40B4-BE49-F238E27FC236}">
                  <a16:creationId xmlns:a16="http://schemas.microsoft.com/office/drawing/2014/main" id="{A64FE5CE-4E85-EF47-316C-A43B576B474E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Shape 8">
              <a:extLst>
                <a:ext uri="{FF2B5EF4-FFF2-40B4-BE49-F238E27FC236}">
                  <a16:creationId xmlns:a16="http://schemas.microsoft.com/office/drawing/2014/main" id="{803DEDA2-DB3E-10A1-60E4-4D73CAC32FCB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Shape 9">
              <a:extLst>
                <a:ext uri="{FF2B5EF4-FFF2-40B4-BE49-F238E27FC236}">
                  <a16:creationId xmlns:a16="http://schemas.microsoft.com/office/drawing/2014/main" id="{30346C5E-286A-2E05-C6F8-4455173E101A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FB7DDE4F-48F0-7EF8-A276-DE6989FAFF65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63" name="Shape 24">
              <a:extLst>
                <a:ext uri="{FF2B5EF4-FFF2-40B4-BE49-F238E27FC236}">
                  <a16:creationId xmlns:a16="http://schemas.microsoft.com/office/drawing/2014/main" id="{C56B2379-7FA6-F746-CED8-F766837E05F1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Shape 25">
              <a:extLst>
                <a:ext uri="{FF2B5EF4-FFF2-40B4-BE49-F238E27FC236}">
                  <a16:creationId xmlns:a16="http://schemas.microsoft.com/office/drawing/2014/main" id="{E44F0776-CB03-3236-4F05-0C79654BA7DC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Shape 26">
              <a:extLst>
                <a:ext uri="{FF2B5EF4-FFF2-40B4-BE49-F238E27FC236}">
                  <a16:creationId xmlns:a16="http://schemas.microsoft.com/office/drawing/2014/main" id="{15688C11-7213-01E4-8C1B-849FE021EAD0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Shape 27">
              <a:extLst>
                <a:ext uri="{FF2B5EF4-FFF2-40B4-BE49-F238E27FC236}">
                  <a16:creationId xmlns:a16="http://schemas.microsoft.com/office/drawing/2014/main" id="{F39999C6-144A-E368-D017-23E5CC2EB162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Shape 28">
              <a:extLst>
                <a:ext uri="{FF2B5EF4-FFF2-40B4-BE49-F238E27FC236}">
                  <a16:creationId xmlns:a16="http://schemas.microsoft.com/office/drawing/2014/main" id="{84CE9728-D668-8A7A-9ADA-88D0676EA65F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Shape 29">
              <a:extLst>
                <a:ext uri="{FF2B5EF4-FFF2-40B4-BE49-F238E27FC236}">
                  <a16:creationId xmlns:a16="http://schemas.microsoft.com/office/drawing/2014/main" id="{0ADE43DD-8E2C-2C46-9038-3CC0D6DEAD25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Shape 30">
              <a:extLst>
                <a:ext uri="{FF2B5EF4-FFF2-40B4-BE49-F238E27FC236}">
                  <a16:creationId xmlns:a16="http://schemas.microsoft.com/office/drawing/2014/main" id="{15DEC9C3-F91F-B118-8A2B-B9A7062AEF4C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Shape 31">
              <a:extLst>
                <a:ext uri="{FF2B5EF4-FFF2-40B4-BE49-F238E27FC236}">
                  <a16:creationId xmlns:a16="http://schemas.microsoft.com/office/drawing/2014/main" id="{6C1D6485-C15C-CC19-D08B-FD939F7829CC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Shape 32">
              <a:extLst>
                <a:ext uri="{FF2B5EF4-FFF2-40B4-BE49-F238E27FC236}">
                  <a16:creationId xmlns:a16="http://schemas.microsoft.com/office/drawing/2014/main" id="{061F1B2D-80E5-072C-4039-D1F922B61798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2" name="Text 33">
            <a:extLst>
              <a:ext uri="{FF2B5EF4-FFF2-40B4-BE49-F238E27FC236}">
                <a16:creationId xmlns:a16="http://schemas.microsoft.com/office/drawing/2014/main" id="{2D1DDA1E-69F5-556C-226E-0D4C29206AFA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  <p:sp>
        <p:nvSpPr>
          <p:cNvPr id="76" name="Box 1">
            <a:extLst>
              <a:ext uri="{FF2B5EF4-FFF2-40B4-BE49-F238E27FC236}">
                <a16:creationId xmlns:a16="http://schemas.microsoft.com/office/drawing/2014/main" id="{5E75BBF0-F8B4-AE7B-1186-9E88BFA5D871}"/>
              </a:ext>
            </a:extLst>
          </p:cNvPr>
          <p:cNvSpPr/>
          <p:nvPr/>
        </p:nvSpPr>
        <p:spPr>
          <a:xfrm>
            <a:off x="1202411" y="2748896"/>
            <a:ext cx="5517477" cy="189613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8" name="Box 2">
            <a:extLst>
              <a:ext uri="{FF2B5EF4-FFF2-40B4-BE49-F238E27FC236}">
                <a16:creationId xmlns:a16="http://schemas.microsoft.com/office/drawing/2014/main" id="{A8899268-E2FB-56E7-4776-F2478FF44AAE}"/>
              </a:ext>
            </a:extLst>
          </p:cNvPr>
          <p:cNvSpPr/>
          <p:nvPr/>
        </p:nvSpPr>
        <p:spPr>
          <a:xfrm>
            <a:off x="6754581" y="2758523"/>
            <a:ext cx="495404" cy="179987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0" name="Box 5">
            <a:extLst>
              <a:ext uri="{FF2B5EF4-FFF2-40B4-BE49-F238E27FC236}">
                <a16:creationId xmlns:a16="http://schemas.microsoft.com/office/drawing/2014/main" id="{89A57D4E-E7B6-77A6-8A7D-481934A64BCC}"/>
              </a:ext>
            </a:extLst>
          </p:cNvPr>
          <p:cNvSpPr/>
          <p:nvPr/>
        </p:nvSpPr>
        <p:spPr>
          <a:xfrm>
            <a:off x="1139930" y="3028852"/>
            <a:ext cx="6194320" cy="567348"/>
          </a:xfrm>
          <a:prstGeom prst="roundRect">
            <a:avLst>
              <a:gd name="adj" fmla="val 8333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2" name="Callout 1">
            <a:extLst>
              <a:ext uri="{FF2B5EF4-FFF2-40B4-BE49-F238E27FC236}">
                <a16:creationId xmlns:a16="http://schemas.microsoft.com/office/drawing/2014/main" id="{57B7C8FC-D5DB-5085-04F5-F47392C42D5B}"/>
              </a:ext>
            </a:extLst>
          </p:cNvPr>
          <p:cNvSpPr/>
          <p:nvPr/>
        </p:nvSpPr>
        <p:spPr>
          <a:xfrm>
            <a:off x="1005225" y="2579595"/>
            <a:ext cx="235645" cy="258686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84" name="Callout 2">
            <a:extLst>
              <a:ext uri="{FF2B5EF4-FFF2-40B4-BE49-F238E27FC236}">
                <a16:creationId xmlns:a16="http://schemas.microsoft.com/office/drawing/2014/main" id="{EC8A9EAF-67BB-6CA7-E2F6-1E998A268035}"/>
              </a:ext>
            </a:extLst>
          </p:cNvPr>
          <p:cNvSpPr/>
          <p:nvPr/>
        </p:nvSpPr>
        <p:spPr>
          <a:xfrm>
            <a:off x="7175519" y="2567952"/>
            <a:ext cx="235645" cy="258686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86" name="Callout 3">
            <a:extLst>
              <a:ext uri="{FF2B5EF4-FFF2-40B4-BE49-F238E27FC236}">
                <a16:creationId xmlns:a16="http://schemas.microsoft.com/office/drawing/2014/main" id="{63585BF2-4502-6485-2690-0FA33EDFAD8D}"/>
              </a:ext>
            </a:extLst>
          </p:cNvPr>
          <p:cNvSpPr/>
          <p:nvPr/>
        </p:nvSpPr>
        <p:spPr>
          <a:xfrm>
            <a:off x="966766" y="2977255"/>
            <a:ext cx="235645" cy="258686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0D539C0-C9DA-BEC8-A93F-63AFF377D03F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" name="Shape 1"/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Shape 2"/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Shape 3"/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Shape 4"/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Shape 5"/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Shape 6"/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Shape 7"/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Shape 8"/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Shape 9"/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 10"/>
          <p:cNvSpPr/>
          <p:nvPr/>
        </p:nvSpPr>
        <p:spPr>
          <a:xfrm>
            <a:off x="743407" y="286464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Dashboard: FX Rate Settings – Current Rate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EF2CBB5-969F-B38C-CB1C-3CBF7061320D}"/>
              </a:ext>
            </a:extLst>
          </p:cNvPr>
          <p:cNvGrpSpPr/>
          <p:nvPr/>
        </p:nvGrpSpPr>
        <p:grpSpPr>
          <a:xfrm>
            <a:off x="316751" y="1715928"/>
            <a:ext cx="7142382" cy="3745072"/>
            <a:chOff x="603504" y="2271924"/>
            <a:chExt cx="6473152" cy="3188108"/>
          </a:xfrm>
        </p:grpSpPr>
        <p:sp>
          <p:nvSpPr>
            <p:cNvPr id="25" name="Shape 23"/>
            <p:cNvSpPr/>
            <p:nvPr/>
          </p:nvSpPr>
          <p:spPr>
            <a:xfrm>
              <a:off x="603504" y="2271924"/>
              <a:ext cx="6473152" cy="3188108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6" name="Image 0" descr="screenshot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" y="2308500"/>
              <a:ext cx="6400000" cy="3114956"/>
            </a:xfrm>
            <a:prstGeom prst="rect">
              <a:avLst/>
            </a:prstGeom>
          </p:spPr>
        </p:pic>
        <p:sp>
          <p:nvSpPr>
            <p:cNvPr id="100" name="Box 1"/>
            <p:cNvSpPr/>
            <p:nvPr/>
          </p:nvSpPr>
          <p:spPr>
            <a:xfrm>
              <a:off x="5400004" y="2575499"/>
              <a:ext cx="1045519" cy="1183110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Box 2"/>
            <p:cNvSpPr/>
            <p:nvPr/>
          </p:nvSpPr>
          <p:spPr>
            <a:xfrm>
              <a:off x="5448467" y="2986279"/>
              <a:ext cx="943103" cy="729679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0" name="Callout 1"/>
            <p:cNvSpPr/>
            <p:nvPr/>
          </p:nvSpPr>
          <p:spPr>
            <a:xfrm>
              <a:off x="5338467" y="2557095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201" name="Callout 2"/>
            <p:cNvSpPr/>
            <p:nvPr/>
          </p:nvSpPr>
          <p:spPr>
            <a:xfrm>
              <a:off x="5269405" y="3082294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2</a:t>
              </a:r>
            </a:p>
          </p:txBody>
        </p:sp>
      </p:grpSp>
      <p:sp>
        <p:nvSpPr>
          <p:cNvPr id="300" name="Panel Header"/>
          <p:cNvSpPr/>
          <p:nvPr/>
        </p:nvSpPr>
        <p:spPr>
          <a:xfrm>
            <a:off x="7595807" y="1721854"/>
            <a:ext cx="4211840" cy="458282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Description</a:t>
            </a:r>
          </a:p>
        </p:txBody>
      </p:sp>
      <p:sp>
        <p:nvSpPr>
          <p:cNvPr id="301" name="Panel Body"/>
          <p:cNvSpPr/>
          <p:nvPr/>
        </p:nvSpPr>
        <p:spPr>
          <a:xfrm>
            <a:off x="7595807" y="2241853"/>
            <a:ext cx="4211840" cy="3219147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Panel Text"/>
          <p:cNvSpPr txBox="1"/>
          <p:nvPr/>
        </p:nvSpPr>
        <p:spPr>
          <a:xfrm>
            <a:off x="7795807" y="2391854"/>
            <a:ext cx="3811840" cy="2767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b="1" dirty="0">
                <a:solidFill>
                  <a:srgbClr val="1F3A6E"/>
                </a:solidFill>
              </a:rPr>
              <a:t>1. FX Rate Settings</a:t>
            </a:r>
            <a:br>
              <a:rPr lang="en-US" sz="1100" dirty="0"/>
            </a:br>
            <a:r>
              <a:rPr lang="en-US" sz="1100" dirty="0"/>
              <a:t>Open the </a:t>
            </a:r>
            <a:r>
              <a:rPr lang="en-US" sz="1100" b="1" dirty="0">
                <a:solidFill>
                  <a:srgbClr val="1F3A6E"/>
                </a:solidFill>
              </a:rPr>
              <a:t>Current Rate</a:t>
            </a:r>
            <a:r>
              <a:rPr lang="en-US" sz="1100" dirty="0"/>
              <a:t> panel to set exchange rates for dashboard conversion.</a:t>
            </a:r>
          </a:p>
          <a:p>
            <a:endParaRPr lang="en-US" sz="1100" dirty="0"/>
          </a:p>
          <a:p>
            <a:r>
              <a:rPr lang="en-US" sz="1100" b="1" dirty="0">
                <a:solidFill>
                  <a:srgbClr val="1F3A6E"/>
                </a:solidFill>
              </a:rPr>
              <a:t>2. Set Exchange Rates</a:t>
            </a:r>
            <a:br>
              <a:rPr lang="en-US" sz="1100" dirty="0"/>
            </a:br>
            <a:r>
              <a:rPr lang="en-US" sz="1100" dirty="0"/>
              <a:t>Enter KRW &amp; VND rates per 1 USD → click Save to apply across the dashboard.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D965E76-7E2D-7206-A66B-F696DEABDC52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27" name="Shape 24"/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Shape 25"/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Shape 26"/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Shape 27"/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Shape 28"/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Shape 29"/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Shape 30"/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Shape 31"/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Shape 32"/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6" name="Text 33"/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Dashboard: FX Rate Settings – Monthly Revenue Rate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1E8C172-1B7D-DAF3-9BE3-268E06CE0AD5}"/>
              </a:ext>
            </a:extLst>
          </p:cNvPr>
          <p:cNvGrpSpPr/>
          <p:nvPr/>
        </p:nvGrpSpPr>
        <p:grpSpPr>
          <a:xfrm>
            <a:off x="320040" y="1822903"/>
            <a:ext cx="7108952" cy="3553100"/>
            <a:chOff x="603504" y="2271924"/>
            <a:chExt cx="6473152" cy="3151422"/>
          </a:xfrm>
        </p:grpSpPr>
        <p:sp>
          <p:nvSpPr>
            <p:cNvPr id="25" name="Shape 23"/>
            <p:cNvSpPr/>
            <p:nvPr/>
          </p:nvSpPr>
          <p:spPr>
            <a:xfrm>
              <a:off x="603504" y="2271924"/>
              <a:ext cx="6473152" cy="3151422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C4647FBC-4228-CA1D-1C27-37EA5882C185}"/>
                </a:ext>
              </a:extLst>
            </p:cNvPr>
            <p:cNvGrpSpPr/>
            <p:nvPr/>
          </p:nvGrpSpPr>
          <p:grpSpPr>
            <a:xfrm>
              <a:off x="640080" y="2308500"/>
              <a:ext cx="6400000" cy="3078270"/>
              <a:chOff x="640080" y="2308500"/>
              <a:chExt cx="6400000" cy="3078270"/>
            </a:xfrm>
          </p:grpSpPr>
          <p:pic>
            <p:nvPicPr>
              <p:cNvPr id="26" name="Image 0" descr="screenshot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0080" y="2308500"/>
                <a:ext cx="6400000" cy="3078270"/>
              </a:xfrm>
              <a:prstGeom prst="rect">
                <a:avLst/>
              </a:prstGeom>
            </p:spPr>
          </p:pic>
          <p:sp>
            <p:nvSpPr>
              <p:cNvPr id="100" name="Box 1"/>
              <p:cNvSpPr/>
              <p:nvPr/>
            </p:nvSpPr>
            <p:spPr>
              <a:xfrm>
                <a:off x="5369371" y="2667049"/>
                <a:ext cx="1078735" cy="1296382"/>
              </a:xfrm>
              <a:prstGeom prst="roundRect">
                <a:avLst>
                  <a:gd name="adj" fmla="val 10000"/>
                </a:avLst>
              </a:prstGeom>
              <a:noFill/>
              <a:ln w="19050">
                <a:solidFill>
                  <a:srgbClr val="1F3A6E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" name="Box 2"/>
              <p:cNvSpPr/>
              <p:nvPr/>
            </p:nvSpPr>
            <p:spPr>
              <a:xfrm>
                <a:off x="5438905" y="2989726"/>
                <a:ext cx="972550" cy="901034"/>
              </a:xfrm>
              <a:prstGeom prst="roundRect">
                <a:avLst>
                  <a:gd name="adj" fmla="val 10000"/>
                </a:avLst>
              </a:prstGeom>
              <a:noFill/>
              <a:ln w="19050">
                <a:solidFill>
                  <a:srgbClr val="1F3A6E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0" name="Callout 1"/>
              <p:cNvSpPr/>
              <p:nvPr/>
            </p:nvSpPr>
            <p:spPr>
              <a:xfrm>
                <a:off x="6356393" y="2584701"/>
                <a:ext cx="220000" cy="220000"/>
              </a:xfrm>
              <a:prstGeom prst="ellipse">
                <a:avLst/>
              </a:prstGeom>
              <a:solidFill>
                <a:srgbClr val="1F3A6E"/>
              </a:solidFill>
              <a:ln w="9525">
                <a:solidFill>
                  <a:srgbClr val="FFFFFF"/>
                </a:solidFill>
              </a:ln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00" b="1" dirty="0">
                    <a:solidFill>
                      <a:srgbClr val="FFFFFF"/>
                    </a:solidFill>
                    <a:latin typeface="Calibri" pitchFamily="34" charset="0"/>
                  </a:rPr>
                  <a:t>1</a:t>
                </a:r>
              </a:p>
            </p:txBody>
          </p:sp>
          <p:sp>
            <p:nvSpPr>
              <p:cNvPr id="201" name="Callout 2"/>
              <p:cNvSpPr/>
              <p:nvPr/>
            </p:nvSpPr>
            <p:spPr>
              <a:xfrm>
                <a:off x="5292253" y="2989726"/>
                <a:ext cx="220000" cy="220000"/>
              </a:xfrm>
              <a:prstGeom prst="ellipse">
                <a:avLst/>
              </a:prstGeom>
              <a:solidFill>
                <a:srgbClr val="1F3A6E"/>
              </a:solidFill>
              <a:ln w="9525">
                <a:solidFill>
                  <a:srgbClr val="FFFFFF"/>
                </a:solidFill>
              </a:ln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00" b="1" dirty="0">
                    <a:solidFill>
                      <a:srgbClr val="FFFFFF"/>
                    </a:solidFill>
                    <a:latin typeface="Calibri" pitchFamily="34" charset="0"/>
                  </a:rPr>
                  <a:t>2</a:t>
                </a:r>
              </a:p>
            </p:txBody>
          </p:sp>
        </p:grpSp>
      </p:grpSp>
      <p:sp>
        <p:nvSpPr>
          <p:cNvPr id="300" name="Panel Header"/>
          <p:cNvSpPr/>
          <p:nvPr/>
        </p:nvSpPr>
        <p:spPr>
          <a:xfrm>
            <a:off x="7619951" y="1800318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Description</a:t>
            </a:r>
          </a:p>
        </p:txBody>
      </p:sp>
      <p:sp>
        <p:nvSpPr>
          <p:cNvPr id="301" name="Panel Body"/>
          <p:cNvSpPr/>
          <p:nvPr/>
        </p:nvSpPr>
        <p:spPr>
          <a:xfrm>
            <a:off x="7619951" y="2320317"/>
            <a:ext cx="4211840" cy="3055685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Panel Text"/>
          <p:cNvSpPr txBox="1"/>
          <p:nvPr/>
        </p:nvSpPr>
        <p:spPr>
          <a:xfrm>
            <a:off x="7819951" y="2470318"/>
            <a:ext cx="3811840" cy="2258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b="1" dirty="0">
                <a:solidFill>
                  <a:srgbClr val="1F3A6E"/>
                </a:solidFill>
              </a:rPr>
              <a:t>1. Monthly Revenue Rate</a:t>
            </a:r>
            <a:br>
              <a:rPr lang="en-US" sz="1100" dirty="0"/>
            </a:br>
            <a:r>
              <a:rPr lang="en-US" sz="1100" dirty="0"/>
              <a:t>Set a specific KRW / VND exchange rate by Year &amp; Month for monthly revenue conversion.</a:t>
            </a:r>
          </a:p>
          <a:p>
            <a:endParaRPr lang="en-US" sz="1100" dirty="0"/>
          </a:p>
          <a:p>
            <a:r>
              <a:rPr lang="en-US" sz="1100" b="1" dirty="0">
                <a:solidFill>
                  <a:srgbClr val="1F3A6E"/>
                </a:solidFill>
              </a:rPr>
              <a:t>2. Set Monthly Rate</a:t>
            </a:r>
            <a:br>
              <a:rPr lang="en-US" sz="1100" dirty="0"/>
            </a:br>
            <a:r>
              <a:rPr lang="en-US" sz="1100" dirty="0"/>
              <a:t>Select Year / Month → enter KRW &amp; VND rates → Save.</a:t>
            </a:r>
            <a:br>
              <a:rPr lang="en-US" sz="1100" dirty="0"/>
            </a:br>
            <a:r>
              <a:rPr lang="en-US" sz="1100" dirty="0"/>
              <a:t>The dashboard uses the monthly rate when defined.</a:t>
            </a:r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5383575-5E54-1592-45CC-02EED1268F25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9" name="Shape 1">
              <a:extLst>
                <a:ext uri="{FF2B5EF4-FFF2-40B4-BE49-F238E27FC236}">
                  <a16:creationId xmlns:a16="http://schemas.microsoft.com/office/drawing/2014/main" id="{CD906F62-A4CA-8E4E-3191-AD5433992CCA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2">
              <a:extLst>
                <a:ext uri="{FF2B5EF4-FFF2-40B4-BE49-F238E27FC236}">
                  <a16:creationId xmlns:a16="http://schemas.microsoft.com/office/drawing/2014/main" id="{6E402576-2217-0003-BC3F-F975C83948E1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3">
              <a:extLst>
                <a:ext uri="{FF2B5EF4-FFF2-40B4-BE49-F238E27FC236}">
                  <a16:creationId xmlns:a16="http://schemas.microsoft.com/office/drawing/2014/main" id="{7CD5361B-2025-2C87-EFC0-0EAFA2EB64C9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4">
              <a:extLst>
                <a:ext uri="{FF2B5EF4-FFF2-40B4-BE49-F238E27FC236}">
                  <a16:creationId xmlns:a16="http://schemas.microsoft.com/office/drawing/2014/main" id="{7F3CDDA6-6BAD-00ED-9116-8ECF1FC2DCD4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5">
              <a:extLst>
                <a:ext uri="{FF2B5EF4-FFF2-40B4-BE49-F238E27FC236}">
                  <a16:creationId xmlns:a16="http://schemas.microsoft.com/office/drawing/2014/main" id="{C8B7A43E-3753-64D2-0B64-8B83BE65613F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6">
              <a:extLst>
                <a:ext uri="{FF2B5EF4-FFF2-40B4-BE49-F238E27FC236}">
                  <a16:creationId xmlns:a16="http://schemas.microsoft.com/office/drawing/2014/main" id="{CCFDDA96-357D-D945-0F31-E3CC6BD0661E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7">
              <a:extLst>
                <a:ext uri="{FF2B5EF4-FFF2-40B4-BE49-F238E27FC236}">
                  <a16:creationId xmlns:a16="http://schemas.microsoft.com/office/drawing/2014/main" id="{D757E1ED-8866-4018-2000-5F2CAAF06117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8">
              <a:extLst>
                <a:ext uri="{FF2B5EF4-FFF2-40B4-BE49-F238E27FC236}">
                  <a16:creationId xmlns:a16="http://schemas.microsoft.com/office/drawing/2014/main" id="{B28BB277-8AE8-7F08-370D-BD0CDDCF3345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Shape 9">
              <a:extLst>
                <a:ext uri="{FF2B5EF4-FFF2-40B4-BE49-F238E27FC236}">
                  <a16:creationId xmlns:a16="http://schemas.microsoft.com/office/drawing/2014/main" id="{518B06C5-B194-1971-2DE0-EEF1DA10D0D9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519DBFE2-2F34-E571-A7B0-796934A42B16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9" name="Shape 24">
              <a:extLst>
                <a:ext uri="{FF2B5EF4-FFF2-40B4-BE49-F238E27FC236}">
                  <a16:creationId xmlns:a16="http://schemas.microsoft.com/office/drawing/2014/main" id="{2B400A7E-F924-F784-119D-749AD98FC0E6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5">
              <a:extLst>
                <a:ext uri="{FF2B5EF4-FFF2-40B4-BE49-F238E27FC236}">
                  <a16:creationId xmlns:a16="http://schemas.microsoft.com/office/drawing/2014/main" id="{9AB5A4FB-628C-76B2-2587-A0FBBFF2CF82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6">
              <a:extLst>
                <a:ext uri="{FF2B5EF4-FFF2-40B4-BE49-F238E27FC236}">
                  <a16:creationId xmlns:a16="http://schemas.microsoft.com/office/drawing/2014/main" id="{160CD9ED-66F5-EE6C-21D6-EF1048037CFB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7">
              <a:extLst>
                <a:ext uri="{FF2B5EF4-FFF2-40B4-BE49-F238E27FC236}">
                  <a16:creationId xmlns:a16="http://schemas.microsoft.com/office/drawing/2014/main" id="{B8A3D3D2-E48D-6BFD-9AD1-9A048E1547B2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8">
              <a:extLst>
                <a:ext uri="{FF2B5EF4-FFF2-40B4-BE49-F238E27FC236}">
                  <a16:creationId xmlns:a16="http://schemas.microsoft.com/office/drawing/2014/main" id="{76523397-CA2D-5146-1BE1-E69F6859EE33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29">
              <a:extLst>
                <a:ext uri="{FF2B5EF4-FFF2-40B4-BE49-F238E27FC236}">
                  <a16:creationId xmlns:a16="http://schemas.microsoft.com/office/drawing/2014/main" id="{E14E5AB8-AE4E-37CD-4C14-962E9AFABD1A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0">
              <a:extLst>
                <a:ext uri="{FF2B5EF4-FFF2-40B4-BE49-F238E27FC236}">
                  <a16:creationId xmlns:a16="http://schemas.microsoft.com/office/drawing/2014/main" id="{762CDBF7-EC6E-6E16-E946-F7E127499464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1">
              <a:extLst>
                <a:ext uri="{FF2B5EF4-FFF2-40B4-BE49-F238E27FC236}">
                  <a16:creationId xmlns:a16="http://schemas.microsoft.com/office/drawing/2014/main" id="{D310D598-5E2A-0352-535B-92F263E4C5DF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Shape 32">
              <a:extLst>
                <a:ext uri="{FF2B5EF4-FFF2-40B4-BE49-F238E27FC236}">
                  <a16:creationId xmlns:a16="http://schemas.microsoft.com/office/drawing/2014/main" id="{92BE5DE7-988A-645F-5BDB-EB34061F8F68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8" name="Text 33">
            <a:extLst>
              <a:ext uri="{FF2B5EF4-FFF2-40B4-BE49-F238E27FC236}">
                <a16:creationId xmlns:a16="http://schemas.microsoft.com/office/drawing/2014/main" id="{377AA8A9-0328-C7F5-E636-7BAAE9909E41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43407" y="27508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Dashboard: Charts &amp; Drilldown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6633EA0F-50EC-098C-411A-41E458EBD64E}"/>
              </a:ext>
            </a:extLst>
          </p:cNvPr>
          <p:cNvGrpSpPr/>
          <p:nvPr/>
        </p:nvGrpSpPr>
        <p:grpSpPr>
          <a:xfrm>
            <a:off x="277440" y="1805106"/>
            <a:ext cx="7145654" cy="3703386"/>
            <a:chOff x="603504" y="2248526"/>
            <a:chExt cx="6473152" cy="3181490"/>
          </a:xfrm>
        </p:grpSpPr>
        <p:sp>
          <p:nvSpPr>
            <p:cNvPr id="25" name="Shape 23"/>
            <p:cNvSpPr/>
            <p:nvPr/>
          </p:nvSpPr>
          <p:spPr>
            <a:xfrm>
              <a:off x="603504" y="2271924"/>
              <a:ext cx="6473152" cy="3158092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6" name="Image 0" descr="screenshot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" y="2308500"/>
              <a:ext cx="6400000" cy="3084940"/>
            </a:xfrm>
            <a:prstGeom prst="rect">
              <a:avLst/>
            </a:prstGeom>
          </p:spPr>
        </p:pic>
        <p:sp>
          <p:nvSpPr>
            <p:cNvPr id="100" name="Box 1"/>
            <p:cNvSpPr/>
            <p:nvPr/>
          </p:nvSpPr>
          <p:spPr>
            <a:xfrm>
              <a:off x="1407146" y="2358526"/>
              <a:ext cx="2184471" cy="1150599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Box 2"/>
            <p:cNvSpPr/>
            <p:nvPr/>
          </p:nvSpPr>
          <p:spPr>
            <a:xfrm>
              <a:off x="3641643" y="2358526"/>
              <a:ext cx="2201146" cy="1150599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Box 3"/>
            <p:cNvSpPr/>
            <p:nvPr/>
          </p:nvSpPr>
          <p:spPr>
            <a:xfrm>
              <a:off x="5892816" y="2358526"/>
              <a:ext cx="1117249" cy="1150599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Box 4"/>
            <p:cNvSpPr/>
            <p:nvPr/>
          </p:nvSpPr>
          <p:spPr>
            <a:xfrm>
              <a:off x="1385497" y="3642528"/>
              <a:ext cx="2201146" cy="933820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0" name="Callout 1"/>
            <p:cNvSpPr/>
            <p:nvPr/>
          </p:nvSpPr>
          <p:spPr>
            <a:xfrm>
              <a:off x="1297146" y="2248526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201" name="Callout 2"/>
            <p:cNvSpPr/>
            <p:nvPr/>
          </p:nvSpPr>
          <p:spPr>
            <a:xfrm>
              <a:off x="3531643" y="2248526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2</a:t>
              </a:r>
            </a:p>
          </p:txBody>
        </p:sp>
        <p:sp>
          <p:nvSpPr>
            <p:cNvPr id="202" name="Callout 3"/>
            <p:cNvSpPr/>
            <p:nvPr/>
          </p:nvSpPr>
          <p:spPr>
            <a:xfrm>
              <a:off x="5782816" y="2248526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3</a:t>
              </a:r>
            </a:p>
          </p:txBody>
        </p:sp>
        <p:sp>
          <p:nvSpPr>
            <p:cNvPr id="203" name="Callout 4"/>
            <p:cNvSpPr/>
            <p:nvPr/>
          </p:nvSpPr>
          <p:spPr>
            <a:xfrm>
              <a:off x="1245482" y="3617857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4</a:t>
              </a:r>
            </a:p>
          </p:txBody>
        </p:sp>
      </p:grpSp>
      <p:sp>
        <p:nvSpPr>
          <p:cNvPr id="300" name="Panel Header"/>
          <p:cNvSpPr/>
          <p:nvPr/>
        </p:nvSpPr>
        <p:spPr>
          <a:xfrm>
            <a:off x="7623094" y="1244352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Description</a:t>
            </a:r>
          </a:p>
        </p:txBody>
      </p:sp>
      <p:sp>
        <p:nvSpPr>
          <p:cNvPr id="301" name="Panel Body"/>
          <p:cNvSpPr/>
          <p:nvPr/>
        </p:nvSpPr>
        <p:spPr>
          <a:xfrm>
            <a:off x="7623094" y="1789237"/>
            <a:ext cx="4211840" cy="4437912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Panel Text"/>
          <p:cNvSpPr txBox="1"/>
          <p:nvPr/>
        </p:nvSpPr>
        <p:spPr>
          <a:xfrm>
            <a:off x="7823094" y="1942353"/>
            <a:ext cx="3811840" cy="4284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Sales Actual &amp; Forecast 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Sales (Plan), Sales (Actual) </a:t>
            </a:r>
            <a:r>
              <a:rPr lang="en-US" sz="1100" dirty="0">
                <a:solidFill>
                  <a:srgbClr val="1F3A6E"/>
                </a:solidFill>
                <a:latin typeface="Calibri" pitchFamily="34" charset="0"/>
              </a:rPr>
              <a:t>and</a:t>
            </a: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 Sales (Forecast): </a:t>
            </a:r>
            <a:r>
              <a:rPr lang="en-US" sz="1100" dirty="0"/>
              <a:t>Imported Excel Data.</a:t>
            </a:r>
            <a:endParaRPr lang="en-US" sz="1100" dirty="0">
              <a:solidFill>
                <a:srgbClr val="262626"/>
              </a:solidFill>
              <a:latin typeface="Calibri" pitchFamily="34" charset="0"/>
            </a:endParaRPr>
          </a:p>
          <a:p>
            <a:pPr marL="171450" indent="-171450">
              <a:lnSpc>
                <a:spcPct val="100000"/>
              </a:lnSpc>
              <a:spcAft>
                <a:spcPts val="500"/>
              </a:spcAft>
              <a:buFontTx/>
              <a:buChar char="-"/>
            </a:pPr>
            <a:r>
              <a:rPr lang="en-US" sz="1100" b="1" dirty="0">
                <a:solidFill>
                  <a:srgbClr val="1F3A6E"/>
                </a:solidFill>
              </a:rPr>
              <a:t>Achievement %</a:t>
            </a:r>
            <a:r>
              <a:rPr lang="en-US" sz="1100" dirty="0"/>
              <a:t> = Plan ÷ Actual/Forecast</a:t>
            </a:r>
            <a:endParaRPr lang="en-US" sz="1100" dirty="0">
              <a:solidFill>
                <a:srgbClr val="262626"/>
              </a:solidFill>
              <a:latin typeface="Calibri" pitchFamily="34" charset="0"/>
            </a:endParaRP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View Details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for the monthly breakdown.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endParaRPr lang="en-US" sz="1100" dirty="0">
              <a:solidFill>
                <a:srgbClr val="262626"/>
              </a:solidFill>
              <a:latin typeface="Calibri" pitchFamily="34" charset="0"/>
            </a:endParaRPr>
          </a:p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 startAt="2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Profit &amp; Loss Status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: 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Operating Profit + SG&amp;A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: </a:t>
            </a:r>
            <a:r>
              <a:rPr lang="en-US" sz="1100" dirty="0"/>
              <a:t>Imported Excel Data. 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stacked as Gross Profit per month, with OP margin % below.</a:t>
            </a:r>
          </a:p>
          <a:p>
            <a:pPr marL="171450" indent="-171450">
              <a:lnSpc>
                <a:spcPct val="100000"/>
              </a:lnSpc>
              <a:spcAft>
                <a:spcPts val="500"/>
              </a:spcAft>
              <a:buFontTx/>
              <a:buChar char="-"/>
            </a:pPr>
            <a:r>
              <a:rPr lang="en-US" sz="1100" b="1" dirty="0">
                <a:solidFill>
                  <a:srgbClr val="1F3A6E"/>
                </a:solidFill>
              </a:rPr>
              <a:t>View Details </a:t>
            </a:r>
            <a:r>
              <a:rPr lang="en-US" sz="1100" dirty="0"/>
              <a:t>for the monthly breakdown.</a:t>
            </a:r>
            <a:endParaRPr lang="en-US" sz="1100" dirty="0">
              <a:solidFill>
                <a:srgbClr val="262626"/>
              </a:solidFill>
              <a:latin typeface="Calibri" pitchFamily="34" charset="0"/>
            </a:endParaRPr>
          </a:p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 startAt="3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Order Status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: 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Orders received vs. Annual plan/forecast. </a:t>
            </a:r>
          </a:p>
          <a:p>
            <a:pPr marL="171450" indent="-171450">
              <a:lnSpc>
                <a:spcPct val="100000"/>
              </a:lnSpc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Orders received (</a:t>
            </a:r>
            <a:r>
              <a:rPr lang="en-US" sz="1100" dirty="0"/>
              <a:t>Cumulative),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Annual plan/forecast: </a:t>
            </a:r>
            <a:r>
              <a:rPr lang="en-US" sz="1100" dirty="0"/>
              <a:t>Imported Excel Data</a:t>
            </a:r>
            <a:endParaRPr lang="en-US" sz="1100" dirty="0">
              <a:solidFill>
                <a:srgbClr val="262626"/>
              </a:solidFill>
              <a:latin typeface="Calibri" pitchFamily="34" charset="0"/>
            </a:endParaRP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endParaRPr lang="en-US" sz="1100" dirty="0">
              <a:solidFill>
                <a:srgbClr val="262626"/>
              </a:solidFill>
              <a:latin typeface="Calibri" pitchFamily="34" charset="0"/>
            </a:endParaRP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4 Cash Flow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: </a:t>
            </a:r>
          </a:p>
          <a:p>
            <a:pPr marL="171450" indent="-171450">
              <a:lnSpc>
                <a:spcPct val="100000"/>
              </a:lnSpc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Cash In/Out, Cumulative Balance: </a:t>
            </a:r>
            <a:r>
              <a:rPr lang="en-US" sz="1100" dirty="0"/>
              <a:t>Data Entry → 8. Monthly Cash Flow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.</a:t>
            </a:r>
          </a:p>
          <a:p>
            <a:pPr marL="171450" indent="-171450">
              <a:spcAft>
                <a:spcPts val="500"/>
              </a:spcAft>
              <a:buFontTx/>
              <a:buChar char="-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View Details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for the monthly breakdown.</a:t>
            </a:r>
          </a:p>
          <a:p>
            <a:pPr marL="0" indent="0">
              <a:lnSpc>
                <a:spcPct val="106000"/>
              </a:lnSpc>
              <a:spcAft>
                <a:spcPts val="500"/>
              </a:spcAft>
              <a:buNone/>
            </a:pPr>
            <a:endParaRPr lang="en-US" sz="1100" dirty="0">
              <a:solidFill>
                <a:srgbClr val="262626"/>
              </a:solidFill>
              <a:latin typeface="Calibri" pitchFamily="34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9467C732-B91B-7D55-CA83-BCD12712B2FB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59" name="Shape 1">
              <a:extLst>
                <a:ext uri="{FF2B5EF4-FFF2-40B4-BE49-F238E27FC236}">
                  <a16:creationId xmlns:a16="http://schemas.microsoft.com/office/drawing/2014/main" id="{36C87B39-1F23-DED7-1A16-4630972D413D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Shape 2">
              <a:extLst>
                <a:ext uri="{FF2B5EF4-FFF2-40B4-BE49-F238E27FC236}">
                  <a16:creationId xmlns:a16="http://schemas.microsoft.com/office/drawing/2014/main" id="{579EF8AD-A7E2-B3A3-945D-B681D459B9AC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Shape 3">
              <a:extLst>
                <a:ext uri="{FF2B5EF4-FFF2-40B4-BE49-F238E27FC236}">
                  <a16:creationId xmlns:a16="http://schemas.microsoft.com/office/drawing/2014/main" id="{63F6CCDB-D5B1-3AC3-9B60-D74002727059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Shape 4">
              <a:extLst>
                <a:ext uri="{FF2B5EF4-FFF2-40B4-BE49-F238E27FC236}">
                  <a16:creationId xmlns:a16="http://schemas.microsoft.com/office/drawing/2014/main" id="{7EC95289-1743-4C0B-0147-2274EB3C0971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Shape 5">
              <a:extLst>
                <a:ext uri="{FF2B5EF4-FFF2-40B4-BE49-F238E27FC236}">
                  <a16:creationId xmlns:a16="http://schemas.microsoft.com/office/drawing/2014/main" id="{349D4375-5E28-4AF9-557B-B84E7A8C6132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Shape 6">
              <a:extLst>
                <a:ext uri="{FF2B5EF4-FFF2-40B4-BE49-F238E27FC236}">
                  <a16:creationId xmlns:a16="http://schemas.microsoft.com/office/drawing/2014/main" id="{354071CD-EE51-461D-3DF1-F849225DBF13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Shape 7">
              <a:extLst>
                <a:ext uri="{FF2B5EF4-FFF2-40B4-BE49-F238E27FC236}">
                  <a16:creationId xmlns:a16="http://schemas.microsoft.com/office/drawing/2014/main" id="{0586196D-F1F7-EE1E-3723-29D0A4FB4E04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Shape 8">
              <a:extLst>
                <a:ext uri="{FF2B5EF4-FFF2-40B4-BE49-F238E27FC236}">
                  <a16:creationId xmlns:a16="http://schemas.microsoft.com/office/drawing/2014/main" id="{DF837CA4-A1F8-39AF-2583-4797B0557C2A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Shape 9">
              <a:extLst>
                <a:ext uri="{FF2B5EF4-FFF2-40B4-BE49-F238E27FC236}">
                  <a16:creationId xmlns:a16="http://schemas.microsoft.com/office/drawing/2014/main" id="{D8282B26-975E-AB28-1143-7A32A41EDDF6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32B175DF-FAD9-A5A9-EC61-4EFFB55CF8D5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69" name="Shape 24">
              <a:extLst>
                <a:ext uri="{FF2B5EF4-FFF2-40B4-BE49-F238E27FC236}">
                  <a16:creationId xmlns:a16="http://schemas.microsoft.com/office/drawing/2014/main" id="{6E435900-9BBD-1948-B55B-8A160F8A304E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Shape 25">
              <a:extLst>
                <a:ext uri="{FF2B5EF4-FFF2-40B4-BE49-F238E27FC236}">
                  <a16:creationId xmlns:a16="http://schemas.microsoft.com/office/drawing/2014/main" id="{4E0B10C0-4901-292A-8AF6-B61663ACAC17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Shape 26">
              <a:extLst>
                <a:ext uri="{FF2B5EF4-FFF2-40B4-BE49-F238E27FC236}">
                  <a16:creationId xmlns:a16="http://schemas.microsoft.com/office/drawing/2014/main" id="{8A11C5D8-F0BC-28E5-B7B3-A01FB5E41EDB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Shape 27">
              <a:extLst>
                <a:ext uri="{FF2B5EF4-FFF2-40B4-BE49-F238E27FC236}">
                  <a16:creationId xmlns:a16="http://schemas.microsoft.com/office/drawing/2014/main" id="{9F1F98AB-90A5-79B3-D672-2BC27BCFC69A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Shape 28">
              <a:extLst>
                <a:ext uri="{FF2B5EF4-FFF2-40B4-BE49-F238E27FC236}">
                  <a16:creationId xmlns:a16="http://schemas.microsoft.com/office/drawing/2014/main" id="{F50BB390-B4E4-4449-4F56-29EC98A19A5A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Shape 29">
              <a:extLst>
                <a:ext uri="{FF2B5EF4-FFF2-40B4-BE49-F238E27FC236}">
                  <a16:creationId xmlns:a16="http://schemas.microsoft.com/office/drawing/2014/main" id="{678EC1C0-DAA4-9324-90B5-DC481BF133DC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Shape 30">
              <a:extLst>
                <a:ext uri="{FF2B5EF4-FFF2-40B4-BE49-F238E27FC236}">
                  <a16:creationId xmlns:a16="http://schemas.microsoft.com/office/drawing/2014/main" id="{D3678261-DA9C-89B0-7EA9-B80E301C9F8F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Shape 31">
              <a:extLst>
                <a:ext uri="{FF2B5EF4-FFF2-40B4-BE49-F238E27FC236}">
                  <a16:creationId xmlns:a16="http://schemas.microsoft.com/office/drawing/2014/main" id="{B6AF39D2-3A45-4B11-F4C4-4D46195A0255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Shape 32">
              <a:extLst>
                <a:ext uri="{FF2B5EF4-FFF2-40B4-BE49-F238E27FC236}">
                  <a16:creationId xmlns:a16="http://schemas.microsoft.com/office/drawing/2014/main" id="{622A597A-F9C8-F13C-372C-0B27586DA4F7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8" name="Text 33">
            <a:extLst>
              <a:ext uri="{FF2B5EF4-FFF2-40B4-BE49-F238E27FC236}">
                <a16:creationId xmlns:a16="http://schemas.microsoft.com/office/drawing/2014/main" id="{F63732B0-146D-8668-DDEC-1DCA30EB54AA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033632-AD31-4CF6-5352-197336469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D5D32B5-9D4E-1313-5349-FCCC9C548851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2D7F1EF-1EB4-1F4C-3333-51596A2E9379}"/>
              </a:ext>
            </a:extLst>
          </p:cNvPr>
          <p:cNvSpPr/>
          <p:nvPr/>
        </p:nvSpPr>
        <p:spPr>
          <a:xfrm>
            <a:off x="743407" y="27508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Dashboard: Charts &amp; Drilldown</a:t>
            </a:r>
            <a:endParaRPr lang="en-US" sz="28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C44B7DAF-B07B-2F9F-8970-38FF632C46FF}"/>
              </a:ext>
            </a:extLst>
          </p:cNvPr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338A8053-D5C3-FFD6-2DC4-3D3665D581F0}"/>
              </a:ext>
            </a:extLst>
          </p:cNvPr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FAF8F15B-F3C3-FB70-B7BA-E9C0FB73AFCC}"/>
              </a:ext>
            </a:extLst>
          </p:cNvPr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3AEEECDE-7CA7-C08A-3486-B37AC22C78D2}"/>
              </a:ext>
            </a:extLst>
          </p:cNvPr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9E4DBCB0-2C24-C68D-0769-F64A2F16A6FD}"/>
              </a:ext>
            </a:extLst>
          </p:cNvPr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3DAB1E2F-AFF2-63D4-A1DB-A5796D6EFA75}"/>
              </a:ext>
            </a:extLst>
          </p:cNvPr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3654CEF1-6ED7-5DD3-4312-4B2F35C2E664}"/>
              </a:ext>
            </a:extLst>
          </p:cNvPr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798D19D3-F9B0-668A-B8A1-68C61C4110E8}"/>
              </a:ext>
            </a:extLst>
          </p:cNvPr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3D42C211-35A4-DFD3-CDE3-37C7BFAD0906}"/>
              </a:ext>
            </a:extLst>
          </p:cNvPr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969CCB09-3141-B34B-210C-C71D244C4AF3}"/>
              </a:ext>
            </a:extLst>
          </p:cNvPr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EAAF3C4F-1994-F3F0-15DA-79756290C1E6}"/>
              </a:ext>
            </a:extLst>
          </p:cNvPr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554E28AE-74C4-16A0-D11C-C4AB6E33D6C4}"/>
              </a:ext>
            </a:extLst>
          </p:cNvPr>
          <p:cNvGrpSpPr/>
          <p:nvPr/>
        </p:nvGrpSpPr>
        <p:grpSpPr>
          <a:xfrm>
            <a:off x="320040" y="1830931"/>
            <a:ext cx="7103054" cy="3604669"/>
            <a:chOff x="603504" y="2271924"/>
            <a:chExt cx="6473152" cy="3158092"/>
          </a:xfrm>
        </p:grpSpPr>
        <p:sp>
          <p:nvSpPr>
            <p:cNvPr id="25" name="Shape 23">
              <a:extLst>
                <a:ext uri="{FF2B5EF4-FFF2-40B4-BE49-F238E27FC236}">
                  <a16:creationId xmlns:a16="http://schemas.microsoft.com/office/drawing/2014/main" id="{BD2B30E7-AAEE-09C4-952B-96C5BFB7859E}"/>
                </a:ext>
              </a:extLst>
            </p:cNvPr>
            <p:cNvSpPr/>
            <p:nvPr/>
          </p:nvSpPr>
          <p:spPr>
            <a:xfrm>
              <a:off x="603504" y="2271924"/>
              <a:ext cx="6473152" cy="3158092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6" name="Image 0" descr="screenshot">
              <a:extLst>
                <a:ext uri="{FF2B5EF4-FFF2-40B4-BE49-F238E27FC236}">
                  <a16:creationId xmlns:a16="http://schemas.microsoft.com/office/drawing/2014/main" id="{9C818E8D-2F17-0BC4-B31E-D0F6C26ADD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" y="2308500"/>
              <a:ext cx="6400000" cy="3084940"/>
            </a:xfrm>
            <a:prstGeom prst="rect">
              <a:avLst/>
            </a:prstGeom>
          </p:spPr>
        </p:pic>
        <p:sp>
          <p:nvSpPr>
            <p:cNvPr id="103" name="Box 4">
              <a:extLst>
                <a:ext uri="{FF2B5EF4-FFF2-40B4-BE49-F238E27FC236}">
                  <a16:creationId xmlns:a16="http://schemas.microsoft.com/office/drawing/2014/main" id="{ED3D7175-0D44-6882-7871-F19CF3E73972}"/>
                </a:ext>
              </a:extLst>
            </p:cNvPr>
            <p:cNvSpPr/>
            <p:nvPr/>
          </p:nvSpPr>
          <p:spPr>
            <a:xfrm>
              <a:off x="3641643" y="3642528"/>
              <a:ext cx="2201146" cy="933820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Box 5">
              <a:extLst>
                <a:ext uri="{FF2B5EF4-FFF2-40B4-BE49-F238E27FC236}">
                  <a16:creationId xmlns:a16="http://schemas.microsoft.com/office/drawing/2014/main" id="{64F7712A-84EB-0F6A-C4CF-62845BDBE56F}"/>
                </a:ext>
              </a:extLst>
            </p:cNvPr>
            <p:cNvSpPr/>
            <p:nvPr/>
          </p:nvSpPr>
          <p:spPr>
            <a:xfrm>
              <a:off x="5892816" y="3609177"/>
              <a:ext cx="1117249" cy="967170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3" name="Callout 4">
              <a:extLst>
                <a:ext uri="{FF2B5EF4-FFF2-40B4-BE49-F238E27FC236}">
                  <a16:creationId xmlns:a16="http://schemas.microsoft.com/office/drawing/2014/main" id="{B7A2F10D-0FD6-8316-2D0B-E4A4DDE74A69}"/>
                </a:ext>
              </a:extLst>
            </p:cNvPr>
            <p:cNvSpPr/>
            <p:nvPr/>
          </p:nvSpPr>
          <p:spPr>
            <a:xfrm>
              <a:off x="3531643" y="3532528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204" name="Callout 5">
              <a:extLst>
                <a:ext uri="{FF2B5EF4-FFF2-40B4-BE49-F238E27FC236}">
                  <a16:creationId xmlns:a16="http://schemas.microsoft.com/office/drawing/2014/main" id="{E275B4CA-2D04-8AEB-EC5C-053755DDE673}"/>
                </a:ext>
              </a:extLst>
            </p:cNvPr>
            <p:cNvSpPr/>
            <p:nvPr/>
          </p:nvSpPr>
          <p:spPr>
            <a:xfrm>
              <a:off x="5782816" y="3499177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2</a:t>
              </a:r>
            </a:p>
          </p:txBody>
        </p:sp>
      </p:grpSp>
      <p:sp>
        <p:nvSpPr>
          <p:cNvPr id="300" name="Panel Header">
            <a:extLst>
              <a:ext uri="{FF2B5EF4-FFF2-40B4-BE49-F238E27FC236}">
                <a16:creationId xmlns:a16="http://schemas.microsoft.com/office/drawing/2014/main" id="{A9706C90-18D1-AA19-D5B6-8E2360B5BA44}"/>
              </a:ext>
            </a:extLst>
          </p:cNvPr>
          <p:cNvSpPr/>
          <p:nvPr/>
        </p:nvSpPr>
        <p:spPr>
          <a:xfrm>
            <a:off x="7623094" y="1830931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Description</a:t>
            </a:r>
          </a:p>
        </p:txBody>
      </p:sp>
      <p:sp>
        <p:nvSpPr>
          <p:cNvPr id="301" name="Panel Body">
            <a:extLst>
              <a:ext uri="{FF2B5EF4-FFF2-40B4-BE49-F238E27FC236}">
                <a16:creationId xmlns:a16="http://schemas.microsoft.com/office/drawing/2014/main" id="{E4C27FA9-3307-0D3F-A8F3-C60677EA1F7E}"/>
              </a:ext>
            </a:extLst>
          </p:cNvPr>
          <p:cNvSpPr/>
          <p:nvPr/>
        </p:nvSpPr>
        <p:spPr>
          <a:xfrm>
            <a:off x="7623094" y="2375817"/>
            <a:ext cx="4211840" cy="3059784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Panel Text">
            <a:extLst>
              <a:ext uri="{FF2B5EF4-FFF2-40B4-BE49-F238E27FC236}">
                <a16:creationId xmlns:a16="http://schemas.microsoft.com/office/drawing/2014/main" id="{FAA393EE-C6BF-6A02-2B87-D65FB1F1F990}"/>
              </a:ext>
            </a:extLst>
          </p:cNvPr>
          <p:cNvSpPr txBox="1"/>
          <p:nvPr/>
        </p:nvSpPr>
        <p:spPr>
          <a:xfrm>
            <a:off x="7823094" y="2528932"/>
            <a:ext cx="3811840" cy="2778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Management Performance Status </a:t>
            </a:r>
          </a:p>
          <a:p>
            <a:pPr marL="171450" indent="-171450">
              <a:spcAft>
                <a:spcPts val="500"/>
              </a:spcAft>
              <a:buFontTx/>
              <a:buChar char="-"/>
            </a:pPr>
            <a:r>
              <a:rPr lang="en-US" sz="1100" dirty="0"/>
              <a:t>Source: Data Entry → 2. Monthly Revenue →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Cost Plan/Actual and Budget Execution Status</a:t>
            </a:r>
          </a:p>
          <a:p>
            <a:pPr marL="171450" indent="-171450">
              <a:spcAft>
                <a:spcPts val="500"/>
              </a:spcAft>
              <a:buFontTx/>
              <a:buChar char="-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View Details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for the monthly breakdown.</a:t>
            </a:r>
          </a:p>
          <a:p>
            <a:pPr>
              <a:spcAft>
                <a:spcPts val="500"/>
              </a:spcAft>
            </a:pPr>
            <a:endParaRPr lang="en-US" sz="1100" dirty="0">
              <a:solidFill>
                <a:srgbClr val="262626"/>
              </a:solidFill>
              <a:latin typeface="Calibri" pitchFamily="34" charset="0"/>
            </a:endParaRPr>
          </a:p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 startAt="2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Detail Info (Drilldown): </a:t>
            </a:r>
          </a:p>
          <a:p>
            <a:r>
              <a:rPr lang="en-US" sz="1100" dirty="0"/>
              <a:t>Displays this month’s </a:t>
            </a:r>
            <a:r>
              <a:rPr lang="en-US" sz="1100" b="1" dirty="0">
                <a:solidFill>
                  <a:srgbClr val="1F3A6E"/>
                </a:solidFill>
              </a:rPr>
              <a:t>Order Result </a:t>
            </a:r>
            <a:r>
              <a:rPr lang="en-US" sz="1100" dirty="0"/>
              <a:t>and </a:t>
            </a:r>
            <a:r>
              <a:rPr lang="en-US" sz="1100" b="1" dirty="0">
                <a:solidFill>
                  <a:srgbClr val="1F3A6E"/>
                </a:solidFill>
              </a:rPr>
              <a:t>Top Revenue </a:t>
            </a:r>
            <a:r>
              <a:rPr lang="en-US" sz="1100" dirty="0"/>
              <a:t>sites. Actual / Forecast comment boxes record monthly notes.</a:t>
            </a:r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C67F756C-0EB8-91A7-9B96-292815611E5E}"/>
              </a:ext>
            </a:extLst>
          </p:cNvPr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6FF92A94-89F5-7193-8A4B-D0FB11120028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59" name="Shape 1">
              <a:extLst>
                <a:ext uri="{FF2B5EF4-FFF2-40B4-BE49-F238E27FC236}">
                  <a16:creationId xmlns:a16="http://schemas.microsoft.com/office/drawing/2014/main" id="{BE7DF6B8-B5CB-8417-4A6D-78D8CB123F55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Shape 2">
              <a:extLst>
                <a:ext uri="{FF2B5EF4-FFF2-40B4-BE49-F238E27FC236}">
                  <a16:creationId xmlns:a16="http://schemas.microsoft.com/office/drawing/2014/main" id="{421B8FCC-565A-5EBA-41DE-39A29F37D7E0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Shape 3">
              <a:extLst>
                <a:ext uri="{FF2B5EF4-FFF2-40B4-BE49-F238E27FC236}">
                  <a16:creationId xmlns:a16="http://schemas.microsoft.com/office/drawing/2014/main" id="{907DBACC-BA58-5ABA-2357-16963F6F9F8A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Shape 4">
              <a:extLst>
                <a:ext uri="{FF2B5EF4-FFF2-40B4-BE49-F238E27FC236}">
                  <a16:creationId xmlns:a16="http://schemas.microsoft.com/office/drawing/2014/main" id="{7FF4C918-E007-5AF9-EFC1-40CA803E9244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Shape 5">
              <a:extLst>
                <a:ext uri="{FF2B5EF4-FFF2-40B4-BE49-F238E27FC236}">
                  <a16:creationId xmlns:a16="http://schemas.microsoft.com/office/drawing/2014/main" id="{84D817D9-C4E7-65CD-0C43-5895522E68A9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Shape 6">
              <a:extLst>
                <a:ext uri="{FF2B5EF4-FFF2-40B4-BE49-F238E27FC236}">
                  <a16:creationId xmlns:a16="http://schemas.microsoft.com/office/drawing/2014/main" id="{6A116385-BAD2-A4C6-17C4-C64C879B1A1B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Shape 7">
              <a:extLst>
                <a:ext uri="{FF2B5EF4-FFF2-40B4-BE49-F238E27FC236}">
                  <a16:creationId xmlns:a16="http://schemas.microsoft.com/office/drawing/2014/main" id="{76443341-5EA1-856A-7EE4-754AFF60F716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Shape 8">
              <a:extLst>
                <a:ext uri="{FF2B5EF4-FFF2-40B4-BE49-F238E27FC236}">
                  <a16:creationId xmlns:a16="http://schemas.microsoft.com/office/drawing/2014/main" id="{5081702D-AAEC-27A6-B95D-7BCA7EB725AD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Shape 9">
              <a:extLst>
                <a:ext uri="{FF2B5EF4-FFF2-40B4-BE49-F238E27FC236}">
                  <a16:creationId xmlns:a16="http://schemas.microsoft.com/office/drawing/2014/main" id="{DCA3E42C-D113-5A88-ED1B-1492C3989E49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803F8987-6DE3-BA6B-FE5E-AD9019E92DE0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69" name="Shape 24">
              <a:extLst>
                <a:ext uri="{FF2B5EF4-FFF2-40B4-BE49-F238E27FC236}">
                  <a16:creationId xmlns:a16="http://schemas.microsoft.com/office/drawing/2014/main" id="{395655B6-B082-6501-F8B9-084319C54480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Shape 25">
              <a:extLst>
                <a:ext uri="{FF2B5EF4-FFF2-40B4-BE49-F238E27FC236}">
                  <a16:creationId xmlns:a16="http://schemas.microsoft.com/office/drawing/2014/main" id="{02B34F36-B848-52DF-EA45-7690F056D742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Shape 26">
              <a:extLst>
                <a:ext uri="{FF2B5EF4-FFF2-40B4-BE49-F238E27FC236}">
                  <a16:creationId xmlns:a16="http://schemas.microsoft.com/office/drawing/2014/main" id="{64AFFAAA-A5FD-C740-E88C-2608DB4A1B4C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Shape 27">
              <a:extLst>
                <a:ext uri="{FF2B5EF4-FFF2-40B4-BE49-F238E27FC236}">
                  <a16:creationId xmlns:a16="http://schemas.microsoft.com/office/drawing/2014/main" id="{5F6D8882-1691-42CA-50E3-AFAF3799524D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Shape 28">
              <a:extLst>
                <a:ext uri="{FF2B5EF4-FFF2-40B4-BE49-F238E27FC236}">
                  <a16:creationId xmlns:a16="http://schemas.microsoft.com/office/drawing/2014/main" id="{3081C1DC-C2C8-076B-36DC-041D554A6F79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Shape 29">
              <a:extLst>
                <a:ext uri="{FF2B5EF4-FFF2-40B4-BE49-F238E27FC236}">
                  <a16:creationId xmlns:a16="http://schemas.microsoft.com/office/drawing/2014/main" id="{4E683E84-4648-35BA-408E-B6E2514797C6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Shape 30">
              <a:extLst>
                <a:ext uri="{FF2B5EF4-FFF2-40B4-BE49-F238E27FC236}">
                  <a16:creationId xmlns:a16="http://schemas.microsoft.com/office/drawing/2014/main" id="{1EEA64FB-96BA-5E97-84DC-A9E054F6DF57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Shape 31">
              <a:extLst>
                <a:ext uri="{FF2B5EF4-FFF2-40B4-BE49-F238E27FC236}">
                  <a16:creationId xmlns:a16="http://schemas.microsoft.com/office/drawing/2014/main" id="{D57C8993-40FF-7BBB-47D5-5553F843503E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Shape 32">
              <a:extLst>
                <a:ext uri="{FF2B5EF4-FFF2-40B4-BE49-F238E27FC236}">
                  <a16:creationId xmlns:a16="http://schemas.microsoft.com/office/drawing/2014/main" id="{F0731717-F4EB-C20A-3120-FFCDFA3C3961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8" name="Text 33">
            <a:extLst>
              <a:ext uri="{FF2B5EF4-FFF2-40B4-BE49-F238E27FC236}">
                <a16:creationId xmlns:a16="http://schemas.microsoft.com/office/drawing/2014/main" id="{11FB514C-3977-6E96-C5A8-689F3C89FF65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972299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Dashboard &amp; Service Dashboard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39FE4F8-5C55-5C31-B5C7-C71FE34E06CE}"/>
              </a:ext>
            </a:extLst>
          </p:cNvPr>
          <p:cNvGrpSpPr/>
          <p:nvPr/>
        </p:nvGrpSpPr>
        <p:grpSpPr>
          <a:xfrm>
            <a:off x="234335" y="1917784"/>
            <a:ext cx="7055465" cy="3491379"/>
            <a:chOff x="483269" y="2271924"/>
            <a:chExt cx="6593387" cy="3151675"/>
          </a:xfrm>
        </p:grpSpPr>
        <p:sp>
          <p:nvSpPr>
            <p:cNvPr id="25" name="Shape 23"/>
            <p:cNvSpPr/>
            <p:nvPr/>
          </p:nvSpPr>
          <p:spPr>
            <a:xfrm>
              <a:off x="603504" y="2271924"/>
              <a:ext cx="6473152" cy="3151675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6" name="Image 0" descr="screenshot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" y="2308500"/>
              <a:ext cx="6400000" cy="3078523"/>
            </a:xfrm>
            <a:prstGeom prst="rect">
              <a:avLst/>
            </a:prstGeom>
          </p:spPr>
        </p:pic>
        <p:sp>
          <p:nvSpPr>
            <p:cNvPr id="100" name="Box 1"/>
            <p:cNvSpPr/>
            <p:nvPr/>
          </p:nvSpPr>
          <p:spPr>
            <a:xfrm>
              <a:off x="673361" y="2574751"/>
              <a:ext cx="648986" cy="73219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Box 2"/>
            <p:cNvSpPr/>
            <p:nvPr/>
          </p:nvSpPr>
          <p:spPr>
            <a:xfrm>
              <a:off x="673361" y="2667938"/>
              <a:ext cx="648986" cy="73219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0" name="Callout 1"/>
            <p:cNvSpPr/>
            <p:nvPr/>
          </p:nvSpPr>
          <p:spPr>
            <a:xfrm>
              <a:off x="497174" y="2417001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201" name="Callout 2"/>
            <p:cNvSpPr/>
            <p:nvPr/>
          </p:nvSpPr>
          <p:spPr>
            <a:xfrm>
              <a:off x="483269" y="2656734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2</a:t>
              </a:r>
            </a:p>
          </p:txBody>
        </p:sp>
      </p:grpSp>
      <p:sp>
        <p:nvSpPr>
          <p:cNvPr id="300" name="Panel Header"/>
          <p:cNvSpPr/>
          <p:nvPr/>
        </p:nvSpPr>
        <p:spPr>
          <a:xfrm>
            <a:off x="7550120" y="1917784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Description</a:t>
            </a:r>
          </a:p>
        </p:txBody>
      </p:sp>
      <p:sp>
        <p:nvSpPr>
          <p:cNvPr id="301" name="Panel Body"/>
          <p:cNvSpPr/>
          <p:nvPr/>
        </p:nvSpPr>
        <p:spPr>
          <a:xfrm>
            <a:off x="7550120" y="2437784"/>
            <a:ext cx="4211840" cy="2971379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Panel Text"/>
          <p:cNvSpPr txBox="1"/>
          <p:nvPr/>
        </p:nvSpPr>
        <p:spPr>
          <a:xfrm>
            <a:off x="7750120" y="2587784"/>
            <a:ext cx="3811840" cy="225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1 </a:t>
            </a:r>
            <a:r>
              <a:rPr lang="en-US" sz="1100" b="1" dirty="0">
                <a:solidFill>
                  <a:srgbClr val="1F3A6E"/>
                </a:solidFill>
              </a:rPr>
              <a:t>Construction &amp; Service Dashboard</a:t>
            </a:r>
            <a:br>
              <a:rPr lang="en-US" sz="1100" dirty="0"/>
            </a:br>
            <a:r>
              <a:rPr lang="en-US" sz="1100" dirty="0"/>
              <a:t>Displays the Main Dashboard KPI/chart layout filtered by Construction or Service sites. Select the group header in the left tree, not an individual site.</a:t>
            </a:r>
          </a:p>
          <a:p>
            <a:pPr marL="0" indent="0">
              <a:lnSpc>
                <a:spcPct val="106000"/>
              </a:lnSpc>
              <a:spcAft>
                <a:spcPts val="400"/>
              </a:spcAft>
              <a:buNone/>
            </a:pPr>
            <a:endParaRPr lang="en-US" sz="1100" b="1" dirty="0">
              <a:solidFill>
                <a:srgbClr val="1F3A6E"/>
              </a:solidFill>
              <a:latin typeface="Calibri" pitchFamily="34" charset="0"/>
            </a:endParaRPr>
          </a:p>
          <a:p>
            <a:pPr marL="0" indent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Compare Construction-only or Service-only performance before drilling into a site. Filters (Project, Period, Exchange Rate, Unit) work as on the Main Dashboard.</a:t>
            </a:r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2FFA55A-660F-8BCF-699C-644C6008D352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9328D214-C8F2-494F-03DD-3BB00FCE04C6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203FEABD-76C8-8BBA-D692-48157538B37C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46F8A0F7-4A03-65C9-6A1D-6C20ABDB144E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FE59C754-8878-0FA3-1691-145D91EE030C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35C84B4B-A426-C29E-145B-D5FACB544E82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37A336D2-6999-5A2D-7718-0CE66E040A5D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D5234443-61B8-1E31-D133-DD2D1E3FE333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212481AA-0C16-1A84-3BA2-5E1DFA9CB2E6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72A0F89E-4536-9FB6-C911-2C7B2DE567E4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AF92C11-C1D5-3565-BBB9-6FC9414BE31D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8" name="Shape 24">
              <a:extLst>
                <a:ext uri="{FF2B5EF4-FFF2-40B4-BE49-F238E27FC236}">
                  <a16:creationId xmlns:a16="http://schemas.microsoft.com/office/drawing/2014/main" id="{B83BFEF1-ACD7-C610-1A89-068776349FA1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5">
              <a:extLst>
                <a:ext uri="{FF2B5EF4-FFF2-40B4-BE49-F238E27FC236}">
                  <a16:creationId xmlns:a16="http://schemas.microsoft.com/office/drawing/2014/main" id="{387CE8A5-E13C-5E46-61D4-5FEC8AC0955D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8A6D5441-FE7D-04A6-614F-3E68D2DD65AD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7">
              <a:extLst>
                <a:ext uri="{FF2B5EF4-FFF2-40B4-BE49-F238E27FC236}">
                  <a16:creationId xmlns:a16="http://schemas.microsoft.com/office/drawing/2014/main" id="{24D7C2C7-ABE8-BFE3-6013-708117867398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8">
              <a:extLst>
                <a:ext uri="{FF2B5EF4-FFF2-40B4-BE49-F238E27FC236}">
                  <a16:creationId xmlns:a16="http://schemas.microsoft.com/office/drawing/2014/main" id="{39B4E94D-34A7-6E1C-42F3-26B8675ED33E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9">
              <a:extLst>
                <a:ext uri="{FF2B5EF4-FFF2-40B4-BE49-F238E27FC236}">
                  <a16:creationId xmlns:a16="http://schemas.microsoft.com/office/drawing/2014/main" id="{D5F32908-8C71-BEFB-CDF9-99EA07ED2706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0">
              <a:extLst>
                <a:ext uri="{FF2B5EF4-FFF2-40B4-BE49-F238E27FC236}">
                  <a16:creationId xmlns:a16="http://schemas.microsoft.com/office/drawing/2014/main" id="{8DC4678E-5081-454D-EB6F-886968AF5A13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1">
              <a:extLst>
                <a:ext uri="{FF2B5EF4-FFF2-40B4-BE49-F238E27FC236}">
                  <a16:creationId xmlns:a16="http://schemas.microsoft.com/office/drawing/2014/main" id="{2E0980FE-DE81-E3D6-1DFD-E1F73219E81B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2">
              <a:extLst>
                <a:ext uri="{FF2B5EF4-FFF2-40B4-BE49-F238E27FC236}">
                  <a16:creationId xmlns:a16="http://schemas.microsoft.com/office/drawing/2014/main" id="{F192AC07-77A3-423F-3D6E-7450EE72F699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 33">
            <a:extLst>
              <a:ext uri="{FF2B5EF4-FFF2-40B4-BE49-F238E27FC236}">
                <a16:creationId xmlns:a16="http://schemas.microsoft.com/office/drawing/2014/main" id="{588335F1-20E8-5A14-A0DF-50B1163A99A0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Dashboard: Excel Upload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0039" y="1905001"/>
            <a:ext cx="6889657" cy="3463243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0" descr="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" y="1941577"/>
            <a:ext cx="7029396" cy="3382897"/>
          </a:xfrm>
          <a:prstGeom prst="rect">
            <a:avLst/>
          </a:prstGeom>
        </p:spPr>
      </p:pic>
      <p:sp>
        <p:nvSpPr>
          <p:cNvPr id="100" name="Box 1"/>
          <p:cNvSpPr/>
          <p:nvPr/>
        </p:nvSpPr>
        <p:spPr>
          <a:xfrm>
            <a:off x="2680772" y="3070020"/>
            <a:ext cx="2345103" cy="164751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1" name="Box 2"/>
          <p:cNvSpPr/>
          <p:nvPr/>
        </p:nvSpPr>
        <p:spPr>
          <a:xfrm>
            <a:off x="2647349" y="3271348"/>
            <a:ext cx="2431429" cy="1415026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2" name="Box 3"/>
          <p:cNvSpPr/>
          <p:nvPr/>
        </p:nvSpPr>
        <p:spPr>
          <a:xfrm>
            <a:off x="2733675" y="3668421"/>
            <a:ext cx="2270183" cy="867691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0" name="Callout 1"/>
          <p:cNvSpPr/>
          <p:nvPr/>
        </p:nvSpPr>
        <p:spPr>
          <a:xfrm>
            <a:off x="4908797" y="2958320"/>
            <a:ext cx="234156" cy="241636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201" name="Callout 2"/>
          <p:cNvSpPr/>
          <p:nvPr/>
        </p:nvSpPr>
        <p:spPr>
          <a:xfrm>
            <a:off x="2503897" y="3256679"/>
            <a:ext cx="234156" cy="241636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202" name="Callout 3"/>
          <p:cNvSpPr/>
          <p:nvPr/>
        </p:nvSpPr>
        <p:spPr>
          <a:xfrm>
            <a:off x="4752624" y="3550191"/>
            <a:ext cx="234156" cy="241636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300" name="Panel Header"/>
          <p:cNvSpPr/>
          <p:nvPr/>
        </p:nvSpPr>
        <p:spPr>
          <a:xfrm>
            <a:off x="7529464" y="1905002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Description</a:t>
            </a:r>
          </a:p>
        </p:txBody>
      </p:sp>
      <p:sp>
        <p:nvSpPr>
          <p:cNvPr id="301" name="Panel Body"/>
          <p:cNvSpPr/>
          <p:nvPr/>
        </p:nvSpPr>
        <p:spPr>
          <a:xfrm>
            <a:off x="7529464" y="2425002"/>
            <a:ext cx="4211840" cy="2899472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Panel Text"/>
          <p:cNvSpPr txBox="1"/>
          <p:nvPr/>
        </p:nvSpPr>
        <p:spPr>
          <a:xfrm>
            <a:off x="7729464" y="2575002"/>
            <a:ext cx="3811840" cy="2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1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Click Excel Upload, pick Data type (Management Report, Cash Flow, Revenue/COGS or Order Plan &amp; Performance), Target year, then select the .xlsx file.</a:t>
            </a:r>
          </a:p>
          <a:p>
            <a:pPr marL="0" indent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File is auto-parsed for Preview; click Apply to refresh the dashboard with the new data.</a:t>
            </a:r>
          </a:p>
          <a:p>
            <a:pPr marL="0" indent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3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Recent Uploads lists prior imports (time, filename); Revert to previous data rolls back to before that import.</a:t>
            </a:r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67F0F0B-05D7-68EE-EF4F-599345F81514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67A59684-F326-6993-833A-1F7FE902D2AB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5316E7BA-45EF-AFCC-02E0-87EDA9F02CEF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73D2094B-91A5-D132-E4C9-31578F0478B4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5EF8E4FA-E321-FA82-2B6B-FA4F17F925A1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1D22A476-C062-B036-EC47-D47E073F9B3D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BB9148DB-BC98-E353-9C46-85C7C05F960A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57889280-A54F-99F9-68CA-207CC17873CB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108B9EAF-48C5-1D94-2954-46DF348A6C70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444A72B8-AE94-247D-DD42-8F4510CD62B1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6CF1A4C-7823-FE45-B929-3DE038D144D4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8" name="Shape 24">
              <a:extLst>
                <a:ext uri="{FF2B5EF4-FFF2-40B4-BE49-F238E27FC236}">
                  <a16:creationId xmlns:a16="http://schemas.microsoft.com/office/drawing/2014/main" id="{368B6378-2945-75DC-6522-9AA19B723306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5">
              <a:extLst>
                <a:ext uri="{FF2B5EF4-FFF2-40B4-BE49-F238E27FC236}">
                  <a16:creationId xmlns:a16="http://schemas.microsoft.com/office/drawing/2014/main" id="{C0BFB859-EAFE-0452-2C08-8FFD76BA735A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3924BAFC-14E4-1531-6E6E-03E4FB8DA0E4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7">
              <a:extLst>
                <a:ext uri="{FF2B5EF4-FFF2-40B4-BE49-F238E27FC236}">
                  <a16:creationId xmlns:a16="http://schemas.microsoft.com/office/drawing/2014/main" id="{D061D977-0D1D-0778-BA3F-C5D4415C2E2F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8">
              <a:extLst>
                <a:ext uri="{FF2B5EF4-FFF2-40B4-BE49-F238E27FC236}">
                  <a16:creationId xmlns:a16="http://schemas.microsoft.com/office/drawing/2014/main" id="{D6354219-6360-BAC5-D088-2A567140D4F9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9">
              <a:extLst>
                <a:ext uri="{FF2B5EF4-FFF2-40B4-BE49-F238E27FC236}">
                  <a16:creationId xmlns:a16="http://schemas.microsoft.com/office/drawing/2014/main" id="{4740173B-8727-0BD9-12E5-B387141E6379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0">
              <a:extLst>
                <a:ext uri="{FF2B5EF4-FFF2-40B4-BE49-F238E27FC236}">
                  <a16:creationId xmlns:a16="http://schemas.microsoft.com/office/drawing/2014/main" id="{0BF3A124-84C0-A4BF-0EC0-48E6BB3A5D4D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1">
              <a:extLst>
                <a:ext uri="{FF2B5EF4-FFF2-40B4-BE49-F238E27FC236}">
                  <a16:creationId xmlns:a16="http://schemas.microsoft.com/office/drawing/2014/main" id="{9AEB9819-ECE3-C61D-6F1D-D880BFEDF504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2">
              <a:extLst>
                <a:ext uri="{FF2B5EF4-FFF2-40B4-BE49-F238E27FC236}">
                  <a16:creationId xmlns:a16="http://schemas.microsoft.com/office/drawing/2014/main" id="{F63D9823-75B7-203B-C203-A27547A64518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 33">
            <a:extLst>
              <a:ext uri="{FF2B5EF4-FFF2-40B4-BE49-F238E27FC236}">
                <a16:creationId xmlns:a16="http://schemas.microsoft.com/office/drawing/2014/main" id="{F24E71A7-8C68-97FD-5288-298A0096FB19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457200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30936" y="457200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13232" y="457200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" y="539496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30936" y="539496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13232" y="539496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" y="621792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30936" y="621792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13232" y="621792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14400" y="2743200"/>
            <a:ext cx="1417320" cy="1417320"/>
          </a:xfrm>
          <a:prstGeom prst="rect">
            <a:avLst/>
          </a:prstGeom>
          <a:solidFill>
            <a:srgbClr val="1F3A6E"/>
          </a:solidFill>
          <a:ln/>
          <a:effectLst>
            <a:outerShdw blurRad="762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14400" y="27432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5400" dirty="0"/>
          </a:p>
        </p:txBody>
      </p:sp>
      <p:sp>
        <p:nvSpPr>
          <p:cNvPr id="24" name="Text 22"/>
          <p:cNvSpPr/>
          <p:nvPr/>
        </p:nvSpPr>
        <p:spPr>
          <a:xfrm>
            <a:off x="914400" y="43434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Viewer - Project Dashboard - Construction</a:t>
            </a:r>
            <a:endParaRPr lang="en-US" sz="3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0039" y="1828202"/>
            <a:ext cx="7019901" cy="348324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0" descr="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5" y="1864777"/>
            <a:ext cx="7066951" cy="3419492"/>
          </a:xfrm>
          <a:prstGeom prst="rect">
            <a:avLst/>
          </a:prstGeom>
        </p:spPr>
      </p:pic>
      <p:sp>
        <p:nvSpPr>
          <p:cNvPr id="100" name="Box 1"/>
          <p:cNvSpPr/>
          <p:nvPr/>
        </p:nvSpPr>
        <p:spPr>
          <a:xfrm>
            <a:off x="1184564" y="2124507"/>
            <a:ext cx="6066680" cy="446396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1" name="Box 2"/>
          <p:cNvSpPr/>
          <p:nvPr/>
        </p:nvSpPr>
        <p:spPr>
          <a:xfrm>
            <a:off x="1184564" y="1909415"/>
            <a:ext cx="1488121" cy="137055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2" name="Box 3"/>
          <p:cNvSpPr/>
          <p:nvPr/>
        </p:nvSpPr>
        <p:spPr>
          <a:xfrm>
            <a:off x="1184564" y="2815615"/>
            <a:ext cx="6275578" cy="1079401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3" name="Box 4"/>
          <p:cNvSpPr/>
          <p:nvPr/>
        </p:nvSpPr>
        <p:spPr>
          <a:xfrm>
            <a:off x="3680438" y="3969000"/>
            <a:ext cx="3743128" cy="1155450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4" name="Box 5"/>
          <p:cNvSpPr/>
          <p:nvPr/>
        </p:nvSpPr>
        <p:spPr>
          <a:xfrm>
            <a:off x="440540" y="2370438"/>
            <a:ext cx="610880" cy="109769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0" name="Callout 1"/>
          <p:cNvSpPr/>
          <p:nvPr/>
        </p:nvSpPr>
        <p:spPr>
          <a:xfrm>
            <a:off x="984563" y="2150734"/>
            <a:ext cx="238583" cy="241745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201" name="Callout 2"/>
          <p:cNvSpPr/>
          <p:nvPr/>
        </p:nvSpPr>
        <p:spPr>
          <a:xfrm>
            <a:off x="991276" y="1788542"/>
            <a:ext cx="238583" cy="241745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202" name="Callout 3"/>
          <p:cNvSpPr/>
          <p:nvPr/>
        </p:nvSpPr>
        <p:spPr>
          <a:xfrm>
            <a:off x="1012484" y="2933088"/>
            <a:ext cx="238583" cy="241745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203" name="Callout 4"/>
          <p:cNvSpPr/>
          <p:nvPr/>
        </p:nvSpPr>
        <p:spPr>
          <a:xfrm>
            <a:off x="3489434" y="3985536"/>
            <a:ext cx="238583" cy="241745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4</a:t>
            </a:r>
          </a:p>
        </p:txBody>
      </p:sp>
      <p:sp>
        <p:nvSpPr>
          <p:cNvPr id="204" name="Callout 5"/>
          <p:cNvSpPr/>
          <p:nvPr/>
        </p:nvSpPr>
        <p:spPr>
          <a:xfrm>
            <a:off x="3370143" y="1839285"/>
            <a:ext cx="238583" cy="241745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5</a:t>
            </a:r>
          </a:p>
        </p:txBody>
      </p:sp>
      <p:sp>
        <p:nvSpPr>
          <p:cNvPr id="300" name="Panel Header"/>
          <p:cNvSpPr/>
          <p:nvPr/>
        </p:nvSpPr>
        <p:spPr>
          <a:xfrm>
            <a:off x="7623567" y="2013634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Description</a:t>
            </a:r>
          </a:p>
        </p:txBody>
      </p:sp>
      <p:sp>
        <p:nvSpPr>
          <p:cNvPr id="301" name="Panel Body"/>
          <p:cNvSpPr/>
          <p:nvPr/>
        </p:nvSpPr>
        <p:spPr>
          <a:xfrm>
            <a:off x="7623567" y="2533634"/>
            <a:ext cx="4211840" cy="2777808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Panel Text"/>
          <p:cNvSpPr txBox="1"/>
          <p:nvPr/>
        </p:nvSpPr>
        <p:spPr>
          <a:xfrm>
            <a:off x="7823567" y="2683634"/>
            <a:ext cx="3811840" cy="2276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500"/>
              </a:spcAft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1 </a:t>
            </a:r>
            <a:r>
              <a:rPr lang="en-US" sz="1100" dirty="0"/>
              <a:t>Select a construction site in the left tree to view its dashboard. Header shows Client, Construction Period, Construction Scale, Contract Amount and Status. </a:t>
            </a:r>
          </a:p>
          <a:p>
            <a:pPr>
              <a:spcAft>
                <a:spcPts val="500"/>
              </a:spcAft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Exchange Rate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(USD/KRW/VND) and </a:t>
            </a: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Unit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 (USD/K USD):  apply across Overview, Report, Progress, Revenue/Cost, Outsourcing, Cashflow and Data Entry.</a:t>
            </a:r>
          </a:p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 startAt="3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Site Photo &amp; Construction Info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: 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-  Site Photo: PIMSVINA Sync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Construction Info: </a:t>
            </a:r>
            <a:r>
              <a:rPr lang="en-US" sz="1100" dirty="0"/>
              <a:t>Data Entry → 0. Overview </a:t>
            </a:r>
          </a:p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 startAt="4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Contract Info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: </a:t>
            </a:r>
            <a:r>
              <a:rPr lang="en-US" sz="1100" dirty="0"/>
              <a:t>Data Entry → 0. Overview </a:t>
            </a:r>
          </a:p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 startAt="4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Sync PIMSVINA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refreshes project data from the source system.</a:t>
            </a:r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DB6A664-5AC1-8261-DDE8-F306CA8B5FBD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AAF7B755-20BA-150B-AD23-CC2D51DC2D30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EE37291C-1A95-AA67-7DFE-6982E241C66C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FD0F9A43-0C35-F502-9543-C69A19B5B827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DEA553BC-E424-71FA-EC42-B4FC31A40FDD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1B6DA4B8-75EB-FD1A-B652-59084D03DA08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E213C936-9802-31DC-AD26-3987C584EDB6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832CD734-C13E-9DC0-21BC-527BA47C7BB9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BB03237A-9611-8742-FC3D-DFBE577C6872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5B5EBED2-A9A3-73C0-1DA6-7722FFCD3D03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509D46F-2F0F-56BD-EC91-E273BBF7643D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8" name="Shape 24">
              <a:extLst>
                <a:ext uri="{FF2B5EF4-FFF2-40B4-BE49-F238E27FC236}">
                  <a16:creationId xmlns:a16="http://schemas.microsoft.com/office/drawing/2014/main" id="{75E9609C-D518-5994-D364-4255A3AF40BF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5">
              <a:extLst>
                <a:ext uri="{FF2B5EF4-FFF2-40B4-BE49-F238E27FC236}">
                  <a16:creationId xmlns:a16="http://schemas.microsoft.com/office/drawing/2014/main" id="{0F067C7A-FA7A-08A7-35BE-B385B3A50AD2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CC6D2AA6-0424-A4A6-19E8-E2558568FCE7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7">
              <a:extLst>
                <a:ext uri="{FF2B5EF4-FFF2-40B4-BE49-F238E27FC236}">
                  <a16:creationId xmlns:a16="http://schemas.microsoft.com/office/drawing/2014/main" id="{1FB1C1D7-2AC0-3B7D-31B4-5CD66115C664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8">
              <a:extLst>
                <a:ext uri="{FF2B5EF4-FFF2-40B4-BE49-F238E27FC236}">
                  <a16:creationId xmlns:a16="http://schemas.microsoft.com/office/drawing/2014/main" id="{4766F7E1-1423-8EFA-6F7B-F106B1F24C43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9">
              <a:extLst>
                <a:ext uri="{FF2B5EF4-FFF2-40B4-BE49-F238E27FC236}">
                  <a16:creationId xmlns:a16="http://schemas.microsoft.com/office/drawing/2014/main" id="{45890850-D8F2-9553-2ADD-9F8D0D2B1D4A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0">
              <a:extLst>
                <a:ext uri="{FF2B5EF4-FFF2-40B4-BE49-F238E27FC236}">
                  <a16:creationId xmlns:a16="http://schemas.microsoft.com/office/drawing/2014/main" id="{B7D30435-C431-73A8-D34F-FAC104967D40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1">
              <a:extLst>
                <a:ext uri="{FF2B5EF4-FFF2-40B4-BE49-F238E27FC236}">
                  <a16:creationId xmlns:a16="http://schemas.microsoft.com/office/drawing/2014/main" id="{7CC25B37-D6F6-6C57-11F8-5B0D184D6766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2">
              <a:extLst>
                <a:ext uri="{FF2B5EF4-FFF2-40B4-BE49-F238E27FC236}">
                  <a16:creationId xmlns:a16="http://schemas.microsoft.com/office/drawing/2014/main" id="{7BF2DC54-EB7F-B85A-5CD3-301CA04240F6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 33">
            <a:extLst>
              <a:ext uri="{FF2B5EF4-FFF2-40B4-BE49-F238E27FC236}">
                <a16:creationId xmlns:a16="http://schemas.microsoft.com/office/drawing/2014/main" id="{A394E48D-92AF-3557-A28A-3FEBBDFFC5AF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  <p:sp>
        <p:nvSpPr>
          <p:cNvPr id="3" name="Box 5">
            <a:extLst>
              <a:ext uri="{FF2B5EF4-FFF2-40B4-BE49-F238E27FC236}">
                <a16:creationId xmlns:a16="http://schemas.microsoft.com/office/drawing/2014/main" id="{134FB871-C014-CDFE-E158-9C13028F9F9C}"/>
              </a:ext>
            </a:extLst>
          </p:cNvPr>
          <p:cNvSpPr/>
          <p:nvPr/>
        </p:nvSpPr>
        <p:spPr>
          <a:xfrm>
            <a:off x="2772686" y="1914725"/>
            <a:ext cx="610880" cy="109769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83465" y="1964847"/>
            <a:ext cx="6917368" cy="3466683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0" descr="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001424"/>
            <a:ext cx="7065323" cy="3385926"/>
          </a:xfrm>
          <a:prstGeom prst="rect">
            <a:avLst/>
          </a:prstGeom>
        </p:spPr>
      </p:pic>
      <p:sp>
        <p:nvSpPr>
          <p:cNvPr id="100" name="Box 1"/>
          <p:cNvSpPr/>
          <p:nvPr/>
        </p:nvSpPr>
        <p:spPr>
          <a:xfrm>
            <a:off x="1091865" y="2905597"/>
            <a:ext cx="6293497" cy="168341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1" name="Box 2"/>
          <p:cNvSpPr/>
          <p:nvPr/>
        </p:nvSpPr>
        <p:spPr>
          <a:xfrm>
            <a:off x="1156248" y="3109950"/>
            <a:ext cx="2044152" cy="1164632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2" name="Box 3"/>
          <p:cNvSpPr/>
          <p:nvPr/>
        </p:nvSpPr>
        <p:spPr>
          <a:xfrm>
            <a:off x="3236974" y="3109951"/>
            <a:ext cx="2044151" cy="1164632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0" name="Callout 1"/>
          <p:cNvSpPr/>
          <p:nvPr/>
        </p:nvSpPr>
        <p:spPr>
          <a:xfrm>
            <a:off x="943877" y="2762839"/>
            <a:ext cx="235097" cy="24287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201" name="Callout 2"/>
          <p:cNvSpPr/>
          <p:nvPr/>
        </p:nvSpPr>
        <p:spPr>
          <a:xfrm>
            <a:off x="966770" y="3152596"/>
            <a:ext cx="235097" cy="24287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202" name="Callout 3"/>
          <p:cNvSpPr/>
          <p:nvPr/>
        </p:nvSpPr>
        <p:spPr>
          <a:xfrm>
            <a:off x="5082602" y="3065771"/>
            <a:ext cx="235097" cy="24287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300" name="Panel Header"/>
          <p:cNvSpPr/>
          <p:nvPr/>
        </p:nvSpPr>
        <p:spPr>
          <a:xfrm>
            <a:off x="7587958" y="1537366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Description</a:t>
            </a:r>
          </a:p>
        </p:txBody>
      </p:sp>
      <p:sp>
        <p:nvSpPr>
          <p:cNvPr id="301" name="Panel Body"/>
          <p:cNvSpPr/>
          <p:nvPr/>
        </p:nvSpPr>
        <p:spPr>
          <a:xfrm>
            <a:off x="7587958" y="2057365"/>
            <a:ext cx="4211840" cy="3857659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Panel Text"/>
          <p:cNvSpPr txBox="1"/>
          <p:nvPr/>
        </p:nvSpPr>
        <p:spPr>
          <a:xfrm>
            <a:off x="7787957" y="2207366"/>
            <a:ext cx="3883520" cy="2247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1  Report tab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: monthly executive summary. Pick </a:t>
            </a: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Base Month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, click </a:t>
            </a: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Export Report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for a shareable file.</a:t>
            </a:r>
          </a:p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 startAt="2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Progress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: 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Monthly/Cumulative Progress: </a:t>
            </a:r>
            <a:r>
              <a:rPr lang="en-US" sz="1100" dirty="0"/>
              <a:t>Data Entry → 1. Monthly Progress.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Rate = Actual ÷ Plan * 100%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Duration rate = elapsed time ÷ total period, plus gap vs. cumulative progress.</a:t>
            </a:r>
          </a:p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 startAt="3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Revenue Actual &amp; Forecast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: 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Monthly Revenue (Plan/Actual/Forecast): </a:t>
            </a:r>
            <a:r>
              <a:rPr lang="en-US" sz="1100" dirty="0"/>
              <a:t>Data Entry → 2. Monthly Revenue → Plan, Actual, Forecast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Annual Accumulative: Accumulated revenue from January to the current month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Overall Accumulative: Accumulated revenue from project inception to the current month.</a:t>
            </a:r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782734B-5A0B-9CA8-47B3-BF7D97B4C4A1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5DE6B7A5-F9AB-675B-AACD-0FF6322236A1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EEE5327A-E070-0263-007D-485C5B25BE88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F87B8585-255A-8559-1392-431AD76637FD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AE9FAA88-1685-D4E9-C7E9-1B10044A9440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E405EBDB-8858-3BCB-740A-CE993F0FB82B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4AB71EAD-56EA-2150-1922-9061A6AA575D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FF6AF07D-DFDB-E3C1-C845-A5C376597ED3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ED4D2F6A-F1BC-DF5B-0D61-EB4E1C8554C7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135F75A1-4EBA-6FE9-7A9D-3CF533B5BE39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C49F208-888D-74EA-1466-AB420C4EA104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8" name="Shape 24">
              <a:extLst>
                <a:ext uri="{FF2B5EF4-FFF2-40B4-BE49-F238E27FC236}">
                  <a16:creationId xmlns:a16="http://schemas.microsoft.com/office/drawing/2014/main" id="{CB2F9B98-FBC7-6373-BD52-366101D2513D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5">
              <a:extLst>
                <a:ext uri="{FF2B5EF4-FFF2-40B4-BE49-F238E27FC236}">
                  <a16:creationId xmlns:a16="http://schemas.microsoft.com/office/drawing/2014/main" id="{8C84BABE-973E-FABB-04FD-234FC6C6F78B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81BA6D92-B32A-A14E-767E-5E8E6C622940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7">
              <a:extLst>
                <a:ext uri="{FF2B5EF4-FFF2-40B4-BE49-F238E27FC236}">
                  <a16:creationId xmlns:a16="http://schemas.microsoft.com/office/drawing/2014/main" id="{E9CEA3B6-9754-DB1D-10B1-9A4E5CA40C84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8">
              <a:extLst>
                <a:ext uri="{FF2B5EF4-FFF2-40B4-BE49-F238E27FC236}">
                  <a16:creationId xmlns:a16="http://schemas.microsoft.com/office/drawing/2014/main" id="{CF9C8399-D4B0-4E4B-F329-4E81637514FC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9">
              <a:extLst>
                <a:ext uri="{FF2B5EF4-FFF2-40B4-BE49-F238E27FC236}">
                  <a16:creationId xmlns:a16="http://schemas.microsoft.com/office/drawing/2014/main" id="{7538D3AB-B9F1-037A-49D0-11839014E4ED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0">
              <a:extLst>
                <a:ext uri="{FF2B5EF4-FFF2-40B4-BE49-F238E27FC236}">
                  <a16:creationId xmlns:a16="http://schemas.microsoft.com/office/drawing/2014/main" id="{57F8B387-632A-74FC-D7DF-2C8ADDCC5155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1">
              <a:extLst>
                <a:ext uri="{FF2B5EF4-FFF2-40B4-BE49-F238E27FC236}">
                  <a16:creationId xmlns:a16="http://schemas.microsoft.com/office/drawing/2014/main" id="{245F1303-F41A-9AC1-ECAA-ADE8DFAF7024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2">
              <a:extLst>
                <a:ext uri="{FF2B5EF4-FFF2-40B4-BE49-F238E27FC236}">
                  <a16:creationId xmlns:a16="http://schemas.microsoft.com/office/drawing/2014/main" id="{379AFABB-651B-E373-0EB1-F3E963FD5C95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 33">
            <a:extLst>
              <a:ext uri="{FF2B5EF4-FFF2-40B4-BE49-F238E27FC236}">
                <a16:creationId xmlns:a16="http://schemas.microsoft.com/office/drawing/2014/main" id="{12D31633-5A3B-9070-8746-47097C5B19F0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A22662-2892-76A3-FE04-DDF491982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4B7E3F0-9874-F102-92AC-6ED8067CE7AE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434B97A-3214-7EE6-6F68-1D25A396A9F2}"/>
              </a:ext>
            </a:extLst>
          </p:cNvPr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28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EC5A5EB4-090D-BF1A-9FB4-1D7F278027F6}"/>
              </a:ext>
            </a:extLst>
          </p:cNvPr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7FCE5E3D-8622-9E71-F547-B0F2BAD09E06}"/>
              </a:ext>
            </a:extLst>
          </p:cNvPr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F8DDFD34-F93E-D52A-6B1E-607A5FEA0451}"/>
              </a:ext>
            </a:extLst>
          </p:cNvPr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3397AFD1-D13A-B552-9064-1A5BF623130D}"/>
              </a:ext>
            </a:extLst>
          </p:cNvPr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B35B3992-6E5A-5225-0AE4-0B348D474ED8}"/>
              </a:ext>
            </a:extLst>
          </p:cNvPr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549BC8D9-7AA4-69AF-C693-5B9FC0EDC469}"/>
              </a:ext>
            </a:extLst>
          </p:cNvPr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3D5826C4-B046-A6CA-83CE-4E1DBCB4ADBA}"/>
              </a:ext>
            </a:extLst>
          </p:cNvPr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0D6A9584-DE0E-1DBA-A0D9-D8ACDC85B407}"/>
              </a:ext>
            </a:extLst>
          </p:cNvPr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93329914-A79A-425F-080D-6AD1FFAE950C}"/>
              </a:ext>
            </a:extLst>
          </p:cNvPr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5F327850-2E47-2CE9-730A-5D8C104CC589}"/>
              </a:ext>
            </a:extLst>
          </p:cNvPr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6CD19547-8486-CDF4-F2DC-F4389ADDF4CE}"/>
              </a:ext>
            </a:extLst>
          </p:cNvPr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7EA0B35-E196-760A-092B-31DA095F6FDF}"/>
              </a:ext>
            </a:extLst>
          </p:cNvPr>
          <p:cNvGrpSpPr/>
          <p:nvPr/>
        </p:nvGrpSpPr>
        <p:grpSpPr>
          <a:xfrm>
            <a:off x="320040" y="1819483"/>
            <a:ext cx="7078795" cy="3492643"/>
            <a:chOff x="603504" y="2271924"/>
            <a:chExt cx="6473152" cy="3140234"/>
          </a:xfrm>
        </p:grpSpPr>
        <p:sp>
          <p:nvSpPr>
            <p:cNvPr id="25" name="Shape 23">
              <a:extLst>
                <a:ext uri="{FF2B5EF4-FFF2-40B4-BE49-F238E27FC236}">
                  <a16:creationId xmlns:a16="http://schemas.microsoft.com/office/drawing/2014/main" id="{25464096-D962-7EF8-CE6A-A35EB4E338C2}"/>
                </a:ext>
              </a:extLst>
            </p:cNvPr>
            <p:cNvSpPr/>
            <p:nvPr/>
          </p:nvSpPr>
          <p:spPr>
            <a:xfrm>
              <a:off x="603504" y="2271924"/>
              <a:ext cx="6473152" cy="3140234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6" name="Image 0" descr="screenshot">
              <a:extLst>
                <a:ext uri="{FF2B5EF4-FFF2-40B4-BE49-F238E27FC236}">
                  <a16:creationId xmlns:a16="http://schemas.microsoft.com/office/drawing/2014/main" id="{49FBBCDB-6E9A-2A42-37D9-29D547D5DD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" y="2308500"/>
              <a:ext cx="6400000" cy="3067082"/>
            </a:xfrm>
            <a:prstGeom prst="rect">
              <a:avLst/>
            </a:prstGeom>
          </p:spPr>
        </p:pic>
        <p:sp>
          <p:nvSpPr>
            <p:cNvPr id="101" name="Box 2">
              <a:extLst>
                <a:ext uri="{FF2B5EF4-FFF2-40B4-BE49-F238E27FC236}">
                  <a16:creationId xmlns:a16="http://schemas.microsoft.com/office/drawing/2014/main" id="{69FDD281-9467-81FC-51D0-435B70C8D617}"/>
                </a:ext>
              </a:extLst>
            </p:cNvPr>
            <p:cNvSpPr/>
            <p:nvPr/>
          </p:nvSpPr>
          <p:spPr>
            <a:xfrm>
              <a:off x="1387190" y="4431966"/>
              <a:ext cx="1844237" cy="790395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Box 3">
              <a:extLst>
                <a:ext uri="{FF2B5EF4-FFF2-40B4-BE49-F238E27FC236}">
                  <a16:creationId xmlns:a16="http://schemas.microsoft.com/office/drawing/2014/main" id="{B9AA1F7A-E316-EE96-83A0-1B98C6942BDE}"/>
                </a:ext>
              </a:extLst>
            </p:cNvPr>
            <p:cNvSpPr/>
            <p:nvPr/>
          </p:nvSpPr>
          <p:spPr>
            <a:xfrm>
              <a:off x="3306142" y="4435187"/>
              <a:ext cx="1794393" cy="790395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Box 4">
              <a:extLst>
                <a:ext uri="{FF2B5EF4-FFF2-40B4-BE49-F238E27FC236}">
                  <a16:creationId xmlns:a16="http://schemas.microsoft.com/office/drawing/2014/main" id="{01A5CC42-FBC4-5F92-5EEF-B04983E90E5C}"/>
                </a:ext>
              </a:extLst>
            </p:cNvPr>
            <p:cNvSpPr/>
            <p:nvPr/>
          </p:nvSpPr>
          <p:spPr>
            <a:xfrm>
              <a:off x="5175250" y="4451802"/>
              <a:ext cx="1811663" cy="773780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0" name="Callout 1">
              <a:extLst>
                <a:ext uri="{FF2B5EF4-FFF2-40B4-BE49-F238E27FC236}">
                  <a16:creationId xmlns:a16="http://schemas.microsoft.com/office/drawing/2014/main" id="{1A8426DF-49FA-4F67-2CD1-17F8CA664EF2}"/>
                </a:ext>
              </a:extLst>
            </p:cNvPr>
            <p:cNvSpPr/>
            <p:nvPr/>
          </p:nvSpPr>
          <p:spPr>
            <a:xfrm>
              <a:off x="3029649" y="4341802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201" name="Callout 2">
              <a:extLst>
                <a:ext uri="{FF2B5EF4-FFF2-40B4-BE49-F238E27FC236}">
                  <a16:creationId xmlns:a16="http://schemas.microsoft.com/office/drawing/2014/main" id="{E23F8DCA-925F-3EF0-CE34-6D7920DE9A01}"/>
                </a:ext>
              </a:extLst>
            </p:cNvPr>
            <p:cNvSpPr/>
            <p:nvPr/>
          </p:nvSpPr>
          <p:spPr>
            <a:xfrm>
              <a:off x="4917893" y="4383476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2</a:t>
              </a:r>
            </a:p>
          </p:txBody>
        </p:sp>
        <p:sp>
          <p:nvSpPr>
            <p:cNvPr id="202" name="Callout 3">
              <a:extLst>
                <a:ext uri="{FF2B5EF4-FFF2-40B4-BE49-F238E27FC236}">
                  <a16:creationId xmlns:a16="http://schemas.microsoft.com/office/drawing/2014/main" id="{88C46A62-9064-A46B-A1B0-BFA2BF88FE65}"/>
                </a:ext>
              </a:extLst>
            </p:cNvPr>
            <p:cNvSpPr/>
            <p:nvPr/>
          </p:nvSpPr>
          <p:spPr>
            <a:xfrm>
              <a:off x="6820212" y="4415226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3</a:t>
              </a:r>
            </a:p>
          </p:txBody>
        </p:sp>
      </p:grpSp>
      <p:sp>
        <p:nvSpPr>
          <p:cNvPr id="300" name="Panel Header">
            <a:extLst>
              <a:ext uri="{FF2B5EF4-FFF2-40B4-BE49-F238E27FC236}">
                <a16:creationId xmlns:a16="http://schemas.microsoft.com/office/drawing/2014/main" id="{CC66F23E-18D4-FD59-A2BF-30849C2E4753}"/>
              </a:ext>
            </a:extLst>
          </p:cNvPr>
          <p:cNvSpPr/>
          <p:nvPr/>
        </p:nvSpPr>
        <p:spPr>
          <a:xfrm>
            <a:off x="7595807" y="1299483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Description</a:t>
            </a:r>
          </a:p>
        </p:txBody>
      </p:sp>
      <p:sp>
        <p:nvSpPr>
          <p:cNvPr id="301" name="Panel Body">
            <a:extLst>
              <a:ext uri="{FF2B5EF4-FFF2-40B4-BE49-F238E27FC236}">
                <a16:creationId xmlns:a16="http://schemas.microsoft.com/office/drawing/2014/main" id="{5E0932B8-C6FB-9556-7D64-8ED05DCCDF96}"/>
              </a:ext>
            </a:extLst>
          </p:cNvPr>
          <p:cNvSpPr/>
          <p:nvPr/>
        </p:nvSpPr>
        <p:spPr>
          <a:xfrm>
            <a:off x="7595807" y="1819483"/>
            <a:ext cx="4211840" cy="4019698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Panel Text">
            <a:extLst>
              <a:ext uri="{FF2B5EF4-FFF2-40B4-BE49-F238E27FC236}">
                <a16:creationId xmlns:a16="http://schemas.microsoft.com/office/drawing/2014/main" id="{DF0DF5B0-07AD-F40F-9A87-A7992D8357C3}"/>
              </a:ext>
            </a:extLst>
          </p:cNvPr>
          <p:cNvSpPr txBox="1"/>
          <p:nvPr/>
        </p:nvSpPr>
        <p:spPr>
          <a:xfrm>
            <a:off x="7795807" y="1969483"/>
            <a:ext cx="3811840" cy="2247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6000"/>
              </a:lnSpc>
              <a:spcAft>
                <a:spcPts val="500"/>
              </a:spcAft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1 Status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: traffic-lights Progress/Revenue/Cost (month &amp; year). Cost (Cumulative Execution): Direct, Indirect, Contingency. 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Progress: </a:t>
            </a:r>
            <a:r>
              <a:rPr lang="en-US" sz="1100" dirty="0"/>
              <a:t>Data Entry → 1. Monthly Progress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Revenue: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Cost: Get the Execution rate data from the Cost tab below.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Cashflow: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The traffic light indicator displays the status of the items; hovering the mouse over it reveals the reason.</a:t>
            </a:r>
          </a:p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 startAt="2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Cost (cumulative Execution)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: 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- Source: </a:t>
            </a:r>
            <a:r>
              <a:rPr lang="en-US" sz="1100" dirty="0"/>
              <a:t>Data Entry → 6. Budget Execution Status</a:t>
            </a:r>
            <a:endParaRPr lang="en-US" sz="1100" dirty="0">
              <a:solidFill>
                <a:srgbClr val="262626"/>
              </a:solidFill>
              <a:latin typeface="Calibri" pitchFamily="34" charset="0"/>
            </a:endParaRP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- Execution rate = Execution ÷ Plan * 100%.</a:t>
            </a:r>
          </a:p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 startAt="3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Cashflow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: 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Cumulative Revenue = Actual Overall Cumulative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Collection (Actual):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Receivable</a:t>
            </a:r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E79A63A3-2337-3E31-412A-5E2D5E55B1DD}"/>
              </a:ext>
            </a:extLst>
          </p:cNvPr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86D2210-E9E7-5719-785D-5931E18AE006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1888281E-C685-BEE0-CE1D-61836D37E201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A7A9BECA-6655-E8D8-617D-BB37C8656787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DF918F4C-4046-3519-3D76-6C91FB3A9291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9A177CC4-1D2D-2F8C-9CF0-1CE29D2F7C36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8832BA35-8487-38C1-2A0E-A4A7189BDDE3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D42DE7FF-38DD-5084-7032-407F9884E303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7BA006AD-313C-97B2-BE72-5A743F72FBA1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17CC7A52-60A0-D2B6-8EB2-A803FD20DEF5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D61429A7-AA9E-B8ED-93B7-BE6FA6176328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F1740BE-0727-F319-3472-F3EB5515EF78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8" name="Shape 24">
              <a:extLst>
                <a:ext uri="{FF2B5EF4-FFF2-40B4-BE49-F238E27FC236}">
                  <a16:creationId xmlns:a16="http://schemas.microsoft.com/office/drawing/2014/main" id="{AA1DBA0A-DF2F-F8BB-FE93-D40569D37AF0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5">
              <a:extLst>
                <a:ext uri="{FF2B5EF4-FFF2-40B4-BE49-F238E27FC236}">
                  <a16:creationId xmlns:a16="http://schemas.microsoft.com/office/drawing/2014/main" id="{D56D3ADF-6B13-6EE8-BAAE-B7B8811BAA54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D4291D5C-3276-143F-75EB-8B9AEA211997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7">
              <a:extLst>
                <a:ext uri="{FF2B5EF4-FFF2-40B4-BE49-F238E27FC236}">
                  <a16:creationId xmlns:a16="http://schemas.microsoft.com/office/drawing/2014/main" id="{A0E2E931-7CF0-7CB2-F391-34642A8EFFAE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8">
              <a:extLst>
                <a:ext uri="{FF2B5EF4-FFF2-40B4-BE49-F238E27FC236}">
                  <a16:creationId xmlns:a16="http://schemas.microsoft.com/office/drawing/2014/main" id="{FF2D2254-AD5C-68DB-FA31-0FB57F4EDBD3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9">
              <a:extLst>
                <a:ext uri="{FF2B5EF4-FFF2-40B4-BE49-F238E27FC236}">
                  <a16:creationId xmlns:a16="http://schemas.microsoft.com/office/drawing/2014/main" id="{7EEE58A2-BD8A-33AB-64E5-5AFE5D9FDF5C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0">
              <a:extLst>
                <a:ext uri="{FF2B5EF4-FFF2-40B4-BE49-F238E27FC236}">
                  <a16:creationId xmlns:a16="http://schemas.microsoft.com/office/drawing/2014/main" id="{A43C449B-34FB-23C6-7050-00A0F996666F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1">
              <a:extLst>
                <a:ext uri="{FF2B5EF4-FFF2-40B4-BE49-F238E27FC236}">
                  <a16:creationId xmlns:a16="http://schemas.microsoft.com/office/drawing/2014/main" id="{F1A450F5-DB14-BA7D-28F1-C2613243942F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2">
              <a:extLst>
                <a:ext uri="{FF2B5EF4-FFF2-40B4-BE49-F238E27FC236}">
                  <a16:creationId xmlns:a16="http://schemas.microsoft.com/office/drawing/2014/main" id="{5122101F-77BF-F0D3-8AD2-D4C41FDE65F5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 33">
            <a:extLst>
              <a:ext uri="{FF2B5EF4-FFF2-40B4-BE49-F238E27FC236}">
                <a16:creationId xmlns:a16="http://schemas.microsoft.com/office/drawing/2014/main" id="{9A20D006-F24B-AB96-FF15-F8A4A8D1FB53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2081589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7768D5C-187D-44DB-DD29-073859795EAE}"/>
              </a:ext>
            </a:extLst>
          </p:cNvPr>
          <p:cNvGrpSpPr/>
          <p:nvPr/>
        </p:nvGrpSpPr>
        <p:grpSpPr>
          <a:xfrm>
            <a:off x="320039" y="1891891"/>
            <a:ext cx="7081921" cy="3420823"/>
            <a:chOff x="603504" y="2271924"/>
            <a:chExt cx="6473152" cy="3141691"/>
          </a:xfrm>
        </p:grpSpPr>
        <p:sp>
          <p:nvSpPr>
            <p:cNvPr id="25" name="Shape 23"/>
            <p:cNvSpPr/>
            <p:nvPr/>
          </p:nvSpPr>
          <p:spPr>
            <a:xfrm>
              <a:off x="603504" y="2271924"/>
              <a:ext cx="6473152" cy="3141691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6" name="Image 0" descr="screenshot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" y="2308500"/>
              <a:ext cx="6400000" cy="3068539"/>
            </a:xfrm>
            <a:prstGeom prst="rect">
              <a:avLst/>
            </a:prstGeom>
          </p:spPr>
        </p:pic>
        <p:sp>
          <p:nvSpPr>
            <p:cNvPr id="100" name="Box 1"/>
            <p:cNvSpPr/>
            <p:nvPr/>
          </p:nvSpPr>
          <p:spPr>
            <a:xfrm>
              <a:off x="1405551" y="3120722"/>
              <a:ext cx="2745710" cy="2146646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Box 2"/>
            <p:cNvSpPr/>
            <p:nvPr/>
          </p:nvSpPr>
          <p:spPr>
            <a:xfrm>
              <a:off x="4187837" y="3167994"/>
              <a:ext cx="2795632" cy="1481019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0" name="Callout 1"/>
            <p:cNvSpPr/>
            <p:nvPr/>
          </p:nvSpPr>
          <p:spPr>
            <a:xfrm>
              <a:off x="1272943" y="3317096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201" name="Callout 2"/>
            <p:cNvSpPr/>
            <p:nvPr/>
          </p:nvSpPr>
          <p:spPr>
            <a:xfrm>
              <a:off x="6856656" y="3317096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2</a:t>
              </a:r>
            </a:p>
          </p:txBody>
        </p:sp>
      </p:grpSp>
      <p:sp>
        <p:nvSpPr>
          <p:cNvPr id="300" name="Panel Header"/>
          <p:cNvSpPr/>
          <p:nvPr/>
        </p:nvSpPr>
        <p:spPr>
          <a:xfrm>
            <a:off x="7589463" y="1891891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Description</a:t>
            </a:r>
          </a:p>
        </p:txBody>
      </p:sp>
      <p:sp>
        <p:nvSpPr>
          <p:cNvPr id="301" name="Panel Body"/>
          <p:cNvSpPr/>
          <p:nvPr/>
        </p:nvSpPr>
        <p:spPr>
          <a:xfrm>
            <a:off x="7589463" y="2411891"/>
            <a:ext cx="4211840" cy="2900823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Panel Text"/>
          <p:cNvSpPr txBox="1"/>
          <p:nvPr/>
        </p:nvSpPr>
        <p:spPr>
          <a:xfrm>
            <a:off x="7789463" y="2561891"/>
            <a:ext cx="3811840" cy="2248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AutoNum type="arabicPeriod"/>
            </a:pPr>
            <a:r>
              <a:rPr lang="en-US" sz="1100" b="1" dirty="0">
                <a:solidFill>
                  <a:srgbClr val="1F3A6E"/>
                </a:solidFill>
              </a:rPr>
              <a:t>Site Progress Status </a:t>
            </a:r>
          </a:p>
          <a:p>
            <a:r>
              <a:rPr lang="en-US" sz="1100" dirty="0"/>
              <a:t>Displays monthly photos synced from PIMSVINA, with pagination to view multiple photos for the selected month.</a:t>
            </a:r>
          </a:p>
          <a:p>
            <a:endParaRPr lang="en-US" sz="1100" dirty="0"/>
          </a:p>
          <a:p>
            <a:r>
              <a:rPr lang="en-US" sz="1100" b="1" dirty="0">
                <a:solidFill>
                  <a:srgbClr val="1F3A6E"/>
                </a:solidFill>
              </a:rPr>
              <a:t>2</a:t>
            </a:r>
            <a:r>
              <a:rPr lang="en-US" sz="1100" dirty="0"/>
              <a:t>. </a:t>
            </a:r>
            <a:r>
              <a:rPr lang="en-US" sz="1100" b="1" dirty="0">
                <a:solidFill>
                  <a:srgbClr val="1F3A6E"/>
                </a:solidFill>
              </a:rPr>
              <a:t>Progress</a:t>
            </a:r>
            <a:r>
              <a:rPr lang="en-US" sz="1100" dirty="0"/>
              <a:t> </a:t>
            </a:r>
          </a:p>
          <a:p>
            <a:r>
              <a:rPr lang="en-US" sz="1100" dirty="0"/>
              <a:t>- Donuts Three donuts show Monthly, Annual and Cumulative Progress, each comparing Plan vs. Actual with Achievement Rate. - - Source: Data Entry → 1. Monthly Progress.</a:t>
            </a:r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74B5B05-3F46-4B6A-F670-3FF1F2278783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C44BCFD0-4D71-15C4-B5CE-3BE92AEC0EA1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37045CB8-5CB5-1800-7AE7-9DEBF4E2BA26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5DD0BB5A-3D87-CCCB-431F-BE67DE23C3DB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442D3EB5-B68A-D6D2-B045-384BA7B8A818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867C9C19-2052-BEE6-0E76-A3E91EF58BA4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7A41DF3C-E75D-077E-64BA-DE0836357571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129A50C6-BED1-0334-FE5E-F1558826AF8E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17A76B09-8903-716B-8A7C-3C45006423E7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5D38BCA6-AECF-413C-8CD0-F1D84EF63558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50726C8A-3DC5-27B6-2FD7-9AA409BF768A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8" name="Shape 24">
              <a:extLst>
                <a:ext uri="{FF2B5EF4-FFF2-40B4-BE49-F238E27FC236}">
                  <a16:creationId xmlns:a16="http://schemas.microsoft.com/office/drawing/2014/main" id="{9D95D7BE-62FD-9468-325D-BBBE6005FF61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5">
              <a:extLst>
                <a:ext uri="{FF2B5EF4-FFF2-40B4-BE49-F238E27FC236}">
                  <a16:creationId xmlns:a16="http://schemas.microsoft.com/office/drawing/2014/main" id="{E59BD8E5-5BE5-3730-7694-5A4C373241AA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CE950926-3924-4CBA-29F7-A9F1A7BBFB11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7">
              <a:extLst>
                <a:ext uri="{FF2B5EF4-FFF2-40B4-BE49-F238E27FC236}">
                  <a16:creationId xmlns:a16="http://schemas.microsoft.com/office/drawing/2014/main" id="{9E50532E-9E67-1C8C-D342-8DC769EE40E9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8">
              <a:extLst>
                <a:ext uri="{FF2B5EF4-FFF2-40B4-BE49-F238E27FC236}">
                  <a16:creationId xmlns:a16="http://schemas.microsoft.com/office/drawing/2014/main" id="{FDCB7FD0-AE65-DCB3-6035-FA9E9C11BD81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9">
              <a:extLst>
                <a:ext uri="{FF2B5EF4-FFF2-40B4-BE49-F238E27FC236}">
                  <a16:creationId xmlns:a16="http://schemas.microsoft.com/office/drawing/2014/main" id="{2A9E86EC-DE35-B237-7484-1766A297D126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0">
              <a:extLst>
                <a:ext uri="{FF2B5EF4-FFF2-40B4-BE49-F238E27FC236}">
                  <a16:creationId xmlns:a16="http://schemas.microsoft.com/office/drawing/2014/main" id="{F1D5258A-1AB1-5917-A78B-FFFF2803C7AC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1">
              <a:extLst>
                <a:ext uri="{FF2B5EF4-FFF2-40B4-BE49-F238E27FC236}">
                  <a16:creationId xmlns:a16="http://schemas.microsoft.com/office/drawing/2014/main" id="{3D310F77-6A14-1CB6-AA11-FC8B05873DDA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2">
              <a:extLst>
                <a:ext uri="{FF2B5EF4-FFF2-40B4-BE49-F238E27FC236}">
                  <a16:creationId xmlns:a16="http://schemas.microsoft.com/office/drawing/2014/main" id="{975275A5-7B7A-1548-34F6-2B3170B86B98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 33">
            <a:extLst>
              <a:ext uri="{FF2B5EF4-FFF2-40B4-BE49-F238E27FC236}">
                <a16:creationId xmlns:a16="http://schemas.microsoft.com/office/drawing/2014/main" id="{B9A2168A-68B2-51D7-7499-933C63A9EC4D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Progress: Monthly Trend &amp; Milestones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04D3AFE-F94F-F301-215F-57A32EAE2807}"/>
              </a:ext>
            </a:extLst>
          </p:cNvPr>
          <p:cNvGrpSpPr/>
          <p:nvPr/>
        </p:nvGrpSpPr>
        <p:grpSpPr>
          <a:xfrm>
            <a:off x="320040" y="1887185"/>
            <a:ext cx="7072293" cy="3426530"/>
            <a:chOff x="603504" y="2271924"/>
            <a:chExt cx="6473152" cy="3133733"/>
          </a:xfrm>
        </p:grpSpPr>
        <p:sp>
          <p:nvSpPr>
            <p:cNvPr id="25" name="Shape 23"/>
            <p:cNvSpPr/>
            <p:nvPr/>
          </p:nvSpPr>
          <p:spPr>
            <a:xfrm>
              <a:off x="603504" y="2271924"/>
              <a:ext cx="6473152" cy="3133733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6" name="Image 0" descr="screenshot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" y="2308500"/>
              <a:ext cx="6400000" cy="3060581"/>
            </a:xfrm>
            <a:prstGeom prst="rect">
              <a:avLst/>
            </a:prstGeom>
          </p:spPr>
        </p:pic>
        <p:sp>
          <p:nvSpPr>
            <p:cNvPr id="100" name="Box 1"/>
            <p:cNvSpPr/>
            <p:nvPr/>
          </p:nvSpPr>
          <p:spPr>
            <a:xfrm>
              <a:off x="1403565" y="2358293"/>
              <a:ext cx="5576763" cy="1228216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Box 2"/>
            <p:cNvSpPr/>
            <p:nvPr/>
          </p:nvSpPr>
          <p:spPr>
            <a:xfrm>
              <a:off x="1403565" y="3686093"/>
              <a:ext cx="5576763" cy="1218530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Box 3"/>
            <p:cNvSpPr/>
            <p:nvPr/>
          </p:nvSpPr>
          <p:spPr>
            <a:xfrm>
              <a:off x="1403565" y="4964102"/>
              <a:ext cx="5576763" cy="381743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0" name="Callout 1"/>
            <p:cNvSpPr/>
            <p:nvPr/>
          </p:nvSpPr>
          <p:spPr>
            <a:xfrm>
              <a:off x="1311004" y="2467563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201" name="Callout 2"/>
            <p:cNvSpPr/>
            <p:nvPr/>
          </p:nvSpPr>
          <p:spPr>
            <a:xfrm>
              <a:off x="1293565" y="3584522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2</a:t>
              </a:r>
            </a:p>
          </p:txBody>
        </p:sp>
        <p:sp>
          <p:nvSpPr>
            <p:cNvPr id="202" name="Callout 3"/>
            <p:cNvSpPr/>
            <p:nvPr/>
          </p:nvSpPr>
          <p:spPr>
            <a:xfrm>
              <a:off x="1233813" y="4862531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3</a:t>
              </a:r>
            </a:p>
          </p:txBody>
        </p:sp>
      </p:grpSp>
      <p:sp>
        <p:nvSpPr>
          <p:cNvPr id="300" name="Panel Header"/>
          <p:cNvSpPr/>
          <p:nvPr/>
        </p:nvSpPr>
        <p:spPr>
          <a:xfrm>
            <a:off x="7592333" y="1868197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Description</a:t>
            </a:r>
          </a:p>
        </p:txBody>
      </p:sp>
      <p:sp>
        <p:nvSpPr>
          <p:cNvPr id="301" name="Panel Body"/>
          <p:cNvSpPr/>
          <p:nvPr/>
        </p:nvSpPr>
        <p:spPr>
          <a:xfrm>
            <a:off x="7592333" y="2388197"/>
            <a:ext cx="4211840" cy="2925518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Panel Text"/>
          <p:cNvSpPr txBox="1"/>
          <p:nvPr/>
        </p:nvSpPr>
        <p:spPr>
          <a:xfrm>
            <a:off x="7792333" y="2538197"/>
            <a:ext cx="3811840" cy="2240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Monthly Progress Plan &amp; Actual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: 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Monthly Plan/Actual as bars, Cumulative Plan/Actual as lines, across the full period.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dirty="0"/>
              <a:t>Source: Data Entry → 1. Monthly Progress.</a:t>
            </a:r>
            <a:endParaRPr lang="en-US" sz="1100" dirty="0">
              <a:solidFill>
                <a:srgbClr val="262626"/>
              </a:solidFill>
              <a:latin typeface="Calibri" pitchFamily="34" charset="0"/>
            </a:endParaRPr>
          </a:p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 startAt="2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Milestone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: </a:t>
            </a:r>
          </a:p>
          <a:p>
            <a:pPr marL="171450" indent="-171450">
              <a:lnSpc>
                <a:spcPct val="100000"/>
              </a:lnSpc>
              <a:spcAft>
                <a:spcPts val="500"/>
              </a:spcAft>
              <a:buFontTx/>
              <a:buChar char="-"/>
            </a:pPr>
            <a:r>
              <a:rPr lang="en-US" sz="1100" dirty="0"/>
              <a:t>Displays each phase’s Plan/Actual date ranges on a timeline, with a vertical marker for the current reference month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.</a:t>
            </a:r>
          </a:p>
          <a:p>
            <a:pPr marL="171450" indent="-171450">
              <a:lnSpc>
                <a:spcPct val="100000"/>
              </a:lnSpc>
              <a:spcAft>
                <a:spcPts val="500"/>
              </a:spcAft>
              <a:buFontTx/>
              <a:buChar char="-"/>
            </a:pPr>
            <a:r>
              <a:rPr lang="en-US" sz="1100" dirty="0"/>
              <a:t>Source: Data Entry → 3. Milestone</a:t>
            </a:r>
            <a:endParaRPr lang="en-US" sz="1100" dirty="0">
              <a:solidFill>
                <a:srgbClr val="262626"/>
              </a:solidFill>
              <a:latin typeface="Calibri" pitchFamily="34" charset="0"/>
            </a:endParaRPr>
          </a:p>
          <a:p>
            <a:pPr marL="0" indent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3  Comment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 (filtered by month): progress notes for the period.</a:t>
            </a:r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A598FF0-E631-D96B-6B22-55275B5DDB6F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670B0F8D-A5F9-DB7B-09C3-ADA33D47DC1B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43FE890A-90D1-38C0-5523-76F999CB7903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67FDF91E-0757-795E-6DAB-792F0B5D3436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304C7D37-B2F2-6E2D-C517-CBC98279C8D9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0D94D7C2-42E0-98A0-C832-F957783E5321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66385467-E43D-65EC-F681-27323C3565B6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B85D9CDC-9DA7-B034-F0F0-910ED863552B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8072211A-EF60-6A97-AFB5-C352150F137D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E1761C25-EA4C-7B8B-CC6F-BF6E8DD300DD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21B9F19-D34F-7B1D-A440-32B129B4AD78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8" name="Shape 24">
              <a:extLst>
                <a:ext uri="{FF2B5EF4-FFF2-40B4-BE49-F238E27FC236}">
                  <a16:creationId xmlns:a16="http://schemas.microsoft.com/office/drawing/2014/main" id="{B8159F56-33BC-F173-417A-C462123446F4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5">
              <a:extLst>
                <a:ext uri="{FF2B5EF4-FFF2-40B4-BE49-F238E27FC236}">
                  <a16:creationId xmlns:a16="http://schemas.microsoft.com/office/drawing/2014/main" id="{E39BCF8F-AE89-8A5F-FD13-40108CB3F7EB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AD4A8D56-6BBA-8715-7B13-580B01251B00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7">
              <a:extLst>
                <a:ext uri="{FF2B5EF4-FFF2-40B4-BE49-F238E27FC236}">
                  <a16:creationId xmlns:a16="http://schemas.microsoft.com/office/drawing/2014/main" id="{EE69D35E-1420-5399-262F-A4303D98D7FB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8">
              <a:extLst>
                <a:ext uri="{FF2B5EF4-FFF2-40B4-BE49-F238E27FC236}">
                  <a16:creationId xmlns:a16="http://schemas.microsoft.com/office/drawing/2014/main" id="{D4569DFB-6E30-A148-AAA0-387182F376EC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9">
              <a:extLst>
                <a:ext uri="{FF2B5EF4-FFF2-40B4-BE49-F238E27FC236}">
                  <a16:creationId xmlns:a16="http://schemas.microsoft.com/office/drawing/2014/main" id="{5BE9B5A4-D8D2-3BE8-013C-20802B2FED22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0">
              <a:extLst>
                <a:ext uri="{FF2B5EF4-FFF2-40B4-BE49-F238E27FC236}">
                  <a16:creationId xmlns:a16="http://schemas.microsoft.com/office/drawing/2014/main" id="{CAFEAD30-3CAC-2424-B4B0-F8ECCB87DDC5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1">
              <a:extLst>
                <a:ext uri="{FF2B5EF4-FFF2-40B4-BE49-F238E27FC236}">
                  <a16:creationId xmlns:a16="http://schemas.microsoft.com/office/drawing/2014/main" id="{CBCBBFFA-A108-6F42-2F8C-1ED30AF8D20C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2">
              <a:extLst>
                <a:ext uri="{FF2B5EF4-FFF2-40B4-BE49-F238E27FC236}">
                  <a16:creationId xmlns:a16="http://schemas.microsoft.com/office/drawing/2014/main" id="{B56E0F36-C1E2-1D4E-C30A-2CC1ED4A26F3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 33">
            <a:extLst>
              <a:ext uri="{FF2B5EF4-FFF2-40B4-BE49-F238E27FC236}">
                <a16:creationId xmlns:a16="http://schemas.microsoft.com/office/drawing/2014/main" id="{B4874927-EF2F-FB9F-CAAC-FD729F31EF8F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Revenue/Cost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DDC5B60-66DD-2C63-6198-91019EB88FE5}"/>
              </a:ext>
            </a:extLst>
          </p:cNvPr>
          <p:cNvGrpSpPr/>
          <p:nvPr/>
        </p:nvGrpSpPr>
        <p:grpSpPr>
          <a:xfrm>
            <a:off x="329470" y="1962220"/>
            <a:ext cx="7083820" cy="3532805"/>
            <a:chOff x="603504" y="2271924"/>
            <a:chExt cx="6473152" cy="3131706"/>
          </a:xfrm>
        </p:grpSpPr>
        <p:sp>
          <p:nvSpPr>
            <p:cNvPr id="25" name="Shape 23"/>
            <p:cNvSpPr/>
            <p:nvPr/>
          </p:nvSpPr>
          <p:spPr>
            <a:xfrm>
              <a:off x="603504" y="2271924"/>
              <a:ext cx="6473152" cy="3131706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6" name="Image 0" descr="screenshot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" y="2308500"/>
              <a:ext cx="6400000" cy="3058554"/>
            </a:xfrm>
            <a:prstGeom prst="rect">
              <a:avLst/>
            </a:prstGeom>
          </p:spPr>
        </p:pic>
        <p:sp>
          <p:nvSpPr>
            <p:cNvPr id="100" name="Box 1"/>
            <p:cNvSpPr/>
            <p:nvPr/>
          </p:nvSpPr>
          <p:spPr>
            <a:xfrm>
              <a:off x="1405551" y="3158710"/>
              <a:ext cx="5591264" cy="1013546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Box 2"/>
            <p:cNvSpPr/>
            <p:nvPr/>
          </p:nvSpPr>
          <p:spPr>
            <a:xfrm>
              <a:off x="1405551" y="4266179"/>
              <a:ext cx="5591264" cy="854593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Box 3"/>
            <p:cNvSpPr/>
            <p:nvPr/>
          </p:nvSpPr>
          <p:spPr>
            <a:xfrm>
              <a:off x="6647360" y="3207096"/>
              <a:ext cx="282891" cy="83203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0" name="Callout 1"/>
            <p:cNvSpPr/>
            <p:nvPr/>
          </p:nvSpPr>
          <p:spPr>
            <a:xfrm>
              <a:off x="1295551" y="3097096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201" name="Callout 2"/>
            <p:cNvSpPr/>
            <p:nvPr/>
          </p:nvSpPr>
          <p:spPr>
            <a:xfrm>
              <a:off x="1205551" y="4178739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2</a:t>
              </a:r>
            </a:p>
          </p:txBody>
        </p:sp>
        <p:sp>
          <p:nvSpPr>
            <p:cNvPr id="202" name="Callout 3"/>
            <p:cNvSpPr/>
            <p:nvPr/>
          </p:nvSpPr>
          <p:spPr>
            <a:xfrm>
              <a:off x="6447360" y="3113172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3</a:t>
              </a:r>
            </a:p>
          </p:txBody>
        </p:sp>
      </p:grpSp>
      <p:sp>
        <p:nvSpPr>
          <p:cNvPr id="300" name="Panel Header"/>
          <p:cNvSpPr/>
          <p:nvPr/>
        </p:nvSpPr>
        <p:spPr>
          <a:xfrm>
            <a:off x="7595807" y="1962220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Description</a:t>
            </a:r>
          </a:p>
        </p:txBody>
      </p:sp>
      <p:sp>
        <p:nvSpPr>
          <p:cNvPr id="301" name="Panel Body"/>
          <p:cNvSpPr/>
          <p:nvPr/>
        </p:nvSpPr>
        <p:spPr>
          <a:xfrm>
            <a:off x="7595807" y="2482219"/>
            <a:ext cx="4211840" cy="3012805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Panel Text"/>
          <p:cNvSpPr txBox="1"/>
          <p:nvPr/>
        </p:nvSpPr>
        <p:spPr>
          <a:xfrm>
            <a:off x="7795807" y="2632220"/>
            <a:ext cx="3811840" cy="2238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Revenue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 (K USD): </a:t>
            </a:r>
          </a:p>
          <a:p>
            <a:pPr marL="171450" indent="-171450">
              <a:lnSpc>
                <a:spcPct val="100000"/>
              </a:lnSpc>
              <a:spcAft>
                <a:spcPts val="500"/>
              </a:spcAft>
              <a:buFontTx/>
              <a:buChar char="-"/>
            </a:pPr>
            <a:r>
              <a:rPr lang="en-US" sz="1100" dirty="0"/>
              <a:t>Shows monthly Plan vs. Actual for the selected year. Dashed bars indicate forecast months not yet closed.</a:t>
            </a:r>
          </a:p>
          <a:p>
            <a:pPr marL="171450" indent="-171450">
              <a:lnSpc>
                <a:spcPct val="100000"/>
              </a:lnSpc>
              <a:spcAft>
                <a:spcPts val="500"/>
              </a:spcAft>
              <a:buFontTx/>
              <a:buChar char="-"/>
            </a:pPr>
            <a:r>
              <a:rPr lang="en-US" sz="1100" dirty="0"/>
              <a:t>Source: Data Entry → 2. Monthly Revenue → Plan, Actual, Forecast</a:t>
            </a:r>
            <a:endParaRPr lang="en-US" sz="1100" b="1" dirty="0">
              <a:solidFill>
                <a:srgbClr val="262626"/>
              </a:solidFill>
              <a:latin typeface="Calibri" pitchFamily="34" charset="0"/>
            </a:endParaRPr>
          </a:p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 startAt="2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Cumulative Cost Ratio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 (%) </a:t>
            </a:r>
          </a:p>
          <a:p>
            <a:pPr marL="171450" indent="-171450">
              <a:lnSpc>
                <a:spcPct val="100000"/>
              </a:lnSpc>
              <a:spcAft>
                <a:spcPts val="500"/>
              </a:spcAft>
              <a:buFontTx/>
              <a:buChar char="-"/>
            </a:pPr>
            <a:r>
              <a:rPr lang="en-US" sz="1100" dirty="0"/>
              <a:t>Shows the cost-to-revenue trend across the year, with the latest value highlighted</a:t>
            </a:r>
          </a:p>
          <a:p>
            <a:pPr marL="171450" indent="-171450"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Source: </a:t>
            </a:r>
            <a:r>
              <a:rPr lang="en-US" sz="1100" dirty="0"/>
              <a:t>Data Entry → 5. Cost Rate → Estimated Completion Cost Rate → Ratio</a:t>
            </a:r>
            <a:endParaRPr lang="en-US" sz="1100" dirty="0">
              <a:solidFill>
                <a:srgbClr val="262626"/>
              </a:solidFill>
              <a:latin typeface="Calibri" pitchFamily="34" charset="0"/>
            </a:endParaRPr>
          </a:p>
          <a:p>
            <a:pPr marL="0" indent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3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Year selector on each chart switches fiscal year.</a:t>
            </a:r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336103C-0743-335A-3D02-17151030776B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2F1DA5DF-92B4-97A1-F138-049F9CD98EFF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E690E543-431B-9FEB-A040-62F14491929C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E0311FFE-8A49-4523-09FB-780D9AF3C4C2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225CB928-9451-32C0-630A-52C3E320AABF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349C164D-F07E-7277-B1B5-CD2E51237503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F74D648B-2C18-C99F-AE46-FBFABCD3AF12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669E05D6-FCBF-7A7B-6198-EA56C414D0BB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99F45B25-415B-1A3B-F46A-17C95B304D65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45372E6D-ACC4-9784-9F01-0E3937F5799A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69F3166-3E26-445A-96F6-C5A38F55F935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8" name="Shape 24">
              <a:extLst>
                <a:ext uri="{FF2B5EF4-FFF2-40B4-BE49-F238E27FC236}">
                  <a16:creationId xmlns:a16="http://schemas.microsoft.com/office/drawing/2014/main" id="{460BC2F1-2F08-778A-1B99-6547FC9952B1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5">
              <a:extLst>
                <a:ext uri="{FF2B5EF4-FFF2-40B4-BE49-F238E27FC236}">
                  <a16:creationId xmlns:a16="http://schemas.microsoft.com/office/drawing/2014/main" id="{2372E7BD-54AE-FC04-E5AF-33DA2C7F7D9E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BBCF08A8-C26E-07C6-78F2-2F13CE6C9F48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7">
              <a:extLst>
                <a:ext uri="{FF2B5EF4-FFF2-40B4-BE49-F238E27FC236}">
                  <a16:creationId xmlns:a16="http://schemas.microsoft.com/office/drawing/2014/main" id="{8C3FF0ED-C9E5-5636-82EA-ADF5E2D5B550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8">
              <a:extLst>
                <a:ext uri="{FF2B5EF4-FFF2-40B4-BE49-F238E27FC236}">
                  <a16:creationId xmlns:a16="http://schemas.microsoft.com/office/drawing/2014/main" id="{9C4D4D68-B85E-02ED-8923-9BE229D3A653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9">
              <a:extLst>
                <a:ext uri="{FF2B5EF4-FFF2-40B4-BE49-F238E27FC236}">
                  <a16:creationId xmlns:a16="http://schemas.microsoft.com/office/drawing/2014/main" id="{E3CADA99-6FE1-E558-74AB-183B9DE790EA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0">
              <a:extLst>
                <a:ext uri="{FF2B5EF4-FFF2-40B4-BE49-F238E27FC236}">
                  <a16:creationId xmlns:a16="http://schemas.microsoft.com/office/drawing/2014/main" id="{616FB08E-6753-56A8-1D03-C9EA15875A58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1">
              <a:extLst>
                <a:ext uri="{FF2B5EF4-FFF2-40B4-BE49-F238E27FC236}">
                  <a16:creationId xmlns:a16="http://schemas.microsoft.com/office/drawing/2014/main" id="{ABB10553-1000-7EC2-A831-A3B312A042F6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2">
              <a:extLst>
                <a:ext uri="{FF2B5EF4-FFF2-40B4-BE49-F238E27FC236}">
                  <a16:creationId xmlns:a16="http://schemas.microsoft.com/office/drawing/2014/main" id="{DED6B588-3D37-F3DE-56C0-A81CAC00CDA1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 33">
            <a:extLst>
              <a:ext uri="{FF2B5EF4-FFF2-40B4-BE49-F238E27FC236}">
                <a16:creationId xmlns:a16="http://schemas.microsoft.com/office/drawing/2014/main" id="{39F02737-0D6F-723F-C452-88848991D7FB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Revenue/Cost: Cost Rate &amp; Budget Execution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BCCBC50-19A6-28F4-0493-D65EC83D5F9A}"/>
              </a:ext>
            </a:extLst>
          </p:cNvPr>
          <p:cNvGrpSpPr/>
          <p:nvPr/>
        </p:nvGrpSpPr>
        <p:grpSpPr>
          <a:xfrm>
            <a:off x="320040" y="1860845"/>
            <a:ext cx="7060740" cy="3401527"/>
            <a:chOff x="603504" y="2248241"/>
            <a:chExt cx="6473152" cy="3177457"/>
          </a:xfrm>
        </p:grpSpPr>
        <p:sp>
          <p:nvSpPr>
            <p:cNvPr id="25" name="Shape 23"/>
            <p:cNvSpPr/>
            <p:nvPr/>
          </p:nvSpPr>
          <p:spPr>
            <a:xfrm>
              <a:off x="603504" y="2271924"/>
              <a:ext cx="6473152" cy="3153774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6" name="Image 0" descr="screenshot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" y="2308500"/>
              <a:ext cx="6400000" cy="3080622"/>
            </a:xfrm>
            <a:prstGeom prst="rect">
              <a:avLst/>
            </a:prstGeom>
          </p:spPr>
        </p:pic>
        <p:sp>
          <p:nvSpPr>
            <p:cNvPr id="100" name="Box 1"/>
            <p:cNvSpPr/>
            <p:nvPr/>
          </p:nvSpPr>
          <p:spPr>
            <a:xfrm>
              <a:off x="1402774" y="2358241"/>
              <a:ext cx="5570984" cy="911917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Box 2"/>
            <p:cNvSpPr/>
            <p:nvPr/>
          </p:nvSpPr>
          <p:spPr>
            <a:xfrm>
              <a:off x="1402774" y="3336479"/>
              <a:ext cx="5570984" cy="2022798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0" name="Callout 1"/>
            <p:cNvSpPr/>
            <p:nvPr/>
          </p:nvSpPr>
          <p:spPr>
            <a:xfrm>
              <a:off x="1292774" y="2248241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201" name="Callout 2"/>
            <p:cNvSpPr/>
            <p:nvPr/>
          </p:nvSpPr>
          <p:spPr>
            <a:xfrm>
              <a:off x="1292774" y="3226479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2</a:t>
              </a:r>
            </a:p>
          </p:txBody>
        </p:sp>
      </p:grpSp>
      <p:sp>
        <p:nvSpPr>
          <p:cNvPr id="300" name="Panel Header"/>
          <p:cNvSpPr/>
          <p:nvPr/>
        </p:nvSpPr>
        <p:spPr>
          <a:xfrm>
            <a:off x="7580780" y="1860845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Description</a:t>
            </a:r>
          </a:p>
        </p:txBody>
      </p:sp>
      <p:sp>
        <p:nvSpPr>
          <p:cNvPr id="301" name="Panel Body"/>
          <p:cNvSpPr/>
          <p:nvPr/>
        </p:nvSpPr>
        <p:spPr>
          <a:xfrm>
            <a:off x="7580780" y="2380845"/>
            <a:ext cx="4211840" cy="2896974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Panel Text"/>
          <p:cNvSpPr txBox="1"/>
          <p:nvPr/>
        </p:nvSpPr>
        <p:spPr>
          <a:xfrm>
            <a:off x="7780780" y="2530845"/>
            <a:ext cx="3811840" cy="2470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Cost Rate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: 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Bidding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: </a:t>
            </a:r>
            <a:r>
              <a:rPr lang="en-US" sz="1100" dirty="0"/>
              <a:t>Data Entry → 2. Monthly Revenue → Bidding</a:t>
            </a:r>
            <a:endParaRPr lang="en-US" sz="1100" dirty="0">
              <a:solidFill>
                <a:srgbClr val="262626"/>
              </a:solidFill>
              <a:latin typeface="Calibri" pitchFamily="34" charset="0"/>
            </a:endParaRP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Execution Budget Setup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: </a:t>
            </a:r>
            <a:r>
              <a:rPr lang="en-US" sz="1100" dirty="0"/>
              <a:t>Data Entry → 2. Monthly Revenue →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Execution Budget Setup</a:t>
            </a:r>
            <a:r>
              <a:rPr lang="en-US" sz="1100" dirty="0"/>
              <a:t> </a:t>
            </a:r>
            <a:endParaRPr lang="en-US" sz="1100" dirty="0">
              <a:solidFill>
                <a:srgbClr val="262626"/>
              </a:solidFill>
              <a:latin typeface="Calibri" pitchFamily="34" charset="0"/>
            </a:endParaRP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Standard Estimated Cost Ratio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= Cost ÷ Contract Amount, figures below.</a:t>
            </a:r>
          </a:p>
          <a:p>
            <a:pPr marL="228600" indent="-228600">
              <a:lnSpc>
                <a:spcPct val="106000"/>
              </a:lnSpc>
              <a:spcAft>
                <a:spcPts val="400"/>
              </a:spcAft>
              <a:buAutoNum type="arabicPlain" startAt="2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Budget Execution Status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: </a:t>
            </a:r>
          </a:p>
          <a:p>
            <a:pPr marL="171450" indent="-171450">
              <a:lnSpc>
                <a:spcPct val="100000"/>
              </a:lnSpc>
              <a:spcAft>
                <a:spcPts val="400"/>
              </a:spcAft>
              <a:buFontTx/>
              <a:buChar char="-"/>
            </a:pPr>
            <a:r>
              <a:rPr lang="en-US" sz="1100" dirty="0"/>
              <a:t>Shows total budget by category (Direct Cost, Outsourcing, Common, Expense 1, Indirect Cost, Expense 2 and Contingency), with an Exec. Plan vs. Actual bar showing Exec. Rate and the remaining amount for each category.</a:t>
            </a:r>
          </a:p>
          <a:p>
            <a:pPr marL="171450" indent="-171450">
              <a:lnSpc>
                <a:spcPct val="100000"/>
              </a:lnSpc>
              <a:spcAft>
                <a:spcPts val="4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Source: </a:t>
            </a:r>
            <a:r>
              <a:rPr lang="en-US" sz="1100" dirty="0"/>
              <a:t>Data Entry → 6. Budget Execution Status</a:t>
            </a:r>
            <a:endParaRPr lang="en-US" sz="1100" dirty="0">
              <a:solidFill>
                <a:srgbClr val="262626"/>
              </a:solidFill>
              <a:latin typeface="Calibri" pitchFamily="34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2DFA354-C8A0-AF5D-2617-9C822AF048E3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2EB22669-B5A0-7B47-0E4D-55C5BF0CDB43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F8AF7A58-B1CA-0324-54AF-EBAD2067233C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990A88C3-B520-E323-F471-171BBA39C2C4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C795448B-00BD-3AB8-F6CF-66306F67DC3D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A4CE21FB-BCFC-BF85-3503-F346A5737069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D1C42A0D-7F2E-EBF2-66AF-D7FD497A3EF7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29531AA8-72C1-4C9B-6D60-0C8DCFDF2851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2FC8EB70-E2B7-ABA9-C202-98322F2A36AC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B4E2286C-8459-A010-16F0-9FA929B69ED2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A90D345-9920-A665-3B95-E404A35F8AA9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8" name="Shape 24">
              <a:extLst>
                <a:ext uri="{FF2B5EF4-FFF2-40B4-BE49-F238E27FC236}">
                  <a16:creationId xmlns:a16="http://schemas.microsoft.com/office/drawing/2014/main" id="{3E945F78-60EF-9DA8-D374-4CEE8AA09DAF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5">
              <a:extLst>
                <a:ext uri="{FF2B5EF4-FFF2-40B4-BE49-F238E27FC236}">
                  <a16:creationId xmlns:a16="http://schemas.microsoft.com/office/drawing/2014/main" id="{F7A3B054-0D1A-7D31-03CF-DCD02634A211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47521552-C5BE-BAF3-767E-57727DEA9D14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7">
              <a:extLst>
                <a:ext uri="{FF2B5EF4-FFF2-40B4-BE49-F238E27FC236}">
                  <a16:creationId xmlns:a16="http://schemas.microsoft.com/office/drawing/2014/main" id="{ACC70AFC-1771-0690-C853-76494AF1E790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8">
              <a:extLst>
                <a:ext uri="{FF2B5EF4-FFF2-40B4-BE49-F238E27FC236}">
                  <a16:creationId xmlns:a16="http://schemas.microsoft.com/office/drawing/2014/main" id="{70B011F0-93C1-8A34-27A7-7341E546A6CC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9">
              <a:extLst>
                <a:ext uri="{FF2B5EF4-FFF2-40B4-BE49-F238E27FC236}">
                  <a16:creationId xmlns:a16="http://schemas.microsoft.com/office/drawing/2014/main" id="{26D2D495-15CF-7DFA-2B83-E7E2F090602B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0">
              <a:extLst>
                <a:ext uri="{FF2B5EF4-FFF2-40B4-BE49-F238E27FC236}">
                  <a16:creationId xmlns:a16="http://schemas.microsoft.com/office/drawing/2014/main" id="{948B67A0-94F1-366A-DEBC-7819C61F9EF2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1">
              <a:extLst>
                <a:ext uri="{FF2B5EF4-FFF2-40B4-BE49-F238E27FC236}">
                  <a16:creationId xmlns:a16="http://schemas.microsoft.com/office/drawing/2014/main" id="{2D389AA0-F0DA-A314-2DED-A8E66E6CD3FB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2">
              <a:extLst>
                <a:ext uri="{FF2B5EF4-FFF2-40B4-BE49-F238E27FC236}">
                  <a16:creationId xmlns:a16="http://schemas.microsoft.com/office/drawing/2014/main" id="{470E303B-7570-7AF4-F36C-F3B48EAFD8D2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 33">
            <a:extLst>
              <a:ext uri="{FF2B5EF4-FFF2-40B4-BE49-F238E27FC236}">
                <a16:creationId xmlns:a16="http://schemas.microsoft.com/office/drawing/2014/main" id="{AEE0AA33-64CC-11C8-F6BF-16712AC6F3FB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28FA279-828A-65F0-4905-A889F7F6496D}"/>
              </a:ext>
            </a:extLst>
          </p:cNvPr>
          <p:cNvGrpSpPr/>
          <p:nvPr/>
        </p:nvGrpSpPr>
        <p:grpSpPr>
          <a:xfrm>
            <a:off x="320040" y="1960492"/>
            <a:ext cx="7078970" cy="3525908"/>
            <a:chOff x="603504" y="2271924"/>
            <a:chExt cx="6473152" cy="3138222"/>
          </a:xfrm>
        </p:grpSpPr>
        <p:sp>
          <p:nvSpPr>
            <p:cNvPr id="25" name="Shape 23"/>
            <p:cNvSpPr/>
            <p:nvPr/>
          </p:nvSpPr>
          <p:spPr>
            <a:xfrm>
              <a:off x="603504" y="2271924"/>
              <a:ext cx="6473152" cy="3138222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6" name="Image 0" descr="screenshot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" y="2308500"/>
              <a:ext cx="6400000" cy="3065070"/>
            </a:xfrm>
            <a:prstGeom prst="rect">
              <a:avLst/>
            </a:prstGeom>
          </p:spPr>
        </p:pic>
        <p:sp>
          <p:nvSpPr>
            <p:cNvPr id="100" name="Box 1"/>
            <p:cNvSpPr/>
            <p:nvPr/>
          </p:nvSpPr>
          <p:spPr>
            <a:xfrm>
              <a:off x="1406349" y="3318031"/>
              <a:ext cx="1934260" cy="2022223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Box 2"/>
            <p:cNvSpPr/>
            <p:nvPr/>
          </p:nvSpPr>
          <p:spPr>
            <a:xfrm>
              <a:off x="3340610" y="3318031"/>
              <a:ext cx="1797128" cy="2022223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Box 3"/>
            <p:cNvSpPr/>
            <p:nvPr/>
          </p:nvSpPr>
          <p:spPr>
            <a:xfrm>
              <a:off x="5137737" y="3318031"/>
              <a:ext cx="1865695" cy="2022223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0" name="Callout 1"/>
            <p:cNvSpPr/>
            <p:nvPr/>
          </p:nvSpPr>
          <p:spPr>
            <a:xfrm>
              <a:off x="1296348" y="3281455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201" name="Callout 2"/>
            <p:cNvSpPr/>
            <p:nvPr/>
          </p:nvSpPr>
          <p:spPr>
            <a:xfrm>
              <a:off x="3330609" y="3197374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2</a:t>
              </a:r>
            </a:p>
          </p:txBody>
        </p:sp>
        <p:sp>
          <p:nvSpPr>
            <p:cNvPr id="202" name="Callout 3"/>
            <p:cNvSpPr/>
            <p:nvPr/>
          </p:nvSpPr>
          <p:spPr>
            <a:xfrm>
              <a:off x="5209971" y="3230358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3</a:t>
              </a:r>
            </a:p>
          </p:txBody>
        </p:sp>
      </p:grpSp>
      <p:sp>
        <p:nvSpPr>
          <p:cNvPr id="300" name="Panel Header"/>
          <p:cNvSpPr/>
          <p:nvPr/>
        </p:nvSpPr>
        <p:spPr>
          <a:xfrm>
            <a:off x="7589463" y="1960492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Description</a:t>
            </a:r>
          </a:p>
        </p:txBody>
      </p:sp>
      <p:sp>
        <p:nvSpPr>
          <p:cNvPr id="301" name="Panel Body"/>
          <p:cNvSpPr/>
          <p:nvPr/>
        </p:nvSpPr>
        <p:spPr>
          <a:xfrm>
            <a:off x="7589463" y="2480492"/>
            <a:ext cx="4211840" cy="3005908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Panel Text"/>
          <p:cNvSpPr txBox="1"/>
          <p:nvPr/>
        </p:nvSpPr>
        <p:spPr>
          <a:xfrm>
            <a:off x="7789462" y="2630492"/>
            <a:ext cx="3798481" cy="2245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6000"/>
              </a:lnSpc>
              <a:spcAft>
                <a:spcPts val="500"/>
              </a:spcAft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Outsourcing &amp; Materials</a:t>
            </a:r>
          </a:p>
          <a:p>
            <a:pPr>
              <a:spcAft>
                <a:spcPts val="500"/>
              </a:spcAft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1 </a:t>
            </a:r>
            <a:r>
              <a:rPr lang="en-US" sz="1100" dirty="0"/>
              <a:t>Lists each subcontract/material order with Trade (Category/Detailed Trade), Vendor Name, Initial Contract Date and Change Contract Round. </a:t>
            </a:r>
          </a:p>
          <a:p>
            <a:pPr>
              <a:spcAft>
                <a:spcPts val="500"/>
              </a:spcAft>
            </a:pPr>
            <a:r>
              <a:rPr lang="en-US" sz="1100" dirty="0"/>
              <a:t>Source: Data Entry → 7. Outsourcing/Materials</a:t>
            </a:r>
          </a:p>
          <a:p>
            <a:pPr marL="228600" indent="-228600">
              <a:spcAft>
                <a:spcPts val="500"/>
              </a:spcAft>
              <a:buAutoNum type="arabicPlain" startAt="2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Budget (A), Executed Budget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, </a:t>
            </a: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Resolved Amount (B): </a:t>
            </a:r>
          </a:p>
          <a:p>
            <a:pPr marL="171450" indent="-171450"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1F3A6E"/>
                </a:solidFill>
                <a:latin typeface="Calibri" pitchFamily="34" charset="0"/>
              </a:rPr>
              <a:t>Source</a:t>
            </a: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: </a:t>
            </a:r>
            <a:r>
              <a:rPr lang="en-US" sz="1100" dirty="0"/>
              <a:t>Data Entry → 7. Outsourcing/Materials </a:t>
            </a:r>
          </a:p>
          <a:p>
            <a:pPr marL="171450" indent="-171450"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Resolved Rate = B/A, over 100% flagged red.</a:t>
            </a:r>
          </a:p>
          <a:p>
            <a:pPr marL="228600" indent="-228600">
              <a:lnSpc>
                <a:spcPct val="106000"/>
              </a:lnSpc>
              <a:spcAft>
                <a:spcPts val="400"/>
              </a:spcAft>
              <a:buAutoNum type="arabicPlain" startAt="3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Progress Billing Status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: </a:t>
            </a:r>
          </a:p>
          <a:p>
            <a:pPr marL="171450" indent="-171450">
              <a:lnSpc>
                <a:spcPct val="106000"/>
              </a:lnSpc>
              <a:spcAft>
                <a:spcPts val="4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This Month, Cumulative (C): </a:t>
            </a:r>
            <a:r>
              <a:rPr lang="en-US" sz="1100" dirty="0"/>
              <a:t>Data Entry → 7. Outsourcing/ Materials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 </a:t>
            </a:r>
          </a:p>
          <a:p>
            <a:pPr marL="171450" indent="-171450">
              <a:lnSpc>
                <a:spcPct val="106000"/>
              </a:lnSpc>
              <a:spcAft>
                <a:spcPts val="4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Ratio = C/B, Remaining Billing = B−C per vendor</a:t>
            </a:r>
          </a:p>
          <a:p>
            <a:pPr marL="171450" indent="-171450">
              <a:lnSpc>
                <a:spcPct val="106000"/>
              </a:lnSpc>
              <a:spcAft>
                <a:spcPts val="4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Base month selectable top right.</a:t>
            </a:r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1EFB461-48C5-212C-36F9-4E410E2E5E2E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E87577AA-869A-3438-8ACE-E7BCB165E85F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9BFD8363-2C5D-88F0-7BD5-1E226D411A90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C6D58A01-E187-E5BD-422A-905A1915985D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780098DC-E7C5-9586-B463-F037ED1EC2D2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95886EF8-5655-452C-A67D-9A6687CBE241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D511357D-2778-5009-09B5-D03BFBD6AEF3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5DC35C56-F06D-4508-3E0A-9DE34A91F23F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DB636776-2EE2-525E-B5FC-E0EB88F4DF15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8ECFA68A-E701-FA1B-A3F9-2D7417888268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B14D09E-824B-9D31-F7C2-A20C12238715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8" name="Shape 24">
              <a:extLst>
                <a:ext uri="{FF2B5EF4-FFF2-40B4-BE49-F238E27FC236}">
                  <a16:creationId xmlns:a16="http://schemas.microsoft.com/office/drawing/2014/main" id="{73F359F7-D8FD-98E2-D4DC-6E1CA01F64D7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5">
              <a:extLst>
                <a:ext uri="{FF2B5EF4-FFF2-40B4-BE49-F238E27FC236}">
                  <a16:creationId xmlns:a16="http://schemas.microsoft.com/office/drawing/2014/main" id="{777D415C-E329-D7FA-445D-7288D03E6182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6C36552E-62A8-342C-68A1-3519127489FD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7">
              <a:extLst>
                <a:ext uri="{FF2B5EF4-FFF2-40B4-BE49-F238E27FC236}">
                  <a16:creationId xmlns:a16="http://schemas.microsoft.com/office/drawing/2014/main" id="{886EC726-F6B0-7158-16F8-90637DF307F3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8">
              <a:extLst>
                <a:ext uri="{FF2B5EF4-FFF2-40B4-BE49-F238E27FC236}">
                  <a16:creationId xmlns:a16="http://schemas.microsoft.com/office/drawing/2014/main" id="{087D9CD8-3A1E-BCEC-A41A-5ECEB831C578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9">
              <a:extLst>
                <a:ext uri="{FF2B5EF4-FFF2-40B4-BE49-F238E27FC236}">
                  <a16:creationId xmlns:a16="http://schemas.microsoft.com/office/drawing/2014/main" id="{E43AA2AE-444B-8F6C-200A-C4B6603B4658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0">
              <a:extLst>
                <a:ext uri="{FF2B5EF4-FFF2-40B4-BE49-F238E27FC236}">
                  <a16:creationId xmlns:a16="http://schemas.microsoft.com/office/drawing/2014/main" id="{170DED84-06E4-1ACF-6C1C-BA311259FA4A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1">
              <a:extLst>
                <a:ext uri="{FF2B5EF4-FFF2-40B4-BE49-F238E27FC236}">
                  <a16:creationId xmlns:a16="http://schemas.microsoft.com/office/drawing/2014/main" id="{F128399D-A812-2A32-F43F-B0CD432146F7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2">
              <a:extLst>
                <a:ext uri="{FF2B5EF4-FFF2-40B4-BE49-F238E27FC236}">
                  <a16:creationId xmlns:a16="http://schemas.microsoft.com/office/drawing/2014/main" id="{CA517D5F-F06D-7C33-E4F2-175483C723B1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 33">
            <a:extLst>
              <a:ext uri="{FF2B5EF4-FFF2-40B4-BE49-F238E27FC236}">
                <a16:creationId xmlns:a16="http://schemas.microsoft.com/office/drawing/2014/main" id="{0AE4499A-F228-7009-152E-3ABDAC1CACF7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Cashflow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2E289C6-291F-D823-0B03-006CE1AF59AC}"/>
              </a:ext>
            </a:extLst>
          </p:cNvPr>
          <p:cNvGrpSpPr/>
          <p:nvPr/>
        </p:nvGrpSpPr>
        <p:grpSpPr>
          <a:xfrm>
            <a:off x="320040" y="1757922"/>
            <a:ext cx="7075767" cy="3521444"/>
            <a:chOff x="603504" y="2271924"/>
            <a:chExt cx="6473152" cy="3153152"/>
          </a:xfrm>
        </p:grpSpPr>
        <p:sp>
          <p:nvSpPr>
            <p:cNvPr id="25" name="Shape 23"/>
            <p:cNvSpPr/>
            <p:nvPr/>
          </p:nvSpPr>
          <p:spPr>
            <a:xfrm>
              <a:off x="603504" y="2271924"/>
              <a:ext cx="6473152" cy="3153152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6" name="Image 0" descr="screenshot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" y="2308500"/>
              <a:ext cx="6400000" cy="3080000"/>
            </a:xfrm>
            <a:prstGeom prst="rect">
              <a:avLst/>
            </a:prstGeom>
          </p:spPr>
        </p:pic>
        <p:sp>
          <p:nvSpPr>
            <p:cNvPr id="100" name="Box 1"/>
            <p:cNvSpPr/>
            <p:nvPr/>
          </p:nvSpPr>
          <p:spPr>
            <a:xfrm>
              <a:off x="1406747" y="3163824"/>
              <a:ext cx="5530501" cy="1878009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Box 2"/>
            <p:cNvSpPr/>
            <p:nvPr/>
          </p:nvSpPr>
          <p:spPr>
            <a:xfrm>
              <a:off x="6440080" y="3208500"/>
              <a:ext cx="566667" cy="100000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0" name="Callout 1"/>
            <p:cNvSpPr/>
            <p:nvPr/>
          </p:nvSpPr>
          <p:spPr>
            <a:xfrm>
              <a:off x="1296747" y="3098500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201" name="Callout 2"/>
            <p:cNvSpPr/>
            <p:nvPr/>
          </p:nvSpPr>
          <p:spPr>
            <a:xfrm>
              <a:off x="6240080" y="3137556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2</a:t>
              </a:r>
            </a:p>
          </p:txBody>
        </p:sp>
      </p:grpSp>
      <p:sp>
        <p:nvSpPr>
          <p:cNvPr id="300" name="Panel Header"/>
          <p:cNvSpPr/>
          <p:nvPr/>
        </p:nvSpPr>
        <p:spPr>
          <a:xfrm>
            <a:off x="7595807" y="1757922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Description</a:t>
            </a:r>
          </a:p>
        </p:txBody>
      </p:sp>
      <p:sp>
        <p:nvSpPr>
          <p:cNvPr id="301" name="Panel Body"/>
          <p:cNvSpPr/>
          <p:nvPr/>
        </p:nvSpPr>
        <p:spPr>
          <a:xfrm>
            <a:off x="7595807" y="2277922"/>
            <a:ext cx="4211840" cy="3001444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Panel Text"/>
          <p:cNvSpPr txBox="1"/>
          <p:nvPr/>
        </p:nvSpPr>
        <p:spPr>
          <a:xfrm>
            <a:off x="7795807" y="2427922"/>
            <a:ext cx="3811840" cy="2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Cash Flow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: </a:t>
            </a:r>
          </a:p>
          <a:p>
            <a:pPr marL="171450" indent="-171450">
              <a:lnSpc>
                <a:spcPct val="100000"/>
              </a:lnSpc>
              <a:spcAft>
                <a:spcPts val="500"/>
              </a:spcAft>
              <a:buFontTx/>
              <a:buChar char="-"/>
            </a:pPr>
            <a:r>
              <a:rPr lang="en-US" sz="1100" dirty="0"/>
              <a:t>Shows actual cash-in/out as bars and the running Balance as a line across the full period. A dashed Reference Month marker separates actuals from outlook.</a:t>
            </a:r>
          </a:p>
          <a:p>
            <a:pPr marL="171450" indent="-171450">
              <a:lnSpc>
                <a:spcPct val="100000"/>
              </a:lnSpc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Source: </a:t>
            </a:r>
            <a:r>
              <a:rPr lang="en-US" sz="1100" dirty="0"/>
              <a:t>Data Entry → 8. Monthly Cash Flow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.</a:t>
            </a:r>
          </a:p>
          <a:p>
            <a:pPr marL="0" indent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Year selector (top right) focuses on one year; hover for exact monthly figures.</a:t>
            </a:r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6073087-FA02-948A-54D4-B6AB06F4AD22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7DC4B1FD-578F-62A7-D0D4-BA0551815DC5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FADC95A4-2053-3077-2E56-5F10695A2A2A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51E8F3D8-658B-C96C-F618-D71AA368CB7A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CE915422-0955-4C30-FC1F-44629B107524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950ACF91-160D-359D-0825-FCCD0CBCB4EA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8AED591A-12B4-A8F0-C858-E1908E518908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6354E187-8CE8-D74B-6732-3F00B98B0CA2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188FFCEF-6C53-7E93-D6B1-9337C5581445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3146DB1E-03DA-8CA0-D7ED-0D677AB0CE84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6DF8EF9-FAA6-04A7-4758-BB995E6FBEC4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8" name="Shape 24">
              <a:extLst>
                <a:ext uri="{FF2B5EF4-FFF2-40B4-BE49-F238E27FC236}">
                  <a16:creationId xmlns:a16="http://schemas.microsoft.com/office/drawing/2014/main" id="{22BB2E8E-A7F7-13EA-1E95-0755F58D2775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5">
              <a:extLst>
                <a:ext uri="{FF2B5EF4-FFF2-40B4-BE49-F238E27FC236}">
                  <a16:creationId xmlns:a16="http://schemas.microsoft.com/office/drawing/2014/main" id="{BE31C014-6FBC-481E-A2E7-00F455EDDC19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A519BA4A-04CB-4AB2-2F58-AF915DAA9C62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7">
              <a:extLst>
                <a:ext uri="{FF2B5EF4-FFF2-40B4-BE49-F238E27FC236}">
                  <a16:creationId xmlns:a16="http://schemas.microsoft.com/office/drawing/2014/main" id="{94B513D0-F174-529B-8317-B585F3F8DE3C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8">
              <a:extLst>
                <a:ext uri="{FF2B5EF4-FFF2-40B4-BE49-F238E27FC236}">
                  <a16:creationId xmlns:a16="http://schemas.microsoft.com/office/drawing/2014/main" id="{780C782A-8FF0-7646-697F-D3461BB89B17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9">
              <a:extLst>
                <a:ext uri="{FF2B5EF4-FFF2-40B4-BE49-F238E27FC236}">
                  <a16:creationId xmlns:a16="http://schemas.microsoft.com/office/drawing/2014/main" id="{B8F81B4E-40D1-90A3-1FA7-D7CE32C196E9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0">
              <a:extLst>
                <a:ext uri="{FF2B5EF4-FFF2-40B4-BE49-F238E27FC236}">
                  <a16:creationId xmlns:a16="http://schemas.microsoft.com/office/drawing/2014/main" id="{A2B3E1E0-8973-4B2F-AF8F-3E349727A80D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1">
              <a:extLst>
                <a:ext uri="{FF2B5EF4-FFF2-40B4-BE49-F238E27FC236}">
                  <a16:creationId xmlns:a16="http://schemas.microsoft.com/office/drawing/2014/main" id="{D2B03E62-F1E6-AE9F-7FB0-4F6D15D8949A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2">
              <a:extLst>
                <a:ext uri="{FF2B5EF4-FFF2-40B4-BE49-F238E27FC236}">
                  <a16:creationId xmlns:a16="http://schemas.microsoft.com/office/drawing/2014/main" id="{EF8B8604-3617-6F16-FDBB-F5F84ACC661C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 33">
            <a:extLst>
              <a:ext uri="{FF2B5EF4-FFF2-40B4-BE49-F238E27FC236}">
                <a16:creationId xmlns:a16="http://schemas.microsoft.com/office/drawing/2014/main" id="{98FF979A-AF30-73C2-0C96-3F3D9D5CEA59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457200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30936" y="457200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13232" y="457200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" y="539496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30936" y="539496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13232" y="539496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" y="621792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30936" y="621792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13232" y="621792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14400" y="2743200"/>
            <a:ext cx="1417320" cy="1417320"/>
          </a:xfrm>
          <a:prstGeom prst="rect">
            <a:avLst/>
          </a:prstGeom>
          <a:solidFill>
            <a:srgbClr val="1F3A6E"/>
          </a:solidFill>
          <a:ln/>
          <a:effectLst>
            <a:outerShdw blurRad="762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14400" y="27432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400" dirty="0"/>
          </a:p>
        </p:txBody>
      </p:sp>
      <p:sp>
        <p:nvSpPr>
          <p:cNvPr id="24" name="Text 22"/>
          <p:cNvSpPr/>
          <p:nvPr/>
        </p:nvSpPr>
        <p:spPr>
          <a:xfrm>
            <a:off x="914400" y="43434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Manager – Main Dashboard</a:t>
            </a:r>
            <a:endParaRPr lang="en-US" sz="3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anel Body">
            <a:extLst>
              <a:ext uri="{FF2B5EF4-FFF2-40B4-BE49-F238E27FC236}">
                <a16:creationId xmlns:a16="http://schemas.microsoft.com/office/drawing/2014/main" id="{67804371-B959-234F-83E7-98C62D254485}"/>
              </a:ext>
            </a:extLst>
          </p:cNvPr>
          <p:cNvSpPr/>
          <p:nvPr/>
        </p:nvSpPr>
        <p:spPr>
          <a:xfrm>
            <a:off x="7630696" y="2617242"/>
            <a:ext cx="4211840" cy="2624253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Data Manager Access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790960" y="2747960"/>
            <a:ext cx="3890513" cy="2263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  <a:spcAft>
                <a:spcPts val="1400"/>
              </a:spcAft>
              <a:buSzPct val="100000"/>
            </a:pPr>
            <a:r>
              <a:rPr lang="en-US" sz="15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Login: </a:t>
            </a:r>
          </a:p>
          <a:p>
            <a:pPr>
              <a:lnSpc>
                <a:spcPct val="115000"/>
              </a:lnSpc>
              <a:spcAft>
                <a:spcPts val="1400"/>
              </a:spcAft>
              <a:buSzPct val="100000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 Data Manager/Site Manager account; log in to PIMS to unlock the site tree and Data Entry tab.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9E0A34B-89F6-EBE4-8B1F-4DA701D8198D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7" name="Shape 1">
              <a:extLst>
                <a:ext uri="{FF2B5EF4-FFF2-40B4-BE49-F238E27FC236}">
                  <a16:creationId xmlns:a16="http://schemas.microsoft.com/office/drawing/2014/main" id="{6276418B-518F-6716-04D8-504305614FFA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Shape 2">
              <a:extLst>
                <a:ext uri="{FF2B5EF4-FFF2-40B4-BE49-F238E27FC236}">
                  <a16:creationId xmlns:a16="http://schemas.microsoft.com/office/drawing/2014/main" id="{C903DA9F-068B-23AC-61AA-DFBDD1063853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3">
              <a:extLst>
                <a:ext uri="{FF2B5EF4-FFF2-40B4-BE49-F238E27FC236}">
                  <a16:creationId xmlns:a16="http://schemas.microsoft.com/office/drawing/2014/main" id="{03C732BE-E562-E708-F619-0CA5E5C263A2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4">
              <a:extLst>
                <a:ext uri="{FF2B5EF4-FFF2-40B4-BE49-F238E27FC236}">
                  <a16:creationId xmlns:a16="http://schemas.microsoft.com/office/drawing/2014/main" id="{64F3BCD5-30FE-4316-BC2D-3429CB4924DB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5">
              <a:extLst>
                <a:ext uri="{FF2B5EF4-FFF2-40B4-BE49-F238E27FC236}">
                  <a16:creationId xmlns:a16="http://schemas.microsoft.com/office/drawing/2014/main" id="{C8E132D7-A3B4-5103-69BF-EEF477CCAC18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6">
              <a:extLst>
                <a:ext uri="{FF2B5EF4-FFF2-40B4-BE49-F238E27FC236}">
                  <a16:creationId xmlns:a16="http://schemas.microsoft.com/office/drawing/2014/main" id="{BD5452AE-BB37-3355-4369-1D674FD63651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7">
              <a:extLst>
                <a:ext uri="{FF2B5EF4-FFF2-40B4-BE49-F238E27FC236}">
                  <a16:creationId xmlns:a16="http://schemas.microsoft.com/office/drawing/2014/main" id="{400A13F9-8319-95B0-2F6B-55DFCF581DD9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8">
              <a:extLst>
                <a:ext uri="{FF2B5EF4-FFF2-40B4-BE49-F238E27FC236}">
                  <a16:creationId xmlns:a16="http://schemas.microsoft.com/office/drawing/2014/main" id="{7FB9D239-4FFD-887E-E77E-623EA1A12927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9">
              <a:extLst>
                <a:ext uri="{FF2B5EF4-FFF2-40B4-BE49-F238E27FC236}">
                  <a16:creationId xmlns:a16="http://schemas.microsoft.com/office/drawing/2014/main" id="{3504FF32-4CD7-9F6D-CBE8-F3B234F6B380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51B4B10C-C218-FB97-CC9B-ECDADA69A392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7" name="Shape 24">
              <a:extLst>
                <a:ext uri="{FF2B5EF4-FFF2-40B4-BE49-F238E27FC236}">
                  <a16:creationId xmlns:a16="http://schemas.microsoft.com/office/drawing/2014/main" id="{C112EB1D-8177-0F2B-78F8-E8BD34D66D47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Shape 25">
              <a:extLst>
                <a:ext uri="{FF2B5EF4-FFF2-40B4-BE49-F238E27FC236}">
                  <a16:creationId xmlns:a16="http://schemas.microsoft.com/office/drawing/2014/main" id="{DDAB3A51-C80F-8827-7B4D-B378851208E4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6">
              <a:extLst>
                <a:ext uri="{FF2B5EF4-FFF2-40B4-BE49-F238E27FC236}">
                  <a16:creationId xmlns:a16="http://schemas.microsoft.com/office/drawing/2014/main" id="{3926DC03-1E5E-A9F8-C116-DECC3F1E400A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7">
              <a:extLst>
                <a:ext uri="{FF2B5EF4-FFF2-40B4-BE49-F238E27FC236}">
                  <a16:creationId xmlns:a16="http://schemas.microsoft.com/office/drawing/2014/main" id="{16E6014C-E8E8-136A-5260-17F816002D13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8">
              <a:extLst>
                <a:ext uri="{FF2B5EF4-FFF2-40B4-BE49-F238E27FC236}">
                  <a16:creationId xmlns:a16="http://schemas.microsoft.com/office/drawing/2014/main" id="{96CDFC95-101F-BA0B-ED9F-97E21674DC69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9">
              <a:extLst>
                <a:ext uri="{FF2B5EF4-FFF2-40B4-BE49-F238E27FC236}">
                  <a16:creationId xmlns:a16="http://schemas.microsoft.com/office/drawing/2014/main" id="{37933BAB-59C9-B362-5C48-B7796401D7BD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30">
              <a:extLst>
                <a:ext uri="{FF2B5EF4-FFF2-40B4-BE49-F238E27FC236}">
                  <a16:creationId xmlns:a16="http://schemas.microsoft.com/office/drawing/2014/main" id="{60342010-63F3-F3EE-CB1C-A20EF657B550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1">
              <a:extLst>
                <a:ext uri="{FF2B5EF4-FFF2-40B4-BE49-F238E27FC236}">
                  <a16:creationId xmlns:a16="http://schemas.microsoft.com/office/drawing/2014/main" id="{97027E91-4F0E-55DD-DB14-980AFACC77DE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2">
              <a:extLst>
                <a:ext uri="{FF2B5EF4-FFF2-40B4-BE49-F238E27FC236}">
                  <a16:creationId xmlns:a16="http://schemas.microsoft.com/office/drawing/2014/main" id="{A5FC689E-1C45-F4CA-11F3-E8F1A3F947C6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6" name="Text 33">
            <a:extLst>
              <a:ext uri="{FF2B5EF4-FFF2-40B4-BE49-F238E27FC236}">
                <a16:creationId xmlns:a16="http://schemas.microsoft.com/office/drawing/2014/main" id="{CCD67955-CFD0-2CAF-6AB7-46595852615B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3A1FE3-6D67-9FA4-E5EB-4CD153F2E8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464" y="1984116"/>
            <a:ext cx="7040382" cy="3257379"/>
          </a:xfrm>
          <a:prstGeom prst="rect">
            <a:avLst/>
          </a:prstGeom>
        </p:spPr>
      </p:pic>
      <p:sp>
        <p:nvSpPr>
          <p:cNvPr id="6" name="Panel Header">
            <a:extLst>
              <a:ext uri="{FF2B5EF4-FFF2-40B4-BE49-F238E27FC236}">
                <a16:creationId xmlns:a16="http://schemas.microsoft.com/office/drawing/2014/main" id="{26400651-D579-52AD-C75C-078A0831E616}"/>
              </a:ext>
            </a:extLst>
          </p:cNvPr>
          <p:cNvSpPr/>
          <p:nvPr/>
        </p:nvSpPr>
        <p:spPr>
          <a:xfrm>
            <a:off x="7630296" y="2012052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Description</a:t>
            </a:r>
          </a:p>
        </p:txBody>
      </p:sp>
      <p:sp>
        <p:nvSpPr>
          <p:cNvPr id="8" name="Box 1">
            <a:extLst>
              <a:ext uri="{FF2B5EF4-FFF2-40B4-BE49-F238E27FC236}">
                <a16:creationId xmlns:a16="http://schemas.microsoft.com/office/drawing/2014/main" id="{1D8DFF97-3FA7-E99F-E188-0EDC91425F33}"/>
              </a:ext>
            </a:extLst>
          </p:cNvPr>
          <p:cNvSpPr/>
          <p:nvPr/>
        </p:nvSpPr>
        <p:spPr>
          <a:xfrm>
            <a:off x="384049" y="4659976"/>
            <a:ext cx="779272" cy="516544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Callout 1">
            <a:extLst>
              <a:ext uri="{FF2B5EF4-FFF2-40B4-BE49-F238E27FC236}">
                <a16:creationId xmlns:a16="http://schemas.microsoft.com/office/drawing/2014/main" id="{1449D7A0-C962-BA39-2C04-AEF2024CB7C6}"/>
              </a:ext>
            </a:extLst>
          </p:cNvPr>
          <p:cNvSpPr/>
          <p:nvPr/>
        </p:nvSpPr>
        <p:spPr>
          <a:xfrm>
            <a:off x="239464" y="4595001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72F054-6B45-9B63-CF06-4884758D5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830BCA4-2B13-0149-3123-6C5B441F50B7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0338E46-E041-427F-A201-DBFF5EB40199}"/>
              </a:ext>
            </a:extLst>
          </p:cNvPr>
          <p:cNvGrpSpPr/>
          <p:nvPr/>
        </p:nvGrpSpPr>
        <p:grpSpPr>
          <a:xfrm>
            <a:off x="320040" y="491129"/>
            <a:ext cx="228600" cy="228600"/>
            <a:chOff x="457200" y="384048"/>
            <a:chExt cx="228600" cy="228600"/>
          </a:xfrm>
        </p:grpSpPr>
        <p:sp>
          <p:nvSpPr>
            <p:cNvPr id="3" name="Shape 1">
              <a:extLst>
                <a:ext uri="{FF2B5EF4-FFF2-40B4-BE49-F238E27FC236}">
                  <a16:creationId xmlns:a16="http://schemas.microsoft.com/office/drawing/2014/main" id="{7553210F-D478-0F6B-F49E-CF6C525479E3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3DB2FE46-7860-7C50-DD8C-95D1866C69AD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B3CDD0A3-1CFA-C930-A34A-5CD346C69C02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36FAEDFF-CFB9-3E17-73C8-188516D3AF08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Shape 5">
              <a:extLst>
                <a:ext uri="{FF2B5EF4-FFF2-40B4-BE49-F238E27FC236}">
                  <a16:creationId xmlns:a16="http://schemas.microsoft.com/office/drawing/2014/main" id="{2028ADEC-57CE-CFE2-1E13-2E56A7EB7BF7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Shape 6">
              <a:extLst>
                <a:ext uri="{FF2B5EF4-FFF2-40B4-BE49-F238E27FC236}">
                  <a16:creationId xmlns:a16="http://schemas.microsoft.com/office/drawing/2014/main" id="{5784C67C-F496-0202-C074-7F42BC2BEBEC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Shape 7">
              <a:extLst>
                <a:ext uri="{FF2B5EF4-FFF2-40B4-BE49-F238E27FC236}">
                  <a16:creationId xmlns:a16="http://schemas.microsoft.com/office/drawing/2014/main" id="{23A52148-7B70-3A3E-E866-A2A619847B45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13F4F68A-F93C-7A9B-9299-76188B2A2914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Shape 9">
              <a:extLst>
                <a:ext uri="{FF2B5EF4-FFF2-40B4-BE49-F238E27FC236}">
                  <a16:creationId xmlns:a16="http://schemas.microsoft.com/office/drawing/2014/main" id="{4E28FA0E-3316-0FF5-726E-470C8DC3A716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 10">
            <a:extLst>
              <a:ext uri="{FF2B5EF4-FFF2-40B4-BE49-F238E27FC236}">
                <a16:creationId xmlns:a16="http://schemas.microsoft.com/office/drawing/2014/main" id="{02372D53-8DD3-6057-F077-C9514680FC0E}"/>
              </a:ext>
            </a:extLst>
          </p:cNvPr>
          <p:cNvSpPr/>
          <p:nvPr/>
        </p:nvSpPr>
        <p:spPr>
          <a:xfrm>
            <a:off x="770839" y="27432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Dashboard: Filters &amp; Summary KPIs</a:t>
            </a:r>
            <a:endParaRPr lang="en-US" sz="28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95531B2-10C7-D846-AB78-76ADE950C3EE}"/>
              </a:ext>
            </a:extLst>
          </p:cNvPr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AD6B378-C417-7CE4-41E8-36DB700A5A0A}"/>
              </a:ext>
            </a:extLst>
          </p:cNvPr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3D4F21AA-E912-F739-C41F-E68983CF22DA}"/>
              </a:ext>
            </a:extLst>
          </p:cNvPr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39CC8673-74FC-4ED3-0A64-E11643D1C7F1}"/>
              </a:ext>
            </a:extLst>
          </p:cNvPr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E3630ACB-B094-7F54-A45D-C863F976B0F3}"/>
              </a:ext>
            </a:extLst>
          </p:cNvPr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B9E835A3-5958-6F49-CDFC-B2A892A98A61}"/>
              </a:ext>
            </a:extLst>
          </p:cNvPr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99DBEA0D-5FA4-82CF-2B38-012B45E9DD29}"/>
              </a:ext>
            </a:extLst>
          </p:cNvPr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8B6A240B-A458-E5F6-5D3E-B398D4EE3717}"/>
              </a:ext>
            </a:extLst>
          </p:cNvPr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ECB637E5-A3A8-259A-A9F5-C51DED6EFB2E}"/>
              </a:ext>
            </a:extLst>
          </p:cNvPr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EACBF69D-9DEF-279F-F58B-EB084BF88027}"/>
              </a:ext>
            </a:extLst>
          </p:cNvPr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37508B13-7C7C-0B83-DAF6-12F15EC2BD18}"/>
              </a:ext>
            </a:extLst>
          </p:cNvPr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D8605EA-6B85-1020-D0C0-888D548704F3}"/>
              </a:ext>
            </a:extLst>
          </p:cNvPr>
          <p:cNvGrpSpPr/>
          <p:nvPr/>
        </p:nvGrpSpPr>
        <p:grpSpPr>
          <a:xfrm>
            <a:off x="320040" y="1814109"/>
            <a:ext cx="6933474" cy="3705270"/>
            <a:chOff x="603504" y="2271924"/>
            <a:chExt cx="6473152" cy="3151152"/>
          </a:xfrm>
        </p:grpSpPr>
        <p:sp>
          <p:nvSpPr>
            <p:cNvPr id="25" name="Shape 23">
              <a:extLst>
                <a:ext uri="{FF2B5EF4-FFF2-40B4-BE49-F238E27FC236}">
                  <a16:creationId xmlns:a16="http://schemas.microsoft.com/office/drawing/2014/main" id="{928F9F8E-A1FE-330F-EE60-F326A45297DA}"/>
                </a:ext>
              </a:extLst>
            </p:cNvPr>
            <p:cNvSpPr/>
            <p:nvPr/>
          </p:nvSpPr>
          <p:spPr>
            <a:xfrm>
              <a:off x="603504" y="2271924"/>
              <a:ext cx="6473152" cy="3151152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6" name="Image 0" descr="PIMS Dashboard main screen">
              <a:extLst>
                <a:ext uri="{FF2B5EF4-FFF2-40B4-BE49-F238E27FC236}">
                  <a16:creationId xmlns:a16="http://schemas.microsoft.com/office/drawing/2014/main" id="{4D478246-7952-5AB9-1EA3-8EDFD659C2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" y="2308500"/>
              <a:ext cx="6400000" cy="3078000"/>
            </a:xfrm>
            <a:prstGeom prst="rect">
              <a:avLst/>
            </a:prstGeom>
          </p:spPr>
        </p:pic>
        <p:sp>
          <p:nvSpPr>
            <p:cNvPr id="50" name="Box 1">
              <a:extLst>
                <a:ext uri="{FF2B5EF4-FFF2-40B4-BE49-F238E27FC236}">
                  <a16:creationId xmlns:a16="http://schemas.microsoft.com/office/drawing/2014/main" id="{4BBDB9DF-6D20-9D43-518D-32F4F7E1517F}"/>
                </a:ext>
              </a:extLst>
            </p:cNvPr>
            <p:cNvSpPr/>
            <p:nvPr/>
          </p:nvSpPr>
          <p:spPr>
            <a:xfrm>
              <a:off x="1405543" y="2568053"/>
              <a:ext cx="4293249" cy="153070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Box 2">
              <a:extLst>
                <a:ext uri="{FF2B5EF4-FFF2-40B4-BE49-F238E27FC236}">
                  <a16:creationId xmlns:a16="http://schemas.microsoft.com/office/drawing/2014/main" id="{2A70D940-3EEE-AF30-D523-DD684046486A}"/>
                </a:ext>
              </a:extLst>
            </p:cNvPr>
            <p:cNvSpPr/>
            <p:nvPr/>
          </p:nvSpPr>
          <p:spPr>
            <a:xfrm>
              <a:off x="6424126" y="2568053"/>
              <a:ext cx="555793" cy="153070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Box 3">
              <a:extLst>
                <a:ext uri="{FF2B5EF4-FFF2-40B4-BE49-F238E27FC236}">
                  <a16:creationId xmlns:a16="http://schemas.microsoft.com/office/drawing/2014/main" id="{EDF230DA-A83A-F355-67EA-204296418B6B}"/>
                </a:ext>
              </a:extLst>
            </p:cNvPr>
            <p:cNvSpPr/>
            <p:nvPr/>
          </p:nvSpPr>
          <p:spPr>
            <a:xfrm>
              <a:off x="1478961" y="2721123"/>
              <a:ext cx="453101" cy="119294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Box 4">
              <a:extLst>
                <a:ext uri="{FF2B5EF4-FFF2-40B4-BE49-F238E27FC236}">
                  <a16:creationId xmlns:a16="http://schemas.microsoft.com/office/drawing/2014/main" id="{CF68FD16-D9AD-EDB5-381B-214436B42F4F}"/>
                </a:ext>
              </a:extLst>
            </p:cNvPr>
            <p:cNvSpPr/>
            <p:nvPr/>
          </p:nvSpPr>
          <p:spPr>
            <a:xfrm>
              <a:off x="5774122" y="2568053"/>
              <a:ext cx="615699" cy="153070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Box 5">
              <a:extLst>
                <a:ext uri="{FF2B5EF4-FFF2-40B4-BE49-F238E27FC236}">
                  <a16:creationId xmlns:a16="http://schemas.microsoft.com/office/drawing/2014/main" id="{3D098445-6565-0347-A0C4-F25C9228ACC0}"/>
                </a:ext>
              </a:extLst>
            </p:cNvPr>
            <p:cNvSpPr/>
            <p:nvPr/>
          </p:nvSpPr>
          <p:spPr>
            <a:xfrm>
              <a:off x="1405543" y="2957382"/>
              <a:ext cx="5556927" cy="482502"/>
            </a:xfrm>
            <a:prstGeom prst="roundRect">
              <a:avLst>
                <a:gd name="adj" fmla="val 8333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Callout 1">
              <a:extLst>
                <a:ext uri="{FF2B5EF4-FFF2-40B4-BE49-F238E27FC236}">
                  <a16:creationId xmlns:a16="http://schemas.microsoft.com/office/drawing/2014/main" id="{CBD067AF-B020-915A-B09B-FEF779E7828F}"/>
                </a:ext>
              </a:extLst>
            </p:cNvPr>
            <p:cNvSpPr/>
            <p:nvPr/>
          </p:nvSpPr>
          <p:spPr>
            <a:xfrm>
              <a:off x="1274718" y="2437482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41" name="Callout 2">
              <a:extLst>
                <a:ext uri="{FF2B5EF4-FFF2-40B4-BE49-F238E27FC236}">
                  <a16:creationId xmlns:a16="http://schemas.microsoft.com/office/drawing/2014/main" id="{D679CF4D-2B26-D74A-EBA8-D0BC8247F798}"/>
                </a:ext>
              </a:extLst>
            </p:cNvPr>
            <p:cNvSpPr/>
            <p:nvPr/>
          </p:nvSpPr>
          <p:spPr>
            <a:xfrm>
              <a:off x="6807828" y="2479116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2</a:t>
              </a:r>
            </a:p>
          </p:txBody>
        </p:sp>
        <p:sp>
          <p:nvSpPr>
            <p:cNvPr id="42" name="Callout 3">
              <a:extLst>
                <a:ext uri="{FF2B5EF4-FFF2-40B4-BE49-F238E27FC236}">
                  <a16:creationId xmlns:a16="http://schemas.microsoft.com/office/drawing/2014/main" id="{EE2BD2B8-D047-74FC-16E3-ADBB132EA87F}"/>
                </a:ext>
              </a:extLst>
            </p:cNvPr>
            <p:cNvSpPr/>
            <p:nvPr/>
          </p:nvSpPr>
          <p:spPr>
            <a:xfrm>
              <a:off x="1283188" y="2718695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3</a:t>
              </a:r>
            </a:p>
          </p:txBody>
        </p:sp>
        <p:sp>
          <p:nvSpPr>
            <p:cNvPr id="43" name="Callout 4">
              <a:extLst>
                <a:ext uri="{FF2B5EF4-FFF2-40B4-BE49-F238E27FC236}">
                  <a16:creationId xmlns:a16="http://schemas.microsoft.com/office/drawing/2014/main" id="{AD0511FD-2BA8-50A4-B079-EF5DB9B11606}"/>
                </a:ext>
              </a:extLst>
            </p:cNvPr>
            <p:cNvSpPr/>
            <p:nvPr/>
          </p:nvSpPr>
          <p:spPr>
            <a:xfrm>
              <a:off x="5733097" y="2412942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4</a:t>
              </a:r>
            </a:p>
          </p:txBody>
        </p:sp>
        <p:sp>
          <p:nvSpPr>
            <p:cNvPr id="44" name="Callout 5">
              <a:extLst>
                <a:ext uri="{FF2B5EF4-FFF2-40B4-BE49-F238E27FC236}">
                  <a16:creationId xmlns:a16="http://schemas.microsoft.com/office/drawing/2014/main" id="{500C4F49-586E-51FF-7D61-CE50E8C3D53E}"/>
                </a:ext>
              </a:extLst>
            </p:cNvPr>
            <p:cNvSpPr/>
            <p:nvPr/>
          </p:nvSpPr>
          <p:spPr>
            <a:xfrm>
              <a:off x="6763401" y="2870676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5</a:t>
              </a:r>
            </a:p>
          </p:txBody>
        </p:sp>
      </p:grpSp>
      <p:sp>
        <p:nvSpPr>
          <p:cNvPr id="60" name="Panel Header">
            <a:extLst>
              <a:ext uri="{FF2B5EF4-FFF2-40B4-BE49-F238E27FC236}">
                <a16:creationId xmlns:a16="http://schemas.microsoft.com/office/drawing/2014/main" id="{961EA862-B82F-A137-ED56-41EB89171B3B}"/>
              </a:ext>
            </a:extLst>
          </p:cNvPr>
          <p:cNvSpPr/>
          <p:nvPr/>
        </p:nvSpPr>
        <p:spPr>
          <a:xfrm>
            <a:off x="7591791" y="1804050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Description</a:t>
            </a:r>
          </a:p>
        </p:txBody>
      </p:sp>
      <p:sp>
        <p:nvSpPr>
          <p:cNvPr id="61" name="Panel Body">
            <a:extLst>
              <a:ext uri="{FF2B5EF4-FFF2-40B4-BE49-F238E27FC236}">
                <a16:creationId xmlns:a16="http://schemas.microsoft.com/office/drawing/2014/main" id="{0697A4F1-35B6-4B36-753E-2A0FC60E46B5}"/>
              </a:ext>
            </a:extLst>
          </p:cNvPr>
          <p:cNvSpPr/>
          <p:nvPr/>
        </p:nvSpPr>
        <p:spPr>
          <a:xfrm>
            <a:off x="7591791" y="2332570"/>
            <a:ext cx="4211840" cy="3176750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2" name="Panel Text">
            <a:extLst>
              <a:ext uri="{FF2B5EF4-FFF2-40B4-BE49-F238E27FC236}">
                <a16:creationId xmlns:a16="http://schemas.microsoft.com/office/drawing/2014/main" id="{49E1E3E9-6542-1343-07B1-42FF0A756983}"/>
              </a:ext>
            </a:extLst>
          </p:cNvPr>
          <p:cNvSpPr txBox="1"/>
          <p:nvPr/>
        </p:nvSpPr>
        <p:spPr>
          <a:xfrm>
            <a:off x="7791791" y="2482569"/>
            <a:ext cx="3811840" cy="2753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Settings: 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lang="en-US" sz="1100" dirty="0"/>
              <a:t>Select </a:t>
            </a: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Project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, </a:t>
            </a: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Period / Base Month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, </a:t>
            </a: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View by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(Month), </a:t>
            </a: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Exchange Rate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and </a:t>
            </a: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Unit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 (USD or K USD </a:t>
            </a:r>
            <a:r>
              <a:rPr lang="en-US" sz="1100" dirty="0"/>
              <a:t>to refresh all cards and charts.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Excel Upload: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import a new monthly report.</a:t>
            </a:r>
          </a:p>
          <a:p>
            <a:pPr marL="0" indent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3  Download: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export the current dashboard.</a:t>
            </a:r>
          </a:p>
          <a:p>
            <a:pPr marL="0" indent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4  FX Rate Settings: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review or edit the exchange rates used for conversion.</a:t>
            </a:r>
          </a:p>
          <a:p>
            <a:pPr>
              <a:spcAft>
                <a:spcPts val="400"/>
              </a:spcAft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5 </a:t>
            </a:r>
            <a:r>
              <a:rPr lang="en-US" sz="1100" dirty="0"/>
              <a:t>KPI Summary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:</a:t>
            </a:r>
          </a:p>
          <a:p>
            <a:pPr marL="228600" indent="-228600">
              <a:lnSpc>
                <a:spcPct val="106000"/>
              </a:lnSpc>
              <a:spcAft>
                <a:spcPts val="400"/>
              </a:spcAft>
              <a:buChar char="•"/>
            </a:pPr>
            <a:r>
              <a:rPr lang="en-US" sz="1050" b="1" dirty="0">
                <a:solidFill>
                  <a:srgbClr val="1F3A6E"/>
                </a:solidFill>
                <a:latin typeface="Calibri" pitchFamily="34" charset="0"/>
              </a:rPr>
              <a:t>YTD Revenue, YTD Operating Profit </a:t>
            </a:r>
            <a:r>
              <a:rPr lang="en-US" sz="1050" dirty="0">
                <a:solidFill>
                  <a:srgbClr val="262626"/>
                </a:solidFill>
                <a:latin typeface="Calibri" pitchFamily="34" charset="0"/>
              </a:rPr>
              <a:t>(both Month 1 – Base Month)</a:t>
            </a:r>
          </a:p>
          <a:p>
            <a:pPr marL="228600" indent="-228600">
              <a:lnSpc>
                <a:spcPct val="106000"/>
              </a:lnSpc>
              <a:spcAft>
                <a:spcPts val="400"/>
              </a:spcAft>
              <a:buChar char="•"/>
            </a:pPr>
            <a:r>
              <a:rPr lang="en-US" sz="1050" b="1" dirty="0">
                <a:solidFill>
                  <a:srgbClr val="1F3A6E"/>
                </a:solidFill>
                <a:latin typeface="Calibri" pitchFamily="34" charset="0"/>
              </a:rPr>
              <a:t>Full Year Revenue and Full Year Operating Profit </a:t>
            </a:r>
            <a:r>
              <a:rPr lang="en-US" sz="1050" dirty="0">
                <a:solidFill>
                  <a:srgbClr val="262626"/>
                </a:solidFill>
                <a:latin typeface="Calibri" pitchFamily="34" charset="0"/>
              </a:rPr>
              <a:t>(Month 1 – 12)</a:t>
            </a:r>
          </a:p>
          <a:p>
            <a:pPr marL="228600" indent="-228600">
              <a:lnSpc>
                <a:spcPct val="100000"/>
              </a:lnSpc>
              <a:buChar char="•"/>
            </a:pPr>
            <a:r>
              <a:rPr lang="en-US" sz="1050" dirty="0"/>
              <a:t>Source: Imported Excel Data</a:t>
            </a:r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B0DAA920-4AEC-E2AD-D87D-DD4643C1CB4E}"/>
              </a:ext>
            </a:extLst>
          </p:cNvPr>
          <p:cNvSpPr/>
          <p:nvPr/>
        </p:nvSpPr>
        <p:spPr>
          <a:xfrm>
            <a:off x="320040" y="6473952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4280C0E0-BFC3-0BF0-B945-1ABF6F026725}"/>
              </a:ext>
            </a:extLst>
          </p:cNvPr>
          <p:cNvSpPr/>
          <p:nvPr/>
        </p:nvSpPr>
        <p:spPr>
          <a:xfrm>
            <a:off x="402336" y="6473952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3782A6EE-3152-A310-788F-5B7B40AD6281}"/>
              </a:ext>
            </a:extLst>
          </p:cNvPr>
          <p:cNvSpPr/>
          <p:nvPr/>
        </p:nvSpPr>
        <p:spPr>
          <a:xfrm>
            <a:off x="484632" y="6473952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9C452588-5517-8599-A38C-F9E905A9FACB}"/>
              </a:ext>
            </a:extLst>
          </p:cNvPr>
          <p:cNvSpPr/>
          <p:nvPr/>
        </p:nvSpPr>
        <p:spPr>
          <a:xfrm>
            <a:off x="320040" y="65562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239FF850-B144-DC46-1F63-EC85F29A635A}"/>
              </a:ext>
            </a:extLst>
          </p:cNvPr>
          <p:cNvSpPr/>
          <p:nvPr/>
        </p:nvSpPr>
        <p:spPr>
          <a:xfrm>
            <a:off x="402336" y="65562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9">
            <a:extLst>
              <a:ext uri="{FF2B5EF4-FFF2-40B4-BE49-F238E27FC236}">
                <a16:creationId xmlns:a16="http://schemas.microsoft.com/office/drawing/2014/main" id="{B592C9F0-2965-BD04-A1AB-34E571BC8FCD}"/>
              </a:ext>
            </a:extLst>
          </p:cNvPr>
          <p:cNvSpPr/>
          <p:nvPr/>
        </p:nvSpPr>
        <p:spPr>
          <a:xfrm>
            <a:off x="484632" y="65562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0906A63A-5CF2-5772-F734-849F370693C1}"/>
              </a:ext>
            </a:extLst>
          </p:cNvPr>
          <p:cNvSpPr/>
          <p:nvPr/>
        </p:nvSpPr>
        <p:spPr>
          <a:xfrm>
            <a:off x="320040" y="66385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058C52A0-D751-BF64-38C8-78DCE136C16C}"/>
              </a:ext>
            </a:extLst>
          </p:cNvPr>
          <p:cNvSpPr/>
          <p:nvPr/>
        </p:nvSpPr>
        <p:spPr>
          <a:xfrm>
            <a:off x="402336" y="66385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8591CE2D-D23B-D8EB-5FD0-DBAE817A4898}"/>
              </a:ext>
            </a:extLst>
          </p:cNvPr>
          <p:cNvSpPr/>
          <p:nvPr/>
        </p:nvSpPr>
        <p:spPr>
          <a:xfrm>
            <a:off x="484632" y="66385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2AF3787E-01F6-B899-2785-06CCE2E8BE0D}"/>
              </a:ext>
            </a:extLst>
          </p:cNvPr>
          <p:cNvSpPr/>
          <p:nvPr/>
        </p:nvSpPr>
        <p:spPr>
          <a:xfrm>
            <a:off x="567933" y="64190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AC49CA51-8E17-BE4F-84D5-114A9458ACD3}"/>
              </a:ext>
            </a:extLst>
          </p:cNvPr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F3DC3FB-EDD0-1BD0-7C74-C8AF79D7A701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45" name="Shape 1">
              <a:extLst>
                <a:ext uri="{FF2B5EF4-FFF2-40B4-BE49-F238E27FC236}">
                  <a16:creationId xmlns:a16="http://schemas.microsoft.com/office/drawing/2014/main" id="{68F64A48-BD3F-20A0-63E3-5A9EB76CD707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2">
              <a:extLst>
                <a:ext uri="{FF2B5EF4-FFF2-40B4-BE49-F238E27FC236}">
                  <a16:creationId xmlns:a16="http://schemas.microsoft.com/office/drawing/2014/main" id="{9C1A1E79-F5F7-4C26-C199-C535AE70DF1A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Shape 3">
              <a:extLst>
                <a:ext uri="{FF2B5EF4-FFF2-40B4-BE49-F238E27FC236}">
                  <a16:creationId xmlns:a16="http://schemas.microsoft.com/office/drawing/2014/main" id="{1568CB24-4F77-1AD3-F498-7A2E6A48E543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Shape 4">
              <a:extLst>
                <a:ext uri="{FF2B5EF4-FFF2-40B4-BE49-F238E27FC236}">
                  <a16:creationId xmlns:a16="http://schemas.microsoft.com/office/drawing/2014/main" id="{6933AD37-FD98-326C-A6C5-2CCA8B4EBA84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5">
              <a:extLst>
                <a:ext uri="{FF2B5EF4-FFF2-40B4-BE49-F238E27FC236}">
                  <a16:creationId xmlns:a16="http://schemas.microsoft.com/office/drawing/2014/main" id="{DC2F3CC8-007A-0B4C-3A33-97C6331450F1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6">
              <a:extLst>
                <a:ext uri="{FF2B5EF4-FFF2-40B4-BE49-F238E27FC236}">
                  <a16:creationId xmlns:a16="http://schemas.microsoft.com/office/drawing/2014/main" id="{A7E7A14F-922D-BFB7-AA06-8CD72E1CBA15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7">
              <a:extLst>
                <a:ext uri="{FF2B5EF4-FFF2-40B4-BE49-F238E27FC236}">
                  <a16:creationId xmlns:a16="http://schemas.microsoft.com/office/drawing/2014/main" id="{0328FBF2-A824-F1C2-8F07-F653E3D208DB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Shape 8">
              <a:extLst>
                <a:ext uri="{FF2B5EF4-FFF2-40B4-BE49-F238E27FC236}">
                  <a16:creationId xmlns:a16="http://schemas.microsoft.com/office/drawing/2014/main" id="{9D6D451A-C948-B8EE-3477-1BA3C58D4844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Shape 9">
              <a:extLst>
                <a:ext uri="{FF2B5EF4-FFF2-40B4-BE49-F238E27FC236}">
                  <a16:creationId xmlns:a16="http://schemas.microsoft.com/office/drawing/2014/main" id="{952AF950-1C3B-76AF-B0B9-8393720CE347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08700876-CB90-258C-605C-466FB0F34C9C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63" name="Shape 24">
              <a:extLst>
                <a:ext uri="{FF2B5EF4-FFF2-40B4-BE49-F238E27FC236}">
                  <a16:creationId xmlns:a16="http://schemas.microsoft.com/office/drawing/2014/main" id="{594DF085-4870-8DE4-9ABA-2DF574059AF1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Shape 25">
              <a:extLst>
                <a:ext uri="{FF2B5EF4-FFF2-40B4-BE49-F238E27FC236}">
                  <a16:creationId xmlns:a16="http://schemas.microsoft.com/office/drawing/2014/main" id="{49FD9D5F-6C49-CF84-D99C-FD78D58FCB1F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Shape 26">
              <a:extLst>
                <a:ext uri="{FF2B5EF4-FFF2-40B4-BE49-F238E27FC236}">
                  <a16:creationId xmlns:a16="http://schemas.microsoft.com/office/drawing/2014/main" id="{93B586F0-2AD0-B94A-F594-6604830A7C53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Shape 27">
              <a:extLst>
                <a:ext uri="{FF2B5EF4-FFF2-40B4-BE49-F238E27FC236}">
                  <a16:creationId xmlns:a16="http://schemas.microsoft.com/office/drawing/2014/main" id="{67BB06D0-DCB8-6CE4-1393-EB4DB17CD263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Shape 28">
              <a:extLst>
                <a:ext uri="{FF2B5EF4-FFF2-40B4-BE49-F238E27FC236}">
                  <a16:creationId xmlns:a16="http://schemas.microsoft.com/office/drawing/2014/main" id="{30B826F3-3E9A-F5D7-4D14-286F8C7E262E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Shape 29">
              <a:extLst>
                <a:ext uri="{FF2B5EF4-FFF2-40B4-BE49-F238E27FC236}">
                  <a16:creationId xmlns:a16="http://schemas.microsoft.com/office/drawing/2014/main" id="{1AF331A2-DF4D-6791-A232-D84D89D79B53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Shape 30">
              <a:extLst>
                <a:ext uri="{FF2B5EF4-FFF2-40B4-BE49-F238E27FC236}">
                  <a16:creationId xmlns:a16="http://schemas.microsoft.com/office/drawing/2014/main" id="{7FB05598-2123-AFF5-8317-EA2673A4CACE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Shape 31">
              <a:extLst>
                <a:ext uri="{FF2B5EF4-FFF2-40B4-BE49-F238E27FC236}">
                  <a16:creationId xmlns:a16="http://schemas.microsoft.com/office/drawing/2014/main" id="{17B17768-B52A-BA0C-83AE-58911B8BAA29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Shape 32">
              <a:extLst>
                <a:ext uri="{FF2B5EF4-FFF2-40B4-BE49-F238E27FC236}">
                  <a16:creationId xmlns:a16="http://schemas.microsoft.com/office/drawing/2014/main" id="{6A1D8776-66F2-9D54-FC41-EEF6BDCE5A06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2" name="Text 33">
            <a:extLst>
              <a:ext uri="{FF2B5EF4-FFF2-40B4-BE49-F238E27FC236}">
                <a16:creationId xmlns:a16="http://schemas.microsoft.com/office/drawing/2014/main" id="{83E8B4CD-5108-6607-FFA4-BF5D4F888D41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0046548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BF5164-D495-21B8-51DC-18FF45930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C9AEE72-D7DF-6C52-5D19-CB34C26FFE47}"/>
              </a:ext>
            </a:extLst>
          </p:cNvPr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B9D67E6-1960-E1B6-BD6B-2D286CB3783D}"/>
              </a:ext>
            </a:extLst>
          </p:cNvPr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354A8B1-A5ED-02F1-BFFB-60848FCD5129}"/>
              </a:ext>
            </a:extLst>
          </p:cNvPr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9F9C202-4E0F-D75B-F658-2E833390E55D}"/>
              </a:ext>
            </a:extLst>
          </p:cNvPr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D352B19-7988-B729-485F-8740C00B3C66}"/>
              </a:ext>
            </a:extLst>
          </p:cNvPr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5E962B1-C45E-B3C9-74CE-C1D133F7CBAA}"/>
              </a:ext>
            </a:extLst>
          </p:cNvPr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54A6BB7-16DF-02EC-EDE2-29021A470E00}"/>
              </a:ext>
            </a:extLst>
          </p:cNvPr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4D9BE6B-5ECB-8C48-F81F-E8DF283E38B1}"/>
              </a:ext>
            </a:extLst>
          </p:cNvPr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059C229-F1AB-8F6F-FB0D-166FBB669F6D}"/>
              </a:ext>
            </a:extLst>
          </p:cNvPr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275A2E6-C67D-0F73-4C4C-2EEA63A4BDA6}"/>
              </a:ext>
            </a:extLst>
          </p:cNvPr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7AB40385-9C67-5DF0-BCAF-EDB66F60F3B0}"/>
              </a:ext>
            </a:extLst>
          </p:cNvPr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ED92A7DD-6FDA-49E2-31BD-404CB13C6BD8}"/>
              </a:ext>
            </a:extLst>
          </p:cNvPr>
          <p:cNvSpPr/>
          <p:nvPr/>
        </p:nvSpPr>
        <p:spPr>
          <a:xfrm>
            <a:off x="548640" y="457200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E9D45D36-8159-BE47-B502-7025253BBC11}"/>
              </a:ext>
            </a:extLst>
          </p:cNvPr>
          <p:cNvSpPr/>
          <p:nvPr/>
        </p:nvSpPr>
        <p:spPr>
          <a:xfrm>
            <a:off x="630936" y="457200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AD3D11F7-86CC-9729-CDCF-A94903A68314}"/>
              </a:ext>
            </a:extLst>
          </p:cNvPr>
          <p:cNvSpPr/>
          <p:nvPr/>
        </p:nvSpPr>
        <p:spPr>
          <a:xfrm>
            <a:off x="713232" y="457200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302D01A3-89DE-CB1B-6B6C-E08313E88C85}"/>
              </a:ext>
            </a:extLst>
          </p:cNvPr>
          <p:cNvSpPr/>
          <p:nvPr/>
        </p:nvSpPr>
        <p:spPr>
          <a:xfrm>
            <a:off x="548640" y="539496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82910DD9-7905-6108-B97A-BA37B7DDE7EE}"/>
              </a:ext>
            </a:extLst>
          </p:cNvPr>
          <p:cNvSpPr/>
          <p:nvPr/>
        </p:nvSpPr>
        <p:spPr>
          <a:xfrm>
            <a:off x="630936" y="539496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53641226-9A03-9CBB-FAF7-C0071EA537DB}"/>
              </a:ext>
            </a:extLst>
          </p:cNvPr>
          <p:cNvSpPr/>
          <p:nvPr/>
        </p:nvSpPr>
        <p:spPr>
          <a:xfrm>
            <a:off x="713232" y="539496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435ED975-1B7C-40D9-7C43-DFCF2C368AB0}"/>
              </a:ext>
            </a:extLst>
          </p:cNvPr>
          <p:cNvSpPr/>
          <p:nvPr/>
        </p:nvSpPr>
        <p:spPr>
          <a:xfrm>
            <a:off x="548640" y="621792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AE01CB19-A0FE-5D7E-4834-60AC68E96B3F}"/>
              </a:ext>
            </a:extLst>
          </p:cNvPr>
          <p:cNvSpPr/>
          <p:nvPr/>
        </p:nvSpPr>
        <p:spPr>
          <a:xfrm>
            <a:off x="630936" y="621792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4085CA26-5E09-5CCA-C05C-F2DB8B41251F}"/>
              </a:ext>
            </a:extLst>
          </p:cNvPr>
          <p:cNvSpPr/>
          <p:nvPr/>
        </p:nvSpPr>
        <p:spPr>
          <a:xfrm>
            <a:off x="713232" y="621792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41B2295E-4280-A99D-2AC1-622FCD5DAC49}"/>
              </a:ext>
            </a:extLst>
          </p:cNvPr>
          <p:cNvSpPr/>
          <p:nvPr/>
        </p:nvSpPr>
        <p:spPr>
          <a:xfrm>
            <a:off x="914400" y="2743200"/>
            <a:ext cx="1417320" cy="1417320"/>
          </a:xfrm>
          <a:prstGeom prst="rect">
            <a:avLst/>
          </a:prstGeom>
          <a:solidFill>
            <a:srgbClr val="1F3A6E"/>
          </a:solidFill>
          <a:ln/>
          <a:effectLst>
            <a:outerShdw blurRad="762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CB344762-90DF-F618-A0C3-17C665EB28BC}"/>
              </a:ext>
            </a:extLst>
          </p:cNvPr>
          <p:cNvSpPr/>
          <p:nvPr/>
        </p:nvSpPr>
        <p:spPr>
          <a:xfrm>
            <a:off x="914400" y="27432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54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3B7F5050-7BBE-50EA-F05D-97C1445E06D3}"/>
              </a:ext>
            </a:extLst>
          </p:cNvPr>
          <p:cNvSpPr/>
          <p:nvPr/>
        </p:nvSpPr>
        <p:spPr>
          <a:xfrm>
            <a:off x="914400" y="43434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Manager – Data Entry – Construction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3827169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Entry: Overview &amp; Monthly Progress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0" name="Panel Header"/>
          <p:cNvSpPr/>
          <p:nvPr/>
        </p:nvSpPr>
        <p:spPr>
          <a:xfrm>
            <a:off x="7589463" y="1770459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Description</a:t>
            </a:r>
          </a:p>
        </p:txBody>
      </p:sp>
      <p:sp>
        <p:nvSpPr>
          <p:cNvPr id="301" name="Panel Body"/>
          <p:cNvSpPr/>
          <p:nvPr/>
        </p:nvSpPr>
        <p:spPr>
          <a:xfrm>
            <a:off x="7589463" y="2290459"/>
            <a:ext cx="4211840" cy="3068356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Panel Text"/>
          <p:cNvSpPr txBox="1"/>
          <p:nvPr/>
        </p:nvSpPr>
        <p:spPr>
          <a:xfrm>
            <a:off x="7789463" y="2440459"/>
            <a:ext cx="3811840" cy="2275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AutoNum type="arabicPlain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selection: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site from the left tree, then choose </a:t>
            </a:r>
            <a:r>
              <a:rPr lang="en-US" sz="110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시공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(Construction) or </a:t>
            </a:r>
            <a:r>
              <a:rPr lang="en-US" sz="110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용역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(Service) to switch Data Entry cards shown.</a:t>
            </a:r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AutoNum type="arabicPlain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control: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 / Change to closed control marks a finished site closed, moving it between the In Progress/Closed lists in the tree.</a:t>
            </a:r>
            <a:endParaRPr lang="en-US" sz="11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AutoNum type="arabicPlain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behavior: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card has its own Save, plus Save all at top; Lock toggle freezes a card once its plan is finalized.</a:t>
            </a:r>
            <a:endParaRPr lang="en-US" sz="1100" dirty="0"/>
          </a:p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/>
            </a:pPr>
            <a:endParaRPr lang="en-US" sz="1100" dirty="0">
              <a:solidFill>
                <a:srgbClr val="262626"/>
              </a:solidFill>
              <a:latin typeface="Calibri" pitchFamily="34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50399AF-46F7-D3EC-7487-9B11CC70D843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4C727300-C9CF-2A33-7D60-8B1FB4263019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51B55EB9-2752-92A6-23B4-13D0DFD1CB5D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55106152-5626-2560-2C8C-212F77CBBBCF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6742394D-22DF-9C61-712B-708DD3873E7A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7D13766B-CF33-BF12-4EDC-ABAF6564F46C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56346481-8760-0FBC-079A-0B64F69265F5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CA52F9E8-0742-1A9B-09D2-872AD7BF8C59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AD22235F-D958-2043-2F4B-7055B6636576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7929ED8C-D38D-D269-DBB3-27D9FF901D79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0B98A64-FB0F-2C20-2B6F-E16D57290939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8" name="Shape 24">
              <a:extLst>
                <a:ext uri="{FF2B5EF4-FFF2-40B4-BE49-F238E27FC236}">
                  <a16:creationId xmlns:a16="http://schemas.microsoft.com/office/drawing/2014/main" id="{86C7DA21-95F6-0E52-33EC-EE7BE7855792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5">
              <a:extLst>
                <a:ext uri="{FF2B5EF4-FFF2-40B4-BE49-F238E27FC236}">
                  <a16:creationId xmlns:a16="http://schemas.microsoft.com/office/drawing/2014/main" id="{546FD496-EC4B-ECDF-54D2-72B5C78AE1FE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C4AFA158-9FC1-90CC-D3D8-47D1FEE2C143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7">
              <a:extLst>
                <a:ext uri="{FF2B5EF4-FFF2-40B4-BE49-F238E27FC236}">
                  <a16:creationId xmlns:a16="http://schemas.microsoft.com/office/drawing/2014/main" id="{08188CD8-8141-390C-0F9A-D7716F2843E5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8">
              <a:extLst>
                <a:ext uri="{FF2B5EF4-FFF2-40B4-BE49-F238E27FC236}">
                  <a16:creationId xmlns:a16="http://schemas.microsoft.com/office/drawing/2014/main" id="{7C815C15-48DA-2AA4-C58C-3D23098721F7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9">
              <a:extLst>
                <a:ext uri="{FF2B5EF4-FFF2-40B4-BE49-F238E27FC236}">
                  <a16:creationId xmlns:a16="http://schemas.microsoft.com/office/drawing/2014/main" id="{AB3C4181-A7A7-43F6-EA14-0800A7758ABB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0">
              <a:extLst>
                <a:ext uri="{FF2B5EF4-FFF2-40B4-BE49-F238E27FC236}">
                  <a16:creationId xmlns:a16="http://schemas.microsoft.com/office/drawing/2014/main" id="{7C98CC63-0F5E-00B4-D534-CF81BC42F618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1">
              <a:extLst>
                <a:ext uri="{FF2B5EF4-FFF2-40B4-BE49-F238E27FC236}">
                  <a16:creationId xmlns:a16="http://schemas.microsoft.com/office/drawing/2014/main" id="{A600BB3C-13EA-E498-DF93-006F5E8BEF1B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2">
              <a:extLst>
                <a:ext uri="{FF2B5EF4-FFF2-40B4-BE49-F238E27FC236}">
                  <a16:creationId xmlns:a16="http://schemas.microsoft.com/office/drawing/2014/main" id="{7B100BFE-1831-FBF7-792C-12BCFCF9E2D6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 33">
            <a:extLst>
              <a:ext uri="{FF2B5EF4-FFF2-40B4-BE49-F238E27FC236}">
                <a16:creationId xmlns:a16="http://schemas.microsoft.com/office/drawing/2014/main" id="{4CE98D4D-A7F3-51E1-8D80-6324D11E2A9F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989A36C-E0D0-6B78-453B-4DD54E62D512}"/>
              </a:ext>
            </a:extLst>
          </p:cNvPr>
          <p:cNvGrpSpPr/>
          <p:nvPr/>
        </p:nvGrpSpPr>
        <p:grpSpPr>
          <a:xfrm>
            <a:off x="281525" y="1797267"/>
            <a:ext cx="7165290" cy="3561548"/>
            <a:chOff x="603504" y="2271924"/>
            <a:chExt cx="6498280" cy="3168316"/>
          </a:xfrm>
        </p:grpSpPr>
        <p:sp>
          <p:nvSpPr>
            <p:cNvPr id="25" name="Shape 23"/>
            <p:cNvSpPr/>
            <p:nvPr/>
          </p:nvSpPr>
          <p:spPr>
            <a:xfrm>
              <a:off x="603504" y="2271924"/>
              <a:ext cx="6473152" cy="3168316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6" name="Image 0" descr="screenshot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" y="2308500"/>
              <a:ext cx="6400000" cy="3095164"/>
            </a:xfrm>
            <a:prstGeom prst="rect">
              <a:avLst/>
            </a:prstGeom>
          </p:spPr>
        </p:pic>
        <p:sp>
          <p:nvSpPr>
            <p:cNvPr id="100" name="Box 1"/>
            <p:cNvSpPr/>
            <p:nvPr/>
          </p:nvSpPr>
          <p:spPr>
            <a:xfrm>
              <a:off x="5352748" y="3155790"/>
              <a:ext cx="367716" cy="187052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Box 4"/>
            <p:cNvSpPr/>
            <p:nvPr/>
          </p:nvSpPr>
          <p:spPr>
            <a:xfrm>
              <a:off x="6591300" y="3156058"/>
              <a:ext cx="352425" cy="184077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0" name="Callout 1"/>
            <p:cNvSpPr/>
            <p:nvPr/>
          </p:nvSpPr>
          <p:spPr>
            <a:xfrm>
              <a:off x="5197707" y="2975555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3" name="Box 4">
              <a:extLst>
                <a:ext uri="{FF2B5EF4-FFF2-40B4-BE49-F238E27FC236}">
                  <a16:creationId xmlns:a16="http://schemas.microsoft.com/office/drawing/2014/main" id="{58034494-6909-CB39-7657-0D5284211F75}"/>
                </a:ext>
              </a:extLst>
            </p:cNvPr>
            <p:cNvSpPr/>
            <p:nvPr/>
          </p:nvSpPr>
          <p:spPr>
            <a:xfrm>
              <a:off x="5745440" y="3153083"/>
              <a:ext cx="845860" cy="187052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Callout 1">
              <a:extLst>
                <a:ext uri="{FF2B5EF4-FFF2-40B4-BE49-F238E27FC236}">
                  <a16:creationId xmlns:a16="http://schemas.microsoft.com/office/drawing/2014/main" id="{104DD8B1-33D3-8A5C-8281-EAFF4067ED00}"/>
                </a:ext>
              </a:extLst>
            </p:cNvPr>
            <p:cNvSpPr/>
            <p:nvPr/>
          </p:nvSpPr>
          <p:spPr>
            <a:xfrm>
              <a:off x="5757040" y="2975556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2</a:t>
              </a:r>
            </a:p>
          </p:txBody>
        </p:sp>
        <p:sp>
          <p:nvSpPr>
            <p:cNvPr id="5" name="Callout 1">
              <a:extLst>
                <a:ext uri="{FF2B5EF4-FFF2-40B4-BE49-F238E27FC236}">
                  <a16:creationId xmlns:a16="http://schemas.microsoft.com/office/drawing/2014/main" id="{7CDBC127-87D1-0ADC-60BD-442693FF73CC}"/>
                </a:ext>
              </a:extLst>
            </p:cNvPr>
            <p:cNvSpPr/>
            <p:nvPr/>
          </p:nvSpPr>
          <p:spPr>
            <a:xfrm>
              <a:off x="6881784" y="2975556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3A628E-6234-79F1-A38F-498FE6516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023FC83-39AB-3BDB-320D-0E663C5976A0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28ABE0A-EEE2-F050-D655-B3E187081104}"/>
              </a:ext>
            </a:extLst>
          </p:cNvPr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Entry: Overview &amp; Monthly Progress</a:t>
            </a:r>
            <a:endParaRPr lang="en-US" sz="28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0641F194-5BC1-CDB6-74A8-129E2415B6B8}"/>
              </a:ext>
            </a:extLst>
          </p:cNvPr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8F86DB83-E346-C923-06DB-F3D9C4A1F86A}"/>
              </a:ext>
            </a:extLst>
          </p:cNvPr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D84A271A-0405-83D2-0C1E-5DF236589A65}"/>
              </a:ext>
            </a:extLst>
          </p:cNvPr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32E7B4CB-581B-423F-ED5C-262FC9A59BAB}"/>
              </a:ext>
            </a:extLst>
          </p:cNvPr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8E260F4A-1B1A-381F-D039-75444F4B34E6}"/>
              </a:ext>
            </a:extLst>
          </p:cNvPr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44A8CBC8-739B-ED09-A6C6-96048D87E7E5}"/>
              </a:ext>
            </a:extLst>
          </p:cNvPr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10948B05-DF33-EA14-48CE-4C55161E59B0}"/>
              </a:ext>
            </a:extLst>
          </p:cNvPr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5B8EAB78-3D36-FE78-106A-3FA9946DB0C5}"/>
              </a:ext>
            </a:extLst>
          </p:cNvPr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071D088D-1E8B-8664-BA94-AC3D6E79483A}"/>
              </a:ext>
            </a:extLst>
          </p:cNvPr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9FA7383C-A003-C1F3-3ADA-FA38203C1223}"/>
              </a:ext>
            </a:extLst>
          </p:cNvPr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8A191DA8-7F12-75C1-EDC1-D5CAEC7DB855}"/>
              </a:ext>
            </a:extLst>
          </p:cNvPr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2890E22-CB18-43EB-D063-CA55320CA929}"/>
              </a:ext>
            </a:extLst>
          </p:cNvPr>
          <p:cNvGrpSpPr/>
          <p:nvPr/>
        </p:nvGrpSpPr>
        <p:grpSpPr>
          <a:xfrm>
            <a:off x="320039" y="1775348"/>
            <a:ext cx="7075767" cy="3548985"/>
            <a:chOff x="603504" y="2271924"/>
            <a:chExt cx="6473152" cy="3168316"/>
          </a:xfrm>
        </p:grpSpPr>
        <p:sp>
          <p:nvSpPr>
            <p:cNvPr id="25" name="Shape 23">
              <a:extLst>
                <a:ext uri="{FF2B5EF4-FFF2-40B4-BE49-F238E27FC236}">
                  <a16:creationId xmlns:a16="http://schemas.microsoft.com/office/drawing/2014/main" id="{B9528C94-78E9-CB22-37E3-B3162181EBFA}"/>
                </a:ext>
              </a:extLst>
            </p:cNvPr>
            <p:cNvSpPr/>
            <p:nvPr/>
          </p:nvSpPr>
          <p:spPr>
            <a:xfrm>
              <a:off x="603504" y="2271924"/>
              <a:ext cx="6473152" cy="3168316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6" name="Image 0" descr="screenshot">
              <a:extLst>
                <a:ext uri="{FF2B5EF4-FFF2-40B4-BE49-F238E27FC236}">
                  <a16:creationId xmlns:a16="http://schemas.microsoft.com/office/drawing/2014/main" id="{52585BB7-85AB-701D-4AB9-517E716AD0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" y="2308500"/>
              <a:ext cx="6400000" cy="3095164"/>
            </a:xfrm>
            <a:prstGeom prst="rect">
              <a:avLst/>
            </a:prstGeom>
          </p:spPr>
        </p:pic>
        <p:sp>
          <p:nvSpPr>
            <p:cNvPr id="101" name="Box 2">
              <a:extLst>
                <a:ext uri="{FF2B5EF4-FFF2-40B4-BE49-F238E27FC236}">
                  <a16:creationId xmlns:a16="http://schemas.microsoft.com/office/drawing/2014/main" id="{6EC86761-A506-7EC3-DFEC-D262FAA67B22}"/>
                </a:ext>
              </a:extLst>
            </p:cNvPr>
            <p:cNvSpPr/>
            <p:nvPr/>
          </p:nvSpPr>
          <p:spPr>
            <a:xfrm>
              <a:off x="1405551" y="3373890"/>
              <a:ext cx="5591264" cy="931490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Box 3">
              <a:extLst>
                <a:ext uri="{FF2B5EF4-FFF2-40B4-BE49-F238E27FC236}">
                  <a16:creationId xmlns:a16="http://schemas.microsoft.com/office/drawing/2014/main" id="{C2A6931F-07D4-EE24-7FD6-99F7E617BE32}"/>
                </a:ext>
              </a:extLst>
            </p:cNvPr>
            <p:cNvSpPr/>
            <p:nvPr/>
          </p:nvSpPr>
          <p:spPr>
            <a:xfrm>
              <a:off x="1405551" y="4355302"/>
              <a:ext cx="5591264" cy="1015081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Box 4">
              <a:extLst>
                <a:ext uri="{FF2B5EF4-FFF2-40B4-BE49-F238E27FC236}">
                  <a16:creationId xmlns:a16="http://schemas.microsoft.com/office/drawing/2014/main" id="{FD98DF7D-6C55-CEC3-61A6-AADD88A0D1B7}"/>
                </a:ext>
              </a:extLst>
            </p:cNvPr>
            <p:cNvSpPr/>
            <p:nvPr/>
          </p:nvSpPr>
          <p:spPr>
            <a:xfrm>
              <a:off x="6447672" y="3416768"/>
              <a:ext cx="549142" cy="83203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1" name="Callout 2">
              <a:extLst>
                <a:ext uri="{FF2B5EF4-FFF2-40B4-BE49-F238E27FC236}">
                  <a16:creationId xmlns:a16="http://schemas.microsoft.com/office/drawing/2014/main" id="{E4B45E9D-F421-7342-59DA-05F3F8BC4ACA}"/>
                </a:ext>
              </a:extLst>
            </p:cNvPr>
            <p:cNvSpPr/>
            <p:nvPr/>
          </p:nvSpPr>
          <p:spPr>
            <a:xfrm>
              <a:off x="1252285" y="3227692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202" name="Callout 3">
              <a:extLst>
                <a:ext uri="{FF2B5EF4-FFF2-40B4-BE49-F238E27FC236}">
                  <a16:creationId xmlns:a16="http://schemas.microsoft.com/office/drawing/2014/main" id="{9EBA3645-AB41-835F-2CB3-FB49C371FC43}"/>
                </a:ext>
              </a:extLst>
            </p:cNvPr>
            <p:cNvSpPr/>
            <p:nvPr/>
          </p:nvSpPr>
          <p:spPr>
            <a:xfrm>
              <a:off x="1218918" y="4245302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2</a:t>
              </a:r>
            </a:p>
          </p:txBody>
        </p:sp>
        <p:sp>
          <p:nvSpPr>
            <p:cNvPr id="203" name="Callout 4">
              <a:extLst>
                <a:ext uri="{FF2B5EF4-FFF2-40B4-BE49-F238E27FC236}">
                  <a16:creationId xmlns:a16="http://schemas.microsoft.com/office/drawing/2014/main" id="{9042C8F4-5D4F-F0ED-5662-6F9AFEFC6C18}"/>
                </a:ext>
              </a:extLst>
            </p:cNvPr>
            <p:cNvSpPr/>
            <p:nvPr/>
          </p:nvSpPr>
          <p:spPr>
            <a:xfrm>
              <a:off x="6242444" y="3344733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3</a:t>
              </a:r>
            </a:p>
          </p:txBody>
        </p:sp>
      </p:grpSp>
      <p:sp>
        <p:nvSpPr>
          <p:cNvPr id="300" name="Panel Header">
            <a:extLst>
              <a:ext uri="{FF2B5EF4-FFF2-40B4-BE49-F238E27FC236}">
                <a16:creationId xmlns:a16="http://schemas.microsoft.com/office/drawing/2014/main" id="{7C5E272A-7D1C-5427-8FDA-EF5E659C3B04}"/>
              </a:ext>
            </a:extLst>
          </p:cNvPr>
          <p:cNvSpPr/>
          <p:nvPr/>
        </p:nvSpPr>
        <p:spPr>
          <a:xfrm>
            <a:off x="7620140" y="1255348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Description</a:t>
            </a:r>
          </a:p>
        </p:txBody>
      </p:sp>
      <p:sp>
        <p:nvSpPr>
          <p:cNvPr id="301" name="Panel Body">
            <a:extLst>
              <a:ext uri="{FF2B5EF4-FFF2-40B4-BE49-F238E27FC236}">
                <a16:creationId xmlns:a16="http://schemas.microsoft.com/office/drawing/2014/main" id="{4C2A6099-F2A6-1B3F-9CC2-9D57A2D0B252}"/>
              </a:ext>
            </a:extLst>
          </p:cNvPr>
          <p:cNvSpPr/>
          <p:nvPr/>
        </p:nvSpPr>
        <p:spPr>
          <a:xfrm>
            <a:off x="7620140" y="1775348"/>
            <a:ext cx="4211840" cy="4287124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Panel Text">
            <a:extLst>
              <a:ext uri="{FF2B5EF4-FFF2-40B4-BE49-F238E27FC236}">
                <a16:creationId xmlns:a16="http://schemas.microsoft.com/office/drawing/2014/main" id="{9D0A9E92-5322-253C-3D45-F6CB94B31054}"/>
              </a:ext>
            </a:extLst>
          </p:cNvPr>
          <p:cNvSpPr txBox="1"/>
          <p:nvPr/>
        </p:nvSpPr>
        <p:spPr>
          <a:xfrm>
            <a:off x="7820140" y="1925348"/>
            <a:ext cx="3811840" cy="2275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1  0. Overview (Overview tab): 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Contract Amount, Construction Start/End Date: PIMVINA Sync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Source: Common &gt; Construction Overview &gt; Register Construction Overview &gt; Tab Construction Period &gt; Contract Amount, Actual Start Date - Actual Final Completion / Expected Final Completion Date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Remaining fields: Manual entry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  1. Monthly Progress (Progress tab): 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Monthly Plan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(%): Manual entry 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Monthly Actual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(%) = (1(each month)/(2-3))*100%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Source: 1. Sum total column input By Month(1-12)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2. Sum column Execution Budget &gt; Amount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3. Request Execution Resolution(Site) sum column Execution Budget minus sum column Implementation 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Cumulative Plan (%), Cumulative Actual (%):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cumulative calculation by month</a:t>
            </a:r>
          </a:p>
          <a:p>
            <a:pPr marL="0" indent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3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Each card shows its source Plan version and a Lock toggle once finalized.</a:t>
            </a:r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DC53DE39-1801-6587-CC70-90C1E3C37713}"/>
              </a:ext>
            </a:extLst>
          </p:cNvPr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CD9E69F-4C3F-A9DF-5202-DAA91452903B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A5977464-AED2-3576-DA1D-529B2A382985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CC268C4F-8E7B-5199-159B-F7C0E7D96E86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C24EAC4F-1AB5-70AB-73D6-BB2B5F8A9481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02E9C8A7-A140-01CA-AF9C-F0D40BC9F015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2AA8CFCA-BF96-EDFF-EEAB-E2D0A09E5C65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0D949BC4-7467-D7E0-B235-EBD39782CF90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B4E22C93-2016-5289-281F-98A68CB03010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0E0816A1-D659-FF69-F479-3A01B626509B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C5A40F95-C9BE-D605-CF2B-B840C1FBF4B3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A685FE5-C97F-F139-9928-D00113C19BD7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8" name="Shape 24">
              <a:extLst>
                <a:ext uri="{FF2B5EF4-FFF2-40B4-BE49-F238E27FC236}">
                  <a16:creationId xmlns:a16="http://schemas.microsoft.com/office/drawing/2014/main" id="{BED265EA-08B2-0665-2AA5-BDB52639D61B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5">
              <a:extLst>
                <a:ext uri="{FF2B5EF4-FFF2-40B4-BE49-F238E27FC236}">
                  <a16:creationId xmlns:a16="http://schemas.microsoft.com/office/drawing/2014/main" id="{E2055A51-2791-E75B-15C6-0F3B57AEEF17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0FF5D209-CB74-799B-3E98-699BC87B3C09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7">
              <a:extLst>
                <a:ext uri="{FF2B5EF4-FFF2-40B4-BE49-F238E27FC236}">
                  <a16:creationId xmlns:a16="http://schemas.microsoft.com/office/drawing/2014/main" id="{1E29809E-F049-422A-B5B0-594EDDA79176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8">
              <a:extLst>
                <a:ext uri="{FF2B5EF4-FFF2-40B4-BE49-F238E27FC236}">
                  <a16:creationId xmlns:a16="http://schemas.microsoft.com/office/drawing/2014/main" id="{B1F77272-FD5A-4979-ED6D-0BEF0C2533D0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9">
              <a:extLst>
                <a:ext uri="{FF2B5EF4-FFF2-40B4-BE49-F238E27FC236}">
                  <a16:creationId xmlns:a16="http://schemas.microsoft.com/office/drawing/2014/main" id="{DD570FF0-7CC9-955A-8817-D62F5ED9885A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0">
              <a:extLst>
                <a:ext uri="{FF2B5EF4-FFF2-40B4-BE49-F238E27FC236}">
                  <a16:creationId xmlns:a16="http://schemas.microsoft.com/office/drawing/2014/main" id="{7BE4D838-E1D3-6ABD-B499-06DE80A6B650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1">
              <a:extLst>
                <a:ext uri="{FF2B5EF4-FFF2-40B4-BE49-F238E27FC236}">
                  <a16:creationId xmlns:a16="http://schemas.microsoft.com/office/drawing/2014/main" id="{7F873042-7852-3D83-B9B6-FE586BF916D4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2">
              <a:extLst>
                <a:ext uri="{FF2B5EF4-FFF2-40B4-BE49-F238E27FC236}">
                  <a16:creationId xmlns:a16="http://schemas.microsoft.com/office/drawing/2014/main" id="{FAE8F097-D117-FB7F-AB16-62CA5AD1535D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 33">
            <a:extLst>
              <a:ext uri="{FF2B5EF4-FFF2-40B4-BE49-F238E27FC236}">
                <a16:creationId xmlns:a16="http://schemas.microsoft.com/office/drawing/2014/main" id="{A828182E-8CE5-2884-C014-E609A6BC2C13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021463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Entry: Monthly Revenue &amp; Milestones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0" name="Panel Header"/>
          <p:cNvSpPr/>
          <p:nvPr/>
        </p:nvSpPr>
        <p:spPr>
          <a:xfrm>
            <a:off x="7629175" y="1888707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Description</a:t>
            </a:r>
          </a:p>
        </p:txBody>
      </p:sp>
      <p:sp>
        <p:nvSpPr>
          <p:cNvPr id="301" name="Panel Body"/>
          <p:cNvSpPr/>
          <p:nvPr/>
        </p:nvSpPr>
        <p:spPr>
          <a:xfrm>
            <a:off x="7629175" y="2408706"/>
            <a:ext cx="4211840" cy="3063977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Panel Text"/>
          <p:cNvSpPr txBox="1"/>
          <p:nvPr/>
        </p:nvSpPr>
        <p:spPr>
          <a:xfrm>
            <a:off x="7829175" y="2558706"/>
            <a:ext cx="3811840" cy="2387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2. Monthly Revenue (Revenue tab, K USD): 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Sales Plan and Actual/Forecast by Year/Month: Imported Excel Data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Add Prior-Year Cumulative adds a free row for cumulative revenue before the current year (Month = 0).</a:t>
            </a:r>
          </a:p>
          <a:p>
            <a:pPr marL="0" indent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Source for the Report tab’s Revenue Actual &amp; Forecast chart; corrections go through Excel upload, not here.</a:t>
            </a:r>
          </a:p>
          <a:p>
            <a:pPr marL="228600" indent="-228600">
              <a:lnSpc>
                <a:spcPct val="106000"/>
              </a:lnSpc>
              <a:spcAft>
                <a:spcPts val="400"/>
              </a:spcAft>
              <a:buAutoNum type="arabicPlain" startAt="3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3. Milestones (Progress tab): </a:t>
            </a:r>
          </a:p>
          <a:p>
            <a:pPr marL="171450" indent="-171450">
              <a:lnSpc>
                <a:spcPct val="106000"/>
              </a:lnSpc>
              <a:spcAft>
                <a:spcPts val="4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Plan/Actual Start/End dates per item</a:t>
            </a:r>
          </a:p>
          <a:p>
            <a:pPr marL="171450" indent="-171450">
              <a:lnSpc>
                <a:spcPct val="106000"/>
              </a:lnSpc>
              <a:spcAft>
                <a:spcPts val="4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Source: Manual Entry</a:t>
            </a:r>
          </a:p>
          <a:p>
            <a:pPr marL="171450" indent="-171450">
              <a:lnSpc>
                <a:spcPct val="106000"/>
              </a:lnSpc>
              <a:spcAft>
                <a:spcPts val="4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Excel Download/Upload for bulk edit, </a:t>
            </a:r>
          </a:p>
          <a:p>
            <a:pPr marL="171450" indent="-171450">
              <a:lnSpc>
                <a:spcPct val="106000"/>
              </a:lnSpc>
              <a:spcAft>
                <a:spcPts val="4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Add: Add milestone.</a:t>
            </a:r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24725A3-DDB6-DAC9-CAED-DCF78D592BBA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C44BCB0C-722B-2478-D19A-218DE2743E15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FED26A84-A764-6CB8-9B96-6FEB3C7AB9D6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8DEE724D-BFCB-C046-59AC-ABDC7B3937DC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8F46886D-AC3E-928C-C26E-739830CB4929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BCA5398F-7FBB-B17D-579C-2D033E9C4C6D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527B8F84-ABA7-6397-6476-18DB97AC2C36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DC88465A-9524-26A3-29D6-08E80A9B5897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889E3D6C-3CC7-18EA-D680-7A5A9BCA971A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BB21D9DD-C6B8-875D-2E9B-8DCD01933DEA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807E8FC-87AD-99DB-E428-3B4F78D13065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8" name="Shape 24">
              <a:extLst>
                <a:ext uri="{FF2B5EF4-FFF2-40B4-BE49-F238E27FC236}">
                  <a16:creationId xmlns:a16="http://schemas.microsoft.com/office/drawing/2014/main" id="{2A3E09D5-F4E8-7313-7CA1-DCE32522497B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5">
              <a:extLst>
                <a:ext uri="{FF2B5EF4-FFF2-40B4-BE49-F238E27FC236}">
                  <a16:creationId xmlns:a16="http://schemas.microsoft.com/office/drawing/2014/main" id="{2A578427-2B45-ABC5-0707-FAD261CD788E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FC447691-01BD-44BA-CBD4-0C2E54F2B5C4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7">
              <a:extLst>
                <a:ext uri="{FF2B5EF4-FFF2-40B4-BE49-F238E27FC236}">
                  <a16:creationId xmlns:a16="http://schemas.microsoft.com/office/drawing/2014/main" id="{4202364A-70BF-A3DC-C10C-531F29D4219E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8">
              <a:extLst>
                <a:ext uri="{FF2B5EF4-FFF2-40B4-BE49-F238E27FC236}">
                  <a16:creationId xmlns:a16="http://schemas.microsoft.com/office/drawing/2014/main" id="{DD0BA5BC-A2BD-CF6E-3230-44AC36235B69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9">
              <a:extLst>
                <a:ext uri="{FF2B5EF4-FFF2-40B4-BE49-F238E27FC236}">
                  <a16:creationId xmlns:a16="http://schemas.microsoft.com/office/drawing/2014/main" id="{52C5B62F-A227-FBE0-4BF2-B97C2E562DB1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0">
              <a:extLst>
                <a:ext uri="{FF2B5EF4-FFF2-40B4-BE49-F238E27FC236}">
                  <a16:creationId xmlns:a16="http://schemas.microsoft.com/office/drawing/2014/main" id="{16E5ACA4-72B0-46D5-8CAA-50F2D1F46B3D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1">
              <a:extLst>
                <a:ext uri="{FF2B5EF4-FFF2-40B4-BE49-F238E27FC236}">
                  <a16:creationId xmlns:a16="http://schemas.microsoft.com/office/drawing/2014/main" id="{F60C4C66-F0A0-4F72-070C-7B8EE58681DD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2">
              <a:extLst>
                <a:ext uri="{FF2B5EF4-FFF2-40B4-BE49-F238E27FC236}">
                  <a16:creationId xmlns:a16="http://schemas.microsoft.com/office/drawing/2014/main" id="{036ABE29-4938-1338-2D3D-D718C617A5DA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 33">
            <a:extLst>
              <a:ext uri="{FF2B5EF4-FFF2-40B4-BE49-F238E27FC236}">
                <a16:creationId xmlns:a16="http://schemas.microsoft.com/office/drawing/2014/main" id="{A6FF8318-E603-AEB5-AD70-BE106578E1F3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9AFFCF-A029-D66F-28B7-447B3FAA08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985" y="1888707"/>
            <a:ext cx="7144183" cy="3385091"/>
          </a:xfrm>
          <a:prstGeom prst="rect">
            <a:avLst/>
          </a:prstGeom>
        </p:spPr>
      </p:pic>
      <p:sp>
        <p:nvSpPr>
          <p:cNvPr id="7" name="Box 2">
            <a:extLst>
              <a:ext uri="{FF2B5EF4-FFF2-40B4-BE49-F238E27FC236}">
                <a16:creationId xmlns:a16="http://schemas.microsoft.com/office/drawing/2014/main" id="{DB2C7C92-D680-BB03-7938-0C1FED1A6871}"/>
              </a:ext>
            </a:extLst>
          </p:cNvPr>
          <p:cNvSpPr/>
          <p:nvPr/>
        </p:nvSpPr>
        <p:spPr>
          <a:xfrm>
            <a:off x="1076512" y="2222463"/>
            <a:ext cx="6418656" cy="1555908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Box 3">
            <a:extLst>
              <a:ext uri="{FF2B5EF4-FFF2-40B4-BE49-F238E27FC236}">
                <a16:creationId xmlns:a16="http://schemas.microsoft.com/office/drawing/2014/main" id="{6A8CB71E-5C3A-FE5C-D7A1-559727AD1AFC}"/>
              </a:ext>
            </a:extLst>
          </p:cNvPr>
          <p:cNvSpPr/>
          <p:nvPr/>
        </p:nvSpPr>
        <p:spPr>
          <a:xfrm>
            <a:off x="1076512" y="3802761"/>
            <a:ext cx="5954016" cy="222043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Callout 2">
            <a:extLst>
              <a:ext uri="{FF2B5EF4-FFF2-40B4-BE49-F238E27FC236}">
                <a16:creationId xmlns:a16="http://schemas.microsoft.com/office/drawing/2014/main" id="{6D851760-5C01-4C55-375F-E9150E6506A0}"/>
              </a:ext>
            </a:extLst>
          </p:cNvPr>
          <p:cNvSpPr/>
          <p:nvPr/>
        </p:nvSpPr>
        <p:spPr>
          <a:xfrm>
            <a:off x="955986" y="2054758"/>
            <a:ext cx="240481" cy="246433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28" name="Callout 3">
            <a:extLst>
              <a:ext uri="{FF2B5EF4-FFF2-40B4-BE49-F238E27FC236}">
                <a16:creationId xmlns:a16="http://schemas.microsoft.com/office/drawing/2014/main" id="{D8141370-7A6C-200D-328B-1BA437081E59}"/>
              </a:ext>
            </a:extLst>
          </p:cNvPr>
          <p:cNvSpPr/>
          <p:nvPr/>
        </p:nvSpPr>
        <p:spPr>
          <a:xfrm>
            <a:off x="868680" y="3661979"/>
            <a:ext cx="240481" cy="246433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30" name="Callout 4">
            <a:extLst>
              <a:ext uri="{FF2B5EF4-FFF2-40B4-BE49-F238E27FC236}">
                <a16:creationId xmlns:a16="http://schemas.microsoft.com/office/drawing/2014/main" id="{0FEBAABF-DB78-DD08-2100-08E812E07421}"/>
              </a:ext>
            </a:extLst>
          </p:cNvPr>
          <p:cNvSpPr/>
          <p:nvPr/>
        </p:nvSpPr>
        <p:spPr>
          <a:xfrm>
            <a:off x="868680" y="3984026"/>
            <a:ext cx="240481" cy="246433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31" name="Box 3">
            <a:extLst>
              <a:ext uri="{FF2B5EF4-FFF2-40B4-BE49-F238E27FC236}">
                <a16:creationId xmlns:a16="http://schemas.microsoft.com/office/drawing/2014/main" id="{B68BCDF4-CEFB-51D0-7363-C517A395FA61}"/>
              </a:ext>
            </a:extLst>
          </p:cNvPr>
          <p:cNvSpPr/>
          <p:nvPr/>
        </p:nvSpPr>
        <p:spPr>
          <a:xfrm>
            <a:off x="1076510" y="4080780"/>
            <a:ext cx="6418657" cy="1217408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Entry: Cost Plan/Actual by Work Type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A831A07-9E73-735B-18CF-AFFBD86109CB}"/>
              </a:ext>
            </a:extLst>
          </p:cNvPr>
          <p:cNvGrpSpPr/>
          <p:nvPr/>
        </p:nvGrpSpPr>
        <p:grpSpPr>
          <a:xfrm>
            <a:off x="320040" y="1967652"/>
            <a:ext cx="7081398" cy="3459484"/>
            <a:chOff x="603504" y="2271924"/>
            <a:chExt cx="6473152" cy="3141554"/>
          </a:xfrm>
        </p:grpSpPr>
        <p:sp>
          <p:nvSpPr>
            <p:cNvPr id="25" name="Shape 23"/>
            <p:cNvSpPr/>
            <p:nvPr/>
          </p:nvSpPr>
          <p:spPr>
            <a:xfrm>
              <a:off x="603504" y="2271924"/>
              <a:ext cx="6473152" cy="3141554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6" name="Image 0" descr="screenshot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" y="2308500"/>
              <a:ext cx="6400000" cy="3068402"/>
            </a:xfrm>
            <a:prstGeom prst="rect">
              <a:avLst/>
            </a:prstGeom>
          </p:spPr>
        </p:pic>
        <p:sp>
          <p:nvSpPr>
            <p:cNvPr id="100" name="Box 1"/>
            <p:cNvSpPr/>
            <p:nvPr/>
          </p:nvSpPr>
          <p:spPr>
            <a:xfrm>
              <a:off x="1361582" y="3940983"/>
              <a:ext cx="5641852" cy="1432587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Box 2"/>
            <p:cNvSpPr/>
            <p:nvPr/>
          </p:nvSpPr>
          <p:spPr>
            <a:xfrm>
              <a:off x="6187191" y="3974299"/>
              <a:ext cx="816242" cy="83290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0" name="Callout 1"/>
            <p:cNvSpPr/>
            <p:nvPr/>
          </p:nvSpPr>
          <p:spPr>
            <a:xfrm>
              <a:off x="1223527" y="3837589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201" name="Callout 2"/>
            <p:cNvSpPr/>
            <p:nvPr/>
          </p:nvSpPr>
          <p:spPr>
            <a:xfrm>
              <a:off x="6077191" y="3922142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2</a:t>
              </a:r>
            </a:p>
          </p:txBody>
        </p:sp>
      </p:grpSp>
      <p:sp>
        <p:nvSpPr>
          <p:cNvPr id="300" name="Panel Header"/>
          <p:cNvSpPr/>
          <p:nvPr/>
        </p:nvSpPr>
        <p:spPr>
          <a:xfrm>
            <a:off x="7620107" y="1971144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Description</a:t>
            </a:r>
          </a:p>
        </p:txBody>
      </p:sp>
      <p:sp>
        <p:nvSpPr>
          <p:cNvPr id="301" name="Panel Body"/>
          <p:cNvSpPr/>
          <p:nvPr/>
        </p:nvSpPr>
        <p:spPr>
          <a:xfrm>
            <a:off x="7620107" y="2491144"/>
            <a:ext cx="4211840" cy="2935992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Panel Text"/>
          <p:cNvSpPr txBox="1"/>
          <p:nvPr/>
        </p:nvSpPr>
        <p:spPr>
          <a:xfrm>
            <a:off x="7820107" y="2641144"/>
            <a:ext cx="3811840" cy="2248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4. Cost Plan/Actual by Work Type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: 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Monthly Plan/Actual cost per work type (Major work, Architecture, Mechanical, Electrical, Civil, Landscaping, Expense 1/2, etc.) for the selected year.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Source: derived from 7: Outsourcing/Materials (Outsourcing tab), based on the </a:t>
            </a: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Trade Group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category.</a:t>
            </a:r>
          </a:p>
          <a:p>
            <a:pPr marL="0" indent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Totals roll up into Report and Revenue/Cost cost figures; year selector (top right) switches fiscal years.</a:t>
            </a:r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786C5D9-2B57-0587-7E34-D325805939A1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925CD88F-F87F-8EAF-E427-3D257E5855B6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72E90891-8FD9-4105-6E4D-205D6D22798C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BB046CDA-F136-6D0F-F654-7BF16FD7F3C9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8270E77B-A943-DC7A-E3DE-F990A070F912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8F1E6FC7-D544-4C81-4A7A-565392BC57B9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8A53CB03-B149-47B6-C51C-4EDCD419F3AA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762EB227-D6A8-9AC7-5115-A89AB9CD6013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B04C041D-CDAB-D572-3CF5-F1A62D9AF565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B2759D5B-9301-C0EF-28D2-3D100EB8F313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1B1D9A9-4B6B-8989-F3C5-572B4B90299B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8" name="Shape 24">
              <a:extLst>
                <a:ext uri="{FF2B5EF4-FFF2-40B4-BE49-F238E27FC236}">
                  <a16:creationId xmlns:a16="http://schemas.microsoft.com/office/drawing/2014/main" id="{4698FADF-C74F-076A-33FF-31CE76EB0AF2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5">
              <a:extLst>
                <a:ext uri="{FF2B5EF4-FFF2-40B4-BE49-F238E27FC236}">
                  <a16:creationId xmlns:a16="http://schemas.microsoft.com/office/drawing/2014/main" id="{777699B2-4169-9E17-7426-13BBFA33855A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FE8B1536-E5B6-612D-055E-CC8556DEC179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7">
              <a:extLst>
                <a:ext uri="{FF2B5EF4-FFF2-40B4-BE49-F238E27FC236}">
                  <a16:creationId xmlns:a16="http://schemas.microsoft.com/office/drawing/2014/main" id="{74BD515F-43B1-EC8C-B6BB-05169F0F96A3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8">
              <a:extLst>
                <a:ext uri="{FF2B5EF4-FFF2-40B4-BE49-F238E27FC236}">
                  <a16:creationId xmlns:a16="http://schemas.microsoft.com/office/drawing/2014/main" id="{B83AB58F-97E1-B232-A0AB-142EAD53C7D0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9">
              <a:extLst>
                <a:ext uri="{FF2B5EF4-FFF2-40B4-BE49-F238E27FC236}">
                  <a16:creationId xmlns:a16="http://schemas.microsoft.com/office/drawing/2014/main" id="{8FDCF80D-1536-B4BE-2B34-F9064DCF045C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0">
              <a:extLst>
                <a:ext uri="{FF2B5EF4-FFF2-40B4-BE49-F238E27FC236}">
                  <a16:creationId xmlns:a16="http://schemas.microsoft.com/office/drawing/2014/main" id="{E373662A-4F95-BE55-04A4-7C0EA4F484FE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1">
              <a:extLst>
                <a:ext uri="{FF2B5EF4-FFF2-40B4-BE49-F238E27FC236}">
                  <a16:creationId xmlns:a16="http://schemas.microsoft.com/office/drawing/2014/main" id="{5C2E454B-E270-57E2-8039-113D1EE8E41F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2">
              <a:extLst>
                <a:ext uri="{FF2B5EF4-FFF2-40B4-BE49-F238E27FC236}">
                  <a16:creationId xmlns:a16="http://schemas.microsoft.com/office/drawing/2014/main" id="{D95CAE05-A953-0919-C781-9BFC5C2EBDE0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 33">
            <a:extLst>
              <a:ext uri="{FF2B5EF4-FFF2-40B4-BE49-F238E27FC236}">
                <a16:creationId xmlns:a16="http://schemas.microsoft.com/office/drawing/2014/main" id="{7BFAB2A4-6344-0C78-5ECC-6BB20CE43A58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Entry: Cost Rate &amp; Budget Execution Status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43DEB28-8C09-51E9-5EC2-7239FB5C8641}"/>
              </a:ext>
            </a:extLst>
          </p:cNvPr>
          <p:cNvGrpSpPr/>
          <p:nvPr/>
        </p:nvGrpSpPr>
        <p:grpSpPr>
          <a:xfrm>
            <a:off x="320040" y="1932948"/>
            <a:ext cx="7087578" cy="3497064"/>
            <a:chOff x="603504" y="2271924"/>
            <a:chExt cx="6473152" cy="3143557"/>
          </a:xfrm>
        </p:grpSpPr>
        <p:sp>
          <p:nvSpPr>
            <p:cNvPr id="25" name="Shape 23"/>
            <p:cNvSpPr/>
            <p:nvPr/>
          </p:nvSpPr>
          <p:spPr>
            <a:xfrm>
              <a:off x="603504" y="2271924"/>
              <a:ext cx="6473152" cy="3143557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6" name="Image 0" descr="screenshot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" y="2308500"/>
              <a:ext cx="6400000" cy="3070405"/>
            </a:xfrm>
            <a:prstGeom prst="rect">
              <a:avLst/>
            </a:prstGeom>
          </p:spPr>
        </p:pic>
        <p:sp>
          <p:nvSpPr>
            <p:cNvPr id="100" name="Box 1"/>
            <p:cNvSpPr/>
            <p:nvPr/>
          </p:nvSpPr>
          <p:spPr>
            <a:xfrm>
              <a:off x="1404358" y="2358344"/>
              <a:ext cx="5582555" cy="714434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Box 3"/>
            <p:cNvSpPr/>
            <p:nvPr/>
          </p:nvSpPr>
          <p:spPr>
            <a:xfrm>
              <a:off x="1404358" y="3121281"/>
              <a:ext cx="5582555" cy="2257624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0" name="Callout 1"/>
            <p:cNvSpPr/>
            <p:nvPr/>
          </p:nvSpPr>
          <p:spPr>
            <a:xfrm>
              <a:off x="1207128" y="2277965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201" name="Callout 2"/>
            <p:cNvSpPr/>
            <p:nvPr/>
          </p:nvSpPr>
          <p:spPr>
            <a:xfrm>
              <a:off x="1241190" y="3103313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2</a:t>
              </a:r>
            </a:p>
          </p:txBody>
        </p:sp>
      </p:grpSp>
      <p:sp>
        <p:nvSpPr>
          <p:cNvPr id="300" name="Panel Header"/>
          <p:cNvSpPr/>
          <p:nvPr/>
        </p:nvSpPr>
        <p:spPr>
          <a:xfrm>
            <a:off x="7595807" y="1212844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Description</a:t>
            </a:r>
          </a:p>
        </p:txBody>
      </p:sp>
      <p:sp>
        <p:nvSpPr>
          <p:cNvPr id="301" name="Panel Body"/>
          <p:cNvSpPr/>
          <p:nvPr/>
        </p:nvSpPr>
        <p:spPr>
          <a:xfrm>
            <a:off x="7595807" y="1732844"/>
            <a:ext cx="4211840" cy="4616198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Panel Text"/>
          <p:cNvSpPr txBox="1"/>
          <p:nvPr/>
        </p:nvSpPr>
        <p:spPr>
          <a:xfrm>
            <a:off x="7795807" y="1882844"/>
            <a:ext cx="3811840" cy="2250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5. Cost Rate (Cost tab): 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Bidding: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Manual Entry 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Execution Budget Setup, Estimated Completion Cost Rate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: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Source:  Cost &gt; Settlement ratio cost &gt;  Settlement Cost Ratio &gt; Row in column month &gt; Business Budget, Contract Amount, Gross Profit Ratio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Ratio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 (%) = Cost ÷ Contract Amount. </a:t>
            </a:r>
          </a:p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 startAt="2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6. Budget Execution Status (Cost tab): </a:t>
            </a:r>
            <a:endParaRPr lang="en-US" sz="1100" b="1" dirty="0">
              <a:solidFill>
                <a:srgbClr val="262626"/>
              </a:solidFill>
              <a:latin typeface="Calibri" pitchFamily="34" charset="0"/>
            </a:endParaRP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Execution Plan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: 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Budget: PIMSVINA - Cost &gt; Cost Performance &gt; Cost Input Status by Execution Details &gt; Budget 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Monthly: Manual Entry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Execution Actual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: 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Budget: PIMSVINA - Cost &gt; Cost Performance &gt; Cost Input Status by Execution Details &gt; Budget 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Monthly: PIMSVINA - Cost &gt; Cost Performance &gt; Cost Input Status by Execution Details 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-Row Direct Cost &gt; Common Work, Expense I, </a:t>
            </a:r>
            <a:r>
              <a:rPr lang="en-US" sz="1100" dirty="0" err="1">
                <a:solidFill>
                  <a:srgbClr val="262626"/>
                </a:solidFill>
                <a:latin typeface="Calibri" pitchFamily="34" charset="0"/>
              </a:rPr>
              <a:t>Outsoucre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 (data not in Common Work, Expense I)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- Row Indirect Cost &gt; Expense II- Row Contingency &gt; Contingency</a:t>
            </a:r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112FDB2-0B05-DFC6-BDE9-44F8B3EA9034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0A101812-8C94-68B2-34BD-40887FCAF2C8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2A881A9A-7C46-C4CE-3A80-75503D087F3D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590387FA-C896-77B8-1456-BE953231DB20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98B6A395-096B-5351-1015-3032A6AE7E03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6966339D-8C74-60FF-4FB8-D2A0FFC9E7D9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53E2DF68-E72D-E8D3-1706-7E8DBF8B2FDF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651011EF-9D21-2C8A-06A1-FA5C1959FC6E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0550EAE4-7F6A-348A-2171-D1D55ED25255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DE105A71-2C32-11D3-AFE2-6B77A60D4BAB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B19C7E6-4E30-B5E7-D9EB-17A99A694B6D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8" name="Shape 24">
              <a:extLst>
                <a:ext uri="{FF2B5EF4-FFF2-40B4-BE49-F238E27FC236}">
                  <a16:creationId xmlns:a16="http://schemas.microsoft.com/office/drawing/2014/main" id="{CD3D2829-1B2A-D6CA-8B8F-5A8AB3FA78C0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5">
              <a:extLst>
                <a:ext uri="{FF2B5EF4-FFF2-40B4-BE49-F238E27FC236}">
                  <a16:creationId xmlns:a16="http://schemas.microsoft.com/office/drawing/2014/main" id="{B9498A2E-07ED-2634-AF33-BA1D1E508F34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633F052A-F2A1-64FE-4FFE-A4E81D706088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7">
              <a:extLst>
                <a:ext uri="{FF2B5EF4-FFF2-40B4-BE49-F238E27FC236}">
                  <a16:creationId xmlns:a16="http://schemas.microsoft.com/office/drawing/2014/main" id="{C449B3A9-ECBA-78DE-7CD7-14BFFC3C789E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8">
              <a:extLst>
                <a:ext uri="{FF2B5EF4-FFF2-40B4-BE49-F238E27FC236}">
                  <a16:creationId xmlns:a16="http://schemas.microsoft.com/office/drawing/2014/main" id="{32E761B8-402E-034F-1B97-160F7442D047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9">
              <a:extLst>
                <a:ext uri="{FF2B5EF4-FFF2-40B4-BE49-F238E27FC236}">
                  <a16:creationId xmlns:a16="http://schemas.microsoft.com/office/drawing/2014/main" id="{2EFE27BB-4211-2975-7448-F3DD7DECE864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0">
              <a:extLst>
                <a:ext uri="{FF2B5EF4-FFF2-40B4-BE49-F238E27FC236}">
                  <a16:creationId xmlns:a16="http://schemas.microsoft.com/office/drawing/2014/main" id="{CE1C644E-E1B0-87DF-F378-F2412AE1DA5F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1">
              <a:extLst>
                <a:ext uri="{FF2B5EF4-FFF2-40B4-BE49-F238E27FC236}">
                  <a16:creationId xmlns:a16="http://schemas.microsoft.com/office/drawing/2014/main" id="{3AEC60CD-83B7-574B-38D9-18B1294D1D47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2">
              <a:extLst>
                <a:ext uri="{FF2B5EF4-FFF2-40B4-BE49-F238E27FC236}">
                  <a16:creationId xmlns:a16="http://schemas.microsoft.com/office/drawing/2014/main" id="{0215A133-91F6-13C1-D178-ABAAD2BAB059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 33">
            <a:extLst>
              <a:ext uri="{FF2B5EF4-FFF2-40B4-BE49-F238E27FC236}">
                <a16:creationId xmlns:a16="http://schemas.microsoft.com/office/drawing/2014/main" id="{10BA1662-A28E-1D29-6FD2-DC956A8E7739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Entry: Monthly Plan/Actual &amp; Outsourcing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6976AA7-25B6-A933-08AA-3A0C4CA9EA31}"/>
              </a:ext>
            </a:extLst>
          </p:cNvPr>
          <p:cNvGrpSpPr/>
          <p:nvPr/>
        </p:nvGrpSpPr>
        <p:grpSpPr>
          <a:xfrm>
            <a:off x="320040" y="1726301"/>
            <a:ext cx="7075767" cy="3710919"/>
            <a:chOff x="603504" y="2265412"/>
            <a:chExt cx="6473152" cy="3176331"/>
          </a:xfrm>
        </p:grpSpPr>
        <p:sp>
          <p:nvSpPr>
            <p:cNvPr id="25" name="Shape 23"/>
            <p:cNvSpPr/>
            <p:nvPr/>
          </p:nvSpPr>
          <p:spPr>
            <a:xfrm>
              <a:off x="603504" y="2271924"/>
              <a:ext cx="6473152" cy="3169819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6" name="Image 0" descr="screenshot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" y="2308500"/>
              <a:ext cx="6400000" cy="3096667"/>
            </a:xfrm>
            <a:prstGeom prst="rect">
              <a:avLst/>
            </a:prstGeom>
          </p:spPr>
        </p:pic>
        <p:sp>
          <p:nvSpPr>
            <p:cNvPr id="100" name="Box 1"/>
            <p:cNvSpPr/>
            <p:nvPr/>
          </p:nvSpPr>
          <p:spPr>
            <a:xfrm>
              <a:off x="1406747" y="2308500"/>
              <a:ext cx="5600000" cy="2300000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Box 2"/>
            <p:cNvSpPr/>
            <p:nvPr/>
          </p:nvSpPr>
          <p:spPr>
            <a:xfrm>
              <a:off x="1388459" y="4719499"/>
              <a:ext cx="5600000" cy="685668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Box 3"/>
            <p:cNvSpPr/>
            <p:nvPr/>
          </p:nvSpPr>
          <p:spPr>
            <a:xfrm>
              <a:off x="5929315" y="4758500"/>
              <a:ext cx="1050000" cy="83333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0" name="Callout 1"/>
            <p:cNvSpPr/>
            <p:nvPr/>
          </p:nvSpPr>
          <p:spPr>
            <a:xfrm>
              <a:off x="1260171" y="2265412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201" name="Callout 2"/>
            <p:cNvSpPr/>
            <p:nvPr/>
          </p:nvSpPr>
          <p:spPr>
            <a:xfrm>
              <a:off x="1223460" y="4580166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2</a:t>
              </a:r>
            </a:p>
          </p:txBody>
        </p:sp>
        <p:sp>
          <p:nvSpPr>
            <p:cNvPr id="202" name="Callout 3"/>
            <p:cNvSpPr/>
            <p:nvPr/>
          </p:nvSpPr>
          <p:spPr>
            <a:xfrm>
              <a:off x="5735782" y="4690165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3</a:t>
              </a:r>
            </a:p>
          </p:txBody>
        </p:sp>
      </p:grpSp>
      <p:sp>
        <p:nvSpPr>
          <p:cNvPr id="300" name="Panel Header"/>
          <p:cNvSpPr/>
          <p:nvPr/>
        </p:nvSpPr>
        <p:spPr>
          <a:xfrm>
            <a:off x="7595807" y="1240411"/>
            <a:ext cx="4211840" cy="433498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Description</a:t>
            </a:r>
          </a:p>
        </p:txBody>
      </p:sp>
      <p:sp>
        <p:nvSpPr>
          <p:cNvPr id="301" name="Panel Body"/>
          <p:cNvSpPr/>
          <p:nvPr/>
        </p:nvSpPr>
        <p:spPr>
          <a:xfrm>
            <a:off x="7595807" y="1733909"/>
            <a:ext cx="4211840" cy="4355995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Panel Text"/>
          <p:cNvSpPr txBox="1"/>
          <p:nvPr/>
        </p:nvSpPr>
        <p:spPr>
          <a:xfrm>
            <a:off x="7795807" y="1883909"/>
            <a:ext cx="3811840" cy="2276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Monthly Plan/Actual (year): </a:t>
            </a:r>
            <a:endParaRPr lang="en-US" sz="1100" dirty="0">
              <a:solidFill>
                <a:srgbClr val="262626"/>
              </a:solidFill>
              <a:latin typeface="Calibri" pitchFamily="34" charset="0"/>
            </a:endParaRP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lang="en-US" sz="1100" b="1" dirty="0">
                <a:solidFill>
                  <a:srgbClr val="262626"/>
                </a:solidFill>
                <a:latin typeface="Calibri" pitchFamily="34" charset="0"/>
              </a:rPr>
              <a:t>-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Data sourced from 6: Budget Execution Status (Cost tab), based on the filter.</a:t>
            </a:r>
          </a:p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 startAt="2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7. Outsourcing/Materials (Outsourcing tab):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Budget (A), Executed Budget, Resolved Amount (B):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Sub-Contracting &gt; Request Execution Resolution (Site) &gt; Request Execution Resolution(Site) &gt; Execution Budget, Operational Budget, Implementation Amount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This Month's Progress Payment, Cumulative Progress Payment (C)):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Sub-Contracting &gt; Implementation Progress Payment(Site) &gt; Interim Payment Status 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Tab This Month column </a:t>
            </a:r>
            <a:r>
              <a:rPr lang="ko-KR" altLang="en-US" sz="1100" dirty="0">
                <a:solidFill>
                  <a:srgbClr val="262626"/>
                </a:solidFill>
                <a:latin typeface="Calibri" pitchFamily="34" charset="0"/>
              </a:rPr>
              <a:t>당월기성금액 </a:t>
            </a:r>
            <a:r>
              <a:rPr lang="en-US" altLang="ko-KR" sz="1100" dirty="0">
                <a:solidFill>
                  <a:srgbClr val="262626"/>
                </a:solidFill>
                <a:latin typeface="Calibri" pitchFamily="34" charset="0"/>
              </a:rPr>
              <a:t>(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B)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Tab All column Progress Payment &gt; Amount (B)</a:t>
            </a:r>
          </a:p>
          <a:p>
            <a:pPr marL="0" indent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3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Select Month/Year (top right) before entering progress payments, then Save. </a:t>
            </a:r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6ADEC63-3B33-C202-35E5-CF009863D965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D618B777-DD37-2546-5357-063B6DA7AE58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EC5DABD3-3CB5-F629-D661-2A73E3433F2A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2E8C0AF7-5B3D-3DA4-141A-2675AF7AB219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FB4965A3-D1E9-7BFF-D856-5FBF78B81948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FEF0EC2F-EDD9-5F57-1BF9-DA96ED0353D5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1A055A8B-AD4C-359B-1B5F-D1B046A04A0C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A5B3DD2E-11D8-3DF7-C4DF-6C1CD954F12E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3AD0CFCE-9B62-8426-2A3D-4225B22D1EDF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9FA4ADB1-0BBB-2FD5-03DF-848EE2AA8C69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5ADB287D-D8A7-1A03-6700-F1525F7FC832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8" name="Shape 24">
              <a:extLst>
                <a:ext uri="{FF2B5EF4-FFF2-40B4-BE49-F238E27FC236}">
                  <a16:creationId xmlns:a16="http://schemas.microsoft.com/office/drawing/2014/main" id="{92659585-EE1D-394B-47F8-B857935842FE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5">
              <a:extLst>
                <a:ext uri="{FF2B5EF4-FFF2-40B4-BE49-F238E27FC236}">
                  <a16:creationId xmlns:a16="http://schemas.microsoft.com/office/drawing/2014/main" id="{A832F171-56E5-E692-2E5E-85D37C40AFFC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0387ADAE-12B7-DEC7-2D36-961002B7FC28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7">
              <a:extLst>
                <a:ext uri="{FF2B5EF4-FFF2-40B4-BE49-F238E27FC236}">
                  <a16:creationId xmlns:a16="http://schemas.microsoft.com/office/drawing/2014/main" id="{F61A24AF-4FC4-D605-939E-6B5202A69171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8">
              <a:extLst>
                <a:ext uri="{FF2B5EF4-FFF2-40B4-BE49-F238E27FC236}">
                  <a16:creationId xmlns:a16="http://schemas.microsoft.com/office/drawing/2014/main" id="{C5F813A5-C219-EB37-BE3F-6838FC7F9D96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9">
              <a:extLst>
                <a:ext uri="{FF2B5EF4-FFF2-40B4-BE49-F238E27FC236}">
                  <a16:creationId xmlns:a16="http://schemas.microsoft.com/office/drawing/2014/main" id="{B4BC94FA-D340-BB33-4079-8C25F7E60BE5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0">
              <a:extLst>
                <a:ext uri="{FF2B5EF4-FFF2-40B4-BE49-F238E27FC236}">
                  <a16:creationId xmlns:a16="http://schemas.microsoft.com/office/drawing/2014/main" id="{90D58DAF-72A0-F303-08AF-1128B7AB8C1A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1">
              <a:extLst>
                <a:ext uri="{FF2B5EF4-FFF2-40B4-BE49-F238E27FC236}">
                  <a16:creationId xmlns:a16="http://schemas.microsoft.com/office/drawing/2014/main" id="{E93BCDC3-B824-D4EE-8DD4-1CC7AF859C57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2">
              <a:extLst>
                <a:ext uri="{FF2B5EF4-FFF2-40B4-BE49-F238E27FC236}">
                  <a16:creationId xmlns:a16="http://schemas.microsoft.com/office/drawing/2014/main" id="{C77106B6-22ED-1C40-D697-9AC6E4289452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 33">
            <a:extLst>
              <a:ext uri="{FF2B5EF4-FFF2-40B4-BE49-F238E27FC236}">
                <a16:creationId xmlns:a16="http://schemas.microsoft.com/office/drawing/2014/main" id="{42261342-B3C7-68AD-55D0-DA7090F55971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Entry: Outsourcing, Cash Flow &amp; Site Photos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717059D-1E14-14D7-AB59-36880B83AE50}"/>
              </a:ext>
            </a:extLst>
          </p:cNvPr>
          <p:cNvGrpSpPr/>
          <p:nvPr/>
        </p:nvGrpSpPr>
        <p:grpSpPr>
          <a:xfrm>
            <a:off x="320040" y="1874072"/>
            <a:ext cx="7069423" cy="3529944"/>
            <a:chOff x="603504" y="2271924"/>
            <a:chExt cx="6473152" cy="3153027"/>
          </a:xfrm>
        </p:grpSpPr>
        <p:sp>
          <p:nvSpPr>
            <p:cNvPr id="25" name="Shape 23"/>
            <p:cNvSpPr/>
            <p:nvPr/>
          </p:nvSpPr>
          <p:spPr>
            <a:xfrm>
              <a:off x="603504" y="2271924"/>
              <a:ext cx="6473152" cy="3153027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6" name="Image 0" descr="screenshot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" y="2308500"/>
              <a:ext cx="6400000" cy="3079875"/>
            </a:xfrm>
            <a:prstGeom prst="rect">
              <a:avLst/>
            </a:prstGeom>
          </p:spPr>
        </p:pic>
        <p:sp>
          <p:nvSpPr>
            <p:cNvPr id="101" name="Box 2"/>
            <p:cNvSpPr/>
            <p:nvPr/>
          </p:nvSpPr>
          <p:spPr>
            <a:xfrm>
              <a:off x="1407546" y="3433516"/>
              <a:ext cx="5605839" cy="1310855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Box 3"/>
            <p:cNvSpPr/>
            <p:nvPr/>
          </p:nvSpPr>
          <p:spPr>
            <a:xfrm>
              <a:off x="1407546" y="4961263"/>
              <a:ext cx="5605839" cy="350365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0" name="Callout 1"/>
            <p:cNvSpPr/>
            <p:nvPr/>
          </p:nvSpPr>
          <p:spPr>
            <a:xfrm>
              <a:off x="1242418" y="3319116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201" name="Callout 2"/>
            <p:cNvSpPr/>
            <p:nvPr/>
          </p:nvSpPr>
          <p:spPr>
            <a:xfrm>
              <a:off x="1249598" y="4769734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2</a:t>
              </a:r>
            </a:p>
          </p:txBody>
        </p:sp>
      </p:grpSp>
      <p:sp>
        <p:nvSpPr>
          <p:cNvPr id="300" name="Panel Header"/>
          <p:cNvSpPr/>
          <p:nvPr/>
        </p:nvSpPr>
        <p:spPr>
          <a:xfrm>
            <a:off x="7589463" y="1874072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Description</a:t>
            </a:r>
          </a:p>
        </p:txBody>
      </p:sp>
      <p:sp>
        <p:nvSpPr>
          <p:cNvPr id="301" name="Panel Body"/>
          <p:cNvSpPr/>
          <p:nvPr/>
        </p:nvSpPr>
        <p:spPr>
          <a:xfrm>
            <a:off x="7589463" y="2394072"/>
            <a:ext cx="4211840" cy="3009944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Panel Text"/>
          <p:cNvSpPr txBox="1"/>
          <p:nvPr/>
        </p:nvSpPr>
        <p:spPr>
          <a:xfrm>
            <a:off x="7789463" y="2544072"/>
            <a:ext cx="3811840" cy="2259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8. Monthly Cash Flow (Cash Flow tab):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Cash In/Out: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PIMVINA Sync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Cash Flow &gt; Report &gt; Cash Flow Report &gt; Income &gt; month (1-12)Outcome &gt; month (1-12)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Cash Balance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= Cash In – Cash Out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Confirmed Progress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: Manual Entry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endParaRPr lang="en-US" sz="1100" dirty="0">
              <a:solidFill>
                <a:srgbClr val="262626"/>
              </a:solidFill>
              <a:latin typeface="Calibri" pitchFamily="34" charset="0"/>
            </a:endParaRPr>
          </a:p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 startAt="2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Site Photos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: 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Select Photos to upload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Slideshow interval (seconds) auto-rotates, 0 disables. </a:t>
            </a:r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ABFDEFB-20BC-5E3B-BED7-BEBA38F57434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61405A18-9F58-791B-41A6-789DD8669BA5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C83A0E8E-E843-7E56-30CD-AC9618A7A4EA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5B45F25B-C8D9-D162-379B-59A270EBCC41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F66DC221-0C5C-F0DC-DB49-13E7FFACD032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6B3B8263-22BD-E9CD-C612-92D6B2CDB348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B79A7FB2-6C40-9EF3-8AB7-BDFC1BFBF6F6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787F8AA8-39C1-9DE0-3B84-C206216CB51A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5C1BC321-D246-1744-C242-F52B10573892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1666BCAD-B478-F68D-3CC0-488CE7D155F7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FF4471A-D77F-4D22-DC34-CED7932A7A54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8" name="Shape 24">
              <a:extLst>
                <a:ext uri="{FF2B5EF4-FFF2-40B4-BE49-F238E27FC236}">
                  <a16:creationId xmlns:a16="http://schemas.microsoft.com/office/drawing/2014/main" id="{7F0AEB06-0228-76A7-B8F9-D27DA3B601F5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5">
              <a:extLst>
                <a:ext uri="{FF2B5EF4-FFF2-40B4-BE49-F238E27FC236}">
                  <a16:creationId xmlns:a16="http://schemas.microsoft.com/office/drawing/2014/main" id="{CC2020FB-4FE0-4803-59DD-3D8132816123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7913EA25-4FA0-38A8-0176-BCE358B8566F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7">
              <a:extLst>
                <a:ext uri="{FF2B5EF4-FFF2-40B4-BE49-F238E27FC236}">
                  <a16:creationId xmlns:a16="http://schemas.microsoft.com/office/drawing/2014/main" id="{3B378F35-C108-8181-C14B-EDEA6EBEFF10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8">
              <a:extLst>
                <a:ext uri="{FF2B5EF4-FFF2-40B4-BE49-F238E27FC236}">
                  <a16:creationId xmlns:a16="http://schemas.microsoft.com/office/drawing/2014/main" id="{8463C881-F230-A098-6EA9-31A733642A67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9">
              <a:extLst>
                <a:ext uri="{FF2B5EF4-FFF2-40B4-BE49-F238E27FC236}">
                  <a16:creationId xmlns:a16="http://schemas.microsoft.com/office/drawing/2014/main" id="{94A1277F-2B8D-EC4B-02DE-AB9D5E6EF1B9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0">
              <a:extLst>
                <a:ext uri="{FF2B5EF4-FFF2-40B4-BE49-F238E27FC236}">
                  <a16:creationId xmlns:a16="http://schemas.microsoft.com/office/drawing/2014/main" id="{408C94DD-F3E9-6AF1-AF80-0EEE08EBF2DE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1">
              <a:extLst>
                <a:ext uri="{FF2B5EF4-FFF2-40B4-BE49-F238E27FC236}">
                  <a16:creationId xmlns:a16="http://schemas.microsoft.com/office/drawing/2014/main" id="{9B46D535-08B4-F56E-3C67-CC2DC4F54180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2">
              <a:extLst>
                <a:ext uri="{FF2B5EF4-FFF2-40B4-BE49-F238E27FC236}">
                  <a16:creationId xmlns:a16="http://schemas.microsoft.com/office/drawing/2014/main" id="{E88C1271-5A39-A5F3-B31C-43A08815E376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 33">
            <a:extLst>
              <a:ext uri="{FF2B5EF4-FFF2-40B4-BE49-F238E27FC236}">
                <a16:creationId xmlns:a16="http://schemas.microsoft.com/office/drawing/2014/main" id="{64F34831-46D6-D5DB-A6BD-A868F7496DB3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457200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30936" y="457200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13232" y="457200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" y="539496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30936" y="539496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13232" y="539496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" y="621792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30936" y="621792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13232" y="621792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14400" y="2743200"/>
            <a:ext cx="1417320" cy="1417320"/>
          </a:xfrm>
          <a:prstGeom prst="rect">
            <a:avLst/>
          </a:prstGeom>
          <a:solidFill>
            <a:srgbClr val="1F3A6E"/>
          </a:solidFill>
          <a:ln/>
          <a:effectLst>
            <a:outerShdw blurRad="762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14400" y="27432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5400" dirty="0"/>
          </a:p>
        </p:txBody>
      </p:sp>
      <p:sp>
        <p:nvSpPr>
          <p:cNvPr id="24" name="Text 22"/>
          <p:cNvSpPr/>
          <p:nvPr/>
        </p:nvSpPr>
        <p:spPr>
          <a:xfrm>
            <a:off x="914400" y="43434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Manager – Project Dashboard – Service</a:t>
            </a:r>
            <a:endParaRPr lang="en-US" sz="3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0" name="Panel Header"/>
          <p:cNvSpPr/>
          <p:nvPr/>
        </p:nvSpPr>
        <p:spPr>
          <a:xfrm>
            <a:off x="7559307" y="1798091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Description</a:t>
            </a:r>
          </a:p>
        </p:txBody>
      </p:sp>
      <p:sp>
        <p:nvSpPr>
          <p:cNvPr id="301" name="Panel Body"/>
          <p:cNvSpPr/>
          <p:nvPr/>
        </p:nvSpPr>
        <p:spPr>
          <a:xfrm>
            <a:off x="7559307" y="2318091"/>
            <a:ext cx="4211840" cy="3149283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Panel Text"/>
          <p:cNvSpPr txBox="1"/>
          <p:nvPr/>
        </p:nvSpPr>
        <p:spPr>
          <a:xfrm>
            <a:off x="7693818" y="2438035"/>
            <a:ext cx="3949008" cy="302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/>
            </a:pP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Select a service site from the left tree</a:t>
            </a:r>
            <a:br>
              <a:rPr lang="en-US" sz="1100" b="1" dirty="0">
                <a:solidFill>
                  <a:srgbClr val="262626"/>
                </a:solidFill>
                <a:latin typeface="Calibri" pitchFamily="34" charset="0"/>
              </a:rPr>
            </a:br>
            <a:r>
              <a:rPr lang="en-US" sz="1100" b="1" dirty="0">
                <a:solidFill>
                  <a:srgbClr val="262626"/>
                </a:solidFill>
                <a:latin typeface="Calibri" pitchFamily="34" charset="0"/>
              </a:rPr>
              <a:t> -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header shows Client, Scope of work : Input from tab </a:t>
            </a:r>
            <a:r>
              <a:rPr lang="en-US" sz="1100" dirty="0" err="1">
                <a:solidFill>
                  <a:srgbClr val="262626"/>
                </a:solidFill>
                <a:latin typeface="Calibri" pitchFamily="34" charset="0"/>
              </a:rPr>
              <a:t>DataEntry</a:t>
            </a:r>
            <a:br>
              <a:rPr lang="en-US" sz="1100" dirty="0">
                <a:solidFill>
                  <a:srgbClr val="262626"/>
                </a:solidFill>
                <a:latin typeface="Calibri" pitchFamily="34" charset="0"/>
              </a:rPr>
            </a:b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 - Project period, Contract Amount : Sync from </a:t>
            </a:r>
            <a:r>
              <a:rPr lang="en-US" sz="1100" b="1" dirty="0" err="1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Pimsvina</a:t>
            </a: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 Sync</a:t>
            </a:r>
          </a:p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/>
            </a:pP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Report mirrors Construction’s layout minus Progress: 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       -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Overview: Data Entry → 0. Overview</a:t>
            </a:r>
            <a:endParaRPr lang="en-US" sz="1100" b="1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       - Revenue Actual &amp; Forecast: </a:t>
            </a:r>
            <a:r>
              <a:rPr lang="en-US" sz="1100" dirty="0"/>
              <a:t>Data Entry → 2. Monthly Revenue  (Revenue tab)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 (Revenue/Cost/Funds)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        - Cost (Cumulative Execution): </a:t>
            </a:r>
            <a:r>
              <a:rPr lang="en-US" sz="1100" dirty="0"/>
              <a:t>Data Entry → 4. Budget Execution Status (Budget Execution tab)</a:t>
            </a:r>
            <a:br>
              <a:rPr lang="en-US" sz="1100" dirty="0">
                <a:solidFill>
                  <a:srgbClr val="262626"/>
                </a:solidFill>
                <a:latin typeface="Calibri" pitchFamily="34" charset="0"/>
              </a:rPr>
            </a:b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        - Cashflow: </a:t>
            </a:r>
            <a:r>
              <a:rPr lang="en-US" sz="1100" dirty="0"/>
              <a:t>Data Entry → 6. Monthly Cash Flow (Cash Flow tab)</a:t>
            </a:r>
            <a:r>
              <a:rPr lang="en-US" sz="1100" dirty="0">
                <a:latin typeface="Calibri" pitchFamily="34" charset="0"/>
              </a:rPr>
              <a:t>    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        - Key Issues &amp; Action Plan: Manual Input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3  </a:t>
            </a:r>
            <a:r>
              <a:rPr lang="en-US" sz="1100" b="1" dirty="0">
                <a:solidFill>
                  <a:srgbClr val="262626"/>
                </a:solidFill>
                <a:latin typeface="Calibri" pitchFamily="34" charset="0"/>
              </a:rPr>
              <a:t>    </a:t>
            </a: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Export Report: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         -  Base Month selector and Comment box (by month) work as on a Construction site.</a:t>
            </a:r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909EECF-972C-4175-E12B-9380A55B8E12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2EAA91A6-0690-1C22-11F8-DF472FF06896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BF172554-2FCA-CEE1-5D8F-4B2F7DBB790F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75E007B1-9DC8-CD21-E73D-E533075CFEC3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4A9470F9-64A8-0E3C-C06A-A2A98A5439C9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90BF4040-0F87-470B-76F7-9596136803EE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F4B4F831-5415-ADB7-3961-90433B3845EA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A5C572B7-DEE3-1F02-6C29-DD369986389F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2A569C0D-90AE-CB09-5B1E-3CEAE5C6F443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FC4C2C89-8CEB-BDAE-6AFD-C0862CCB8894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67192B3-2AC9-EA51-1742-932E048F834C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8" name="Shape 24">
              <a:extLst>
                <a:ext uri="{FF2B5EF4-FFF2-40B4-BE49-F238E27FC236}">
                  <a16:creationId xmlns:a16="http://schemas.microsoft.com/office/drawing/2014/main" id="{F74C44FF-1CF4-2586-AA15-7B32BAB3E722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5">
              <a:extLst>
                <a:ext uri="{FF2B5EF4-FFF2-40B4-BE49-F238E27FC236}">
                  <a16:creationId xmlns:a16="http://schemas.microsoft.com/office/drawing/2014/main" id="{4E3A46A1-FA21-8086-8032-680A99FC0F58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E1660170-4483-BCAF-17C6-55B1A8701A3C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7">
              <a:extLst>
                <a:ext uri="{FF2B5EF4-FFF2-40B4-BE49-F238E27FC236}">
                  <a16:creationId xmlns:a16="http://schemas.microsoft.com/office/drawing/2014/main" id="{03568FFB-7CCC-2285-33E5-16EFCDD843C6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8">
              <a:extLst>
                <a:ext uri="{FF2B5EF4-FFF2-40B4-BE49-F238E27FC236}">
                  <a16:creationId xmlns:a16="http://schemas.microsoft.com/office/drawing/2014/main" id="{80BA7B24-3B63-F020-7966-ABB65A82D260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9">
              <a:extLst>
                <a:ext uri="{FF2B5EF4-FFF2-40B4-BE49-F238E27FC236}">
                  <a16:creationId xmlns:a16="http://schemas.microsoft.com/office/drawing/2014/main" id="{EFCF2429-AA5F-BA45-2463-4997AEF0459F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0">
              <a:extLst>
                <a:ext uri="{FF2B5EF4-FFF2-40B4-BE49-F238E27FC236}">
                  <a16:creationId xmlns:a16="http://schemas.microsoft.com/office/drawing/2014/main" id="{276EB2DE-FEC9-2882-AFB5-2CA914E50197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1">
              <a:extLst>
                <a:ext uri="{FF2B5EF4-FFF2-40B4-BE49-F238E27FC236}">
                  <a16:creationId xmlns:a16="http://schemas.microsoft.com/office/drawing/2014/main" id="{FA9502BA-B795-2896-2A5A-A1A5D5D33F94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2">
              <a:extLst>
                <a:ext uri="{FF2B5EF4-FFF2-40B4-BE49-F238E27FC236}">
                  <a16:creationId xmlns:a16="http://schemas.microsoft.com/office/drawing/2014/main" id="{F376C14C-0EC1-EF58-307E-1B486AC127B9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 33">
            <a:extLst>
              <a:ext uri="{FF2B5EF4-FFF2-40B4-BE49-F238E27FC236}">
                <a16:creationId xmlns:a16="http://schemas.microsoft.com/office/drawing/2014/main" id="{B40C74B9-C84E-BD37-D4D3-CC9457E57CFB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E903398-CEB7-45F2-D3A3-36A704868F4B}"/>
              </a:ext>
            </a:extLst>
          </p:cNvPr>
          <p:cNvGrpSpPr/>
          <p:nvPr/>
        </p:nvGrpSpPr>
        <p:grpSpPr>
          <a:xfrm>
            <a:off x="320039" y="1851589"/>
            <a:ext cx="6985635" cy="3615785"/>
            <a:chOff x="603504" y="2271924"/>
            <a:chExt cx="6473152" cy="3148735"/>
          </a:xfrm>
        </p:grpSpPr>
        <p:sp>
          <p:nvSpPr>
            <p:cNvPr id="25" name="Shape 23"/>
            <p:cNvSpPr/>
            <p:nvPr/>
          </p:nvSpPr>
          <p:spPr>
            <a:xfrm>
              <a:off x="603504" y="2271924"/>
              <a:ext cx="6473152" cy="3148735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6" name="Image 0" descr="screenshot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" y="2308500"/>
              <a:ext cx="6400000" cy="3075583"/>
            </a:xfrm>
            <a:prstGeom prst="rect">
              <a:avLst/>
            </a:prstGeom>
          </p:spPr>
        </p:pic>
        <p:sp>
          <p:nvSpPr>
            <p:cNvPr id="100" name="Box 1"/>
            <p:cNvSpPr/>
            <p:nvPr/>
          </p:nvSpPr>
          <p:spPr>
            <a:xfrm>
              <a:off x="1403170" y="2540745"/>
              <a:ext cx="5573872" cy="331778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Box 2"/>
            <p:cNvSpPr/>
            <p:nvPr/>
          </p:nvSpPr>
          <p:spPr>
            <a:xfrm>
              <a:off x="1403170" y="3287245"/>
              <a:ext cx="5573872" cy="1824780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Box 3"/>
            <p:cNvSpPr/>
            <p:nvPr/>
          </p:nvSpPr>
          <p:spPr>
            <a:xfrm>
              <a:off x="1403170" y="3104767"/>
              <a:ext cx="5573872" cy="116122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1" name="Callout 2"/>
            <p:cNvSpPr/>
            <p:nvPr/>
          </p:nvSpPr>
          <p:spPr>
            <a:xfrm>
              <a:off x="1211130" y="3295025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2</a:t>
              </a:r>
            </a:p>
          </p:txBody>
        </p:sp>
        <p:sp>
          <p:nvSpPr>
            <p:cNvPr id="202" name="Callout 3"/>
            <p:cNvSpPr/>
            <p:nvPr/>
          </p:nvSpPr>
          <p:spPr>
            <a:xfrm>
              <a:off x="1238170" y="2988643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3</a:t>
              </a:r>
            </a:p>
          </p:txBody>
        </p:sp>
        <p:sp>
          <p:nvSpPr>
            <p:cNvPr id="3" name="Callout 2">
              <a:extLst>
                <a:ext uri="{FF2B5EF4-FFF2-40B4-BE49-F238E27FC236}">
                  <a16:creationId xmlns:a16="http://schemas.microsoft.com/office/drawing/2014/main" id="{E6B50000-7F5B-01D6-E26C-0BC064E1F5F0}"/>
                </a:ext>
              </a:extLst>
            </p:cNvPr>
            <p:cNvSpPr/>
            <p:nvPr/>
          </p:nvSpPr>
          <p:spPr>
            <a:xfrm>
              <a:off x="1183170" y="2499853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1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Revenue/Cost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87B988E-6974-5479-97BD-BB99AB61D5A9}"/>
              </a:ext>
            </a:extLst>
          </p:cNvPr>
          <p:cNvGrpSpPr/>
          <p:nvPr/>
        </p:nvGrpSpPr>
        <p:grpSpPr>
          <a:xfrm>
            <a:off x="320039" y="1895311"/>
            <a:ext cx="7038623" cy="3493346"/>
            <a:chOff x="603504" y="2271924"/>
            <a:chExt cx="6473152" cy="3121722"/>
          </a:xfrm>
        </p:grpSpPr>
        <p:sp>
          <p:nvSpPr>
            <p:cNvPr id="25" name="Shape 23"/>
            <p:cNvSpPr/>
            <p:nvPr/>
          </p:nvSpPr>
          <p:spPr>
            <a:xfrm>
              <a:off x="603504" y="2271924"/>
              <a:ext cx="6473152" cy="3121722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6" name="Image 0" descr="screenshot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" y="2308500"/>
              <a:ext cx="6400000" cy="3048570"/>
            </a:xfrm>
            <a:prstGeom prst="rect">
              <a:avLst/>
            </a:prstGeom>
          </p:spPr>
        </p:pic>
        <p:sp>
          <p:nvSpPr>
            <p:cNvPr id="100" name="Box 1"/>
            <p:cNvSpPr/>
            <p:nvPr/>
          </p:nvSpPr>
          <p:spPr>
            <a:xfrm>
              <a:off x="1405551" y="3123893"/>
              <a:ext cx="5591264" cy="965159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Box 2"/>
            <p:cNvSpPr/>
            <p:nvPr/>
          </p:nvSpPr>
          <p:spPr>
            <a:xfrm>
              <a:off x="1405551" y="4188895"/>
              <a:ext cx="5591264" cy="881955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Box 3"/>
            <p:cNvSpPr/>
            <p:nvPr/>
          </p:nvSpPr>
          <p:spPr>
            <a:xfrm>
              <a:off x="1405551" y="5120772"/>
              <a:ext cx="5591264" cy="232969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0" name="Callout 1"/>
            <p:cNvSpPr/>
            <p:nvPr/>
          </p:nvSpPr>
          <p:spPr>
            <a:xfrm>
              <a:off x="1295551" y="3013893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201" name="Callout 2"/>
            <p:cNvSpPr/>
            <p:nvPr/>
          </p:nvSpPr>
          <p:spPr>
            <a:xfrm>
              <a:off x="1295551" y="4078895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2</a:t>
              </a:r>
            </a:p>
          </p:txBody>
        </p:sp>
        <p:sp>
          <p:nvSpPr>
            <p:cNvPr id="202" name="Callout 3"/>
            <p:cNvSpPr/>
            <p:nvPr/>
          </p:nvSpPr>
          <p:spPr>
            <a:xfrm>
              <a:off x="1295551" y="5010772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3</a:t>
              </a:r>
            </a:p>
          </p:txBody>
        </p:sp>
      </p:grpSp>
      <p:sp>
        <p:nvSpPr>
          <p:cNvPr id="300" name="Panel Header"/>
          <p:cNvSpPr/>
          <p:nvPr/>
        </p:nvSpPr>
        <p:spPr>
          <a:xfrm>
            <a:off x="7558663" y="1895311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Description</a:t>
            </a:r>
          </a:p>
        </p:txBody>
      </p:sp>
      <p:sp>
        <p:nvSpPr>
          <p:cNvPr id="301" name="Panel Body"/>
          <p:cNvSpPr/>
          <p:nvPr/>
        </p:nvSpPr>
        <p:spPr>
          <a:xfrm>
            <a:off x="7558663" y="2415311"/>
            <a:ext cx="4211840" cy="2973346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DA487B5-33B4-7BF6-615C-140222F8D7D8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E8F5756B-AEE2-4BDA-303B-6650A9221C9D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29B2C534-D028-D0C0-1BBE-0C2262979204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14A1149D-12FB-8CD0-615C-BC50988CDE33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1189AA0A-8ADB-F986-170B-13C7DB9820C6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32608577-81F4-0342-C51E-5E076F3D78C7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9DCFC875-2E16-B84B-388F-B29030383A20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3BA5C331-1790-EBA1-AAB6-AEA51F6D5344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3DDA007B-3F8B-5689-6C5E-91BA35ABFFE3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E7BDC9B0-BB0E-8AA2-D379-CDDBDD1DFC76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4655B75-A565-1F8B-8860-9A83F0B638A1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8" name="Shape 24">
              <a:extLst>
                <a:ext uri="{FF2B5EF4-FFF2-40B4-BE49-F238E27FC236}">
                  <a16:creationId xmlns:a16="http://schemas.microsoft.com/office/drawing/2014/main" id="{B2EE9F0D-64CA-C009-C38C-EB5EA9F1F19F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5">
              <a:extLst>
                <a:ext uri="{FF2B5EF4-FFF2-40B4-BE49-F238E27FC236}">
                  <a16:creationId xmlns:a16="http://schemas.microsoft.com/office/drawing/2014/main" id="{BF1039D5-6C7A-8C8A-C404-6DE6BD42DAF2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205F04F7-2479-5714-62C3-FDAF54DBE44B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7">
              <a:extLst>
                <a:ext uri="{FF2B5EF4-FFF2-40B4-BE49-F238E27FC236}">
                  <a16:creationId xmlns:a16="http://schemas.microsoft.com/office/drawing/2014/main" id="{FDFEA037-73F8-1C51-1D9F-CDA15167D5CA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8">
              <a:extLst>
                <a:ext uri="{FF2B5EF4-FFF2-40B4-BE49-F238E27FC236}">
                  <a16:creationId xmlns:a16="http://schemas.microsoft.com/office/drawing/2014/main" id="{E5FD0F9C-077D-71E4-5433-A0F176BD1273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9">
              <a:extLst>
                <a:ext uri="{FF2B5EF4-FFF2-40B4-BE49-F238E27FC236}">
                  <a16:creationId xmlns:a16="http://schemas.microsoft.com/office/drawing/2014/main" id="{D64F9FEF-D207-F5E8-175F-D6D7BBD131C4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0">
              <a:extLst>
                <a:ext uri="{FF2B5EF4-FFF2-40B4-BE49-F238E27FC236}">
                  <a16:creationId xmlns:a16="http://schemas.microsoft.com/office/drawing/2014/main" id="{CB1A9DF8-8B1D-98FD-5418-ED8B7BA3F4F7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1">
              <a:extLst>
                <a:ext uri="{FF2B5EF4-FFF2-40B4-BE49-F238E27FC236}">
                  <a16:creationId xmlns:a16="http://schemas.microsoft.com/office/drawing/2014/main" id="{A0922215-9B71-9ABF-D961-AA73D4C46E7E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2">
              <a:extLst>
                <a:ext uri="{FF2B5EF4-FFF2-40B4-BE49-F238E27FC236}">
                  <a16:creationId xmlns:a16="http://schemas.microsoft.com/office/drawing/2014/main" id="{3C60D778-E901-D024-A91F-F838869EA757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 33">
            <a:extLst>
              <a:ext uri="{FF2B5EF4-FFF2-40B4-BE49-F238E27FC236}">
                <a16:creationId xmlns:a16="http://schemas.microsoft.com/office/drawing/2014/main" id="{B8D48468-86C7-BDC3-8CA0-15D5829A6ABA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  <p:sp>
        <p:nvSpPr>
          <p:cNvPr id="4" name="Panel Text">
            <a:extLst>
              <a:ext uri="{FF2B5EF4-FFF2-40B4-BE49-F238E27FC236}">
                <a16:creationId xmlns:a16="http://schemas.microsoft.com/office/drawing/2014/main" id="{9CBF8D62-47F4-D207-2CB4-55A6B68B227B}"/>
              </a:ext>
            </a:extLst>
          </p:cNvPr>
          <p:cNvSpPr txBox="1"/>
          <p:nvPr/>
        </p:nvSpPr>
        <p:spPr>
          <a:xfrm>
            <a:off x="7758663" y="2529602"/>
            <a:ext cx="3811840" cy="2238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Revenue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 (K USD): </a:t>
            </a:r>
          </a:p>
          <a:p>
            <a:pPr marL="171450" indent="-171450">
              <a:lnSpc>
                <a:spcPct val="100000"/>
              </a:lnSpc>
              <a:spcAft>
                <a:spcPts val="500"/>
              </a:spcAft>
              <a:buFontTx/>
              <a:buChar char="-"/>
            </a:pPr>
            <a:r>
              <a:rPr lang="en-US" sz="1100" dirty="0"/>
              <a:t>Shows monthly Plan vs. Actual for the selected year. Dashed bars indicate forecast months not yet closed.</a:t>
            </a:r>
          </a:p>
          <a:p>
            <a:pPr marL="171450" indent="-171450">
              <a:lnSpc>
                <a:spcPct val="100000"/>
              </a:lnSpc>
              <a:spcAft>
                <a:spcPts val="500"/>
              </a:spcAft>
              <a:buFontTx/>
              <a:buChar char="-"/>
            </a:pPr>
            <a:r>
              <a:rPr lang="en-US" sz="1100" dirty="0"/>
              <a:t>Source: Data Entry → 2. Monthly Revenue → Plan, Actual, Forecast</a:t>
            </a:r>
            <a:endParaRPr lang="en-US" sz="1100" b="1" dirty="0">
              <a:solidFill>
                <a:srgbClr val="262626"/>
              </a:solidFill>
              <a:latin typeface="Calibri" pitchFamily="34" charset="0"/>
            </a:endParaRPr>
          </a:p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 startAt="2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Cumulative Cost Ratio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 (%) </a:t>
            </a:r>
          </a:p>
          <a:p>
            <a:pPr marL="171450" indent="-171450">
              <a:lnSpc>
                <a:spcPct val="100000"/>
              </a:lnSpc>
              <a:spcAft>
                <a:spcPts val="500"/>
              </a:spcAft>
              <a:buFontTx/>
              <a:buChar char="-"/>
            </a:pPr>
            <a:r>
              <a:rPr lang="en-US" sz="1100" dirty="0"/>
              <a:t>Shows the cost-to-revenue trend across the year, with the latest value highlighted</a:t>
            </a:r>
          </a:p>
          <a:p>
            <a:pPr marL="171450" indent="-171450"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Source: </a:t>
            </a:r>
            <a:r>
              <a:rPr lang="en-US" sz="1100" dirty="0"/>
              <a:t>Data Entry → 1. Contract Amount &amp; Cost→ Estimated Completion Cost Rate → Ratio</a:t>
            </a:r>
            <a:endParaRPr lang="en-US" sz="1100" dirty="0">
              <a:solidFill>
                <a:srgbClr val="262626"/>
              </a:solidFill>
              <a:latin typeface="Calibri" pitchFamily="34" charset="0"/>
            </a:endParaRPr>
          </a:p>
          <a:p>
            <a:pPr marL="0" indent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3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Input comment.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0" name="Panel Header"/>
          <p:cNvSpPr/>
          <p:nvPr/>
        </p:nvSpPr>
        <p:spPr>
          <a:xfrm>
            <a:off x="7571880" y="1735614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Description</a:t>
            </a:r>
          </a:p>
        </p:txBody>
      </p:sp>
      <p:sp>
        <p:nvSpPr>
          <p:cNvPr id="301" name="Panel Body"/>
          <p:cNvSpPr/>
          <p:nvPr/>
        </p:nvSpPr>
        <p:spPr>
          <a:xfrm>
            <a:off x="7571880" y="2255614"/>
            <a:ext cx="4211840" cy="3145740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003DD6E-738C-7BFF-C13F-F12A34A429C7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AFA5FD88-6C7F-1DF0-FF1B-94DDBDD8FDD5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24B50AC0-36F3-CEE3-0F57-C52FC63E93F2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0C0E2620-A204-5AAB-92CA-610168AE9086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FE38E1D9-EF16-BBC2-909A-59752917B136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BA9542B9-C5F0-2601-F142-D359996F69F7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EE2C5FA1-E594-7A92-7756-D05DF41F1EF0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77562147-E6F5-83EC-A400-C4BBB4152202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6B57B693-D8CB-2D9F-E9CA-0F361F9C266D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79F73E1D-F86D-51C2-75EB-98A755F1FA12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4A99216-F3D2-FC55-9767-032DA581470B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8" name="Shape 24">
              <a:extLst>
                <a:ext uri="{FF2B5EF4-FFF2-40B4-BE49-F238E27FC236}">
                  <a16:creationId xmlns:a16="http://schemas.microsoft.com/office/drawing/2014/main" id="{2AAA7F7F-A193-84FE-9441-EBC296A2EC34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5">
              <a:extLst>
                <a:ext uri="{FF2B5EF4-FFF2-40B4-BE49-F238E27FC236}">
                  <a16:creationId xmlns:a16="http://schemas.microsoft.com/office/drawing/2014/main" id="{8FCFFC79-C464-BC7B-1C6D-258E93622C90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72FE652E-0285-3D8B-4C98-1DF556B5B3F3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7">
              <a:extLst>
                <a:ext uri="{FF2B5EF4-FFF2-40B4-BE49-F238E27FC236}">
                  <a16:creationId xmlns:a16="http://schemas.microsoft.com/office/drawing/2014/main" id="{6BE5E5C0-1DE7-7CC3-0384-A461AAFE5125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8">
              <a:extLst>
                <a:ext uri="{FF2B5EF4-FFF2-40B4-BE49-F238E27FC236}">
                  <a16:creationId xmlns:a16="http://schemas.microsoft.com/office/drawing/2014/main" id="{EF03490E-EB2E-4C80-5D40-ADB120F15350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9">
              <a:extLst>
                <a:ext uri="{FF2B5EF4-FFF2-40B4-BE49-F238E27FC236}">
                  <a16:creationId xmlns:a16="http://schemas.microsoft.com/office/drawing/2014/main" id="{0EC2FEDF-C28E-C24D-7999-665BDEBD39ED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0">
              <a:extLst>
                <a:ext uri="{FF2B5EF4-FFF2-40B4-BE49-F238E27FC236}">
                  <a16:creationId xmlns:a16="http://schemas.microsoft.com/office/drawing/2014/main" id="{723BE255-0467-72AB-EE82-3F24E7130F83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1">
              <a:extLst>
                <a:ext uri="{FF2B5EF4-FFF2-40B4-BE49-F238E27FC236}">
                  <a16:creationId xmlns:a16="http://schemas.microsoft.com/office/drawing/2014/main" id="{73D4F77C-2CA6-B71B-3E9F-3E9EF3DBA628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2">
              <a:extLst>
                <a:ext uri="{FF2B5EF4-FFF2-40B4-BE49-F238E27FC236}">
                  <a16:creationId xmlns:a16="http://schemas.microsoft.com/office/drawing/2014/main" id="{0D27796A-25AA-4275-9EB4-D2FB94E80EB3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 33">
            <a:extLst>
              <a:ext uri="{FF2B5EF4-FFF2-40B4-BE49-F238E27FC236}">
                <a16:creationId xmlns:a16="http://schemas.microsoft.com/office/drawing/2014/main" id="{C8FB1691-21E6-DCE9-A8BD-1D97663BC3CD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  <p:sp>
        <p:nvSpPr>
          <p:cNvPr id="3" name="Panel Text">
            <a:extLst>
              <a:ext uri="{FF2B5EF4-FFF2-40B4-BE49-F238E27FC236}">
                <a16:creationId xmlns:a16="http://schemas.microsoft.com/office/drawing/2014/main" id="{D40B505C-A579-BF5E-41F0-FC334ED849F6}"/>
              </a:ext>
            </a:extLst>
          </p:cNvPr>
          <p:cNvSpPr txBox="1"/>
          <p:nvPr/>
        </p:nvSpPr>
        <p:spPr>
          <a:xfrm>
            <a:off x="7778559" y="2371805"/>
            <a:ext cx="3798481" cy="3002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6000"/>
              </a:lnSpc>
              <a:spcAft>
                <a:spcPts val="500"/>
              </a:spcAft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Outsourcing &amp; Materials</a:t>
            </a:r>
          </a:p>
          <a:p>
            <a:pPr>
              <a:spcAft>
                <a:spcPts val="500"/>
              </a:spcAft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1 </a:t>
            </a:r>
            <a:r>
              <a:rPr lang="en-US" sz="1100" dirty="0"/>
              <a:t>Lists each subcontract/material order with Trade (Category/Detailed Trade), Vendor Name, Initial Contract Date and Change Contract Round. </a:t>
            </a:r>
          </a:p>
          <a:p>
            <a:pPr>
              <a:spcAft>
                <a:spcPts val="500"/>
              </a:spcAft>
            </a:pPr>
            <a:r>
              <a:rPr lang="en-US" sz="1100" dirty="0"/>
              <a:t>Source: Data Entry → 5. Outsourcing/Materials</a:t>
            </a:r>
          </a:p>
          <a:p>
            <a:pPr marL="228600" indent="-228600">
              <a:spcAft>
                <a:spcPts val="500"/>
              </a:spcAft>
              <a:buAutoNum type="arabicPlain" startAt="2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Budget (A), Executed Budget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, </a:t>
            </a: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Resolved Amount (B): </a:t>
            </a:r>
          </a:p>
          <a:p>
            <a:pPr marL="171450" indent="-171450"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1F3A6E"/>
                </a:solidFill>
                <a:latin typeface="Calibri" pitchFamily="34" charset="0"/>
              </a:rPr>
              <a:t>Source</a:t>
            </a: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: </a:t>
            </a:r>
            <a:r>
              <a:rPr lang="en-US" sz="1100" dirty="0"/>
              <a:t>Data Entry → 5. Outsourcing/Materials </a:t>
            </a:r>
          </a:p>
          <a:p>
            <a:pPr marL="171450" indent="-171450"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Resolved Rate = B/A, over 100% flagged red.</a:t>
            </a:r>
          </a:p>
          <a:p>
            <a:pPr marL="228600" indent="-228600">
              <a:lnSpc>
                <a:spcPct val="106000"/>
              </a:lnSpc>
              <a:spcAft>
                <a:spcPts val="400"/>
              </a:spcAft>
              <a:buAutoNum type="arabicPlain" startAt="3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Progress Billing Status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: </a:t>
            </a:r>
          </a:p>
          <a:p>
            <a:pPr marL="171450" indent="-171450">
              <a:lnSpc>
                <a:spcPct val="106000"/>
              </a:lnSpc>
              <a:spcAft>
                <a:spcPts val="4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This Month, Cumulative (C): </a:t>
            </a:r>
            <a:r>
              <a:rPr lang="en-US" sz="1100" dirty="0"/>
              <a:t>Data Entry → 5. Outsourcing/ Materials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 </a:t>
            </a:r>
          </a:p>
          <a:p>
            <a:pPr marL="171450" indent="-171450">
              <a:lnSpc>
                <a:spcPct val="106000"/>
              </a:lnSpc>
              <a:spcAft>
                <a:spcPts val="4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Ratio = C/B, Remaining Billing = B−C per vendor</a:t>
            </a:r>
          </a:p>
          <a:p>
            <a:pPr marL="171450" indent="-171450">
              <a:lnSpc>
                <a:spcPct val="106000"/>
              </a:lnSpc>
              <a:spcAft>
                <a:spcPts val="4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Base month selectable top right.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6731502-88A7-F38E-C5F0-95E66E257348}"/>
              </a:ext>
            </a:extLst>
          </p:cNvPr>
          <p:cNvGrpSpPr/>
          <p:nvPr/>
        </p:nvGrpSpPr>
        <p:grpSpPr>
          <a:xfrm>
            <a:off x="320039" y="1719072"/>
            <a:ext cx="7033273" cy="3682282"/>
            <a:chOff x="603504" y="2271924"/>
            <a:chExt cx="6473152" cy="3135464"/>
          </a:xfrm>
        </p:grpSpPr>
        <p:sp>
          <p:nvSpPr>
            <p:cNvPr id="25" name="Shape 23"/>
            <p:cNvSpPr/>
            <p:nvPr/>
          </p:nvSpPr>
          <p:spPr>
            <a:xfrm>
              <a:off x="603504" y="2271924"/>
              <a:ext cx="6473152" cy="3135464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6" name="Image 0" descr="screenshot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" y="2308500"/>
              <a:ext cx="6400000" cy="3062312"/>
            </a:xfrm>
            <a:prstGeom prst="rect">
              <a:avLst/>
            </a:prstGeom>
          </p:spPr>
        </p:pic>
        <p:sp>
          <p:nvSpPr>
            <p:cNvPr id="100" name="Box 1"/>
            <p:cNvSpPr/>
            <p:nvPr/>
          </p:nvSpPr>
          <p:spPr>
            <a:xfrm>
              <a:off x="1403171" y="3241462"/>
              <a:ext cx="1990668" cy="846034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Box 2"/>
            <p:cNvSpPr/>
            <p:nvPr/>
          </p:nvSpPr>
          <p:spPr>
            <a:xfrm>
              <a:off x="3425357" y="3259620"/>
              <a:ext cx="1791602" cy="846034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0" name="Callout 1"/>
            <p:cNvSpPr/>
            <p:nvPr/>
          </p:nvSpPr>
          <p:spPr>
            <a:xfrm>
              <a:off x="1319198" y="3195439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201" name="Callout 2"/>
            <p:cNvSpPr/>
            <p:nvPr/>
          </p:nvSpPr>
          <p:spPr>
            <a:xfrm>
              <a:off x="3367310" y="3139219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2</a:t>
              </a:r>
            </a:p>
          </p:txBody>
        </p:sp>
        <p:sp>
          <p:nvSpPr>
            <p:cNvPr id="4" name="Box 2">
              <a:extLst>
                <a:ext uri="{FF2B5EF4-FFF2-40B4-BE49-F238E27FC236}">
                  <a16:creationId xmlns:a16="http://schemas.microsoft.com/office/drawing/2014/main" id="{3596D4B5-E91A-6D75-B03F-C7EE083BA7FB}"/>
                </a:ext>
              </a:extLst>
            </p:cNvPr>
            <p:cNvSpPr/>
            <p:nvPr/>
          </p:nvSpPr>
          <p:spPr>
            <a:xfrm>
              <a:off x="5216959" y="3238721"/>
              <a:ext cx="1791602" cy="846034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Callout 2">
              <a:extLst>
                <a:ext uri="{FF2B5EF4-FFF2-40B4-BE49-F238E27FC236}">
                  <a16:creationId xmlns:a16="http://schemas.microsoft.com/office/drawing/2014/main" id="{11F61B5B-F48E-C043-CF7D-F54E15AE7F8B}"/>
                </a:ext>
              </a:extLst>
            </p:cNvPr>
            <p:cNvSpPr/>
            <p:nvPr/>
          </p:nvSpPr>
          <p:spPr>
            <a:xfrm>
              <a:off x="5180383" y="3149620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4139550-6D14-D6FF-2754-8FA815DC2425}"/>
              </a:ext>
            </a:extLst>
          </p:cNvPr>
          <p:cNvGrpSpPr/>
          <p:nvPr/>
        </p:nvGrpSpPr>
        <p:grpSpPr>
          <a:xfrm>
            <a:off x="325682" y="1823134"/>
            <a:ext cx="7075767" cy="3530678"/>
            <a:chOff x="283464" y="2051734"/>
            <a:chExt cx="6473152" cy="3143152"/>
          </a:xfrm>
        </p:grpSpPr>
        <p:sp>
          <p:nvSpPr>
            <p:cNvPr id="25" name="Shape 23"/>
            <p:cNvSpPr/>
            <p:nvPr/>
          </p:nvSpPr>
          <p:spPr>
            <a:xfrm>
              <a:off x="283464" y="2051734"/>
              <a:ext cx="6473152" cy="3143152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6" name="Image 0" descr="screenshot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0040" y="2088310"/>
              <a:ext cx="6400000" cy="3070000"/>
            </a:xfrm>
            <a:prstGeom prst="rect">
              <a:avLst/>
            </a:prstGeom>
          </p:spPr>
        </p:pic>
        <p:sp>
          <p:nvSpPr>
            <p:cNvPr id="100" name="Box 1"/>
            <p:cNvSpPr/>
            <p:nvPr/>
          </p:nvSpPr>
          <p:spPr>
            <a:xfrm>
              <a:off x="1019557" y="2865161"/>
              <a:ext cx="5667151" cy="1806482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Box 2"/>
            <p:cNvSpPr/>
            <p:nvPr/>
          </p:nvSpPr>
          <p:spPr>
            <a:xfrm>
              <a:off x="6103373" y="2921643"/>
              <a:ext cx="266667" cy="66667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0" name="Callout 1"/>
            <p:cNvSpPr/>
            <p:nvPr/>
          </p:nvSpPr>
          <p:spPr>
            <a:xfrm>
              <a:off x="891269" y="2768311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201" name="Callout 2"/>
            <p:cNvSpPr/>
            <p:nvPr/>
          </p:nvSpPr>
          <p:spPr>
            <a:xfrm>
              <a:off x="5883373" y="2878311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2</a:t>
              </a:r>
            </a:p>
          </p:txBody>
        </p:sp>
      </p:grpSp>
      <p:sp>
        <p:nvSpPr>
          <p:cNvPr id="300" name="Panel Header"/>
          <p:cNvSpPr/>
          <p:nvPr/>
        </p:nvSpPr>
        <p:spPr>
          <a:xfrm>
            <a:off x="7573404" y="1812213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Description</a:t>
            </a:r>
          </a:p>
        </p:txBody>
      </p:sp>
      <p:sp>
        <p:nvSpPr>
          <p:cNvPr id="301" name="Panel Body"/>
          <p:cNvSpPr/>
          <p:nvPr/>
        </p:nvSpPr>
        <p:spPr>
          <a:xfrm>
            <a:off x="7573404" y="2332213"/>
            <a:ext cx="4211840" cy="2980514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7269079-6D1A-88F3-6168-BFAEAA975392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0F5C99BF-58F1-2D82-D831-CE236D2242F3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5A094094-6FB5-9B16-643D-19AF4F1A896B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183ADC5E-228D-D3B1-7D14-2EFA68C02D5A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51AB6847-B0B5-5435-CD46-95A0DEFCB194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9ED895C7-8900-B2B8-8B60-DA4CDF925442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54DAF5E9-CE06-3B38-FAE0-46423411779F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AB01F3D6-D687-F36F-CE70-284DC2F8CA52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1BDCF704-0CBC-AB73-C70F-9F755054EC46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413C8F8B-C52A-D54B-FCEE-90F032F94E5C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A5DDD33-71AC-A5CA-891E-09D0A1E411BD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8" name="Shape 24">
              <a:extLst>
                <a:ext uri="{FF2B5EF4-FFF2-40B4-BE49-F238E27FC236}">
                  <a16:creationId xmlns:a16="http://schemas.microsoft.com/office/drawing/2014/main" id="{564F541A-A844-E9FB-759F-6ABC890B81EC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5">
              <a:extLst>
                <a:ext uri="{FF2B5EF4-FFF2-40B4-BE49-F238E27FC236}">
                  <a16:creationId xmlns:a16="http://schemas.microsoft.com/office/drawing/2014/main" id="{1D722998-5BF9-03D1-7EE6-A797BFBC8966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2A634879-49CD-64E3-4F5C-C9803B385673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7">
              <a:extLst>
                <a:ext uri="{FF2B5EF4-FFF2-40B4-BE49-F238E27FC236}">
                  <a16:creationId xmlns:a16="http://schemas.microsoft.com/office/drawing/2014/main" id="{ABDCF998-43EB-4CE1-9620-C961B98047DA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8">
              <a:extLst>
                <a:ext uri="{FF2B5EF4-FFF2-40B4-BE49-F238E27FC236}">
                  <a16:creationId xmlns:a16="http://schemas.microsoft.com/office/drawing/2014/main" id="{6631856E-F5B7-45F1-EE52-546B6C34E5EE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9">
              <a:extLst>
                <a:ext uri="{FF2B5EF4-FFF2-40B4-BE49-F238E27FC236}">
                  <a16:creationId xmlns:a16="http://schemas.microsoft.com/office/drawing/2014/main" id="{CED0C597-7B21-749B-077F-904E502C6B76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0">
              <a:extLst>
                <a:ext uri="{FF2B5EF4-FFF2-40B4-BE49-F238E27FC236}">
                  <a16:creationId xmlns:a16="http://schemas.microsoft.com/office/drawing/2014/main" id="{E31AA782-80BD-4107-A642-E397C2085EEF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1">
              <a:extLst>
                <a:ext uri="{FF2B5EF4-FFF2-40B4-BE49-F238E27FC236}">
                  <a16:creationId xmlns:a16="http://schemas.microsoft.com/office/drawing/2014/main" id="{1FE1D3E8-E6EA-C616-D00C-93B0B8EF40D6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2">
              <a:extLst>
                <a:ext uri="{FF2B5EF4-FFF2-40B4-BE49-F238E27FC236}">
                  <a16:creationId xmlns:a16="http://schemas.microsoft.com/office/drawing/2014/main" id="{FE68B649-F5AC-CC44-D46D-2E3810CAF86E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 33">
            <a:extLst>
              <a:ext uri="{FF2B5EF4-FFF2-40B4-BE49-F238E27FC236}">
                <a16:creationId xmlns:a16="http://schemas.microsoft.com/office/drawing/2014/main" id="{BF9DF04F-2BB3-9EBB-2862-85C3CBD22B11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  <p:sp>
        <p:nvSpPr>
          <p:cNvPr id="3" name="Panel Text">
            <a:extLst>
              <a:ext uri="{FF2B5EF4-FFF2-40B4-BE49-F238E27FC236}">
                <a16:creationId xmlns:a16="http://schemas.microsoft.com/office/drawing/2014/main" id="{E1A4E0CC-B60B-6D5A-FDBB-D00147787132}"/>
              </a:ext>
            </a:extLst>
          </p:cNvPr>
          <p:cNvSpPr txBox="1"/>
          <p:nvPr/>
        </p:nvSpPr>
        <p:spPr>
          <a:xfrm>
            <a:off x="7773404" y="2535546"/>
            <a:ext cx="3811840" cy="2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/>
            </a:pPr>
            <a:r>
              <a:rPr lang="en-US" sz="1100" b="1" dirty="0">
                <a:solidFill>
                  <a:srgbClr val="262626"/>
                </a:solidFill>
                <a:latin typeface="Calibri" pitchFamily="34" charset="0"/>
              </a:rPr>
              <a:t>Cash Flow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: </a:t>
            </a:r>
          </a:p>
          <a:p>
            <a:pPr marL="171450" indent="-171450">
              <a:lnSpc>
                <a:spcPct val="100000"/>
              </a:lnSpc>
              <a:spcAft>
                <a:spcPts val="500"/>
              </a:spcAft>
              <a:buFontTx/>
              <a:buChar char="-"/>
            </a:pPr>
            <a:r>
              <a:rPr lang="en-US" sz="1100" dirty="0"/>
              <a:t>Shows actual cash-in/out as bars and the running Balance as a line across the full period. A dashed Reference Month marker separates actuals from outlook.</a:t>
            </a:r>
          </a:p>
          <a:p>
            <a:pPr marL="171450" indent="-171450">
              <a:lnSpc>
                <a:spcPct val="100000"/>
              </a:lnSpc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Source: </a:t>
            </a:r>
            <a:r>
              <a:rPr lang="en-US" sz="1100" dirty="0"/>
              <a:t>Data Entry → 6. Monthly Cash Flow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.</a:t>
            </a:r>
          </a:p>
          <a:p>
            <a:pPr marL="0" indent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Year selector (top right) focuses on one year; hover for exact monthly figures.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457200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30936" y="457200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13232" y="457200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" y="539496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30936" y="539496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13232" y="539496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" y="621792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30936" y="621792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13232" y="621792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14400" y="2743200"/>
            <a:ext cx="1417320" cy="1417320"/>
          </a:xfrm>
          <a:prstGeom prst="rect">
            <a:avLst/>
          </a:prstGeom>
          <a:solidFill>
            <a:srgbClr val="1F3A6E"/>
          </a:solidFill>
          <a:ln/>
          <a:effectLst>
            <a:outerShdw blurRad="762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14400" y="27432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5400" dirty="0"/>
          </a:p>
        </p:txBody>
      </p:sp>
      <p:sp>
        <p:nvSpPr>
          <p:cNvPr id="24" name="Text 22"/>
          <p:cNvSpPr/>
          <p:nvPr/>
        </p:nvSpPr>
        <p:spPr>
          <a:xfrm>
            <a:off x="914400" y="43434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Manager – Data Entry – Service</a:t>
            </a:r>
            <a:endParaRPr lang="en-US" sz="3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Entry: Overview, Contract Amount &amp; Cost, Revenue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BB94056-B116-2504-5D25-4266773C9874}"/>
              </a:ext>
            </a:extLst>
          </p:cNvPr>
          <p:cNvGrpSpPr/>
          <p:nvPr/>
        </p:nvGrpSpPr>
        <p:grpSpPr>
          <a:xfrm>
            <a:off x="320040" y="1804370"/>
            <a:ext cx="7029928" cy="3545379"/>
            <a:chOff x="603504" y="2271924"/>
            <a:chExt cx="6473152" cy="3136911"/>
          </a:xfrm>
        </p:grpSpPr>
        <p:sp>
          <p:nvSpPr>
            <p:cNvPr id="25" name="Shape 23"/>
            <p:cNvSpPr/>
            <p:nvPr/>
          </p:nvSpPr>
          <p:spPr>
            <a:xfrm>
              <a:off x="603504" y="2271924"/>
              <a:ext cx="6473152" cy="3136911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6" name="Image 0" descr="screenshot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" y="2308500"/>
              <a:ext cx="6400000" cy="3063759"/>
            </a:xfrm>
            <a:prstGeom prst="rect">
              <a:avLst/>
            </a:prstGeom>
          </p:spPr>
        </p:pic>
        <p:sp>
          <p:nvSpPr>
            <p:cNvPr id="100" name="Box 1"/>
            <p:cNvSpPr/>
            <p:nvPr/>
          </p:nvSpPr>
          <p:spPr>
            <a:xfrm>
              <a:off x="1404358" y="3454917"/>
              <a:ext cx="5582555" cy="348910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Box 2"/>
            <p:cNvSpPr/>
            <p:nvPr/>
          </p:nvSpPr>
          <p:spPr>
            <a:xfrm>
              <a:off x="1404358" y="3903516"/>
              <a:ext cx="5582555" cy="647975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Box 3"/>
            <p:cNvSpPr/>
            <p:nvPr/>
          </p:nvSpPr>
          <p:spPr>
            <a:xfrm>
              <a:off x="1404358" y="4651179"/>
              <a:ext cx="5582555" cy="714434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0" name="Callout 1"/>
            <p:cNvSpPr/>
            <p:nvPr/>
          </p:nvSpPr>
          <p:spPr>
            <a:xfrm>
              <a:off x="1207836" y="3316871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201" name="Callout 2"/>
            <p:cNvSpPr/>
            <p:nvPr/>
          </p:nvSpPr>
          <p:spPr>
            <a:xfrm>
              <a:off x="1210178" y="3821146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2</a:t>
              </a:r>
            </a:p>
          </p:txBody>
        </p:sp>
        <p:sp>
          <p:nvSpPr>
            <p:cNvPr id="202" name="Callout 3"/>
            <p:cNvSpPr/>
            <p:nvPr/>
          </p:nvSpPr>
          <p:spPr>
            <a:xfrm>
              <a:off x="1215020" y="4573288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3</a:t>
              </a:r>
            </a:p>
          </p:txBody>
        </p:sp>
      </p:grpSp>
      <p:sp>
        <p:nvSpPr>
          <p:cNvPr id="300" name="Panel Header"/>
          <p:cNvSpPr/>
          <p:nvPr/>
        </p:nvSpPr>
        <p:spPr>
          <a:xfrm>
            <a:off x="7599169" y="1284370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Description</a:t>
            </a:r>
          </a:p>
        </p:txBody>
      </p:sp>
      <p:sp>
        <p:nvSpPr>
          <p:cNvPr id="301" name="Panel Body"/>
          <p:cNvSpPr/>
          <p:nvPr/>
        </p:nvSpPr>
        <p:spPr>
          <a:xfrm>
            <a:off x="7599169" y="1804370"/>
            <a:ext cx="4211840" cy="4258102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6A83B59-F57C-8D1B-1275-F6512E1AC3C5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E2C0A2DB-BCCB-39FE-9B3D-C920AB8C0C0F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B53227AE-56C0-9D4E-BE38-B9F093550AEC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B36C8192-82B4-0793-092B-BD4137C07B50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C6E6A05F-5C44-E79D-8C81-2E2A1DC610C8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C8A280FE-83E6-1963-5448-A284FA853437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BAFB9AFB-F258-A141-11F9-FEA106322354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EA005233-079B-2087-57D9-C0D4CA079C4E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1B010429-39BD-87B4-9C82-648A41F86836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586B210A-2DAA-1C68-7364-8AD0878B8F6F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580D77E8-B6DE-30E2-4FAF-2110AD2D1A74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8" name="Shape 24">
              <a:extLst>
                <a:ext uri="{FF2B5EF4-FFF2-40B4-BE49-F238E27FC236}">
                  <a16:creationId xmlns:a16="http://schemas.microsoft.com/office/drawing/2014/main" id="{BCF0A223-566E-8995-4575-EB41430B790D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5">
              <a:extLst>
                <a:ext uri="{FF2B5EF4-FFF2-40B4-BE49-F238E27FC236}">
                  <a16:creationId xmlns:a16="http://schemas.microsoft.com/office/drawing/2014/main" id="{C5AB9CBF-A8CC-7407-7374-63323BCD9CEE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CAA41446-7010-E7FE-0616-307E866A72B5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7">
              <a:extLst>
                <a:ext uri="{FF2B5EF4-FFF2-40B4-BE49-F238E27FC236}">
                  <a16:creationId xmlns:a16="http://schemas.microsoft.com/office/drawing/2014/main" id="{723DDB95-D9F2-8462-E4DC-CC0039CBD3A9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8">
              <a:extLst>
                <a:ext uri="{FF2B5EF4-FFF2-40B4-BE49-F238E27FC236}">
                  <a16:creationId xmlns:a16="http://schemas.microsoft.com/office/drawing/2014/main" id="{8B8C826B-F302-1713-D568-FA42A7BBBEC6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9">
              <a:extLst>
                <a:ext uri="{FF2B5EF4-FFF2-40B4-BE49-F238E27FC236}">
                  <a16:creationId xmlns:a16="http://schemas.microsoft.com/office/drawing/2014/main" id="{679AC26D-D141-ECDE-6F27-96C857624DA0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0">
              <a:extLst>
                <a:ext uri="{FF2B5EF4-FFF2-40B4-BE49-F238E27FC236}">
                  <a16:creationId xmlns:a16="http://schemas.microsoft.com/office/drawing/2014/main" id="{C150F2B1-9C8B-0840-3255-F11FD93AE6F1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1">
              <a:extLst>
                <a:ext uri="{FF2B5EF4-FFF2-40B4-BE49-F238E27FC236}">
                  <a16:creationId xmlns:a16="http://schemas.microsoft.com/office/drawing/2014/main" id="{CB15F3C4-7600-7996-7480-ADD829864240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2">
              <a:extLst>
                <a:ext uri="{FF2B5EF4-FFF2-40B4-BE49-F238E27FC236}">
                  <a16:creationId xmlns:a16="http://schemas.microsoft.com/office/drawing/2014/main" id="{2E6CA9DF-7795-F3FA-FD4F-E851684E6BD5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 33">
            <a:extLst>
              <a:ext uri="{FF2B5EF4-FFF2-40B4-BE49-F238E27FC236}">
                <a16:creationId xmlns:a16="http://schemas.microsoft.com/office/drawing/2014/main" id="{65264D34-6AEF-1DCD-9946-FD2282AC7081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  <p:sp>
        <p:nvSpPr>
          <p:cNvPr id="4" name="Panel Text">
            <a:extLst>
              <a:ext uri="{FF2B5EF4-FFF2-40B4-BE49-F238E27FC236}">
                <a16:creationId xmlns:a16="http://schemas.microsoft.com/office/drawing/2014/main" id="{0D8E17ED-EF9D-82F1-9F28-7D3E49C87916}"/>
              </a:ext>
            </a:extLst>
          </p:cNvPr>
          <p:cNvSpPr txBox="1"/>
          <p:nvPr/>
        </p:nvSpPr>
        <p:spPr>
          <a:xfrm>
            <a:off x="7813976" y="1914722"/>
            <a:ext cx="3811840" cy="3545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1  0. Overview (Overview tab): 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Contract Amount, Construction Start/End Date: PIMVINA Sync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Source: Common &gt; Construction Overview &gt; Register Construction Overview &gt; Tab Construction Period &gt; Contract Amount, Actual Start Date - Actual Final Completion / Expected Final Completion Date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Remaining fields: Manual entry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  1. Monthly Progress (Progress tab): 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Monthly Plan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(%): Manual entry 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Monthly Actual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(%) = (1(each month)/(2-3))*100%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Source: 1. Sum total column input By Month(1-12)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2. Sum column Execution Budget &gt; Amount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3. Request Execution Resolution(Site) sum column Execution Budget minus sum column Implementation 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Cumulative Plan (%), Cumulative Actual (%):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cumulative calculation by month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3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2. Monthly Revenue (Revenue tab, K USD): Sales Plan/Actual by Year/Month; feeds the Report tab’s Revenue Actual &amp; Forecast chart.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endParaRPr lang="en-US" sz="1100" dirty="0">
              <a:solidFill>
                <a:srgbClr val="262626"/>
              </a:solidFill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Entry: Monthly Cost of Revenue &amp; Budget Execution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E069E59-BF9C-F737-DB62-807144ADE851}"/>
              </a:ext>
            </a:extLst>
          </p:cNvPr>
          <p:cNvGrpSpPr/>
          <p:nvPr/>
        </p:nvGrpSpPr>
        <p:grpSpPr>
          <a:xfrm>
            <a:off x="320040" y="1981211"/>
            <a:ext cx="7037827" cy="3398566"/>
            <a:chOff x="603504" y="2271924"/>
            <a:chExt cx="6473152" cy="3135178"/>
          </a:xfrm>
        </p:grpSpPr>
        <p:sp>
          <p:nvSpPr>
            <p:cNvPr id="25" name="Shape 23"/>
            <p:cNvSpPr/>
            <p:nvPr/>
          </p:nvSpPr>
          <p:spPr>
            <a:xfrm>
              <a:off x="603504" y="2271924"/>
              <a:ext cx="6473152" cy="3135178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6" name="Image 0" descr="screenshot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" y="2308500"/>
              <a:ext cx="6400000" cy="3062026"/>
            </a:xfrm>
            <a:prstGeom prst="rect">
              <a:avLst/>
            </a:prstGeom>
          </p:spPr>
        </p:pic>
        <p:sp>
          <p:nvSpPr>
            <p:cNvPr id="100" name="Box 1"/>
            <p:cNvSpPr/>
            <p:nvPr/>
          </p:nvSpPr>
          <p:spPr>
            <a:xfrm>
              <a:off x="1404755" y="2458110"/>
              <a:ext cx="5585455" cy="1828571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Box 2"/>
            <p:cNvSpPr/>
            <p:nvPr/>
          </p:nvSpPr>
          <p:spPr>
            <a:xfrm>
              <a:off x="1404755" y="4369799"/>
              <a:ext cx="5585455" cy="997403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0" name="Callout 1"/>
            <p:cNvSpPr/>
            <p:nvPr/>
          </p:nvSpPr>
          <p:spPr>
            <a:xfrm>
              <a:off x="1294755" y="2348110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201" name="Callout 2"/>
            <p:cNvSpPr/>
            <p:nvPr/>
          </p:nvSpPr>
          <p:spPr>
            <a:xfrm>
              <a:off x="1294755" y="4259799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2</a:t>
              </a:r>
            </a:p>
          </p:txBody>
        </p:sp>
      </p:grpSp>
      <p:sp>
        <p:nvSpPr>
          <p:cNvPr id="300" name="Panel Header"/>
          <p:cNvSpPr/>
          <p:nvPr/>
        </p:nvSpPr>
        <p:spPr>
          <a:xfrm>
            <a:off x="7557867" y="2027704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Description</a:t>
            </a:r>
          </a:p>
        </p:txBody>
      </p:sp>
      <p:sp>
        <p:nvSpPr>
          <p:cNvPr id="301" name="Panel Body"/>
          <p:cNvSpPr/>
          <p:nvPr/>
        </p:nvSpPr>
        <p:spPr>
          <a:xfrm>
            <a:off x="7557867" y="2547703"/>
            <a:ext cx="4211840" cy="2832073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Panel Text"/>
          <p:cNvSpPr txBox="1"/>
          <p:nvPr/>
        </p:nvSpPr>
        <p:spPr>
          <a:xfrm>
            <a:off x="7757867" y="2697704"/>
            <a:ext cx="3811840" cy="2242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3. Monthly Cost of Revenue (Revenue tab, K USD): 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Accounting COGS by Year/Month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: Imported Excel Data.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Add Prior-Year Cumulative as on the Revenue card. 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VND auto-converts to K USD on save.</a:t>
            </a:r>
          </a:p>
          <a:p>
            <a:pPr marL="0" indent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4. Budget Execution Status (Budget Execution tab)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: Common, Expense 1 (Direct Cost), Expense 2 (Indirect Cost) Budget/</a:t>
            </a:r>
            <a:r>
              <a:rPr lang="en-US" sz="1100" dirty="0">
                <a:solidFill>
                  <a:srgbClr val="262626"/>
                </a:solidFill>
                <a:highlight>
                  <a:srgbClr val="FFFF00"/>
                </a:highlight>
                <a:latin typeface="Calibri" pitchFamily="34" charset="0"/>
              </a:rPr>
              <a:t>Monthly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/Cumulative by Month/Year; Outsourcing rows auto-aggregate from the table below.</a:t>
            </a:r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A7D157A-9C28-5CD3-F335-6BA09FFD77F3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B9106A2B-B6EC-5DBA-982C-CAD604B63C5C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1B79E265-F4B7-A85C-45D2-05A7307A697F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99EB7044-5A0A-B275-587D-D8EEFC2DCC83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B8AE932C-C1C8-5FF2-5997-BF93B9F48B64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C4F9C238-1464-F80E-1829-D52E67F5FC21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D450A22D-C1CD-FCCC-19B8-ACB75B82B8FB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E8F32470-B95B-2BAB-CF58-5624047DA5BE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D20A3E55-38D6-376E-53D6-18731A7592C4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297B447B-074A-9627-0BA5-9B423C44440D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DF5B7E8-E5E3-B709-F5E6-8C4347866A82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8" name="Shape 24">
              <a:extLst>
                <a:ext uri="{FF2B5EF4-FFF2-40B4-BE49-F238E27FC236}">
                  <a16:creationId xmlns:a16="http://schemas.microsoft.com/office/drawing/2014/main" id="{9E69B840-9A71-9DF0-6DF5-84011DF5D86C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5">
              <a:extLst>
                <a:ext uri="{FF2B5EF4-FFF2-40B4-BE49-F238E27FC236}">
                  <a16:creationId xmlns:a16="http://schemas.microsoft.com/office/drawing/2014/main" id="{37C23231-BE68-5501-2C4F-DEFFD1F7F4A1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FA688EF8-D75E-8EE3-9543-632737772873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7">
              <a:extLst>
                <a:ext uri="{FF2B5EF4-FFF2-40B4-BE49-F238E27FC236}">
                  <a16:creationId xmlns:a16="http://schemas.microsoft.com/office/drawing/2014/main" id="{0AB466FD-CA0F-4D28-B7E0-57A2EEE0FFF3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8">
              <a:extLst>
                <a:ext uri="{FF2B5EF4-FFF2-40B4-BE49-F238E27FC236}">
                  <a16:creationId xmlns:a16="http://schemas.microsoft.com/office/drawing/2014/main" id="{BC5094C0-BBC6-98AF-CD12-2EC80427710A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9">
              <a:extLst>
                <a:ext uri="{FF2B5EF4-FFF2-40B4-BE49-F238E27FC236}">
                  <a16:creationId xmlns:a16="http://schemas.microsoft.com/office/drawing/2014/main" id="{06B57530-7129-0876-B3EC-63B3FAC1EF54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0">
              <a:extLst>
                <a:ext uri="{FF2B5EF4-FFF2-40B4-BE49-F238E27FC236}">
                  <a16:creationId xmlns:a16="http://schemas.microsoft.com/office/drawing/2014/main" id="{6DB43BCD-5514-5F75-B82D-3166E9E728A3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1">
              <a:extLst>
                <a:ext uri="{FF2B5EF4-FFF2-40B4-BE49-F238E27FC236}">
                  <a16:creationId xmlns:a16="http://schemas.microsoft.com/office/drawing/2014/main" id="{B02E172D-6E32-06F7-E25C-44408A5BF4E2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2">
              <a:extLst>
                <a:ext uri="{FF2B5EF4-FFF2-40B4-BE49-F238E27FC236}">
                  <a16:creationId xmlns:a16="http://schemas.microsoft.com/office/drawing/2014/main" id="{7C5E17B8-DB33-AABA-655D-B92FCA92E898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 33">
            <a:extLst>
              <a:ext uri="{FF2B5EF4-FFF2-40B4-BE49-F238E27FC236}">
                <a16:creationId xmlns:a16="http://schemas.microsoft.com/office/drawing/2014/main" id="{43A83F27-6483-F3CE-3B72-E2738C6346CC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Entry: Monthly Plan/Actual &amp; Outsourcing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1CFFEDF-FD04-5933-2EEB-F0661FB3AC88}"/>
              </a:ext>
            </a:extLst>
          </p:cNvPr>
          <p:cNvGrpSpPr/>
          <p:nvPr/>
        </p:nvGrpSpPr>
        <p:grpSpPr>
          <a:xfrm>
            <a:off x="320040" y="1788164"/>
            <a:ext cx="7075767" cy="3553704"/>
            <a:chOff x="603504" y="2248164"/>
            <a:chExt cx="6473152" cy="3142954"/>
          </a:xfrm>
        </p:grpSpPr>
        <p:sp>
          <p:nvSpPr>
            <p:cNvPr id="25" name="Shape 23"/>
            <p:cNvSpPr/>
            <p:nvPr/>
          </p:nvSpPr>
          <p:spPr>
            <a:xfrm>
              <a:off x="603504" y="2271924"/>
              <a:ext cx="6473152" cy="3119194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6" name="Image 0" descr="screenshot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" y="2308500"/>
              <a:ext cx="6400000" cy="3046042"/>
            </a:xfrm>
            <a:prstGeom prst="rect">
              <a:avLst/>
            </a:prstGeom>
          </p:spPr>
        </p:pic>
        <p:sp>
          <p:nvSpPr>
            <p:cNvPr id="100" name="Box 1"/>
            <p:cNvSpPr/>
            <p:nvPr/>
          </p:nvSpPr>
          <p:spPr>
            <a:xfrm>
              <a:off x="1401591" y="2358164"/>
              <a:ext cx="5562338" cy="2218314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Box 2"/>
            <p:cNvSpPr/>
            <p:nvPr/>
          </p:nvSpPr>
          <p:spPr>
            <a:xfrm>
              <a:off x="1401591" y="4708914"/>
              <a:ext cx="5562338" cy="645629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0" name="Callout 1"/>
            <p:cNvSpPr/>
            <p:nvPr/>
          </p:nvSpPr>
          <p:spPr>
            <a:xfrm>
              <a:off x="1291591" y="2248164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201" name="Callout 2"/>
            <p:cNvSpPr/>
            <p:nvPr/>
          </p:nvSpPr>
          <p:spPr>
            <a:xfrm>
              <a:off x="1291591" y="4598914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2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E445E021-71E7-810B-261B-A34393A3F7DB}"/>
              </a:ext>
            </a:extLst>
          </p:cNvPr>
          <p:cNvGrpSpPr/>
          <p:nvPr/>
        </p:nvGrpSpPr>
        <p:grpSpPr>
          <a:xfrm>
            <a:off x="7595807" y="1815029"/>
            <a:ext cx="4211840" cy="3679996"/>
            <a:chOff x="7595807" y="2059263"/>
            <a:chExt cx="4211840" cy="3679996"/>
          </a:xfrm>
        </p:grpSpPr>
        <p:sp>
          <p:nvSpPr>
            <p:cNvPr id="300" name="Panel Header"/>
            <p:cNvSpPr/>
            <p:nvPr/>
          </p:nvSpPr>
          <p:spPr>
            <a:xfrm>
              <a:off x="7595807" y="2059263"/>
              <a:ext cx="4211840" cy="460000"/>
            </a:xfrm>
            <a:prstGeom prst="roundRect">
              <a:avLst>
                <a:gd name="adj" fmla="val 6000"/>
              </a:avLst>
            </a:prstGeom>
            <a:solidFill>
              <a:srgbClr val="3F8FD0"/>
            </a:solidFill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Calibri" pitchFamily="34" charset="0"/>
                </a:rPr>
                <a:t>Description</a:t>
              </a:r>
            </a:p>
          </p:txBody>
        </p:sp>
        <p:sp>
          <p:nvSpPr>
            <p:cNvPr id="301" name="Panel Body"/>
            <p:cNvSpPr/>
            <p:nvPr/>
          </p:nvSpPr>
          <p:spPr>
            <a:xfrm>
              <a:off x="7595807" y="2579262"/>
              <a:ext cx="4211840" cy="3159997"/>
            </a:xfrm>
            <a:prstGeom prst="rect">
              <a:avLst/>
            </a:prstGeom>
            <a:solidFill>
              <a:srgbClr val="F4F8FD"/>
            </a:solidFill>
            <a:ln w="9525">
              <a:solidFill>
                <a:srgbClr val="BFBFBF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2" name="Panel Text"/>
            <p:cNvSpPr txBox="1"/>
            <p:nvPr/>
          </p:nvSpPr>
          <p:spPr>
            <a:xfrm>
              <a:off x="7795807" y="2729263"/>
              <a:ext cx="3811840" cy="222604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28600" indent="-228600">
                <a:lnSpc>
                  <a:spcPct val="106000"/>
                </a:lnSpc>
                <a:spcAft>
                  <a:spcPts val="500"/>
                </a:spcAft>
                <a:buAutoNum type="arabicPlain"/>
              </a:pPr>
              <a:r>
                <a:rPr lang="en-US" sz="1100" b="1" dirty="0">
                  <a:solidFill>
                    <a:srgbClr val="1F3A6E"/>
                  </a:solidFill>
                  <a:latin typeface="Calibri" pitchFamily="34" charset="0"/>
                </a:rPr>
                <a:t>Monthly Plan/Actual (year): </a:t>
              </a:r>
              <a:endParaRPr lang="en-US" sz="1100" dirty="0">
                <a:solidFill>
                  <a:srgbClr val="262626"/>
                </a:solidFill>
                <a:latin typeface="Calibri" pitchFamily="34" charset="0"/>
              </a:endParaRPr>
            </a:p>
            <a:p>
              <a:pPr>
                <a:lnSpc>
                  <a:spcPct val="100000"/>
                </a:lnSpc>
                <a:spcAft>
                  <a:spcPts val="500"/>
                </a:spcAft>
              </a:pPr>
              <a:r>
                <a:rPr lang="en-US" sz="1100" b="1" dirty="0">
                  <a:solidFill>
                    <a:srgbClr val="262626"/>
                  </a:solidFill>
                  <a:latin typeface="Calibri" pitchFamily="34" charset="0"/>
                </a:rPr>
                <a:t>-  </a:t>
              </a:r>
              <a:r>
                <a:rPr lang="en-US" sz="1100" dirty="0">
                  <a:solidFill>
                    <a:srgbClr val="262626"/>
                  </a:solidFill>
                  <a:latin typeface="Calibri" pitchFamily="34" charset="0"/>
                </a:rPr>
                <a:t>Data sourced from 6: Budget Execution Status (Cost tab), based on the filter.</a:t>
              </a:r>
            </a:p>
            <a:p>
              <a:pPr marL="228600" indent="-228600">
                <a:lnSpc>
                  <a:spcPct val="106000"/>
                </a:lnSpc>
                <a:spcAft>
                  <a:spcPts val="500"/>
                </a:spcAft>
                <a:buAutoNum type="arabicPlain" startAt="2"/>
              </a:pPr>
              <a:r>
                <a:rPr lang="en-US" sz="1100" b="1" dirty="0">
                  <a:solidFill>
                    <a:srgbClr val="1F3A6E"/>
                  </a:solidFill>
                  <a:latin typeface="Calibri" pitchFamily="34" charset="0"/>
                </a:rPr>
                <a:t>7. Outsourcing/Materials (Outsourcing tab):</a:t>
              </a:r>
            </a:p>
            <a:p>
              <a:pPr marL="171450" indent="-171450">
                <a:lnSpc>
                  <a:spcPct val="106000"/>
                </a:lnSpc>
                <a:spcAft>
                  <a:spcPts val="500"/>
                </a:spcAft>
                <a:buFontTx/>
                <a:buChar char="-"/>
              </a:pPr>
              <a:r>
                <a:rPr lang="en-US" sz="1100" b="1" dirty="0">
                  <a:solidFill>
                    <a:srgbClr val="1F3A6E"/>
                  </a:solidFill>
                  <a:latin typeface="Calibri" pitchFamily="34" charset="0"/>
                </a:rPr>
                <a:t>Budget (A), Executed Budget, Resolved Amount (B):</a:t>
              </a:r>
            </a:p>
            <a:p>
              <a:pPr>
                <a:lnSpc>
                  <a:spcPct val="106000"/>
                </a:lnSpc>
                <a:spcAft>
                  <a:spcPts val="500"/>
                </a:spcAft>
              </a:pPr>
              <a:r>
                <a:rPr lang="en-US" sz="1100" dirty="0">
                  <a:solidFill>
                    <a:srgbClr val="262626"/>
                  </a:solidFill>
                  <a:latin typeface="Calibri" pitchFamily="34" charset="0"/>
                </a:rPr>
                <a:t>Sub-Contracting &gt; Request Execution Resolution (Site) &gt; Request Execution Resolution(Site) &gt; Execution Budget, Operational Budget, Implementation Amount</a:t>
              </a:r>
            </a:p>
            <a:p>
              <a:pPr marL="171450" indent="-171450">
                <a:lnSpc>
                  <a:spcPct val="106000"/>
                </a:lnSpc>
                <a:spcAft>
                  <a:spcPts val="500"/>
                </a:spcAft>
                <a:buFontTx/>
                <a:buChar char="-"/>
              </a:pPr>
              <a:r>
                <a:rPr lang="en-US" sz="1100" b="1" dirty="0">
                  <a:solidFill>
                    <a:srgbClr val="1F3A6E"/>
                  </a:solidFill>
                  <a:latin typeface="Calibri" pitchFamily="34" charset="0"/>
                </a:rPr>
                <a:t>This Month's Progress Payment, Cumulative Progress Payment (C)):</a:t>
              </a:r>
            </a:p>
            <a:p>
              <a:pPr>
                <a:lnSpc>
                  <a:spcPct val="106000"/>
                </a:lnSpc>
                <a:spcAft>
                  <a:spcPts val="500"/>
                </a:spcAft>
              </a:pPr>
              <a:r>
                <a:rPr lang="en-US" sz="1100" dirty="0">
                  <a:solidFill>
                    <a:srgbClr val="262626"/>
                  </a:solidFill>
                  <a:latin typeface="Calibri" pitchFamily="34" charset="0"/>
                </a:rPr>
                <a:t>Sub-Contracting &gt; Implementation Progress Payment(Site) &gt; Interim Payment Status </a:t>
              </a:r>
            </a:p>
            <a:p>
              <a:pPr>
                <a:lnSpc>
                  <a:spcPct val="100000"/>
                </a:lnSpc>
                <a:spcAft>
                  <a:spcPts val="500"/>
                </a:spcAft>
              </a:pPr>
              <a:r>
                <a:rPr lang="en-US" sz="1100" dirty="0">
                  <a:solidFill>
                    <a:srgbClr val="262626"/>
                  </a:solidFill>
                  <a:latin typeface="Calibri" pitchFamily="34" charset="0"/>
                </a:rPr>
                <a:t>Tab This Month column </a:t>
              </a:r>
              <a:r>
                <a:rPr lang="ko-KR" altLang="en-US" sz="1100" dirty="0">
                  <a:solidFill>
                    <a:srgbClr val="262626"/>
                  </a:solidFill>
                  <a:latin typeface="Calibri" pitchFamily="34" charset="0"/>
                </a:rPr>
                <a:t>당월기성금액 </a:t>
              </a:r>
              <a:r>
                <a:rPr lang="en-US" altLang="ko-KR" sz="1100" dirty="0">
                  <a:solidFill>
                    <a:srgbClr val="262626"/>
                  </a:solidFill>
                  <a:latin typeface="Calibri" pitchFamily="34" charset="0"/>
                </a:rPr>
                <a:t>(</a:t>
              </a:r>
              <a:r>
                <a:rPr lang="en-US" sz="1100" dirty="0">
                  <a:solidFill>
                    <a:srgbClr val="262626"/>
                  </a:solidFill>
                  <a:latin typeface="Calibri" pitchFamily="34" charset="0"/>
                </a:rPr>
                <a:t>B)</a:t>
              </a:r>
            </a:p>
            <a:p>
              <a:pPr>
                <a:lnSpc>
                  <a:spcPct val="100000"/>
                </a:lnSpc>
                <a:spcAft>
                  <a:spcPts val="500"/>
                </a:spcAft>
              </a:pPr>
              <a:r>
                <a:rPr lang="en-US" sz="1100" dirty="0">
                  <a:solidFill>
                    <a:srgbClr val="262626"/>
                  </a:solidFill>
                  <a:latin typeface="Calibri" pitchFamily="34" charset="0"/>
                </a:rPr>
                <a:t>Tab All column Progress Payment &gt; Amount (B)</a:t>
              </a:r>
            </a:p>
          </p:txBody>
        </p:sp>
      </p:grp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A6F4F83-9597-6B5A-8316-A10999A37B39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CF46B644-F6DC-D373-7C25-551CF5F45AFD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C3A5EDDE-2A5D-9711-28CE-0FE6C4E6B851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F9D8F960-3C78-45FD-4D95-D997057946DD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980F2ED9-A361-207B-5162-288DE1111003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41315032-801C-C266-534C-CC0BF60BEFAA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5A709241-DA5D-086C-DE56-2BCBA15250A9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5D742361-C303-F8E0-34F5-851398F3459D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84C24378-7467-2F76-4075-E12502B752D9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8823465D-576F-C182-1CF6-6442C82FAAEC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992660E-B4C5-9E4B-A239-A6DF63B16B63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8" name="Shape 24">
              <a:extLst>
                <a:ext uri="{FF2B5EF4-FFF2-40B4-BE49-F238E27FC236}">
                  <a16:creationId xmlns:a16="http://schemas.microsoft.com/office/drawing/2014/main" id="{8BD0548F-4971-3FF2-0EA2-AA976425B68F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5">
              <a:extLst>
                <a:ext uri="{FF2B5EF4-FFF2-40B4-BE49-F238E27FC236}">
                  <a16:creationId xmlns:a16="http://schemas.microsoft.com/office/drawing/2014/main" id="{A9F470B1-5F05-F372-2920-08F17CCD4E66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74D49113-AE8F-1C9F-27AE-4CC0491C171E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7">
              <a:extLst>
                <a:ext uri="{FF2B5EF4-FFF2-40B4-BE49-F238E27FC236}">
                  <a16:creationId xmlns:a16="http://schemas.microsoft.com/office/drawing/2014/main" id="{F361F74B-2CEA-7845-855B-F2D80DBFBB56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8">
              <a:extLst>
                <a:ext uri="{FF2B5EF4-FFF2-40B4-BE49-F238E27FC236}">
                  <a16:creationId xmlns:a16="http://schemas.microsoft.com/office/drawing/2014/main" id="{0D57E85C-0640-980E-A354-77B35D71E058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9">
              <a:extLst>
                <a:ext uri="{FF2B5EF4-FFF2-40B4-BE49-F238E27FC236}">
                  <a16:creationId xmlns:a16="http://schemas.microsoft.com/office/drawing/2014/main" id="{F3F60BA7-313F-C2BA-24B2-D9DC7D768577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0">
              <a:extLst>
                <a:ext uri="{FF2B5EF4-FFF2-40B4-BE49-F238E27FC236}">
                  <a16:creationId xmlns:a16="http://schemas.microsoft.com/office/drawing/2014/main" id="{952D7353-E96A-93AB-C21B-357273E781C0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1">
              <a:extLst>
                <a:ext uri="{FF2B5EF4-FFF2-40B4-BE49-F238E27FC236}">
                  <a16:creationId xmlns:a16="http://schemas.microsoft.com/office/drawing/2014/main" id="{BE22D422-F096-7CE3-7C18-93A06DB06332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2">
              <a:extLst>
                <a:ext uri="{FF2B5EF4-FFF2-40B4-BE49-F238E27FC236}">
                  <a16:creationId xmlns:a16="http://schemas.microsoft.com/office/drawing/2014/main" id="{018B8022-188C-B569-7133-E0EC86D88842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 33">
            <a:extLst>
              <a:ext uri="{FF2B5EF4-FFF2-40B4-BE49-F238E27FC236}">
                <a16:creationId xmlns:a16="http://schemas.microsoft.com/office/drawing/2014/main" id="{371FFE37-32E8-BCF4-2E78-238673A73BC6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Entry: Outsourcing, Cash Flow &amp; Site Photos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CCA147F-BD2D-082C-5707-A167E3689BD6}"/>
              </a:ext>
            </a:extLst>
          </p:cNvPr>
          <p:cNvGrpSpPr/>
          <p:nvPr/>
        </p:nvGrpSpPr>
        <p:grpSpPr>
          <a:xfrm>
            <a:off x="320039" y="1817282"/>
            <a:ext cx="7075767" cy="3566335"/>
            <a:chOff x="603504" y="2271924"/>
            <a:chExt cx="6473152" cy="3161311"/>
          </a:xfrm>
        </p:grpSpPr>
        <p:sp>
          <p:nvSpPr>
            <p:cNvPr id="25" name="Shape 23"/>
            <p:cNvSpPr/>
            <p:nvPr/>
          </p:nvSpPr>
          <p:spPr>
            <a:xfrm>
              <a:off x="603504" y="2271924"/>
              <a:ext cx="6473152" cy="3161311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6" name="Image 0" descr="screenshot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" y="2308500"/>
              <a:ext cx="6400000" cy="3088159"/>
            </a:xfrm>
            <a:prstGeom prst="rect">
              <a:avLst/>
            </a:prstGeom>
          </p:spPr>
        </p:pic>
        <p:sp>
          <p:nvSpPr>
            <p:cNvPr id="100" name="Box 1"/>
            <p:cNvSpPr/>
            <p:nvPr/>
          </p:nvSpPr>
          <p:spPr>
            <a:xfrm>
              <a:off x="1362075" y="3069517"/>
              <a:ext cx="5654635" cy="808102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Box 2"/>
            <p:cNvSpPr/>
            <p:nvPr/>
          </p:nvSpPr>
          <p:spPr>
            <a:xfrm>
              <a:off x="1362075" y="3961082"/>
              <a:ext cx="5654635" cy="884716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Box 3"/>
            <p:cNvSpPr/>
            <p:nvPr/>
          </p:nvSpPr>
          <p:spPr>
            <a:xfrm>
              <a:off x="1362075" y="4929260"/>
              <a:ext cx="5608764" cy="419027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0" name="Callout 1"/>
            <p:cNvSpPr/>
            <p:nvPr/>
          </p:nvSpPr>
          <p:spPr>
            <a:xfrm>
              <a:off x="1242946" y="3052628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201" name="Callout 2"/>
            <p:cNvSpPr/>
            <p:nvPr/>
          </p:nvSpPr>
          <p:spPr>
            <a:xfrm>
              <a:off x="1207946" y="3983625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2</a:t>
              </a:r>
            </a:p>
          </p:txBody>
        </p:sp>
        <p:sp>
          <p:nvSpPr>
            <p:cNvPr id="202" name="Callout 3"/>
            <p:cNvSpPr/>
            <p:nvPr/>
          </p:nvSpPr>
          <p:spPr>
            <a:xfrm>
              <a:off x="1252075" y="4845798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3</a:t>
              </a:r>
            </a:p>
          </p:txBody>
        </p:sp>
      </p:grpSp>
      <p:sp>
        <p:nvSpPr>
          <p:cNvPr id="300" name="Panel Header"/>
          <p:cNvSpPr/>
          <p:nvPr/>
        </p:nvSpPr>
        <p:spPr>
          <a:xfrm>
            <a:off x="7620140" y="1824617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Description</a:t>
            </a:r>
          </a:p>
        </p:txBody>
      </p:sp>
      <p:sp>
        <p:nvSpPr>
          <p:cNvPr id="301" name="Panel Body"/>
          <p:cNvSpPr/>
          <p:nvPr/>
        </p:nvSpPr>
        <p:spPr>
          <a:xfrm>
            <a:off x="7620140" y="2344617"/>
            <a:ext cx="4211840" cy="3039000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81A8636C-1BE3-07A8-288A-B2B7CE76AAD1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59" name="Shape 1">
              <a:extLst>
                <a:ext uri="{FF2B5EF4-FFF2-40B4-BE49-F238E27FC236}">
                  <a16:creationId xmlns:a16="http://schemas.microsoft.com/office/drawing/2014/main" id="{121CAC59-1B51-FE66-260A-B9781541CCF9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Shape 2">
              <a:extLst>
                <a:ext uri="{FF2B5EF4-FFF2-40B4-BE49-F238E27FC236}">
                  <a16:creationId xmlns:a16="http://schemas.microsoft.com/office/drawing/2014/main" id="{E1C2E947-6BF7-5EDB-8209-CDE64D1F4D01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Shape 3">
              <a:extLst>
                <a:ext uri="{FF2B5EF4-FFF2-40B4-BE49-F238E27FC236}">
                  <a16:creationId xmlns:a16="http://schemas.microsoft.com/office/drawing/2014/main" id="{491BE5B7-F597-A176-6A25-579B567F313F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Shape 4">
              <a:extLst>
                <a:ext uri="{FF2B5EF4-FFF2-40B4-BE49-F238E27FC236}">
                  <a16:creationId xmlns:a16="http://schemas.microsoft.com/office/drawing/2014/main" id="{D976AFE6-2CE2-BE9F-64F0-7F843B6392D5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Shape 5">
              <a:extLst>
                <a:ext uri="{FF2B5EF4-FFF2-40B4-BE49-F238E27FC236}">
                  <a16:creationId xmlns:a16="http://schemas.microsoft.com/office/drawing/2014/main" id="{C72AEAB1-FE5E-4D54-9BC3-9DA5ACF1B0E5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Shape 6">
              <a:extLst>
                <a:ext uri="{FF2B5EF4-FFF2-40B4-BE49-F238E27FC236}">
                  <a16:creationId xmlns:a16="http://schemas.microsoft.com/office/drawing/2014/main" id="{ACBC1E79-DFBB-802E-60B4-14CE38040EA3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Shape 7">
              <a:extLst>
                <a:ext uri="{FF2B5EF4-FFF2-40B4-BE49-F238E27FC236}">
                  <a16:creationId xmlns:a16="http://schemas.microsoft.com/office/drawing/2014/main" id="{118C2CA6-0117-0BC2-1BDF-C83DDA20C0DA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Shape 8">
              <a:extLst>
                <a:ext uri="{FF2B5EF4-FFF2-40B4-BE49-F238E27FC236}">
                  <a16:creationId xmlns:a16="http://schemas.microsoft.com/office/drawing/2014/main" id="{18456B5D-5FEF-7E5C-DE58-E216F227818D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Shape 9">
              <a:extLst>
                <a:ext uri="{FF2B5EF4-FFF2-40B4-BE49-F238E27FC236}">
                  <a16:creationId xmlns:a16="http://schemas.microsoft.com/office/drawing/2014/main" id="{8839BBB0-63A9-1454-B91E-24CF031ACF4B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24D8EF01-BC56-B87F-E490-2BFD55FEE3AF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69" name="Shape 24">
              <a:extLst>
                <a:ext uri="{FF2B5EF4-FFF2-40B4-BE49-F238E27FC236}">
                  <a16:creationId xmlns:a16="http://schemas.microsoft.com/office/drawing/2014/main" id="{6C0E5B07-BA4E-50F7-F451-EAA393D08F67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Shape 25">
              <a:extLst>
                <a:ext uri="{FF2B5EF4-FFF2-40B4-BE49-F238E27FC236}">
                  <a16:creationId xmlns:a16="http://schemas.microsoft.com/office/drawing/2014/main" id="{0E46952B-2975-40DC-674F-859BF46DD17D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Shape 26">
              <a:extLst>
                <a:ext uri="{FF2B5EF4-FFF2-40B4-BE49-F238E27FC236}">
                  <a16:creationId xmlns:a16="http://schemas.microsoft.com/office/drawing/2014/main" id="{CA241657-965B-FAB1-E214-C23DDCFEE07E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Shape 27">
              <a:extLst>
                <a:ext uri="{FF2B5EF4-FFF2-40B4-BE49-F238E27FC236}">
                  <a16:creationId xmlns:a16="http://schemas.microsoft.com/office/drawing/2014/main" id="{429FD885-6C94-362E-3AE9-9F55FDAB155A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Shape 28">
              <a:extLst>
                <a:ext uri="{FF2B5EF4-FFF2-40B4-BE49-F238E27FC236}">
                  <a16:creationId xmlns:a16="http://schemas.microsoft.com/office/drawing/2014/main" id="{EA9AF314-2059-D536-0C35-F9FD02CC8868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Shape 29">
              <a:extLst>
                <a:ext uri="{FF2B5EF4-FFF2-40B4-BE49-F238E27FC236}">
                  <a16:creationId xmlns:a16="http://schemas.microsoft.com/office/drawing/2014/main" id="{B941EADD-1373-C557-235D-CBC833E7CF71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Shape 30">
              <a:extLst>
                <a:ext uri="{FF2B5EF4-FFF2-40B4-BE49-F238E27FC236}">
                  <a16:creationId xmlns:a16="http://schemas.microsoft.com/office/drawing/2014/main" id="{98703823-BFE4-EE30-110B-BE02218AE7E7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Shape 31">
              <a:extLst>
                <a:ext uri="{FF2B5EF4-FFF2-40B4-BE49-F238E27FC236}">
                  <a16:creationId xmlns:a16="http://schemas.microsoft.com/office/drawing/2014/main" id="{6FF537F6-F709-5840-BE54-B5400B3FFE74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Shape 32">
              <a:extLst>
                <a:ext uri="{FF2B5EF4-FFF2-40B4-BE49-F238E27FC236}">
                  <a16:creationId xmlns:a16="http://schemas.microsoft.com/office/drawing/2014/main" id="{4F6875A1-2C2F-C5F6-BAD8-B5B1BBDDEDAE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8" name="Text 33">
            <a:extLst>
              <a:ext uri="{FF2B5EF4-FFF2-40B4-BE49-F238E27FC236}">
                <a16:creationId xmlns:a16="http://schemas.microsoft.com/office/drawing/2014/main" id="{25C04FDC-4892-1613-0E55-4667D163D5A6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  <p:sp>
        <p:nvSpPr>
          <p:cNvPr id="4" name="Panel Text">
            <a:extLst>
              <a:ext uri="{FF2B5EF4-FFF2-40B4-BE49-F238E27FC236}">
                <a16:creationId xmlns:a16="http://schemas.microsoft.com/office/drawing/2014/main" id="{0938AE3C-75FB-9AD2-A9D8-6ECCCDBBD68E}"/>
              </a:ext>
            </a:extLst>
          </p:cNvPr>
          <p:cNvSpPr txBox="1"/>
          <p:nvPr/>
        </p:nvSpPr>
        <p:spPr>
          <a:xfrm>
            <a:off x="7820140" y="2494617"/>
            <a:ext cx="3811840" cy="2259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8. Monthly Cash Flow (Cash Flow tab):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Cash In/Out: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PIMVINA Sync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Cash Flow &gt; Report &gt; Cash Flow Report &gt; Income &gt; month (1-12)Outcome &gt; month (1-12)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Cash Balance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= Cash In – Cash Out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Confirmed Progress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: Manual Entry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endParaRPr lang="en-US" sz="1100" dirty="0">
              <a:solidFill>
                <a:srgbClr val="262626"/>
              </a:solidFill>
              <a:latin typeface="Calibri" pitchFamily="34" charset="0"/>
            </a:endParaRPr>
          </a:p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 startAt="2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Site Photos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: 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Select Photos to upload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Slideshow interval (seconds) auto-rotates, 0 disables. 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F3A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5120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5577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 – User Guide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45E4590-4BF9-4E1D-A9C8-32A83CE733CD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871e7eca-45c2-4654-91ce-e3101f7c975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378</TotalTime>
  <Words>3734</Words>
  <Application>Microsoft Office PowerPoint</Application>
  <PresentationFormat>Widescreen</PresentationFormat>
  <Paragraphs>541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ERP MS03</cp:lastModifiedBy>
  <cp:revision>7</cp:revision>
  <dcterms:created xsi:type="dcterms:W3CDTF">2026-10-09T08:57:08Z</dcterms:created>
  <dcterms:modified xsi:type="dcterms:W3CDTF">2026-10-13T06:21:58Z</dcterms:modified>
</cp:coreProperties>
</file>