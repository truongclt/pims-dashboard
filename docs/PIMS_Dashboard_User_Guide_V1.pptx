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3" name="Shape 1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4" name="Shape 2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6" name="Shape 4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8" name="Shape 6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0" name="Shape 8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2" name="Shape 10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50292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4" name="Shape 12"/>
          <p:cNvSpPr/>
          <p:nvPr/>
        </p:nvSpPr>
        <p:spPr>
          <a:xfrm>
            <a:off x="630936" y="50292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50292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585216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7" name="Shape 15"/>
          <p:cNvSpPr/>
          <p:nvPr/>
        </p:nvSpPr>
        <p:spPr>
          <a:xfrm>
            <a:off x="630936" y="585216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8" name="Shape 16"/>
          <p:cNvSpPr/>
          <p:nvPr/>
        </p:nvSpPr>
        <p:spPr>
          <a:xfrm>
            <a:off x="713232" y="585216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640" y="66751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0" name="Shape 18"/>
          <p:cNvSpPr/>
          <p:nvPr/>
        </p:nvSpPr>
        <p:spPr>
          <a:xfrm>
            <a:off x="630936" y="66751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1" name="Shape 19"/>
          <p:cNvSpPr/>
          <p:nvPr/>
        </p:nvSpPr>
        <p:spPr>
          <a:xfrm>
            <a:off x="713232" y="66751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3840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14400" y="80467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14400" y="2880360"/>
            <a:ext cx="8412480" cy="1325880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5" name="Text 23"/>
          <p:cNvSpPr/>
          <p:nvPr/>
        </p:nvSpPr>
        <p:spPr>
          <a:xfrm>
            <a:off x="1188720" y="297180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 – User Guide</a:t>
            </a:r>
            <a:endParaRPr lang="en-US" sz="3200" dirty="0"/>
          </a:p>
        </p:txBody>
      </p:sp>
      <p:sp>
        <p:nvSpPr>
          <p:cNvPr id="26" name="Text 24"/>
          <p:cNvSpPr/>
          <p:nvPr/>
        </p:nvSpPr>
        <p:spPr>
          <a:xfrm>
            <a:off x="1188720" y="3703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D96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Dashboard Viewer &amp; Data Manager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772400" y="37033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– PIMS Dashboard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1234440"/>
            <a:ext cx="1033272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 </a:t>
            </a:r>
            <a:pPr indent="0" marL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guide walks through the PIMS Management Dashboard end to end — the public-facing views any visitor can browse, and the Data Entry screens used to feed each report.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</a:t>
            </a:r>
            <a:pPr indent="0" marL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Executives and stakeholders who monitor company and site performance, and Site Managers / Data Managers who maintain monthly progress, revenue, cost, outsourcing and cash-flow data.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</a:t>
            </a:r>
            <a:pPr indent="0" marL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Dashboard (company-wide KPIs) → Construction Project Dashboard → Service Project Dashboard → Data Entry for Construction sites → Data Entry for Service sites.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Access: </a:t>
            </a:r>
            <a:pPr indent="0" marL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Dashboard and project dashboards are read-only and require no login. Data Entry screens are accessed per site via the left-hand site tree, after logging in with a Data Manager account.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Navigation: </a:t>
            </a:r>
            <a:pPr indent="0" marL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left panel to pick a site (Construction / Service / TCC / DE HEIM). Use Exchange Rate (USD / KRW / VND) and Unit (USD / K USD) at the top of every screen to change the display currency.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6" name="Shape 24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7" name="Shape 25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6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7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8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9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30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1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3" name="Shape 1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4" name="Shape 2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6" name="Shape 4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8" name="Shape 6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0" name="Shape 8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2" name="Shape 10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45720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4" name="Shape 12"/>
          <p:cNvSpPr/>
          <p:nvPr/>
        </p:nvSpPr>
        <p:spPr>
          <a:xfrm>
            <a:off x="630936" y="45720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45720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539496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7" name="Shape 15"/>
          <p:cNvSpPr/>
          <p:nvPr/>
        </p:nvSpPr>
        <p:spPr>
          <a:xfrm>
            <a:off x="630936" y="539496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8" name="Shape 16"/>
          <p:cNvSpPr/>
          <p:nvPr/>
        </p:nvSpPr>
        <p:spPr>
          <a:xfrm>
            <a:off x="713232" y="539496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640" y="62179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0" name="Shape 18"/>
          <p:cNvSpPr/>
          <p:nvPr/>
        </p:nvSpPr>
        <p:spPr>
          <a:xfrm>
            <a:off x="630936" y="62179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1" name="Shape 19"/>
          <p:cNvSpPr/>
          <p:nvPr/>
        </p:nvSpPr>
        <p:spPr>
          <a:xfrm>
            <a:off x="713232" y="62179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2" name="Shape 20"/>
          <p:cNvSpPr/>
          <p:nvPr/>
        </p:nvSpPr>
        <p:spPr>
          <a:xfrm>
            <a:off x="914400" y="2743200"/>
            <a:ext cx="1417320" cy="1417320"/>
          </a:xfrm>
          <a:prstGeom prst="rect">
            <a:avLst/>
          </a:prstGeom>
          <a:solidFill>
            <a:srgbClr val="1F3A6E"/>
          </a:solidFill>
          <a:ln/>
          <a:effectLst>
            <a:outerShdw sx="100000" sy="100000" kx="0" ky="0" algn="bl" rotWithShape="0" blurRad="76200" dist="38100" dir="27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14400" y="27432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5400" dirty="0"/>
          </a:p>
        </p:txBody>
      </p:sp>
      <p:sp>
        <p:nvSpPr>
          <p:cNvPr id="24" name="Text 22"/>
          <p:cNvSpPr/>
          <p:nvPr/>
        </p:nvSpPr>
        <p:spPr>
          <a:xfrm>
            <a:off x="914400" y="43434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Dashboard</a:t>
            </a:r>
            <a:endParaRPr lang="en-US" sz="3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Dashboard: Filters &amp; Summary KPIs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1097280"/>
            <a:ext cx="11247120" cy="1737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dashboard and select Project, Period / Base Month, View by (Month), Exchange Rate and Unit (USD or K USD) at the top of the screen; all cards and charts refresh together.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KPI rings summarize the year at a glance: YTD Revenue, YTD Operating Profit (both Month 1 – Base Month), Full Year Revenue and Full Year Operating Profit (Month 1 – 12), each showing % Achieved, value vs. Plan and the gap.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Download to export the current dashboard view, Excel Upload to import a new monthly report, and FX Rate Settings to review or edit the exchange rates used for conversion.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542349" y="2889504"/>
            <a:ext cx="7106998" cy="350215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C:\Users\PC-InfoPlus\AppData\Local\Temp\claude\d--code-pimsvina\cf166452-2b23-4b2a-8b27-267733bc96f3\images\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78925" y="2926080"/>
            <a:ext cx="7033846" cy="3429000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Dashboard: Charts &amp; Drilldown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1097280"/>
            <a:ext cx="11247120" cy="2331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Actual &amp; Forecast compares Sales (Plan), Sales (Actual) and Sales (Forecast) by month, with the achievement % chip under each bar; click View Details for the monthly breakdown.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&amp; Loss Status stacks Operating Profit and SG&amp;A to show the full Gross Profit bar per month, with OP margin % below.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Status (donut) tracks Orders received against the Annual order plan and forecast; Cash Flow plots Cash Inflow / Outflow with Cumulative Cash Balance on the line. View Details is available on Sales Actual &amp; Forecast, Profit &amp; Loss Status and Cash Flow, each opening the monthly-level breakdown.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Performance Status compares Plan vs. Actual vs. Forecast for Revenue, Gross Profit, SG&amp;A, Operating Profit and Ordinary Profit for both the current month and the full year; every figure is aggregated company-wide from each site’s Monthly Revenue, Cost Plan/Actual and Budget Execution Status entries recorded in Data Entry.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 Info (Drilldown) lists this month’s Order Result and Top Revenue sites; Actual / Forecast comment boxes record monthly notes per month.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3151949" y="3483864"/>
            <a:ext cx="5887798" cy="290779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C:\Users\PC-InfoPlus\AppData\Local\Temp\claude\d--code-pimsvina\cf166452-2b23-4b2a-8b27-267733bc96f3\images\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88525" y="3520440"/>
            <a:ext cx="5814646" cy="2834640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Dashboard &amp; Service Dashboard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1097280"/>
            <a:ext cx="11247120" cy="1325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the Main Dashboard and an individual project, the left-hand tree offers a Construction and a Service level — click either group header (not a specific site) to see the same KPI / chart layout as the Main Dashboard, scoped to only that group’s sites.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this level to compare Construction-only or Service-only performance before drilling into one site’s Project Dashboard; all filters (Project, Period, Exchange Rate, Unit) behave exactly as on the Main Dashboard.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120318" y="2478024"/>
            <a:ext cx="7951060" cy="391363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C:\Users\PC-InfoPlus\AppData\Local\Temp\claude\d--code-pimsvina\cf166452-2b23-4b2a-8b27-267733bc96f3\images\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56894" y="2514600"/>
            <a:ext cx="7877908" cy="3840480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Dashboard: Excel Upload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1097280"/>
            <a:ext cx="1124712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Excel Upload, choose a Data type (Management Report, Cash Flow, Revenue/COGS, or Order Plan &amp; Performance) and Target year, then Select Excel file (.xlsx).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file is parsed automatically for Preview before anything is applied — review the parsed content, then click Apply to refresh the dashboard with the new data.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Uploads lists every prior import with its applied time and filename; use Revert to previous data on any row to roll the dashboard back to the state just before that import.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167210" y="2523744"/>
            <a:ext cx="7857275" cy="386791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C:\Users\PC-InfoPlus\AppData\Local\Temp\claude\d--code-pimsvina\cf166452-2b23-4b2a-8b27-267733bc96f3\images\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03786" y="2560320"/>
            <a:ext cx="7784123" cy="3794760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Dashboard: FX Rate Settings – Current Rate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1097280"/>
            <a:ext cx="11247120" cy="1234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FX Rate Settings to open the rate panel docked under the top bar; the Current Rate tab sets the exchange rates (based on USD) used to convert every KPI and chart on the dashboard.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the rate for KRW and VND against 1 USD, then click Save to apply it across the dashboard immediately.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026533" y="2386584"/>
            <a:ext cx="8138629" cy="400507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C:\Users\PC-InfoPlus\AppData\Local\Temp\claude\d--code-pimsvina\cf166452-2b23-4b2a-8b27-267733bc96f3\images\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3109" y="2423160"/>
            <a:ext cx="8065477" cy="3931920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Dashboard: FX Rate Settings – Monthly Revenue Rate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1097280"/>
            <a:ext cx="11247120" cy="1234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Monthly Revenue Rate tab to set a different rate per Year / Month — useful when revenue booked in a given month should be converted at that month’s actual rate rather than the current rate.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Year and Month, enter the KRW / VND rate for that period, then click Save. The Main Dashboard’s revenue figures use this monthly rate wherever one is defined.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026533" y="2386584"/>
            <a:ext cx="8138629" cy="400507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C:\Users\PC-InfoPlus\AppData\Local\Temp\claude\d--code-pimsvina\cf166452-2b23-4b2a-8b27-267733bc96f3\images\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3109" y="2423160"/>
            <a:ext cx="8065477" cy="3931920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3" name="Shape 1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4" name="Shape 2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6" name="Shape 4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8" name="Shape 6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0" name="Shape 8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2" name="Shape 10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45720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4" name="Shape 12"/>
          <p:cNvSpPr/>
          <p:nvPr/>
        </p:nvSpPr>
        <p:spPr>
          <a:xfrm>
            <a:off x="630936" y="45720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45720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539496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7" name="Shape 15"/>
          <p:cNvSpPr/>
          <p:nvPr/>
        </p:nvSpPr>
        <p:spPr>
          <a:xfrm>
            <a:off x="630936" y="539496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8" name="Shape 16"/>
          <p:cNvSpPr/>
          <p:nvPr/>
        </p:nvSpPr>
        <p:spPr>
          <a:xfrm>
            <a:off x="713232" y="539496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640" y="62179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0" name="Shape 18"/>
          <p:cNvSpPr/>
          <p:nvPr/>
        </p:nvSpPr>
        <p:spPr>
          <a:xfrm>
            <a:off x="630936" y="62179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1" name="Shape 19"/>
          <p:cNvSpPr/>
          <p:nvPr/>
        </p:nvSpPr>
        <p:spPr>
          <a:xfrm>
            <a:off x="713232" y="62179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2" name="Shape 20"/>
          <p:cNvSpPr/>
          <p:nvPr/>
        </p:nvSpPr>
        <p:spPr>
          <a:xfrm>
            <a:off x="914400" y="2743200"/>
            <a:ext cx="1417320" cy="1417320"/>
          </a:xfrm>
          <a:prstGeom prst="rect">
            <a:avLst/>
          </a:prstGeom>
          <a:solidFill>
            <a:srgbClr val="1F3A6E"/>
          </a:solidFill>
          <a:ln/>
          <a:effectLst>
            <a:outerShdw sx="100000" sy="100000" kx="0" ky="0" algn="bl" rotWithShape="0" blurRad="76200" dist="38100" dir="27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14400" y="27432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5400" dirty="0"/>
          </a:p>
        </p:txBody>
      </p:sp>
      <p:sp>
        <p:nvSpPr>
          <p:cNvPr id="24" name="Text 22"/>
          <p:cNvSpPr/>
          <p:nvPr/>
        </p:nvSpPr>
        <p:spPr>
          <a:xfrm>
            <a:off x="914400" y="43434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Dashboard – Construction</a:t>
            </a:r>
            <a:endParaRPr lang="en-US" sz="3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1097280"/>
            <a:ext cx="11247120" cy="2011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 construction site from the left tree (e.g. K8HH1 도급공사 [SITE23]) to open its project dashboard; the header always shows Client, Construction Period, Construction Scale, Contract Amount and Status.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Exchange Rate (USD / KRW / VND) and Unit (USD / K USD) sit above every tab of the site and apply to all of its screens — Overview, Report, Progress, Revenue/Cost, Outsourcing, Cashflow and Data Entry.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Photo displays the latest registered image; Construction Info lists Location, Site Area, Gross Floor Area, Purpose, Ownership Stake and Partner Company.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Info lists Client, Contract Amount (with the contract exchange rate), Contract Method, Payment Terms, Defect Warranty Period / Bond, Advance Payment, Retention and VE Terms.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Sync PIMSVINA at any time to refresh the project data from the source system.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823702" y="3163824"/>
            <a:ext cx="6544290" cy="322783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C:\Users\PC-InfoPlus\AppData\Local\Temp\claude\d--code-pimsvina\cf166452-2b23-4b2a-8b27-267733bc96f3\images\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60278" y="3200400"/>
            <a:ext cx="6471138" cy="3154680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1097280"/>
            <a:ext cx="11247120" cy="2148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 tab is the monthly executive summary for the site. Pick the Base Month, then click Export Report for a shareable file.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shows the monthly and cumulative progress rate (Plan vs. Actual) with achievement %, plus the Duration rate (elapsed construction time / total period) and the gap between duration and cumulative progress.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Actual &amp; Forecast charts monthly Revenue (Plan / Actual / Forecast) with Annual Cumulative and Overall Cumulative totals and their achievement rates.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traffic-lights Progress, Revenue and Cost for the month and year cumulative; Cost (Cumulative Execution) breaks out Direct Cost, Indirect Cost and Contingency; Cashflow shows Collection Rate against cumulative revenue; Key Issues &amp; Action Plan carries the monthly comment.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964379" y="3300984"/>
            <a:ext cx="6262937" cy="309067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C:\Users\PC-InfoPlus\AppData\Local\Temp\claude\d--code-pimsvina\cf166452-2b23-4b2a-8b27-267733bc96f3\images\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0955" y="3337560"/>
            <a:ext cx="6189785" cy="3017520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1097280"/>
            <a:ext cx="11247120" cy="1188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Progress tab opens with the Site Progress Status photo for the selected month (use the month filter and photo pager below it) alongside the Duration rate chip.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donut charts summarize Monthly, Annual and Cumulative progress, each showing Plan vs. Actual and its Achievement Rate.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1979641" y="2340864"/>
            <a:ext cx="8232414" cy="405079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C:\Users\PC-InfoPlus\AppData\Local\Temp\claude\d--code-pimsvina\cf166452-2b23-4b2a-8b27-267733bc96f3\images\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6217" y="2377440"/>
            <a:ext cx="8159262" cy="3977640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Progress: Monthly Trend &amp; Milestones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1097280"/>
            <a:ext cx="11247120" cy="160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Progress Plan &amp; Actual charts Monthly Plan / Monthly Actual as bars with Cumulative Plan / Cumulative Actual as lines across the full construction period.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lists each construction phase (착공, 토공사, 지하/지상 골조 공사, 내·외부 마감공사, 준공 …) with Plan and Actual date ranges on a timeline; a vertical marker shows the current reference month.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Comment box at the bottom (filtered by month) to record progress notes for that period.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401672" y="2752344"/>
            <a:ext cx="7388352" cy="363931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C:\Users\PC-InfoPlus\AppData\Local\Temp\claude\d--code-pimsvina\cf166452-2b23-4b2a-8b27-267733bc96f3\images\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38248" y="2788920"/>
            <a:ext cx="7315200" cy="3566160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Revenue/Cost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1097280"/>
            <a:ext cx="11247120" cy="1280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(K USD) charts the Monthly Plan against Actual for the selected year, with dashed bars marking forecast months not yet closed.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Cost Ratio (%) trends the cost-to-revenue ratio across the year on a single line, with the latest value highlighted.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year selector on each chart to review a different fiscal year.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073425" y="2432304"/>
            <a:ext cx="8044844" cy="395935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C:\Users\PC-InfoPlus\AppData\Local\Temp\claude\d--code-pimsvina\cf166452-2b23-4b2a-8b27-267733bc96f3\images\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10001" y="2468880"/>
            <a:ext cx="7971692" cy="3886200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Revenue/Cost: Cost Rate &amp; Budget Execution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1097280"/>
            <a:ext cx="11247120" cy="1417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Rate shows three donuts — Bidding, Execution Budget Setup and Standard Estimated Cost Ratio — each as Cost / Contract Amount with the underlying figures below.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Execution Status breaks the total budget into Direct Cost, Outsourcing, Common, Expense 1, Indirect Cost, Expense 2 and Contingency, each with an Exec. Plan vs. Actual (Exec. Rate) bar and the remaining amount on the right.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214102" y="2569464"/>
            <a:ext cx="7763490" cy="382219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C:\Users\PC-InfoPlus\AppData\Local\Temp\claude\d--code-pimsvina\cf166452-2b23-4b2a-8b27-267733bc96f3\images\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0678" y="2606040"/>
            <a:ext cx="7690338" cy="3749040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Revenue/Cost: Budget Execution Status (detail)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1097280"/>
            <a:ext cx="11247120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Scroll down for the full Budget Execution Status table and the Total Budget row, which sums Direct Cost + Indirect Cost + Contingency against Plan and Actual.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Comment box below the table (filtered by month) to log notes on cost execution for the period.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1932749" y="2295144"/>
            <a:ext cx="8326198" cy="409651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C:\Users\PC-InfoPlus\AppData\Local\Temp\claude\d--code-pimsvina\cf166452-2b23-4b2a-8b27-267733bc96f3\images\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9325" y="2331720"/>
            <a:ext cx="8253046" cy="4023360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Outsourcing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1097280"/>
            <a:ext cx="11247120" cy="160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Outsourcing &amp; Materials lists every subcontract and material order for the site: Trade (Category / Detailed Trade), Vendor Name, Initial Contract Date and Change Contract Round.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(A), Executed Budget and Resolved Amount (B) track the contract value through change orders; Resolved Rate (B/A) flags contracts that exceed 100% in red.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Billing Status shows This Month, Cumulative (C), Ratio (C/B) and Remaining Billing (B−C) per vendor, with the base month selectable at the top right.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401672" y="2752344"/>
            <a:ext cx="7388352" cy="363931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C:\Users\PC-InfoPlus\AppData\Local\Temp\claude\d--code-pimsvina\cf166452-2b23-4b2a-8b27-267733bc96f3\images\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38248" y="2788920"/>
            <a:ext cx="7315200" cy="3566160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Outsourcing (continued) &amp; Total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1097280"/>
            <a:ext cx="11247120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Scroll the table to review every vendor line; the Total row at the bottom sums Budget, Executed Budget, Resolved Amount, This Month, Cumulative and Remaining Billing across all contracts for the site.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Comment box below the table (filtered by month) to record outsourcing notes for that period.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1932749" y="2295144"/>
            <a:ext cx="8326198" cy="409651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C:\Users\PC-InfoPlus\AppData\Local\Temp\claude\d--code-pimsvina\cf166452-2b23-4b2a-8b27-267733bc96f3\images\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9325" y="2331720"/>
            <a:ext cx="8253046" cy="4023360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Cashflow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1097280"/>
            <a:ext cx="11247120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Flow plots the full construction period (start to end) as Actual cash-in and cash-out bars with the running Balance line; a dashed Reference month marker shows where actuals end and the outlook begins.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year selector (top right) to focus on a single year within the overall timeline; hover any bar or point for the exact monthly figure.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1932749" y="2295144"/>
            <a:ext cx="8326198" cy="409651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C:\Users\PC-InfoPlus\AppData\Local\Temp\claude\d--code-pimsvina\cf166452-2b23-4b2a-8b27-267733bc96f3\images\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9325" y="2331720"/>
            <a:ext cx="8253046" cy="4023360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3" name="Shape 1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4" name="Shape 2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6" name="Shape 4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8" name="Shape 6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0" name="Shape 8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2" name="Shape 10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45720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4" name="Shape 12"/>
          <p:cNvSpPr/>
          <p:nvPr/>
        </p:nvSpPr>
        <p:spPr>
          <a:xfrm>
            <a:off x="630936" y="45720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45720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539496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7" name="Shape 15"/>
          <p:cNvSpPr/>
          <p:nvPr/>
        </p:nvSpPr>
        <p:spPr>
          <a:xfrm>
            <a:off x="630936" y="539496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8" name="Shape 16"/>
          <p:cNvSpPr/>
          <p:nvPr/>
        </p:nvSpPr>
        <p:spPr>
          <a:xfrm>
            <a:off x="713232" y="539496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640" y="62179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0" name="Shape 18"/>
          <p:cNvSpPr/>
          <p:nvPr/>
        </p:nvSpPr>
        <p:spPr>
          <a:xfrm>
            <a:off x="630936" y="62179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1" name="Shape 19"/>
          <p:cNvSpPr/>
          <p:nvPr/>
        </p:nvSpPr>
        <p:spPr>
          <a:xfrm>
            <a:off x="713232" y="62179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2" name="Shape 20"/>
          <p:cNvSpPr/>
          <p:nvPr/>
        </p:nvSpPr>
        <p:spPr>
          <a:xfrm>
            <a:off x="914400" y="2743200"/>
            <a:ext cx="1417320" cy="1417320"/>
          </a:xfrm>
          <a:prstGeom prst="rect">
            <a:avLst/>
          </a:prstGeom>
          <a:solidFill>
            <a:srgbClr val="1F3A6E"/>
          </a:solidFill>
          <a:ln/>
          <a:effectLst>
            <a:outerShdw sx="100000" sy="100000" kx="0" ky="0" algn="bl" rotWithShape="0" blurRad="76200" dist="38100" dir="27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14400" y="27432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5400" dirty="0"/>
          </a:p>
        </p:txBody>
      </p:sp>
      <p:sp>
        <p:nvSpPr>
          <p:cNvPr id="24" name="Text 22"/>
          <p:cNvSpPr/>
          <p:nvPr/>
        </p:nvSpPr>
        <p:spPr>
          <a:xfrm>
            <a:off x="914400" y="43434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Entry – Construction</a:t>
            </a:r>
            <a:endParaRPr lang="en-US" sz="3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&amp; Data Manager Access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1234440"/>
            <a:ext cx="1033272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Login: </a:t>
            </a:r>
            <a:pPr indent="0" marL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Entry screens require a Data Manager (or Site Manager) account. Log in to PIMS with your company account before the left-hand site tree and Data Entry tab become available.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selection: </a:t>
            </a:r>
            <a:pPr indent="0" marL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login, pick the site from the left tree, then choose “시공” (Construction) or “용역” (Service) to switch which set of Data Entry cards is shown for that site.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control: </a:t>
            </a:r>
            <a:pPr indent="0" marL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In Progress / Change to closed control on the Data Entry tab to mark a site as closed once it is finished — this also affects which project list (In Progress vs. Closed) the site appears under in the left tree.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behavior: </a:t>
            </a:r>
            <a:pPr indent="0" marL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numbered card has its own Save button, plus a Save all shortcut at the top; use the Lock toggle on a card to freeze it against further edits once its plan is finalized.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6" name="Shape 24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7" name="Shape 25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6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7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8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9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30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1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Entry: Overview &amp; Monthly Progress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1097280"/>
            <a:ext cx="11247120" cy="2057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site’s Data Entry tab, choose 시공 (Construction) or 용역 (Service) scope and the site status (In Progress / Change to closed), then edit each numbered card and click its own Save (or Save all at the top).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 Overview (Overview tab): Contract Amount, Construction Start/End Date, Client, Scale, Location, Site Area, Gross Floor Area, Purpose, Ownership Stake, Partner Company, Contract Method, Payment Terms, Defect Warranty Period/Bond, Advance Payment, Retention and VE Terms.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Monthly Progress (Progress tab): Year, Month, Monthly Plan (%), Monthly Actual (%), Cumulative Plan (%) and Cumulative Actual (%) feed the Progress donuts and trend chart.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card shows its source Plan version (e.g. “Plan v581”) and a Lock toggle to prevent further edits once finalized.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870595" y="3209544"/>
            <a:ext cx="6450506" cy="318211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C:\Users\PC-InfoPlus\AppData\Local\Temp\claude\d--code-pimsvina\cf166452-2b23-4b2a-8b27-267733bc96f3\images\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07171" y="3246120"/>
            <a:ext cx="6377354" cy="3108960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Entry: Monthly Revenue &amp; Milestones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1097280"/>
            <a:ext cx="11247120" cy="1737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Monthly Revenue (Revenue tab, K USD): enter Sales Plan and Sales Actual by Year / Month; use + Add Prior-Year Cumulative for a free Year/Month/Plan/Actual row representing cumulative revenue before the current year (Month = 0 convention).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table is the source for the Report tab’s Revenue Actual &amp; Forecast chart — corrections should go through the main Excel upload, not this screen, per the on-screen note.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Milestones (Progress tab): add rows with Plan Start/End and Actual Start/End dates per milestone item; use Excel Download / Excel Upload to bulk edit, or + Add milestone for a new row.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542349" y="2889504"/>
            <a:ext cx="7106998" cy="350215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C:\Users\PC-InfoPlus\AppData\Local\Temp\claude\d--code-pimsvina\cf166452-2b23-4b2a-8b27-267733bc96f3\images\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78925" y="2926080"/>
            <a:ext cx="7033846" cy="3429000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Entry: Cost Plan/Actual by Work Type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1097280"/>
            <a:ext cx="11247120" cy="1234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Cost Plan/Actual by Work Type: enter monthly Plan and Actual cost for each work type — Major work, Architecture, Mechanical, Electrical, Civil, Landscaping, Expense 1/2 and more — for the selected year.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Totals here roll up into the Report and Revenue/Cost tabs’ cost figures; use the year selector at the top right to switch fiscal years.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026533" y="2386584"/>
            <a:ext cx="8138629" cy="400507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C:\Users\PC-InfoPlus\AppData\Local\Temp\claude\d--code-pimsvina\cf166452-2b23-4b2a-8b27-267733bc96f3\images\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3109" y="2423160"/>
            <a:ext cx="8065477" cy="3931920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Entry: Cost Rate &amp; Budget Execution Status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1097280"/>
            <a:ext cx="11247120" cy="1783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Cost Rate (Cost tab): set the Base Month, Contract Amount and Cost for Bidding, Execution Budget Setup and Estimated Completion Cost Rate; Ratio (%) is auto-calculated as Cost / Contract Amount.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Budget Setup’s Cost is the initial approved budget; Estimated Completion Cost Rate mirrors the same Base Month’s Execution figures.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Budget Execution Status (Cost tab): enter Common, Expense 1 (Direct Cost) and Expense 2 / Contingency (Indirect Cost) Budget, Monthly and Cumulative values for the selected Month / Year; Outsourcing-type rows are auto-aggregated from the Outsourcing/Materials table below — no manual entry needed there.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589241" y="2935224"/>
            <a:ext cx="7013214" cy="345643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C:\Users\PC-InfoPlus\AppData\Local\Temp\claude\d--code-pimsvina\cf166452-2b23-4b2a-8b27-267733bc96f3\images\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5817" y="2971800"/>
            <a:ext cx="6940062" cy="3383280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Entry: Monthly Plan/Actual &amp; Outsourcing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1097280"/>
            <a:ext cx="11247120" cy="1691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Plan / Actual (year): pick a category (e.g. Common) and year to enter the month-by-month Plan and Actual figures that feed the Budget Execution Status card above.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Outsourcing/Materials (Outsourcing tab): one row per vendor contract — Trade Group, Trade, Vendor Name, Category, Initial Contract Date, Change No., Budget (A), Executed Budget, Resolved Amount (B), This Month’s Progress Payment and Cumulative Progress Payment (C).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the Month / Year at the top right before entering progress payments for that period, then Save.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495456" y="2843784"/>
            <a:ext cx="7200783" cy="354787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C:\Users\PC-InfoPlus\AppData\Local\Temp\claude\d--code-pimsvina\cf166452-2b23-4b2a-8b27-267733bc96f3\images\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32032" y="2880360"/>
            <a:ext cx="7127631" cy="3474720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Entry: Outsourcing, Cash Flow &amp; Site Photos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1097280"/>
            <a:ext cx="11247120" cy="1737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 entering outsourcing rows as needed; totals from this table automatically populate the Outsourcing tab and the Budget Execution Status card.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Monthly Cash Flow (Cash Flow tab): enter Year, Month, Cash In, Cash Out (as a positive number — the chart displays it downward) and Confirmed Progress; Cash Balance is calculated automatically and VND amounts convert to thousand USD on save. Use + Add month for a new row.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Photos: use Select Photos to upload images for the site; set a Slideshow interval (seconds) to auto-rotate them, or 0 to disable.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542349" y="2889504"/>
            <a:ext cx="7106998" cy="350215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C:\Users\PC-InfoPlus\AppData\Local\Temp\claude\d--code-pimsvina\cf166452-2b23-4b2a-8b27-267733bc96f3\images\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78925" y="2926080"/>
            <a:ext cx="7033846" cy="3429000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3" name="Shape 1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4" name="Shape 2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6" name="Shape 4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8" name="Shape 6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0" name="Shape 8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2" name="Shape 10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45720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4" name="Shape 12"/>
          <p:cNvSpPr/>
          <p:nvPr/>
        </p:nvSpPr>
        <p:spPr>
          <a:xfrm>
            <a:off x="630936" y="45720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45720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539496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7" name="Shape 15"/>
          <p:cNvSpPr/>
          <p:nvPr/>
        </p:nvSpPr>
        <p:spPr>
          <a:xfrm>
            <a:off x="630936" y="539496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8" name="Shape 16"/>
          <p:cNvSpPr/>
          <p:nvPr/>
        </p:nvSpPr>
        <p:spPr>
          <a:xfrm>
            <a:off x="713232" y="539496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640" y="62179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0" name="Shape 18"/>
          <p:cNvSpPr/>
          <p:nvPr/>
        </p:nvSpPr>
        <p:spPr>
          <a:xfrm>
            <a:off x="630936" y="62179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1" name="Shape 19"/>
          <p:cNvSpPr/>
          <p:nvPr/>
        </p:nvSpPr>
        <p:spPr>
          <a:xfrm>
            <a:off x="713232" y="62179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2" name="Shape 20"/>
          <p:cNvSpPr/>
          <p:nvPr/>
        </p:nvSpPr>
        <p:spPr>
          <a:xfrm>
            <a:off x="914400" y="2743200"/>
            <a:ext cx="1417320" cy="1417320"/>
          </a:xfrm>
          <a:prstGeom prst="rect">
            <a:avLst/>
          </a:prstGeom>
          <a:solidFill>
            <a:srgbClr val="1F3A6E"/>
          </a:solidFill>
          <a:ln/>
          <a:effectLst>
            <a:outerShdw sx="100000" sy="100000" kx="0" ky="0" algn="bl" rotWithShape="0" blurRad="76200" dist="38100" dir="27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14400" y="27432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5400" dirty="0"/>
          </a:p>
        </p:txBody>
      </p:sp>
      <p:sp>
        <p:nvSpPr>
          <p:cNvPr id="24" name="Text 22"/>
          <p:cNvSpPr/>
          <p:nvPr/>
        </p:nvSpPr>
        <p:spPr>
          <a:xfrm>
            <a:off x="914400" y="43434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Dashboard – Service</a:t>
            </a:r>
            <a:endParaRPr lang="en-US" sz="3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1097280"/>
            <a:ext cx="11247120" cy="160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 service site from the left tree (e.g. K8CT1 모델하우스 [SITE39]); the header shows Client, Project period, Scope of work and Contract Amount.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mirrors the Construction site’s report layout without the Progress section: Overview, Revenue Actual &amp; Forecast, Status (Revenue / Cost / Funds), Cost (Cumulative Execution), Cashflow and Key Issues &amp; Action Plan.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Export Report, the Base Month selector and the Comment box (by month) exactly as on a construction site’s Report tab.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401672" y="2752344"/>
            <a:ext cx="7388352" cy="363931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C:\Users\PC-InfoPlus\AppData\Local\Temp\claude\d--code-pimsvina\cf166452-2b23-4b2a-8b27-267733bc96f3\images\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38248" y="2788920"/>
            <a:ext cx="7315200" cy="3566160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Revenue/Cost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1097280"/>
            <a:ext cx="11247120" cy="1417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(K USD) charts Monthly Plan against Actual for the selected year, with dashed bars for upcoming forecast months.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Rate shows three donuts — Bidding, Execution Budget Setup and Standard Estimated Cost Ratio — as Cost / Contract Amount, identical in structure to a Construction site’s Cost Rate card.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Comment box below (filtered by month) to record revenue/cost notes for the period.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214102" y="2569464"/>
            <a:ext cx="7763490" cy="382219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C:\Users\PC-InfoPlus\AppData\Local\Temp\claude\d--code-pimsvina\cf166452-2b23-4b2a-8b27-267733bc96f3\images\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0678" y="2606040"/>
            <a:ext cx="7690338" cy="3749040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Outsourcing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1097280"/>
            <a:ext cx="11247120" cy="1417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Outsourcing &amp; Materials lists each vendor contract for the service site with the same columns as Construction: Category / Detailed Trade, Vendor Name, Initial Contract Date, Change Contract Round, Budget (A), Executed Budget, Resolved Amount (B), Resolved Rate (B/A).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Billing Status shows This Month, Cumulative (C), Ratio (C/B) and Remaining Billing (B−C); the Total row sums every column across all vendors for the site.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214102" y="2569464"/>
            <a:ext cx="7763490" cy="382219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C:\Users\PC-InfoPlus\AppData\Local\Temp\claude\d--code-pimsvina\cf166452-2b23-4b2a-8b27-267733bc96f3\images\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0678" y="2606040"/>
            <a:ext cx="7690338" cy="3749040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1097280"/>
            <a:ext cx="11247120" cy="1280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Flow plots the service engagement period as Actual cash-in / cash-out bars with the running Balance line and a dashed Reference month marker, exactly as on a Construction site.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year selector at the top right to focus on a single year, and the Comment box below (filtered by month) for notes.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073425" y="2432304"/>
            <a:ext cx="8044844" cy="395935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C:\Users\PC-InfoPlus\AppData\Local\Temp\claude\d--code-pimsvina\cf166452-2b23-4b2a-8b27-267733bc96f3\images\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10001" y="2468880"/>
            <a:ext cx="7971692" cy="3886200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3" name="Shape 1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4" name="Shape 2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6" name="Shape 4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8" name="Shape 6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0" name="Shape 8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2" name="Shape 10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45720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4" name="Shape 12"/>
          <p:cNvSpPr/>
          <p:nvPr/>
        </p:nvSpPr>
        <p:spPr>
          <a:xfrm>
            <a:off x="630936" y="45720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45720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539496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7" name="Shape 15"/>
          <p:cNvSpPr/>
          <p:nvPr/>
        </p:nvSpPr>
        <p:spPr>
          <a:xfrm>
            <a:off x="630936" y="539496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8" name="Shape 16"/>
          <p:cNvSpPr/>
          <p:nvPr/>
        </p:nvSpPr>
        <p:spPr>
          <a:xfrm>
            <a:off x="713232" y="539496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640" y="62179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0" name="Shape 18"/>
          <p:cNvSpPr/>
          <p:nvPr/>
        </p:nvSpPr>
        <p:spPr>
          <a:xfrm>
            <a:off x="630936" y="62179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1" name="Shape 19"/>
          <p:cNvSpPr/>
          <p:nvPr/>
        </p:nvSpPr>
        <p:spPr>
          <a:xfrm>
            <a:off x="713232" y="62179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2" name="Shape 20"/>
          <p:cNvSpPr/>
          <p:nvPr/>
        </p:nvSpPr>
        <p:spPr>
          <a:xfrm>
            <a:off x="914400" y="2743200"/>
            <a:ext cx="1417320" cy="1417320"/>
          </a:xfrm>
          <a:prstGeom prst="rect">
            <a:avLst/>
          </a:prstGeom>
          <a:solidFill>
            <a:srgbClr val="1F3A6E"/>
          </a:solidFill>
          <a:ln/>
          <a:effectLst>
            <a:outerShdw sx="100000" sy="100000" kx="0" ky="0" algn="bl" rotWithShape="0" blurRad="76200" dist="38100" dir="27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14400" y="27432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5400" dirty="0"/>
          </a:p>
        </p:txBody>
      </p:sp>
      <p:sp>
        <p:nvSpPr>
          <p:cNvPr id="24" name="Text 22"/>
          <p:cNvSpPr/>
          <p:nvPr/>
        </p:nvSpPr>
        <p:spPr>
          <a:xfrm>
            <a:off x="914400" y="43434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Entry – Service</a:t>
            </a:r>
            <a:endParaRPr lang="en-US" sz="3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Entry: Overview, Contract Amount &amp; Cost, Revenue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1097280"/>
            <a:ext cx="11247120" cy="1691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 Overview (Overview tab): Contract Amount, Performance Start/End Date, Performance Period, Client, Scope of Work and Payment Terms.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Contract Amount &amp; Cost (Overview): Base Month, Contract Amount and Cost for Bidding, Execution Budget Setup and Estimated Completion Cost Rate, with Ratio (%) auto-calculated — the service equivalent of the Construction site’s Cost Rate card.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Monthly Revenue (Revenue tab, K USD): enter Sales Plan and Sales Actual by Year / Month; this feeds the Report tab’s Revenue Actual &amp; Forecast chart.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495456" y="2843784"/>
            <a:ext cx="7200783" cy="354787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C:\Users\PC-InfoPlus\AppData\Local\Temp\claude\d--code-pimsvina\cf166452-2b23-4b2a-8b27-267733bc96f3\images\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32032" y="2880360"/>
            <a:ext cx="7127631" cy="3474720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Entry: Monthly Cost of Revenue &amp; Budget Execution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1097280"/>
            <a:ext cx="11247120" cy="1417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Monthly Cost of Revenue (Revenue tab, K USD): enter Accounting COGS by Year / Month; use + Add Prior-Year Cumulative the same way as on the Revenue card. VND amounts auto-convert to thousand USD on save.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Budget Execution Status (Budget Execution tab): enter Common, Expense 1 (Direct Cost) and Expense 2 (Indirect Cost) Budget / Monthly / Cumulative for the selected Month / Year; Outsourcing-type rows aggregate automatically from the Outsourcing/Materials table below.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214102" y="2569464"/>
            <a:ext cx="7763490" cy="382219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C:\Users\PC-InfoPlus\AppData\Local\Temp\claude\d--code-pimsvina\cf166452-2b23-4b2a-8b27-267733bc96f3\images\2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0678" y="2606040"/>
            <a:ext cx="7690338" cy="3749040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Entry: Monthly Plan/Actual &amp; Outsourcing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1097280"/>
            <a:ext cx="11247120" cy="1417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Plan / Actual (year): pick a category (e.g. Common) and year to enter month-by-month Plan and Actual figures feeding Budget Execution Status above.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Outsourcing/Materials (Outsourcing tab): one row per vendor — Trade Group, Trade, Vendor Name, Category, Initial Contract Date, Change No., Budget (A), Executed Budget, Resolved Amount (B), This Month’s Progress Payment and Cumulative Progress Payment (C); select the Month / Year first, then Save.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214102" y="2569464"/>
            <a:ext cx="7763490" cy="382219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C:\Users\PC-InfoPlus\AppData\Local\Temp\claude\d--code-pimsvina\cf166452-2b23-4b2a-8b27-267733bc96f3\images\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0678" y="2606040"/>
            <a:ext cx="7690338" cy="3749040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Entry: Outsourcing, Cash Flow &amp; Site Photos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1097280"/>
            <a:ext cx="11247120" cy="160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 entering outsourcing rows as needed; totals automatically populate the service site’s Outsourcing tab and Budget Execution Status card.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Monthly Cash Flow (Cash Flow tab): enter Year, Month, Cash In, Cash Out (as a positive number) and Confirmed Progress; Cash Balance calculates automatically and VND converts to thousand USD on save. Use + Add month for a new row.</a:t>
            </a:r>
            <a:endParaRPr lang="en-US" sz="13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Photos: use Select Photos to upload images for the service site.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401672" y="2752344"/>
            <a:ext cx="7388352" cy="363931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C:\Users\PC-InfoPlus\AppData\Local\Temp\claude\d--code-pimsvina\cf166452-2b23-4b2a-8b27-267733bc96f3\images\2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38248" y="2788920"/>
            <a:ext cx="7315200" cy="3566160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F3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51206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914400" y="5577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 – User Guide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2026-10-09T08:57:08Z</dcterms:created>
  <dcterms:modified xsi:type="dcterms:W3CDTF">2026-10-09T08:57:08Z</dcterms:modified>
</cp:coreProperties>
</file>