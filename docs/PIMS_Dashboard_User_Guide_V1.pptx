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50292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50292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50292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8521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8521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8521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6751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6751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6751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840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14400" y="804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4400" y="2880360"/>
            <a:ext cx="8412480" cy="132588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5" name="Text 23"/>
          <p:cNvSpPr/>
          <p:nvPr/>
        </p:nvSpPr>
        <p:spPr>
          <a:xfrm>
            <a:off x="1188720" y="297180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 – User Guide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1188720" y="3703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D961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Dashboard Viewer &amp; Data Manager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72400" y="37033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– PIMS Dashboard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123444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guide walks through the PIMS Management Dashboard end to end — the public-facing views any visitor can browse, and the Data Entry screens used to feed each report.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Executives and stakeholders who monitor company and site performance, and Site Managers / Data Managers who maintain monthly progress, revenue, cost, outsourcing and cash-flow data.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 (company-wide KPIs) → Construction Project Dashboard → Service Project Dashboard → Data Entry for Construction sites → Data Entry for Service sites.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Dashboard and project dashboards are read-only and require no login. Data Entry screens are accessed per site via the left-hand site tree, after logging in with a Data Manager account.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left panel to pick a site (Construction / Service / TCC / DE HEIM). Use Exchange Rate (USD / KRW / VND) and Unit (USD / K USD) at the top of every screen to change the display currency.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6" name="Shape 24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7" name="Shape 25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7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8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9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30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1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Filters &amp; Summary KPIs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11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PIMS Dashboard main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8000"/>
          </a:xfrm>
          <a:prstGeom prst="rect">
            <a:avLst/>
          </a:prstGeom>
        </p:spPr>
      </p:pic>
      <p:sp>
        <p:nvSpPr>
          <p:cNvPr id="50" name="Box 1"/>
          <p:cNvSpPr/>
          <p:nvPr/>
        </p:nvSpPr>
        <p:spPr>
          <a:xfrm>
            <a:off x="1405543" y="2568053"/>
            <a:ext cx="4293249" cy="15307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51" name="Box 2"/>
          <p:cNvSpPr/>
          <p:nvPr/>
        </p:nvSpPr>
        <p:spPr>
          <a:xfrm>
            <a:off x="6424126" y="2568053"/>
            <a:ext cx="555793" cy="15307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52" name="Box 3"/>
          <p:cNvSpPr/>
          <p:nvPr/>
        </p:nvSpPr>
        <p:spPr>
          <a:xfrm>
            <a:off x="1478961" y="2747743"/>
            <a:ext cx="419341" cy="86518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53" name="Box 4"/>
          <p:cNvSpPr/>
          <p:nvPr/>
        </p:nvSpPr>
        <p:spPr>
          <a:xfrm>
            <a:off x="5774122" y="2568053"/>
            <a:ext cx="615699" cy="153070"/>
          </a:xfrm>
          <a:prstGeom prst="roundRect">
            <a:avLst>
              <a:gd name="adj" fmla="val 16667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54" name="Box 5"/>
          <p:cNvSpPr/>
          <p:nvPr/>
        </p:nvSpPr>
        <p:spPr>
          <a:xfrm>
            <a:off x="1405543" y="2957382"/>
            <a:ext cx="5556927" cy="482502"/>
          </a:xfrm>
          <a:prstGeom prst="roundRect">
            <a:avLst>
              <a:gd name="adj" fmla="val 8333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40" name="Callout 1"/>
          <p:cNvSpPr/>
          <p:nvPr/>
        </p:nvSpPr>
        <p:spPr>
          <a:xfrm>
            <a:off x="1295543" y="245805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41" name="Callout 2"/>
          <p:cNvSpPr/>
          <p:nvPr/>
        </p:nvSpPr>
        <p:spPr>
          <a:xfrm>
            <a:off x="6314126" y="245805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42" name="Callout 3"/>
          <p:cNvSpPr/>
          <p:nvPr/>
        </p:nvSpPr>
        <p:spPr>
          <a:xfrm>
            <a:off x="1368961" y="263774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43" name="Callout 4"/>
          <p:cNvSpPr/>
          <p:nvPr/>
        </p:nvSpPr>
        <p:spPr>
          <a:xfrm>
            <a:off x="5664122" y="245805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44" name="Callout 5"/>
          <p:cNvSpPr/>
          <p:nvPr/>
        </p:nvSpPr>
        <p:spPr>
          <a:xfrm>
            <a:off x="1295543" y="284738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6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61" name="Panel Body"/>
          <p:cNvSpPr/>
          <p:nvPr/>
        </p:nvSpPr>
        <p:spPr>
          <a:xfrm>
            <a:off x="7340080" y="2768500"/>
            <a:ext cx="4211840" cy="261800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62" name="Panel Text"/>
          <p:cNvSpPr txBox="1"/>
          <p:nvPr/>
        </p:nvSpPr>
        <p:spPr>
          <a:xfrm>
            <a:off x="7540080" y="2918500"/>
            <a:ext cx="3811840" cy="231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Open the dashboard and select Project, Period / Base Month, View by (Month), Exchange Rate and Unit (USD or K USD); all cards and charts refresh together.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Excel Upload: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import a new monthly report.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Download: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export the current dashboard.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FX Rate Settings: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review or edit the exchange rates used for conversion.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5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Four KPI cards summarize the year at a glance:</a:t>
            </a:r>
          </a:p>
          <a:p>
            <a:pPr marL="228600" indent="-228600">
              <a:lnSpc>
                <a:spcPct val="106000"/>
              </a:lnSpc>
              <a:spcAft>
                <a:spcPts val="400"/>
              </a:spcAft>
              <a:buChar char="•"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</a:rPr>
              <a:t>YTD Revenue, YTD Operating Profit (both Month 1 – Base Month)</a:t>
            </a:r>
          </a:p>
          <a:p>
            <a:pPr marL="228600" indent="-228600">
              <a:lnSpc>
                <a:spcPct val="106000"/>
              </a:lnSpc>
              <a:spcAft>
                <a:spcPts val="400"/>
              </a:spcAft>
              <a:buChar char="•"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</a:rPr>
              <a:t>Full Year Revenue and Full Year Operating Profit (Month 1 – 12)</a:t>
            </a:r>
          </a:p>
          <a:p>
            <a:pPr marL="228600" indent="-228600">
              <a:lnSpc>
                <a:spcPct val="106000"/>
              </a:lnSpc>
              <a:buChar char="•"/>
            </a:pPr>
            <a:r>
              <a:rPr lang="en-US" sz="1050" dirty="0">
                <a:solidFill>
                  <a:srgbClr val="262626"/>
                </a:solidFill>
                <a:latin typeface="Calibri" pitchFamily="34" charset="0"/>
              </a:rPr>
              <a:t>Data sourced from the imported Excel file.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Charts &amp; Drilldown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809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8494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7146" y="2358526"/>
            <a:ext cx="2184471" cy="115059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3641643" y="2358526"/>
            <a:ext cx="2201146" cy="115059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5892816" y="2358526"/>
            <a:ext cx="1117249" cy="115059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3" name="Box 4"/>
          <p:cNvSpPr/>
          <p:nvPr/>
        </p:nvSpPr>
        <p:spPr>
          <a:xfrm>
            <a:off x="3641643" y="3642528"/>
            <a:ext cx="2201146" cy="9338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4" name="Box 5"/>
          <p:cNvSpPr/>
          <p:nvPr/>
        </p:nvSpPr>
        <p:spPr>
          <a:xfrm>
            <a:off x="5892816" y="3609177"/>
            <a:ext cx="1117249" cy="96717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7146" y="224852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3531643" y="224852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5782816" y="224852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03" name="Callout 4"/>
          <p:cNvSpPr/>
          <p:nvPr/>
        </p:nvSpPr>
        <p:spPr>
          <a:xfrm>
            <a:off x="3531643" y="353252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204" name="Callout 5"/>
          <p:cNvSpPr/>
          <p:nvPr/>
        </p:nvSpPr>
        <p:spPr>
          <a:xfrm>
            <a:off x="5782816" y="349917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494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Sales Actual &amp; Forecast compares Sales (Plan), Sales (Actual) and Sales (Forecast) by month, with the achievement % chip under each bar; click View Details for the monthly breakdown.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Profit &amp; Loss Status stacks Operating Profit and SG&amp;A to show the full Gross Profit bar per month, with OP margin % below.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Order Status (donut) tracks Orders received against the Annual order plan and forecast; Cash Flow plots Cash Inflow / Outflow with Cumulative Cash Balance on the line. View Details is available on Sales Actual &amp; Forecast, Profit &amp; Loss Status and Cash Flow, each opening the monthly-level breakdown.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Management Performance Status compares Plan vs. Actual vs. Forecast for Revenue, Gross Profit, SG&amp;A, Operating Profit and Ordinary Profit for both the current month and the full year; every figure is aggregated company-wide from each site’s Monthly Revenue, Cost Plan/Actual and Budget Execution Status entries recorded in Data Entry.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5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Detail Info (Drilldown) lists this month’s Order Result and Top Revenue sites; Actual / Forecast comment boxes record monthly notes per month.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Dashboard &amp; Service Dashboard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1675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8523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673361" y="2574751"/>
            <a:ext cx="648986" cy="7321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673361" y="2667938"/>
            <a:ext cx="648986" cy="7321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563361" y="255793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563361" y="255793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8523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Between the Main Dashboard and an individual project, the left-hand tree offers a Construction and a Service level — click either group header (not a specific site) to see the same KPI / chart layout as the Main Dashboard, scoped to only that group’s sites.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Use this level to compare Construction-only or Service-only performance before drilling into one site’s Project Dashboard; all filters (Project, Period, Exchange Rate, Unit) behave exactly as on the Main Dashboard.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Excel Upload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31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8000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2770080" y="3325167"/>
            <a:ext cx="2203333" cy="15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2770080" y="3508500"/>
            <a:ext cx="2203333" cy="127333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2840080" y="3718500"/>
            <a:ext cx="2100000" cy="79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2660080" y="321516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2660080" y="339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2730080" y="360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000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Click Excel Upload, choose a Data type (Management Report, Cash Flow, Revenue/COGS, or Order Plan &amp; Performance) and Target year, then Select Excel file (.xlsx).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The file is parsed automatically for Preview before anything is applied — review the parsed content, then click Apply to refresh the dashboard with the new data.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Recent Uploads lists every prior import with its applied time and filename; use Revert to previous data on any row to roll the dashboard back to the state just before that import.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FX Rate Settings – Current Rate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8810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114956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5415901" y="2558630"/>
            <a:ext cx="1013861" cy="111724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5482602" y="3192294"/>
            <a:ext cx="887129" cy="48358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5305901" y="244863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5372602" y="308229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94956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94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Click FX Rate Settings to open the rate panel docked under the top bar; the Current Rate tab sets the exchange rates (based on USD) used to convert every KPI and chart on the dashboard.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Enter the rate for KRW and VND against 1 USD, then click Save to apply it across the dashboard immediately.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Dashboard: FX Rate Settings – Monthly Revenue Rate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142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827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5375880" y="2735389"/>
            <a:ext cx="1057217" cy="80042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5469262" y="2842111"/>
            <a:ext cx="900469" cy="1033872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5265880" y="262538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5359262" y="2732111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827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8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Switch to the Monthly Revenue Rate tab to set a different rate per Year / Month — useful when revenue booked in a given month should be converted at that month’s actual rate rather than the current rate.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Pick the Year and Month, enter the KRW / VND rate for that period, then click Save. The Main Dashboard’s revenue figures use this monthly rate wherever one is defined.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Dashboard – Construction</a:t>
            </a:r>
            <a:endParaRPr lang="en-US" sz="3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6992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96774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949" y="2568229"/>
            <a:ext cx="5594173" cy="40624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5949" y="2358448"/>
            <a:ext cx="1964620" cy="9989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5949" y="3190914"/>
            <a:ext cx="5594173" cy="98231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3" name="Box 4"/>
          <p:cNvSpPr/>
          <p:nvPr/>
        </p:nvSpPr>
        <p:spPr>
          <a:xfrm>
            <a:off x="3653608" y="4223172"/>
            <a:ext cx="3346514" cy="94901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4" name="Box 5"/>
          <p:cNvSpPr/>
          <p:nvPr/>
        </p:nvSpPr>
        <p:spPr>
          <a:xfrm>
            <a:off x="6151006" y="2358448"/>
            <a:ext cx="865765" cy="9989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6041006" y="224844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949" y="224844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5949" y="30809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03" name="Callout 4"/>
          <p:cNvSpPr/>
          <p:nvPr/>
        </p:nvSpPr>
        <p:spPr>
          <a:xfrm>
            <a:off x="3543608" y="411317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204" name="Callout 5"/>
          <p:cNvSpPr/>
          <p:nvPr/>
        </p:nvSpPr>
        <p:spPr>
          <a:xfrm>
            <a:off x="6041006" y="224844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5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76774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767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Select a construction site from the left tree (e.g. K8HH1 도급공사 [SITE23]) to open its project dashboard; the header always shows Client, Construction Period, Construction Scale, Contract Amount and Status.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Exchange Rate (USD / KRW / VND) and Unit (USD / K USD) sit above every tab of the site and apply to all of its screens — Overview, Report, Progress, Revenue/Cost, Outsourcing, Cashflow and Data Entry.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Site Photo displays the latest registered image; Construction Info lists Location, Site Area, Gross Floor Area, Purpose, Ownership Stake and Partner Company.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Contract Info lists Client, Contract Amount (with the contract exchange rate), Contract Method, Payment Terms, Defect Warranty Period / Bond, Advance Payment, Retention and VE Terms.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5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Click Sync PIMSVINA at any time to refresh the project data from the source system.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023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708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358" y="2989705"/>
            <a:ext cx="5582555" cy="29906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4358" y="3338614"/>
            <a:ext cx="1844237" cy="109657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3298439" y="3338614"/>
            <a:ext cx="1794393" cy="109657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3" name="Box 4"/>
          <p:cNvSpPr/>
          <p:nvPr/>
        </p:nvSpPr>
        <p:spPr>
          <a:xfrm>
            <a:off x="1404358" y="4451802"/>
            <a:ext cx="5582555" cy="880582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4358" y="2879705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358" y="32286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3188439" y="32286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03" name="Callout 4"/>
          <p:cNvSpPr/>
          <p:nvPr/>
        </p:nvSpPr>
        <p:spPr>
          <a:xfrm>
            <a:off x="1294358" y="434180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708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7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The Report tab is the monthly executive summary for the site. Pick the Base Month, then click Export Report for a shareable file.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Progress shows the monthly and cumulative progress rate (Plan vs. Actual) with achievement %, plus the Duration rate (elapsed construction time / total period) and the gap between duration and cumulative progress.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Revenue Actual &amp; Forecast charts monthly Revenue (Plan / Actual / Forecast) with Annual Cumulative and Overall Cumulative totals and their achievement rates.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Status traffic-lights Progress, Revenue and Cost for the month and year cumulative; Cost (Cumulative Execution) breaks out Direct Cost, Indirect Cost and Contingency; Cashflow shows Collection Rate against cumulative revenue; Key Issues &amp; Action Plan carries the monthly comment.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1691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8539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551" y="3207096"/>
            <a:ext cx="2745710" cy="214664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4201182" y="3207096"/>
            <a:ext cx="2795632" cy="148101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4091182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4091182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8539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85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The Progress tab opens with the Site Progress Status photo for the selected month (use the month filter and photo pager below it) alongside the Duration rate chip.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Three donut charts summarize Monthly, Annual and Cumulative progress, each showing Plan vs. Actual and its Achievement Rate.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Progress: Monthly Trend &amp; Milestones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33733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0581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3565" y="2358293"/>
            <a:ext cx="5576763" cy="122821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3565" y="3686093"/>
            <a:ext cx="5576763" cy="1078838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3565" y="4964102"/>
            <a:ext cx="5576763" cy="38174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3565" y="485410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3565" y="357609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3565" y="485410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0581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05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Monthly Progress Plan &amp; Actual charts Monthly Plan / Monthly Actual as bars with Cumulative Plan / Cumulative Actual as lines across the full construction period.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Milestone lists each construction phase (착공, 토공사, 지하/지상 골조 공사, 내·외부 마감공사, 준공 …) with Plan and Actual date ranges on a timeline; a vertical marker shows the current reference month.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Use the Comment box at the bottom (filtered by month) to record progress notes for that period.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Revenue/Cost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3170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58554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551" y="3207096"/>
            <a:ext cx="5591264" cy="96515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5551" y="4288739"/>
            <a:ext cx="5591264" cy="83203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6647360" y="3207096"/>
            <a:ext cx="282891" cy="8320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5551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551" y="417873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6537360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38554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38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Revenue (K USD) charts the Monthly Plan against Actual for the selected year, with dashed bars marking forecast months not yet closed.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Cumulative Cost Ratio (%) trends the cost-to-revenue ratio across the year on a single line, with the latest value highlighted.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Use the year selector on each chart to review a different fiscal year.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Revenue/Cost: Cost Rate &amp; Budget Execution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377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8062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2774" y="2358241"/>
            <a:ext cx="5570984" cy="91191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2774" y="3336479"/>
            <a:ext cx="5570984" cy="2022798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2774" y="2248241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2774" y="322647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062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0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Cost Rate shows three donuts — Bidding, Execution Budget Setup and Standard Estimated Cost Ratio — each as Cost / Contract Amount with the underlying figures below.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Budget Execution Status breaks the total budget into Direct Cost, Outsourcing, Common, Expense 1, Indirect Cost, Expense 2 and Contingency, each with an Exec. Plan vs. Actual (Exec. Rate) bar and the remaining amount on the right.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Revenue/Cost: Budget Execution Status (detail)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8331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85179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551" y="2358422"/>
            <a:ext cx="5591264" cy="211336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5551" y="4621553"/>
            <a:ext cx="5591264" cy="68226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5551" y="451155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551" y="451155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5179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5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Scroll down for the full Budget Execution Status table and the Total Budget row, which sums Direct Cost + Indirect Cost + Contingency against Plan and Actual.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Use the Comment box below the table (filtered by month) to log notes on cost execution for the period.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Outsourcing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3822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507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348" y="3208031"/>
            <a:ext cx="2432067" cy="213222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3838414" y="3208031"/>
            <a:ext cx="1299323" cy="213222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5137737" y="3208031"/>
            <a:ext cx="1865695" cy="213222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6348" y="3098031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3728414" y="3098031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5027737" y="3098031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507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5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Outsourcing &amp; Materials lists every subcontract and material order for the site: Trade (Category / Detailed Trade), Vendor Name, Initial Contract Date and Change Contract Round.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Budget (A), Executed Budget and Resolved Amount (B) track the contract value through change orders; Resolved Rate (B/A) flags contracts that exceed 100% in red.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Progress Billing Status shows This Month, Cumulative (C), Ratio (C/B) and Remaining Billing (B−C) per vendor, with the base month selectable at the top right.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Outsourcing (continued) &amp; Total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4885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1733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348" y="2358474"/>
            <a:ext cx="5597085" cy="214888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6348" y="4640619"/>
            <a:ext cx="5597085" cy="66632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6348" y="453061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6348" y="453061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1733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1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Scroll the table to review every vendor line; the Total row at the bottom sums Budget, Executed Budget, Resolved Amount, This Month, Cumulative and Remaining Billing across all contracts for the site.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Use the Comment box below the table (filtered by month) to record outsourcing notes for that period.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Cashflow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31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8000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747" y="3208500"/>
            <a:ext cx="5600000" cy="183333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6440080" y="3208500"/>
            <a:ext cx="566667" cy="10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6747" y="309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6330080" y="309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000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Cash Flow plots the full construction period (start to end) as Actual cash-in and cash-out bars with the running Balance line; a dashed Reference month marker shows where actuals end and the outlook begins.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Use the year selector (top right) to focus on a single year within the overall timeline; hover any bar or point for the exact monthly figure.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 – Construction</a:t>
            </a:r>
            <a:endParaRPr lang="en-US" sz="3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Data Manager Access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1234440"/>
            <a:ext cx="1033272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 screens require a Data Manager (or Site Manager) account. Log in to PIMS with your company account before the left-hand site tree and Data Entry tab become available.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selection: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login, pick the site from the left tree, then choose “시공” (Construction) or “용역” (Service) to switch which set of Data Entry cards is shown for that site.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control: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In Progress / Change to closed control on the Data Entry tab to mark a site as closed once it is finished — this also affects which project list (In Progress vs. Closed) the site appears under in the left tree.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behavior: </a:t>
            </a:r>
            <a:pPr indent="0" marL="0">
              <a:lnSpc>
                <a:spcPct val="115000"/>
              </a:lnSpc>
              <a:spcAft>
                <a:spcPts val="1400"/>
              </a:spcAft>
              <a:buNone/>
            </a:pPr>
            <a:r>
              <a:rPr lang="en-US" sz="15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numbered card has its own Save button, plus a Save all shortcut at the top; use the Lock toggle on a card to freeze it against further edits once its plan is finalized.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6" name="Shape 24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7" name="Shape 25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7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8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9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30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1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Overview &amp; Monthly Progress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68316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95164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5332748" y="3207096"/>
            <a:ext cx="1664067" cy="9984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5551" y="3406784"/>
            <a:ext cx="5591264" cy="89859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5551" y="4355302"/>
            <a:ext cx="5591264" cy="101508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3" name="Box 4"/>
          <p:cNvSpPr/>
          <p:nvPr/>
        </p:nvSpPr>
        <p:spPr>
          <a:xfrm>
            <a:off x="6447672" y="3416768"/>
            <a:ext cx="549142" cy="8320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5222748" y="30970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551" y="329678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5551" y="424530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203" name="Callout 4"/>
          <p:cNvSpPr/>
          <p:nvPr/>
        </p:nvSpPr>
        <p:spPr>
          <a:xfrm>
            <a:off x="6337672" y="3306768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4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75164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75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Open the site’s Data Entry tab, choose 시공 (Construction) or 용역 (Service) scope and the site status (In Progress / Change to closed), then edit each numbered card and click its own Save (or Save all at the top).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0. Overview (Overview tab): Contract Amount, Construction Start/End Date, Client, Scale, Location, Site Area, Gross Floor Area, Purpose, Ownership Stake, Partner Company, Contract Method, Payment Terms, Defect Warranty Period/Bond, Advance Payment, Retention and VE Terms.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1. Monthly Progress (Progress tab): Year, Month, Monthly Plan (%), Monthly Actual (%), Cumulative Plan (%) and Cumulative Actual (%) feed the Progress donuts and trend chart.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4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Each card shows its source Plan version (e.g. “Plan v581”) and a Lock toggle to prevent further edits once finalized.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Monthly Revenue &amp; Milestones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688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3728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358" y="2491262"/>
            <a:ext cx="5582555" cy="164486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4358" y="4152737"/>
            <a:ext cx="5582555" cy="16614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4358" y="4352114"/>
            <a:ext cx="5582555" cy="101349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4358" y="238126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358" y="404273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4358" y="42421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3728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3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2. Monthly Revenue (Revenue tab, K USD): enter Sales Plan and Sales Actual by Year / Month; use + Add Prior-Year Cumulative for a free Year/Month/Plan/Actual row representing cumulative revenue before the current year (Month = 0 convention).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This table is the source for the Report tab’s Revenue Actual &amp; Forecast chart — corrections should go through the main Excel upload, not this screen, per the on-screen note.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3. Milestones (Progress tab): add rows with Plan Start/End and Actual Start/End dates per milestone item; use Excel Download / Excel Upload to bulk edit, or + Add milestone for a new row.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Cost Plan/Actual by Work Type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155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840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348" y="3940983"/>
            <a:ext cx="5597085" cy="143258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6187191" y="3974299"/>
            <a:ext cx="816242" cy="8329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6348" y="383098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6077191" y="386429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840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8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4. Cost Plan/Actual by Work Type: enter monthly Plan and Actual cost for each work type — Major work, Architecture, Mechanical, Electrical, Civil, Landscaping, Expense 1/2 and more — for the selected year.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Totals here roll up into the Report and Revenue/Cost tabs’ cost figures; use the year selector at the top right to switch fiscal years.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Cost Rate &amp; Budget Execution Status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3557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0405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358" y="2358344"/>
            <a:ext cx="5582555" cy="71443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4358" y="2800296"/>
            <a:ext cx="5582555" cy="17943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4358" y="3189082"/>
            <a:ext cx="5582555" cy="121287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4358" y="307908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358" y="269029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4358" y="307908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0405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0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5. Cost Rate (Cost tab): set the Base Month, Contract Amount and Cost for Bidding, Execution Budget Setup and Estimated Completion Cost Rate; Ratio (%) is auto-calculated as Cost / Contract Amount.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Execution Budget Setup’s Cost is the initial approved budget; Estimated Completion Cost Rate mirrors the same Base Month’s Execution figures.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6. Budget Execution Status (Cost tab): enter Common, Expense 1 (Direct Cost) and Expense 2 / Contingency (Indirect Cost) Budget, Monthly and Cumulative values for the selected Month / Year; Outsourcing-type rows are auto-aggregated from the Outsourcing/Materials table below — no manual entry needed there.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Monthly Plan/Actual &amp; Outsourcing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69819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96667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747" y="2358500"/>
            <a:ext cx="5600000" cy="225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6747" y="4758500"/>
            <a:ext cx="5600000" cy="61666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5956747" y="4758500"/>
            <a:ext cx="1050000" cy="8333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5846747" y="464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6747" y="464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5846747" y="464850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76667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766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Monthly Plan / Actual (year): pick a category (e.g. Common) and year to enter the month-by-month Plan and Actual figures that feed the Budget Execution Status card above.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7. Outsourcing/Materials (Outsourcing tab): one row per vendor contract — Trade Group, Trade, Vendor Name, Category, Initial Contract Date, Change No., Budget (A), Executed Budget, Resolved Amount (B), This Month’s Progress Payment and Cumulative Progress Payment (C).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Select the Month / Year at the top right before entering progress payments for that period, then Save.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Outsourcing, Cash Flow &amp; Site Photos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53027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9875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7546" y="2308500"/>
            <a:ext cx="5605839" cy="111783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7546" y="3493067"/>
            <a:ext cx="5605839" cy="125130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7546" y="4961263"/>
            <a:ext cx="5605839" cy="35036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7546" y="485126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7546" y="338306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7546" y="485126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9875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9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Continue entering outsourcing rows as needed; totals from this table automatically populate the Outsourcing tab and the Budget Execution Status card.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8. Monthly Cash Flow (Cash Flow tab): enter Year, Month, Cash In, Cash Out (as a positive number — the chart displays it downward) and Confirmed Progress; Cash Balance is calculated automatically and VND amounts convert to thousand USD on save. Use + Add month for a new row.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Site Photos: use Select Photos to upload images for the site; set a Slideshow interval (seconds) to auto-rotate them, or 0 to disable.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Dashboard – Service</a:t>
            </a:r>
            <a:endParaRPr lang="en-US" sz="3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8735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5583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3170" y="2540745"/>
            <a:ext cx="5573872" cy="331778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3170" y="3287245"/>
            <a:ext cx="5573872" cy="182478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3170" y="3104767"/>
            <a:ext cx="5573872" cy="116122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3170" y="299476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3170" y="3177245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3170" y="299476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5583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5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Select a service site from the left tree (e.g. K8CT1 모델하우스 [SITE39]); the header shows Client, Project period, Scope of work and Contract Amount.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Report mirrors the Construction site’s report layout without the Progress section: Overview, Revenue Actual &amp; Forecast, Status (Revenue / Cost / Funds), Cost (Cumulative Execution), Cashflow and Key Issues &amp; Action Plan.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Use Export Report, the Base Month selector and the Comment box (by month) exactly as on a construction site’s Report tab.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Revenue/Cost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2172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4857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5551" y="3123893"/>
            <a:ext cx="5591264" cy="96515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5551" y="4188895"/>
            <a:ext cx="5591264" cy="88195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5551" y="5120772"/>
            <a:ext cx="5591264" cy="23296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5551" y="301389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5551" y="4078895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5551" y="501077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2857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28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Revenue (K USD) charts Monthly Plan against Actual for the selected year, with dashed bars for upcoming forecast months.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Cost Rate shows three donuts — Bidding, Execution Budget Setup and Standard Estimated Cost Ratio — as Cost / Contract Amount, identical in structure to a Construction site’s Cost Rate card.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Use the Comment box below (filtered by month) to record revenue/cost notes for the period.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Outsourcing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3546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231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3170" y="3154534"/>
            <a:ext cx="3782271" cy="84603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5185440" y="3154534"/>
            <a:ext cx="1791602" cy="84603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3170" y="304453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5075440" y="304453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231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2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Outsourcing &amp; Materials lists each vendor contract for the service site with the same columns as Construction: Category / Detailed Trade, Vendor Name, Initial Contract Date, Change Contract Round, Budget (A), Executed Budget, Resolved Amount (B), Resolved Rate (B/A).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Progress Billing Status shows This Month, Cumulative (C), Ratio (C/B) and Remaining Billing (B−C); the Total row sums every column across all vendors for the site.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43152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70000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6747" y="3141833"/>
            <a:ext cx="5600000" cy="175000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6423413" y="3141833"/>
            <a:ext cx="266667" cy="66667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6747" y="303183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6313413" y="3031833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50000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Cash Flow plots the service engagement period as Actual cash-in / cash-out bars with the running Balance line and a dashed Reference month marker, exactly as on a Construction site.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Use the year selector at the top right to focus on a single year, and the Comment box below (filtered by month) for notes.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3" name="Shape 1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4" name="Shape 2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6" name="Shape 4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8" name="Shape 6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0" name="Shape 8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2" name="Shape 10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45720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45720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0936" y="539496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8" name="Shape 16"/>
          <p:cNvSpPr/>
          <p:nvPr/>
        </p:nvSpPr>
        <p:spPr>
          <a:xfrm>
            <a:off x="713232" y="539496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0" name="Shape 18"/>
          <p:cNvSpPr/>
          <p:nvPr/>
        </p:nvSpPr>
        <p:spPr>
          <a:xfrm>
            <a:off x="630936" y="62179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62179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2" name="Shape 20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solidFill>
            <a:srgbClr val="1F3A6E"/>
          </a:solidFill>
          <a:ln/>
          <a:effectLst>
            <a:outerShdw sx="100000" sy="100000" kx="0" ky="0" algn="bl" rotWithShape="0" blurRad="76200" dist="38100" dir="27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14400" y="27432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5400" dirty="0"/>
          </a:p>
        </p:txBody>
      </p:sp>
      <p:sp>
        <p:nvSpPr>
          <p:cNvPr id="24" name="Text 22"/>
          <p:cNvSpPr/>
          <p:nvPr/>
        </p:nvSpPr>
        <p:spPr>
          <a:xfrm>
            <a:off x="914400" y="43434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 – Service</a:t>
            </a:r>
            <a:endParaRPr lang="en-US" sz="3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Overview, Contract Amount &amp; Cost, Revenue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36911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3759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358" y="3454917"/>
            <a:ext cx="5582555" cy="34891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4358" y="3903516"/>
            <a:ext cx="5582555" cy="647975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4358" y="4651179"/>
            <a:ext cx="5582555" cy="71443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4358" y="454117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358" y="3793516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4358" y="454117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3759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3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0. Overview (Overview tab): Contract Amount, Performance Start/End Date, Performance Period, Client, Scope of Work and Payment Terms.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1. Contract Amount &amp; Cost (Overview): Base Month, Contract Amount and Cost for Bidding, Execution Budget Setup and Estimated Completion Cost Rate, with Ratio (%) auto-calculated — the service equivalent of the Construction site’s Cost Rate card.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2. Monthly Revenue (Revenue tab, K USD): enter Sales Plan and Sales Actual by Year / Month; this feeds the Report tab’s Revenue Actual &amp; Forecast chart.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Monthly Cost of Revenue &amp; Budget Execution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3517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62026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4755" y="2458110"/>
            <a:ext cx="5585455" cy="1828571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4755" y="4369799"/>
            <a:ext cx="5585455" cy="997403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4755" y="2348110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4755" y="4259799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42026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42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3. Monthly Cost of Revenue (Revenue tab, K USD): enter Accounting COGS by Year / Month; use + Add Prior-Year Cumulative the same way as on the Revenue card. VND amounts auto-convert to thousand USD on save.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4. Budget Execution Status (Budget Execution tab): enter Common, Expense 1 (Direct Cost) and Expense 2 (Indirect Cost) Budget / Monthly / Cumulative for the selected Month / Year; Outsourcing-type rows aggregate automatically from the Outsourcing/Materials table below.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Monthly Plan/Actual &amp; Outsourcing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19194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46042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1591" y="2358164"/>
            <a:ext cx="5562338" cy="221831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1591" y="4708914"/>
            <a:ext cx="5562338" cy="645629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1591" y="224816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1591" y="4598914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26042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26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Monthly Plan / Actual (year): pick a category (e.g. Common) and year to enter month-by-month Plan and Actual figures feeding Budget Execution Status above.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5. Outsourcing/Materials (Outsourcing tab): one row per vendor — Trade Group, Trade, Vendor Name, Category, Initial Contract Date, Change No., Budget (A), Executed Budget, Resolved Amount (B), This Month’s Progress Payment and Cumulative Progress Payment (C); select the Month / Year first, then Save.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" y="3840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" y="3840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7" name="Shape 5"/>
          <p:cNvSpPr/>
          <p:nvPr/>
        </p:nvSpPr>
        <p:spPr>
          <a:xfrm>
            <a:off x="539496" y="4663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4663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0" name="Shape 8"/>
          <p:cNvSpPr/>
          <p:nvPr/>
        </p:nvSpPr>
        <p:spPr>
          <a:xfrm>
            <a:off x="539496" y="548640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1" name="Shape 9"/>
          <p:cNvSpPr/>
          <p:nvPr/>
        </p:nvSpPr>
        <p:spPr>
          <a:xfrm>
            <a:off x="621792" y="548640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256032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Entry: Outsourcing, Cash Flow &amp; Site Photos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9503359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4" name="Shape 12"/>
          <p:cNvSpPr/>
          <p:nvPr/>
        </p:nvSpPr>
        <p:spPr>
          <a:xfrm>
            <a:off x="9887407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5503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39551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23599" y="0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18" name="Shape 16"/>
          <p:cNvSpPr/>
          <p:nvPr/>
        </p:nvSpPr>
        <p:spPr>
          <a:xfrm>
            <a:off x="11807647" y="0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19" name="Shape 17"/>
          <p:cNvSpPr/>
          <p:nvPr/>
        </p:nvSpPr>
        <p:spPr>
          <a:xfrm>
            <a:off x="10271455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23599" y="384048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1" name="Shape 19"/>
          <p:cNvSpPr/>
          <p:nvPr/>
        </p:nvSpPr>
        <p:spPr>
          <a:xfrm>
            <a:off x="11807647" y="384048"/>
            <a:ext cx="384048" cy="38404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39551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807647" y="768096"/>
            <a:ext cx="384048" cy="384048"/>
          </a:xfrm>
          <a:prstGeom prst="rect">
            <a:avLst/>
          </a:prstGeom>
          <a:solidFill>
            <a:srgbClr val="AEE0F5"/>
          </a:solidFill>
          <a:ln/>
        </p:spPr>
      </p:sp>
      <p:sp>
        <p:nvSpPr>
          <p:cNvPr id="25" name="Shape 23"/>
          <p:cNvSpPr/>
          <p:nvPr/>
        </p:nvSpPr>
        <p:spPr>
          <a:xfrm>
            <a:off x="603504" y="2271924"/>
            <a:ext cx="6473152" cy="3161311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pic>
        <p:nvPicPr>
          <p:cNvPr id="26" name="Image 0" descr="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308500"/>
            <a:ext cx="6400000" cy="3088159"/>
          </a:xfrm>
          <a:prstGeom prst="rect">
            <a:avLst/>
          </a:prstGeom>
        </p:spPr>
      </p:pic>
      <p:sp>
        <p:nvSpPr>
          <p:cNvPr id="100" name="Box 1"/>
          <p:cNvSpPr/>
          <p:nvPr/>
        </p:nvSpPr>
        <p:spPr>
          <a:xfrm>
            <a:off x="1407946" y="3126445"/>
            <a:ext cx="5608764" cy="751174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1" name="Box 2"/>
          <p:cNvSpPr/>
          <p:nvPr/>
        </p:nvSpPr>
        <p:spPr>
          <a:xfrm>
            <a:off x="1407946" y="3961082"/>
            <a:ext cx="5608764" cy="884716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102" name="Box 3"/>
          <p:cNvSpPr/>
          <p:nvPr/>
        </p:nvSpPr>
        <p:spPr>
          <a:xfrm>
            <a:off x="1407946" y="4962647"/>
            <a:ext cx="5608764" cy="350548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1F3A6E"/>
            </a:solidFill>
          </a:ln>
        </p:spPr>
      </p:sp>
      <p:sp>
        <p:nvSpPr>
          <p:cNvPr id="200" name="Callout 1"/>
          <p:cNvSpPr/>
          <p:nvPr/>
        </p:nvSpPr>
        <p:spPr>
          <a:xfrm>
            <a:off x="1297946" y="485264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1</a:t>
            </a:r>
          </a:p>
        </p:txBody>
      </p:sp>
      <p:sp>
        <p:nvSpPr>
          <p:cNvPr id="201" name="Callout 2"/>
          <p:cNvSpPr/>
          <p:nvPr/>
        </p:nvSpPr>
        <p:spPr>
          <a:xfrm>
            <a:off x="1297946" y="3851082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2</a:t>
            </a:r>
          </a:p>
        </p:txBody>
      </p:sp>
      <p:sp>
        <p:nvSpPr>
          <p:cNvPr id="202" name="Callout 3"/>
          <p:cNvSpPr/>
          <p:nvPr/>
        </p:nvSpPr>
        <p:spPr>
          <a:xfrm>
            <a:off x="1297946" y="4852647"/>
            <a:ext cx="220000" cy="220000"/>
          </a:xfrm>
          <a:prstGeom prst="ellipse">
            <a:avLst/>
          </a:prstGeom>
          <a:solidFill>
            <a:srgbClr val="1F3A6E"/>
          </a:solidFill>
          <a:ln w="9525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</a:rPr>
              <a:t>3</a:t>
            </a:r>
          </a:p>
        </p:txBody>
      </p:sp>
      <p:sp>
        <p:nvSpPr>
          <p:cNvPr id="300" name="Panel Header"/>
          <p:cNvSpPr/>
          <p:nvPr/>
        </p:nvSpPr>
        <p:spPr>
          <a:xfrm>
            <a:off x="7340080" y="2308500"/>
            <a:ext cx="4211840" cy="460000"/>
          </a:xfrm>
          <a:prstGeom prst="roundRect">
            <a:avLst>
              <a:gd name="adj" fmla="val 6000"/>
            </a:avLst>
          </a:prstGeom>
          <a:solidFill>
            <a:srgbClr val="3F8FD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</a:rPr>
              <a:t>Description</a:t>
            </a:r>
          </a:p>
        </p:txBody>
      </p:sp>
      <p:sp>
        <p:nvSpPr>
          <p:cNvPr id="301" name="Panel Body"/>
          <p:cNvSpPr/>
          <p:nvPr/>
        </p:nvSpPr>
        <p:spPr>
          <a:xfrm>
            <a:off x="7340080" y="2828500"/>
            <a:ext cx="4211840" cy="2568159"/>
          </a:xfrm>
          <a:prstGeom prst="rect">
            <a:avLst/>
          </a:prstGeom>
          <a:solidFill>
            <a:srgbClr val="F4F8FD"/>
          </a:solidFill>
          <a:ln w="9525">
            <a:solidFill>
              <a:srgbClr val="BFBFBF"/>
            </a:solidFill>
          </a:ln>
        </p:spPr>
      </p:sp>
      <p:sp>
        <p:nvSpPr>
          <p:cNvPr id="302" name="Panel Text"/>
          <p:cNvSpPr txBox="1"/>
          <p:nvPr/>
        </p:nvSpPr>
        <p:spPr>
          <a:xfrm>
            <a:off x="7540080" y="2978500"/>
            <a:ext cx="3811840" cy="2268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1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Continue entering outsourcing rows as needed; totals automatically populate the service site’s Outsourcing tab and Budget Execution Status card.</a:t>
            </a:r>
          </a:p>
          <a:p>
            <a:pPr indent="0" marL="0">
              <a:lnSpc>
                <a:spcPct val="106000"/>
              </a:lnSpc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2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6. Monthly Cash Flow (Cash Flow tab): enter Year, Month, Cash In, Cash Out (as a positive number) and Confirmed Progress; Cash Balance calculates automatically and VND converts to thousand USD on save. Use + Add month for a new row.</a:t>
            </a:r>
          </a:p>
          <a:p>
            <a:pPr indent="0" marL="0">
              <a:lnSpc>
                <a:spcPct val="106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</a:rPr>
              <a:t>3  </a:t>
            </a:r>
            <a:r>
              <a:rPr lang="en-US" sz="1100" dirty="0">
                <a:solidFill>
                  <a:srgbClr val="262626"/>
                </a:solidFill>
                <a:latin typeface="Calibri" pitchFamily="34" charset="0"/>
              </a:rPr>
              <a:t>Site Photos: use Select Photos to upload images for the service site.</a:t>
            </a:r>
          </a:p>
        </p:txBody>
      </p:sp>
      <p:sp>
        <p:nvSpPr>
          <p:cNvPr id="27" name="Shape 24"/>
          <p:cNvSpPr/>
          <p:nvPr/>
        </p:nvSpPr>
        <p:spPr>
          <a:xfrm>
            <a:off x="320040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28" name="Shape 25"/>
          <p:cNvSpPr/>
          <p:nvPr/>
        </p:nvSpPr>
        <p:spPr>
          <a:xfrm>
            <a:off x="402336" y="6473952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29" name="Shape 26"/>
          <p:cNvSpPr/>
          <p:nvPr/>
        </p:nvSpPr>
        <p:spPr>
          <a:xfrm>
            <a:off x="484632" y="6473952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0" name="Shape 27"/>
          <p:cNvSpPr/>
          <p:nvPr/>
        </p:nvSpPr>
        <p:spPr>
          <a:xfrm>
            <a:off x="320040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1" name="Shape 28"/>
          <p:cNvSpPr/>
          <p:nvPr/>
        </p:nvSpPr>
        <p:spPr>
          <a:xfrm>
            <a:off x="402336" y="6556248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2" name="Shape 29"/>
          <p:cNvSpPr/>
          <p:nvPr/>
        </p:nvSpPr>
        <p:spPr>
          <a:xfrm>
            <a:off x="484632" y="6556248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3" name="Shape 30"/>
          <p:cNvSpPr/>
          <p:nvPr/>
        </p:nvSpPr>
        <p:spPr>
          <a:xfrm>
            <a:off x="320040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4" name="Shape 31"/>
          <p:cNvSpPr/>
          <p:nvPr/>
        </p:nvSpPr>
        <p:spPr>
          <a:xfrm>
            <a:off x="402336" y="6638544"/>
            <a:ext cx="64008" cy="64008"/>
          </a:xfrm>
          <a:prstGeom prst="rect">
            <a:avLst/>
          </a:prstGeom>
          <a:solidFill>
            <a:srgbClr val="3F8FD0"/>
          </a:solidFill>
          <a:ln/>
        </p:spPr>
      </p:sp>
      <p:sp>
        <p:nvSpPr>
          <p:cNvPr id="35" name="Shape 32"/>
          <p:cNvSpPr/>
          <p:nvPr/>
        </p:nvSpPr>
        <p:spPr>
          <a:xfrm>
            <a:off x="484632" y="6638544"/>
            <a:ext cx="64008" cy="64008"/>
          </a:xfrm>
          <a:prstGeom prst="rect">
            <a:avLst/>
          </a:prstGeom>
          <a:solidFill>
            <a:srgbClr val="1F3A6E"/>
          </a:solidFill>
          <a:ln/>
        </p:spPr>
      </p:sp>
      <p:sp>
        <p:nvSpPr>
          <p:cNvPr id="36" name="Text 33"/>
          <p:cNvSpPr/>
          <p:nvPr/>
        </p:nvSpPr>
        <p:spPr>
          <a:xfrm>
            <a:off x="502920" y="641908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3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9814255" y="64465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3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5120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infoERP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14400" y="5577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PIMS Dashboard – User Guide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2026-10-09T08:57:08Z</dcterms:created>
  <dcterms:modified xsi:type="dcterms:W3CDTF">2026-10-09T08:57:08Z</dcterms:modified>
</cp:coreProperties>
</file>