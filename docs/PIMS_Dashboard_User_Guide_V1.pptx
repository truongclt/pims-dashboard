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96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50292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50292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50292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521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8521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8521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6751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6751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6751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804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2880360"/>
            <a:ext cx="8412480" cy="1325880"/>
          </a:xfrm>
          <a:prstGeom prst="rect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2971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 – User Guide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1887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96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Dashboard Viewer &amp; Data Manager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– PIMS Dashboard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123444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walks through the PIMS Management Dashboard end to end — the public-facing views any visitor can browse, and the Data Entry screens used to feed each report.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and stakeholders who monitor company and site performance, and Site Managers / Data Managers who maintain monthly progress, revenue, cost, outsourcing and cash-flow data.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(company-wide KPIs) → Construction Project Dashboard → Service Project Dashboard → Data Entry for Construction sites → Data Entry for Service sites.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Dashboard and project dashboards are read-only and require no login. Data Entry screens are accessed per site via the left-hand site tree, after logging in with a Data Manager account.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left panel to pick a site (Construction / Service / TCC / DE HEIM). Use Exchange Rate (USD / KRW / VND) and Unit (USD / K USD) at the top of every screen to change the display currency.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F758668-28C2-B874-3125-4569E49026DD}"/>
              </a:ext>
            </a:extLst>
          </p:cNvPr>
          <p:cNvGrpSpPr/>
          <p:nvPr/>
        </p:nvGrpSpPr>
        <p:grpSpPr>
          <a:xfrm>
            <a:off x="320040" y="491129"/>
            <a:ext cx="228600" cy="228600"/>
            <a:chOff x="457200" y="384048"/>
            <a:chExt cx="228600" cy="228600"/>
          </a:xfrm>
        </p:grpSpPr>
        <p:sp>
          <p:nvSpPr>
            <p:cNvPr id="3" name="Shape 1"/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/>
          <p:cNvSpPr/>
          <p:nvPr/>
        </p:nvSpPr>
        <p:spPr>
          <a:xfrm>
            <a:off x="770839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Filters &amp; Summary KPIs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C64471-ACDE-AEBE-6E5C-F31E1A89C101}"/>
              </a:ext>
            </a:extLst>
          </p:cNvPr>
          <p:cNvGrpSpPr/>
          <p:nvPr/>
        </p:nvGrpSpPr>
        <p:grpSpPr>
          <a:xfrm>
            <a:off x="320040" y="1814109"/>
            <a:ext cx="6933474" cy="3705270"/>
            <a:chOff x="603504" y="2271924"/>
            <a:chExt cx="6473152" cy="315115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115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PIMS Dashboard main scree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8000"/>
            </a:xfrm>
            <a:prstGeom prst="rect">
              <a:avLst/>
            </a:prstGeom>
          </p:spPr>
        </p:pic>
        <p:sp>
          <p:nvSpPr>
            <p:cNvPr id="50" name="Box 1"/>
            <p:cNvSpPr/>
            <p:nvPr/>
          </p:nvSpPr>
          <p:spPr>
            <a:xfrm>
              <a:off x="1405543" y="2568053"/>
              <a:ext cx="4293249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Box 2"/>
            <p:cNvSpPr/>
            <p:nvPr/>
          </p:nvSpPr>
          <p:spPr>
            <a:xfrm>
              <a:off x="6424126" y="2568053"/>
              <a:ext cx="555793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Box 3"/>
            <p:cNvSpPr/>
            <p:nvPr/>
          </p:nvSpPr>
          <p:spPr>
            <a:xfrm>
              <a:off x="1478961" y="2747743"/>
              <a:ext cx="419341" cy="86518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Box 4"/>
            <p:cNvSpPr/>
            <p:nvPr/>
          </p:nvSpPr>
          <p:spPr>
            <a:xfrm>
              <a:off x="5774122" y="2568053"/>
              <a:ext cx="615699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Box 5"/>
            <p:cNvSpPr/>
            <p:nvPr/>
          </p:nvSpPr>
          <p:spPr>
            <a:xfrm>
              <a:off x="1405543" y="2957382"/>
              <a:ext cx="5556927" cy="482502"/>
            </a:xfrm>
            <a:prstGeom prst="roundRect">
              <a:avLst>
                <a:gd name="adj" fmla="val 8333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Callout 1"/>
            <p:cNvSpPr/>
            <p:nvPr/>
          </p:nvSpPr>
          <p:spPr>
            <a:xfrm>
              <a:off x="1295543" y="245805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41" name="Callout 2"/>
            <p:cNvSpPr/>
            <p:nvPr/>
          </p:nvSpPr>
          <p:spPr>
            <a:xfrm>
              <a:off x="6314126" y="245805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42" name="Callout 3"/>
            <p:cNvSpPr/>
            <p:nvPr/>
          </p:nvSpPr>
          <p:spPr>
            <a:xfrm>
              <a:off x="1368961" y="263774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43" name="Callout 4"/>
            <p:cNvSpPr/>
            <p:nvPr/>
          </p:nvSpPr>
          <p:spPr>
            <a:xfrm>
              <a:off x="5664122" y="245805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4</a:t>
              </a:r>
            </a:p>
          </p:txBody>
        </p:sp>
        <p:sp>
          <p:nvSpPr>
            <p:cNvPr id="44" name="Callout 5"/>
            <p:cNvSpPr/>
            <p:nvPr/>
          </p:nvSpPr>
          <p:spPr>
            <a:xfrm>
              <a:off x="1295543" y="284738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5</a:t>
              </a:r>
            </a:p>
          </p:txBody>
        </p:sp>
      </p:grpSp>
      <p:sp>
        <p:nvSpPr>
          <p:cNvPr id="60" name="Panel Header"/>
          <p:cNvSpPr/>
          <p:nvPr/>
        </p:nvSpPr>
        <p:spPr>
          <a:xfrm>
            <a:off x="7591791" y="180405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61" name="Panel Body"/>
          <p:cNvSpPr/>
          <p:nvPr/>
        </p:nvSpPr>
        <p:spPr>
          <a:xfrm>
            <a:off x="7591791" y="2332570"/>
            <a:ext cx="4211840" cy="317675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anel Text"/>
          <p:cNvSpPr txBox="1"/>
          <p:nvPr/>
        </p:nvSpPr>
        <p:spPr>
          <a:xfrm>
            <a:off x="7791791" y="2482569"/>
            <a:ext cx="3811840" cy="2753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Settings: 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/>
              <a:t>Select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Project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Period / Base Month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View by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(Month),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Exchange Rate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and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Unit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(USD or K USD </a:t>
            </a:r>
            <a:r>
              <a:rPr lang="en-US" sz="1100" dirty="0"/>
              <a:t>to refresh all cards and charts.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Excel Upload: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import a new monthly report.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Download: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export the current dashboard.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FX Rate Settings: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review or edit the exchange rates used for conversion.</a:t>
            </a:r>
          </a:p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 </a:t>
            </a:r>
            <a:r>
              <a:rPr lang="en-US" sz="1100" dirty="0"/>
              <a:t>KPI Summary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YTD Revenue, YTD Operating Profit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(both Month 1 – Base Month)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Full Year Revenue and Full Year Operating Profit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(Month 1 – 12)</a:t>
            </a:r>
          </a:p>
          <a:p>
            <a:pPr marL="228600" indent="-228600">
              <a:lnSpc>
                <a:spcPct val="100000"/>
              </a:lnSpc>
              <a:buChar char="•"/>
            </a:pPr>
            <a:r>
              <a:rPr lang="en-US" sz="1050" dirty="0"/>
              <a:t>Source: Imported Excel Data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67933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01994EA-C65F-83B5-5767-69EE6C16614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45" name="Shape 1">
              <a:extLst>
                <a:ext uri="{FF2B5EF4-FFF2-40B4-BE49-F238E27FC236}">
                  <a16:creationId xmlns:a16="http://schemas.microsoft.com/office/drawing/2014/main" id="{27A47108-86D0-AD6E-9EC3-B612DA9DD484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01472BD7-DA03-9AF7-0513-9A363EA62754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8DBCFAE3-627F-8A50-B312-580D73C7C90C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">
              <a:extLst>
                <a:ext uri="{FF2B5EF4-FFF2-40B4-BE49-F238E27FC236}">
                  <a16:creationId xmlns:a16="http://schemas.microsoft.com/office/drawing/2014/main" id="{63274FB6-980F-A207-2C0A-087CAE6DFA4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B79BBE8A-A478-06D1-7571-D44BF24F9943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6">
              <a:extLst>
                <a:ext uri="{FF2B5EF4-FFF2-40B4-BE49-F238E27FC236}">
                  <a16:creationId xmlns:a16="http://schemas.microsoft.com/office/drawing/2014/main" id="{F4330B29-93DC-D34D-E2CA-07F0401309F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A64FE5CE-4E85-EF47-316C-A43B576B474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803DEDA2-DB3E-10A1-60E4-4D73CAC32FCB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30346C5E-286A-2E05-C6F8-4455173E101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B7DDE4F-48F0-7EF8-A276-DE6989FAFF6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3" name="Shape 24">
              <a:extLst>
                <a:ext uri="{FF2B5EF4-FFF2-40B4-BE49-F238E27FC236}">
                  <a16:creationId xmlns:a16="http://schemas.microsoft.com/office/drawing/2014/main" id="{C56B2379-7FA6-F746-CED8-F766837E05F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25">
              <a:extLst>
                <a:ext uri="{FF2B5EF4-FFF2-40B4-BE49-F238E27FC236}">
                  <a16:creationId xmlns:a16="http://schemas.microsoft.com/office/drawing/2014/main" id="{E44F0776-CB03-3236-4F05-0C79654BA7DC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26">
              <a:extLst>
                <a:ext uri="{FF2B5EF4-FFF2-40B4-BE49-F238E27FC236}">
                  <a16:creationId xmlns:a16="http://schemas.microsoft.com/office/drawing/2014/main" id="{15688C11-7213-01E4-8C1B-849FE021EAD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27">
              <a:extLst>
                <a:ext uri="{FF2B5EF4-FFF2-40B4-BE49-F238E27FC236}">
                  <a16:creationId xmlns:a16="http://schemas.microsoft.com/office/drawing/2014/main" id="{F39999C6-144A-E368-D017-23E5CC2EB162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28">
              <a:extLst>
                <a:ext uri="{FF2B5EF4-FFF2-40B4-BE49-F238E27FC236}">
                  <a16:creationId xmlns:a16="http://schemas.microsoft.com/office/drawing/2014/main" id="{84CE9728-D668-8A7A-9ADA-88D0676EA65F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0ADE43DD-8E2C-2C46-9038-3CC0D6DEAD25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30">
              <a:extLst>
                <a:ext uri="{FF2B5EF4-FFF2-40B4-BE49-F238E27FC236}">
                  <a16:creationId xmlns:a16="http://schemas.microsoft.com/office/drawing/2014/main" id="{15DEC9C3-F91F-B118-8A2B-B9A7062AEF4C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31">
              <a:extLst>
                <a:ext uri="{FF2B5EF4-FFF2-40B4-BE49-F238E27FC236}">
                  <a16:creationId xmlns:a16="http://schemas.microsoft.com/office/drawing/2014/main" id="{6C1D6485-C15C-CC19-D08B-FD939F7829CC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32">
              <a:extLst>
                <a:ext uri="{FF2B5EF4-FFF2-40B4-BE49-F238E27FC236}">
                  <a16:creationId xmlns:a16="http://schemas.microsoft.com/office/drawing/2014/main" id="{061F1B2D-80E5-072C-4039-D1F922B617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Text 33">
            <a:extLst>
              <a:ext uri="{FF2B5EF4-FFF2-40B4-BE49-F238E27FC236}">
                <a16:creationId xmlns:a16="http://schemas.microsoft.com/office/drawing/2014/main" id="{2D1DDA1E-69F5-556C-226E-0D4C29206AF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3407" y="2750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Charts &amp; Drilldown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633EA0F-50EC-098C-411A-41E458EBD64E}"/>
              </a:ext>
            </a:extLst>
          </p:cNvPr>
          <p:cNvGrpSpPr/>
          <p:nvPr/>
        </p:nvGrpSpPr>
        <p:grpSpPr>
          <a:xfrm>
            <a:off x="320040" y="1805106"/>
            <a:ext cx="6947034" cy="3511573"/>
            <a:chOff x="603504" y="2248526"/>
            <a:chExt cx="6473152" cy="3181490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80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494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7146" y="2358526"/>
              <a:ext cx="2184471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3641643" y="2358526"/>
              <a:ext cx="2201146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5892816" y="2358526"/>
              <a:ext cx="1117249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/>
            <p:cNvSpPr/>
            <p:nvPr/>
          </p:nvSpPr>
          <p:spPr>
            <a:xfrm>
              <a:off x="3641643" y="3642528"/>
              <a:ext cx="2201146" cy="93382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Box 5"/>
            <p:cNvSpPr/>
            <p:nvPr/>
          </p:nvSpPr>
          <p:spPr>
            <a:xfrm>
              <a:off x="5892816" y="3609177"/>
              <a:ext cx="1117249" cy="96717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7146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3531643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5782816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203" name="Callout 4"/>
            <p:cNvSpPr/>
            <p:nvPr/>
          </p:nvSpPr>
          <p:spPr>
            <a:xfrm>
              <a:off x="3531643" y="353252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4</a:t>
              </a:r>
            </a:p>
          </p:txBody>
        </p:sp>
        <p:sp>
          <p:nvSpPr>
            <p:cNvPr id="204" name="Callout 5"/>
            <p:cNvSpPr/>
            <p:nvPr/>
          </p:nvSpPr>
          <p:spPr>
            <a:xfrm>
              <a:off x="5782816" y="3499177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5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623094" y="124435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3094" y="1789237"/>
            <a:ext cx="4211840" cy="4284797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3094" y="1942353"/>
            <a:ext cx="3811840" cy="428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Sales Actual &amp; Forecast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Sales (Plan), Sales (Actual) </a:t>
            </a:r>
            <a:r>
              <a:rPr lang="en-US" sz="1100" dirty="0">
                <a:solidFill>
                  <a:srgbClr val="1F3A6E"/>
                </a:solidFill>
                <a:latin typeface="Calibri" pitchFamily="34" charset="0"/>
              </a:rPr>
              <a:t>and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 Sales (Forecast): </a:t>
            </a:r>
            <a:r>
              <a:rPr lang="en-US" sz="1100" dirty="0"/>
              <a:t>Imported Excel Data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</a:rPr>
              <a:t>Achievement %</a:t>
            </a:r>
            <a:r>
              <a:rPr lang="en-US" sz="1100" dirty="0"/>
              <a:t> = Plan ÷ Actual/Forecast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View Details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for the monthly breakdown.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Profit &amp; Loss Status stacks Operating Profit and SG&amp;A to show the full Gross Profit bar per month, with OP margin % below.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Order Status (donut) tracks Orders received against the Annual order plan and forecast; Cash Flow plots Cash Inflow / Outflow with Cumulative Cash Balance on the line. View Details is available on Sales Actual &amp; Forecast, Profit &amp; Loss Status and Cash Flow, each opening the monthly-level breakdown.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Management Performance Status compares Plan vs. Actual vs. Forecast for Revenue, Gross Profit, SG&amp;A, Operating Profit and Ordinary Profit for both the current month and the full year; every figure is aggregated company-wide from each site’s Monthly Revenue, Cost Plan/Actual and Budget Execution Status entries recorded in Data Entry.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Detail Info (Drilldown) lists this month’s Order Result and Top Revenue sites; Actual / Forecast comment boxes record monthly notes per month.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467C732-B91B-7D55-CA83-BCD12712B2FB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59" name="Shape 1">
              <a:extLst>
                <a:ext uri="{FF2B5EF4-FFF2-40B4-BE49-F238E27FC236}">
                  <a16:creationId xmlns:a16="http://schemas.microsoft.com/office/drawing/2014/main" id="{36C87B39-1F23-DED7-1A16-4630972D413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579EF8AD-A7E2-B3A3-945D-B681D459B9A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63F6CCDB-D5B1-3AC3-9B60-D7400272705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7EC95289-1743-4C0B-0147-2274EB3C0971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5">
              <a:extLst>
                <a:ext uri="{FF2B5EF4-FFF2-40B4-BE49-F238E27FC236}">
                  <a16:creationId xmlns:a16="http://schemas.microsoft.com/office/drawing/2014/main" id="{349D4375-5E28-4AF9-557B-B84E7A8C613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354071CD-EE51-461D-3DF1-F849225DBF1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0586196D-F1F7-EE1E-3723-29D0A4FB4E04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DF837CA4-A1F8-39AF-2583-4797B0557C2A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D8282B26-975E-AB28-1143-7A32A41EDDF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B175DF-FAD9-A5A9-EC61-4EFFB55CF8D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9" name="Shape 24">
              <a:extLst>
                <a:ext uri="{FF2B5EF4-FFF2-40B4-BE49-F238E27FC236}">
                  <a16:creationId xmlns:a16="http://schemas.microsoft.com/office/drawing/2014/main" id="{6E435900-9BBD-1948-B55B-8A160F8A304E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4E0B10C0-4901-292A-8AF6-B61663ACAC17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8A11C5D8-F0BC-28E5-B7B3-A01FB5E41ED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9F1F98AB-90A5-79B3-D672-2BC27BCFC69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F50BB390-B4E4-4449-4F56-29EC98A19A5A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9">
              <a:extLst>
                <a:ext uri="{FF2B5EF4-FFF2-40B4-BE49-F238E27FC236}">
                  <a16:creationId xmlns:a16="http://schemas.microsoft.com/office/drawing/2014/main" id="{678EC1C0-DAA4-9324-90B5-DC481BF133D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D3678261-DA9C-89B0-7EA9-B80E301C9F8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B6AF39D2-3A45-4B11-F4C4-4D46195A0255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622A597A-F9C8-F13C-372C-0B27586DA4F7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 33">
            <a:extLst>
              <a:ext uri="{FF2B5EF4-FFF2-40B4-BE49-F238E27FC236}">
                <a16:creationId xmlns:a16="http://schemas.microsoft.com/office/drawing/2014/main" id="{F63732B0-146D-8668-DDEC-1DCA30EB54A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Dashboard &amp; Service Dashboard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51675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78523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673361" y="2574751"/>
            <a:ext cx="648986" cy="7321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673361" y="2667938"/>
            <a:ext cx="648986" cy="7321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563361" y="255793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563361" y="255793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852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Between the Main Dashboard and an individual project, the left-hand tree offers a Construction and a Service level — click either group header (not a specific site) to see the same KPI / chart layout as the Main Dashboard, scoped to only that group’s sites.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this level to compare Construction-only or Service-only performance before drilling into one site’s Project Dashboard; all filters (Project, Period, Exchange Rate, Unit) behave exactly as on the Main Dashboard.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2FFA55A-660F-8BCF-699C-644C6008D35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9328D214-C8F2-494F-03DD-3BB00FCE04C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03FEABD-76C8-8BBA-D692-48157538B37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46F8A0F7-4A03-65C9-6A1D-6C20ABDB144E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E59C754-8878-0FA3-1691-145D91EE030C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5C84B4B-A426-C29E-145B-D5FACB544E8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37A336D2-6999-5A2D-7718-0CE66E040A5D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D5234443-61B8-1E31-D133-DD2D1E3FE33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12481AA-0C16-1A84-3BA2-5E1DFA9CB2E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2A0F89E-4536-9FB6-C911-2C7B2DE567E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F92C11-C1D5-3565-BBB9-6FC9414BE31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83BFEF1-ACD7-C610-1A89-068776349FA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387CE8A5-E13C-5E46-61D4-5FEC8AC0955D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8A6D5441-FE7D-04A6-614F-3E68D2DD65AD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24D7C2C7-ABE8-BFE3-6013-708117867398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39B4E94D-34A7-6E1C-42F3-26B8675ED33E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D5F32908-8C71-BEFB-CDF9-99EA07ED270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8DC4678E-5081-454D-EB6F-886968AF5A1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E0980FE-DE81-E3D6-1DFD-E1F73219E81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192AC07-77A3-423F-3D6E-7450EE72F69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588335F1-20E8-5A14-A0DF-50B1163A99A0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Excel Upload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531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8000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2770080" y="3325167"/>
            <a:ext cx="2203333" cy="1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2770080" y="3508500"/>
            <a:ext cx="2203333" cy="127333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2840080" y="3718500"/>
            <a:ext cx="2100000" cy="79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2660080" y="321516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2660080" y="339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2730080" y="360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0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Click Excel Upload, choose a Data type (Management Report, Cash Flow, Revenue/COGS, or Order Plan &amp; Performance) and Target year, then Select Excel file (.xlsx).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The file is parsed automatically for Preview before anything is applied — review the parsed content, then click Apply to refresh the dashboard with the new data.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Recent Uploads lists every prior import with its applied time and filename; use Revert to previous data on any row to roll the dashboard back to the state just before that import.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7F0F0B-05D7-68EE-EF4F-599345F8151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7A59684-F326-6993-833A-1F7FE902D2AB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316E7BA-45EF-AFCC-02E0-87EDA9F02CE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73D2094B-91A5-D132-E4C9-31578F0478B4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5EF8E4FA-E321-FA82-2B6B-FA4F17F925A1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1D22A476-C062-B036-EC47-D47E073F9B3D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B9148DB-BC98-E353-9C46-85C7C05F960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7889280-A54F-99F9-68CA-207CC17873C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08B9EAF-48C5-1D94-2954-46DF348A6C70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44A72B8-AE94-247D-DD42-8F4510CD62B1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CF1A4C-7823-FE45-B929-3DE038D144D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368B6378-2945-75DC-6522-9AA19B723306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0BFB859-EAFE-0452-2C08-8FFD76BA735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3924BAFC-14E4-1531-6E6E-03E4FB8DA0E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D061D977-0D1D-0778-BA3F-C5D4415C2E2F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6354219-6360-BAC5-D088-2A567140D4F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4740173B-8727-0BD9-12E5-B387141E637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0BF3A124-84C0-A4BF-0EC0-48E6BB3A5D4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9AEB9819-ECE3-C61D-6F1D-D880BFEDF50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63D9823-75B7-203B-C203-A27547A6451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F24E71A7-8C68-97FD-5288-298A0096FB1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D539C0-C9DA-BEC8-A93F-63AFF377D03F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" name="Shape 1"/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/>
          <p:cNvSpPr/>
          <p:nvPr/>
        </p:nvSpPr>
        <p:spPr>
          <a:xfrm>
            <a:off x="743407" y="2864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FX Rate Settings – Current Rate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F2CBB5-969F-B38C-CB1C-3CBF7061320D}"/>
              </a:ext>
            </a:extLst>
          </p:cNvPr>
          <p:cNvGrpSpPr/>
          <p:nvPr/>
        </p:nvGrpSpPr>
        <p:grpSpPr>
          <a:xfrm>
            <a:off x="316751" y="1715928"/>
            <a:ext cx="7023329" cy="3654743"/>
            <a:chOff x="603504" y="2271924"/>
            <a:chExt cx="6473152" cy="3188108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8810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114956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5415901" y="2558630"/>
              <a:ext cx="1013861" cy="111724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5482602" y="3192294"/>
              <a:ext cx="887129" cy="48358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5305901" y="2448630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5372602" y="308229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721854"/>
            <a:ext cx="4211840" cy="554636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2241853"/>
            <a:ext cx="4211840" cy="3128817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2391854"/>
            <a:ext cx="3811840" cy="276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F3A6E"/>
                </a:solidFill>
              </a:rPr>
              <a:t>1. FX Rate Settings</a:t>
            </a:r>
            <a:br>
              <a:rPr lang="en-US" sz="1100" dirty="0"/>
            </a:br>
            <a:r>
              <a:rPr lang="en-US" sz="1100" dirty="0"/>
              <a:t>Open the </a:t>
            </a:r>
            <a:r>
              <a:rPr lang="en-US" sz="1100" b="1" dirty="0">
                <a:solidFill>
                  <a:srgbClr val="1F3A6E"/>
                </a:solidFill>
              </a:rPr>
              <a:t>Current Rate</a:t>
            </a:r>
            <a:r>
              <a:rPr lang="en-US" sz="1100" dirty="0"/>
              <a:t> panel to set exchange rates for dashboard conversion.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rgbClr val="1F3A6E"/>
                </a:solidFill>
              </a:rPr>
              <a:t>2. Set Exchange Rates</a:t>
            </a:r>
            <a:br>
              <a:rPr lang="en-US" sz="1100" dirty="0"/>
            </a:br>
            <a:r>
              <a:rPr lang="en-US" sz="1100" dirty="0"/>
              <a:t>Enter </a:t>
            </a:r>
            <a:r>
              <a:rPr lang="en-US" sz="1100" b="1" dirty="0"/>
              <a:t>KRW &amp; VND rates per 1 USD</a:t>
            </a:r>
            <a:r>
              <a:rPr lang="en-US" sz="1100" dirty="0"/>
              <a:t> → click </a:t>
            </a:r>
            <a:r>
              <a:rPr lang="en-US" sz="1100" b="1" dirty="0"/>
              <a:t>Save</a:t>
            </a:r>
            <a:r>
              <a:rPr lang="en-US" sz="1100" dirty="0"/>
              <a:t> to apply across the dashboard.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D965E76-7E2D-7206-A66B-F696DEABDC5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27" name="Shape 24"/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5"/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6"/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7"/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8"/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29"/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0"/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1"/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2"/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 33"/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FX Rate Settings – Monthly Revenue Rate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5142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647FBC-4228-CA1D-1C27-37EA5882C185}"/>
              </a:ext>
            </a:extLst>
          </p:cNvPr>
          <p:cNvGrpSpPr/>
          <p:nvPr/>
        </p:nvGrpSpPr>
        <p:grpSpPr>
          <a:xfrm>
            <a:off x="640080" y="2308500"/>
            <a:ext cx="6400000" cy="3078270"/>
            <a:chOff x="640080" y="2308500"/>
            <a:chExt cx="6400000" cy="3078270"/>
          </a:xfrm>
        </p:grpSpPr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827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5375880" y="2735389"/>
              <a:ext cx="1057217" cy="8004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5469262" y="2842111"/>
              <a:ext cx="900469" cy="103387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5265880" y="262538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5359262" y="273211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827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F3A6E"/>
                </a:solidFill>
              </a:rPr>
              <a:t>1. Monthly Revenue Rate</a:t>
            </a:r>
            <a:br>
              <a:rPr lang="en-US" sz="1100" dirty="0"/>
            </a:br>
            <a:r>
              <a:rPr lang="en-US" sz="1100" dirty="0"/>
              <a:t>Set a specific </a:t>
            </a:r>
            <a:r>
              <a:rPr lang="en-US" sz="1100" b="1" dirty="0"/>
              <a:t>KRW / VND exchange rate by Year &amp; Month</a:t>
            </a:r>
            <a:r>
              <a:rPr lang="en-US" sz="1100" dirty="0"/>
              <a:t> for monthly revenue conversion.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rgbClr val="1F3A6E"/>
                </a:solidFill>
              </a:rPr>
              <a:t>2. Set Monthly Rate</a:t>
            </a:r>
            <a:br>
              <a:rPr lang="en-US" sz="1100" dirty="0"/>
            </a:br>
            <a:r>
              <a:rPr lang="en-US" sz="1100" dirty="0"/>
              <a:t>Select </a:t>
            </a:r>
            <a:r>
              <a:rPr lang="en-US" sz="1100" b="1" dirty="0"/>
              <a:t>Year / Month</a:t>
            </a:r>
            <a:r>
              <a:rPr lang="en-US" sz="1100" dirty="0"/>
              <a:t> → enter </a:t>
            </a:r>
            <a:r>
              <a:rPr lang="en-US" sz="1100" b="1" dirty="0"/>
              <a:t>KRW &amp; VND rates</a:t>
            </a:r>
            <a:r>
              <a:rPr lang="en-US" sz="1100" dirty="0"/>
              <a:t> → </a:t>
            </a:r>
            <a:r>
              <a:rPr lang="en-US" sz="1100" b="1" dirty="0"/>
              <a:t>Save</a:t>
            </a:r>
            <a:r>
              <a:rPr lang="en-US" sz="1100" dirty="0"/>
              <a:t>.</a:t>
            </a:r>
            <a:br>
              <a:rPr lang="en-US" sz="1100" dirty="0"/>
            </a:br>
            <a:r>
              <a:rPr lang="en-US" sz="1100" dirty="0"/>
              <a:t>The dashboard uses the monthly rate when defined.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5383575-5E54-1592-45CC-02EED1268F2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9" name="Shape 1">
              <a:extLst>
                <a:ext uri="{FF2B5EF4-FFF2-40B4-BE49-F238E27FC236}">
                  <a16:creationId xmlns:a16="http://schemas.microsoft.com/office/drawing/2014/main" id="{CD906F62-A4CA-8E4E-3191-AD5433992CCA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6E402576-2217-0003-BC3F-F975C83948E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7CD5361B-2025-2C87-EFC0-0EAFA2EB64C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7F3CDDA6-6BAD-00ED-9116-8ECF1FC2DCD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C8B7A43E-3753-64D2-0B64-8B83BE65613F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CCFDDA96-357D-D945-0F31-E3CC6BD0661E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7">
              <a:extLst>
                <a:ext uri="{FF2B5EF4-FFF2-40B4-BE49-F238E27FC236}">
                  <a16:creationId xmlns:a16="http://schemas.microsoft.com/office/drawing/2014/main" id="{D757E1ED-8866-4018-2000-5F2CAAF06117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8">
              <a:extLst>
                <a:ext uri="{FF2B5EF4-FFF2-40B4-BE49-F238E27FC236}">
                  <a16:creationId xmlns:a16="http://schemas.microsoft.com/office/drawing/2014/main" id="{B28BB277-8AE8-7F08-370D-BD0CDDCF334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9">
              <a:extLst>
                <a:ext uri="{FF2B5EF4-FFF2-40B4-BE49-F238E27FC236}">
                  <a16:creationId xmlns:a16="http://schemas.microsoft.com/office/drawing/2014/main" id="{518B06C5-B194-1971-2DE0-EEF1DA10D0D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19DBFE2-2F34-E571-A7B0-796934A42B16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2B400A7E-F924-F784-119D-749AD98FC0E6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5">
              <a:extLst>
                <a:ext uri="{FF2B5EF4-FFF2-40B4-BE49-F238E27FC236}">
                  <a16:creationId xmlns:a16="http://schemas.microsoft.com/office/drawing/2014/main" id="{9AB5A4FB-628C-76B2-2587-A0FBBFF2CF8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6">
              <a:extLst>
                <a:ext uri="{FF2B5EF4-FFF2-40B4-BE49-F238E27FC236}">
                  <a16:creationId xmlns:a16="http://schemas.microsoft.com/office/drawing/2014/main" id="{160CD9ED-66F5-EE6C-21D6-EF1048037CF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7">
              <a:extLst>
                <a:ext uri="{FF2B5EF4-FFF2-40B4-BE49-F238E27FC236}">
                  <a16:creationId xmlns:a16="http://schemas.microsoft.com/office/drawing/2014/main" id="{B8A3D3D2-E48D-6BFD-9AD1-9A048E1547B2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8">
              <a:extLst>
                <a:ext uri="{FF2B5EF4-FFF2-40B4-BE49-F238E27FC236}">
                  <a16:creationId xmlns:a16="http://schemas.microsoft.com/office/drawing/2014/main" id="{76523397-CA2D-5146-1BE1-E69F6859EE3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29">
              <a:extLst>
                <a:ext uri="{FF2B5EF4-FFF2-40B4-BE49-F238E27FC236}">
                  <a16:creationId xmlns:a16="http://schemas.microsoft.com/office/drawing/2014/main" id="{E14E5AB8-AE4E-37CD-4C14-962E9AFABD1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0">
              <a:extLst>
                <a:ext uri="{FF2B5EF4-FFF2-40B4-BE49-F238E27FC236}">
                  <a16:creationId xmlns:a16="http://schemas.microsoft.com/office/drawing/2014/main" id="{762CDBF7-EC6E-6E16-E946-F7E127499464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D310D598-5E2A-0352-535B-92F263E4C5DF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32">
              <a:extLst>
                <a:ext uri="{FF2B5EF4-FFF2-40B4-BE49-F238E27FC236}">
                  <a16:creationId xmlns:a16="http://schemas.microsoft.com/office/drawing/2014/main" id="{92BE5DE7-988A-645F-5BDB-EB34061F8F6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Text 33">
            <a:extLst>
              <a:ext uri="{FF2B5EF4-FFF2-40B4-BE49-F238E27FC236}">
                <a16:creationId xmlns:a16="http://schemas.microsoft.com/office/drawing/2014/main" id="{377AA8A9-0328-C7F5-E636-7BAAE9909E4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Dashboard – Construction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6992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96774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949" y="2568229"/>
            <a:ext cx="5594173" cy="40624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5949" y="2358448"/>
            <a:ext cx="1964620" cy="9989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5949" y="3190914"/>
            <a:ext cx="5594173" cy="98231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Box 4"/>
          <p:cNvSpPr/>
          <p:nvPr/>
        </p:nvSpPr>
        <p:spPr>
          <a:xfrm>
            <a:off x="3653608" y="4223172"/>
            <a:ext cx="3346514" cy="94901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Box 5"/>
          <p:cNvSpPr/>
          <p:nvPr/>
        </p:nvSpPr>
        <p:spPr>
          <a:xfrm>
            <a:off x="6151006" y="2358448"/>
            <a:ext cx="865765" cy="9989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6041006" y="224844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949" y="224844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5949" y="30809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3543608" y="411317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04" name="Callout 5"/>
          <p:cNvSpPr/>
          <p:nvPr/>
        </p:nvSpPr>
        <p:spPr>
          <a:xfrm>
            <a:off x="6041006" y="224844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7677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76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Select a construction site from the left tree (e.g. K8HH1 도급공사 [SITE23]) to open its project dashboard; the header always shows Client, Construction Period, Construction Scale, Contract Amount and Status.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Exchange Rate (USD / KRW / VND) and Unit (USD / K USD) sit above every tab of the site and apply to all of its screens — Overview, Report, Progress, Revenue/Cost, Outsourcing, Cashflow and Data Entry.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Site Photo displays the latest registered image; Construction Info lists Location, Site Area, Gross Floor Area, Purpose, Ownership Stake and Partner Company.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Contract Info lists Client, Contract Amount (with the contract exchange rate), Contract Method, Payment Terms, Defect Warranty Period / Bond, Advance Payment, Retention and VE Terms.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Click Sync PIMSVINA at any time to refresh the project data from the source system.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B6A664-5AC1-8261-DDE8-F306CA8B5FBD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AAF7B755-20BA-150B-AD23-CC2D51DC2D30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E37291C-1A95-AA67-7DFE-6982E241C66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D0F9A43-0C35-F502-9543-C69A19B5B827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DEA553BC-E424-71FA-EC42-B4FC31A40FDD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1B6DA4B8-75EB-FD1A-B652-59084D03DA0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E213C936-9802-31DC-AD26-3987C584EDB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832CD734-C13E-9DC0-21BC-527BA47C7BB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BB03237A-9611-8742-FC3D-DFBE577C6872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B5EBED2-A9A3-73C0-1DA6-7722FFCD3D03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09D46F-2F0F-56BD-EC91-E273BBF7643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5E9609C-D518-5994-D364-4255A3AF40B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0F067C7A-FA7A-08A7-35BE-B385B3A50AD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C6D2AA6-0424-A4A6-19E8-E2558568FCE7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1FB1C1D7-2AC0-3B7D-31B4-5CD66115C664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4766F7E1-1423-8EFA-6F7B-F106B1F24C4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45890850-D8F2-9553-2ADD-9F8D0D2B1D4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B7D30435-C431-73A8-D34F-FAC104967D4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7CC25B37-D6F6-6C57-11F8-5B0D184D676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BF2DC54-EB7F-B85A-5CD3-301CA04240F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394E48D-92AF-3557-A28A-3FEBBDFFC5A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4023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6708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358" y="2989705"/>
            <a:ext cx="5582555" cy="29906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4358" y="3338614"/>
            <a:ext cx="1844237" cy="109657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3298439" y="3338614"/>
            <a:ext cx="1794393" cy="109657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Box 4"/>
          <p:cNvSpPr/>
          <p:nvPr/>
        </p:nvSpPr>
        <p:spPr>
          <a:xfrm>
            <a:off x="1404358" y="4451802"/>
            <a:ext cx="5582555" cy="88058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4358" y="2879705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358" y="32286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3188439" y="32286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1294358" y="434180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708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The Report tab is the monthly executive summary for the site. Pick the Base Month, then click Export Report for a shareable file.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Progress shows the monthly and cumulative progress rate (Plan vs. Actual) with achievement %, plus the Duration rate (elapsed construction time / total period) and the gap between duration and cumulative progress.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Revenue Actual &amp; Forecast charts monthly Revenue (Plan / Actual / Forecast) with Annual Cumulative and Overall Cumulative totals and their achievement rates.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Status traffic-lights Progress, Revenue and Cost for the month and year cumulative; Cost (Cumulative Execution) breaks out Direct Cost, Indirect Cost and Contingency; Cashflow shows Collection Rate against cumulative revenue; Key Issues &amp; Action Plan carries the monthly comment.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82734B-5A0B-9CA8-47B3-BF7D97B4C4A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5DE6B7A5-F9AB-675B-AACD-0FF6322236A1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EE5327A-E070-0263-007D-485C5B25BE88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87B8585-255A-8559-1392-431AD76637F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AE9FAA88-1685-D4E9-C7E9-1B10044A9440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E405EBDB-8858-3BCB-740A-CE993F0FB82B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4AB71EAD-56EA-2150-1922-9061A6AA575D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FF6AF07D-DFDB-E3C1-C845-A5C376597ED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ED4D2F6A-F1BC-DF5B-0D61-EB4E1C8554C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135F75A1-4EBA-6FE9-7A9D-3CF533B5BE3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49F208-888D-74EA-1466-AB420C4EA10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CB2F9B98-FBC7-6373-BD52-366101D2513D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8C84BABE-973E-FABB-04FD-234FC6C6F78B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81BA6D92-B32A-A14E-767E-5E8E6C62294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E9CEA3B6-9754-DB1D-10B1-9A4E5CA40C84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CF9C8399-D4B0-4E4B-F329-4E81637514F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7538D3AB-B9F1-037A-49D0-11839014E4E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57F8B387-632A-74FC-D7DF-2C8ADDCC5155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45F1303-F41A-9AC1-ECAA-ADE8DFAF702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379AFABB-651B-E373-0EB1-F3E963FD5C95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12D31633-5A3B-9070-8746-47097C5B19F0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4169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68539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551" y="3207096"/>
            <a:ext cx="2745710" cy="214664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4201182" y="3207096"/>
            <a:ext cx="2795632" cy="148101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4091182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4091182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853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The Progress tab opens with the Site Progress Status photo for the selected month (use the month filter and photo pager below it) alongside the Duration rate chip.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Three donut charts summarize Monthly, Annual and Cumulative progress, each showing Plan vs. Actual and its Achievement Rate.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4B5B05-3F46-4B6A-F670-3FF1F227878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44BCFD0-4D71-15C4-B5CE-3BE92AEC0EA1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37045CB8-5CB5-1800-7AE7-9DEBF4E2BA26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DD0BB5A-3D87-CCCB-431F-BE67DE23C3DB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442D3EB5-B68A-D6D2-B045-384BA7B8A81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67C9C19-2052-BEE6-0E76-A3E91EF58BA4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7A41DF3C-E75D-077E-64BA-DE083635757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129A50C6-BED1-0334-FE5E-F1558826AF8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7A76B09-8903-716B-8A7C-3C45006423E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D38BCA6-AECF-413C-8CD0-F1D84EF63558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0726C8A-3DC5-27B6-2FD7-9AA409BF768A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D95D7BE-62FD-9468-325D-BBBE6005FF6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E59BD8E5-5BE5-3730-7694-5A4C373241A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E950926-3924-4CBA-29F7-A9F1A7BBFB11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9E50532E-9E67-1C8C-D342-8DC769EE40E9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FDCB7FD0-AE65-DCB3-6035-FA9E9C11BD81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A9E86EC-DE35-B237-7484-1766A297D12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F1D5258A-1AB1-5917-A78B-FFFF2803C7AC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3D310F77-6A14-1CB6-AA11-FC8B05873DDA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975275A5-7B7A-1548-34F6-2B3170B86B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9A2168A-68B2-51D7-7499-933C63A9EC4D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Monthly Trend &amp; Milestones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3373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60581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3565" y="2358293"/>
            <a:ext cx="5576763" cy="122821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3565" y="3686093"/>
            <a:ext cx="5576763" cy="107883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3565" y="4964102"/>
            <a:ext cx="5576763" cy="38174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3565" y="485410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3565" y="357609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3565" y="485410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0581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 Progress Plan &amp; Actual charts Monthly Plan / Monthly Actual as bars with Cumulative Plan / Cumulative Actual as lines across the full construction period.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Milestone lists each construction phase (착공, 토공사, 지하/지상 골조 공사, 내·외부 마감공사, 준공 …) with Plan and Actual date ranges on a timeline; a vertical marker shows the current reference month.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the Comment box at the bottom (filtered by month) to record progress notes for that period.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598FF0-E631-D96B-6B22-55275B5DDB6F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70B0F8D-A5F9-DB7B-09C3-ADA33D47DC1B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43FE890A-90D1-38C0-5523-76F999CB7903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67FDF91E-0757-795E-6DAB-792F0B5D3436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304C7D37-B2F2-6E2D-C517-CBC98279C8D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0D94D7C2-42E0-98A0-C832-F957783E532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66385467-E43D-65EC-F681-27323C3565B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B85D9CDC-9DA7-B034-F0F0-910ED863552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072211A-EF60-6A97-AFB5-C352150F137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E1761C25-EA4C-7B8B-CC6F-BF6E8DD300DD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21B9F19-D34F-7B1D-A440-32B129B4AD78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8159F56-33BC-F173-417A-C462123446F4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E39BCF8F-AE89-8A5F-FD13-40108CB3F7EB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AD4A8D56-6BBA-8715-7B13-580B01251B0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EE69D35E-1420-5399-262F-A4303D98D7FB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4569DFB-6E30-A148-AAA0-387182F376E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5BE9B5A4-D8D2-3BE8-013C-20802B2FED22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AFEAD30-3CAC-2424-B4B0-F8ECCB87DDC5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CBCBBFFA-A108-6F42-2F8C-1ED30AF8D20C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B56E0F36-C1E2-1D4E-C30A-2CC1ED4A26F3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4874927-EF2F-FB9F-CAAC-FD729F31EF8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Revenue/Cost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3170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58554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551" y="3207096"/>
            <a:ext cx="5591264" cy="96515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5551" y="4288739"/>
            <a:ext cx="5591264" cy="83203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6647360" y="3207096"/>
            <a:ext cx="282891" cy="8320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5551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551" y="417873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6537360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3855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38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Revenue (K USD) charts the Monthly Plan against Actual for the selected year, with dashed bars marking forecast months not yet closed.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Cumulative Cost Ratio (%) trends the cost-to-revenue ratio across the year on a single line, with the latest value highlighted.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the year selector on each chart to review a different fiscal year.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36103C-0743-335A-3D02-17151030776B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F1DA5DF-92B4-97A1-F138-049F9CD98EF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690E543-431B-9FEB-A040-62F14491929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E0311FFE-8A49-4523-09FB-780D9AF3C4C2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225CB928-9451-32C0-630A-52C3E320AABF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49C164D-F07E-7277-B1B5-CD2E51237503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F74D648B-2C18-C99F-AE46-FBFABCD3AF12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69E05D6-FCBF-7A7B-6198-EA56C414D0B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99F45B25-415B-1A3B-F46A-17C95B304D6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5372E6D-ACC4-9784-9F01-0E3937F5799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9F3166-3E26-445A-96F6-C5A38F55F93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460BC2F1-2F08-778A-1B99-6547FC9952B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2372E7BD-54AE-FC04-E5AF-33DA2C7F7D9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BBCF08A8-C26E-07C6-78F2-2F13CE6C9F4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8C3FF0ED-C9E5-5636-82EA-ADF5E2D5B55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9C4D4D68-B85E-02ED-8923-9BE229D3A65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3CADA99-6FE1-E558-74AB-183B9DE790E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616FB08E-6753-56A8-1D03-C9EA15875A58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BB10553-1000-7EC2-A831-A3B312A042F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DED6B588-3D37-F3DE-56C0-A81CAC00CDA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39F02737-0D6F-723F-C452-88848991D7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Revenue/Cost: Cost Rate &amp; Budget Execution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5377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8062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2774" y="2358241"/>
            <a:ext cx="5570984" cy="91191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2774" y="3336479"/>
            <a:ext cx="5570984" cy="202279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2774" y="224824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2774" y="322647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062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Cost Rate shows three donuts — Bidding, Execution Budget Setup and Standard Estimated Cost Ratio — each as Cost / Contract Amount with the underlying figures below.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Budget Execution Status breaks the total budget into Direct Cost, Outsourcing, Common, Expense 1, Indirect Cost, Expense 2 and Contingency, each with an Exec. Plan vs. Actual (Exec. Rate) bar and the remaining amount on the right.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DFA354-C8A0-AF5D-2617-9C822AF048E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EB22669-B5A0-7B47-0E4D-55C5BF0CDB43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8AF7A58-B1CA-0324-54AF-EBAD2067233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990A88C3-B520-E323-F471-171BBA39C2C4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795448B-00BD-3AB8-F6CF-66306F67DC3D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A4CE21FB-BCFC-BF85-3503-F346A573706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1C42A0D-7F2E-EBF2-66AF-D7FD497A3EF7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531AA8-72C1-4C9B-6D60-0C8DCFDF2851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FC8EB70-E2B7-ABA9-C202-98322F2A36AC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4E2286C-8459-A010-16F0-9FA929B69ED2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A90D345-9920-A665-3B95-E404A35F8AA9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3E945F78-60EF-9DA8-D374-4CEE8AA09DA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F7A3B054-0D1A-7D31-03CF-DCD02634A211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47521552-C5BE-BAF3-767E-57727DEA9D1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ACC70AFC-1771-0690-C853-76494AF1E79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0B011F0-93C1-8A34-27A7-7341E546A6C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6D2D495-15CF-7DFA-2B83-E7E2F090602B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48B67A0-94F1-366A-DEBC-7819C61F9EF2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D389AA0-F0DA-A314-2DED-A8E66E6CD3F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470E303B-7570-7AF4-F36C-F3B48EAFD8D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EE0AA33-64CC-11C8-F6BF-16712AC6F3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Revenue/Cost: Budget Execution Status (detail)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5833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85179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551" y="2358422"/>
            <a:ext cx="5591264" cy="211336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5551" y="4621553"/>
            <a:ext cx="5591264" cy="68226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5551" y="451155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551" y="451155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517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Scroll down for the full Budget Execution Status table and the Total Budget row, which sums Direct Cost + Indirect Cost + Contingency against Plan and Actual.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the Comment box below the table (filtered by month) to log notes on cost execution for the period.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458307B-4D3A-09E2-BD42-8AEFCAECE49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768E7D21-983E-C8C8-B57D-86523C7D8D7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9B95CBCC-AFD5-A6A9-03A5-1FA43E9C782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73C79765-96E0-5002-7B81-E55234531FD7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29934A38-CBE3-51AF-6A2C-D2117DABFB3C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E0765ED-9CC2-52EC-B479-03F06A22D7CC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F2C880F4-0CB3-A2AA-1DFC-593539EF0F2E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FE0FC5AA-BB37-DCCA-DACD-D3020A4666CC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7F06813-1CF0-9EFB-8616-22A6F66140BB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C09DED9-7018-AE5D-8FAB-BA33255A729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111FD6A-F76B-5146-F043-EB08C843C72F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10356F76-097A-3870-A6D3-95F0C6D30016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8181A740-3BEC-F2BD-2F77-6B6EF7CE1896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D4EF9248-03E3-B068-26DA-C3466B19A4D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1BBDFE6F-75F5-4938-13C4-B147C0262242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EBC45BC3-F007-EA15-E289-BD0B9504B6EB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68E8B2E2-0D86-1271-29A3-8089766FF27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BC3E887C-4C3F-7B80-3752-3F60D7F9EFB5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4108021E-5CA9-823E-5C09-EE7C4053897C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309D9032-6CA7-B46F-2770-76BC3370290B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2E47B3CD-90A9-3D77-F571-5F23773B7E8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3822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6507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348" y="3208031"/>
            <a:ext cx="2432067" cy="213222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3838414" y="3208031"/>
            <a:ext cx="1299323" cy="213222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5137737" y="3208031"/>
            <a:ext cx="1865695" cy="213222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6348" y="309803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3728414" y="309803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5027737" y="309803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507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Outsourcing &amp; Materials lists every subcontract and material order for the site: Trade (Category / Detailed Trade), Vendor Name, Initial Contract Date and Change Contract Round.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Budget (A), Executed Budget and Resolved Amount (B) track the contract value through change orders; Resolved Rate (B/A) flags contracts that exceed 100% in red.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Progress Billing Status shows This Month, Cumulative (C), Ratio (C/B) and Remaining Billing (B−C) per vendor, with the base month selectable at the top right.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EFB461-48C5-212C-36F9-4E410E2E5E2E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87577AA-869A-3438-8ACE-E7BCB165E85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9BFD8363-2C5D-88F0-7BD5-1E226D411A90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C6D58A01-E187-E5BD-422A-905A1915985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780098DC-E7C5-9586-B463-F037ED1EC2D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5886EF8-5655-452C-A67D-9A6687CBE24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511357D-2778-5009-09B5-D03BFBD6AEF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DC35C56-F06D-4508-3E0A-9DE34A91F23F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DB636776-2EE2-525E-B5FC-E0EB88F4DF1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8ECFA68A-E701-FA1B-A3F9-2D7417888268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14D09E-824B-9D31-F7C2-A20C1223871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3F359F7-D8FD-98E2-D4DC-6E1CA01F64D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777D415C-E329-D7FA-445D-7288D03E618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6C36552E-62A8-342C-68A1-3519127489FD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886EC726-F6B0-7158-16F8-90637DF307F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087D9CD8-3A1E-BCEC-A41A-5ECEB831C57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43AA2AE-444B-8F6C-200A-C4B6603B4658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170DED84-06E4-1ACF-6C1C-BA311259FA4A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128399D-A812-2A32-F43F-B0CD432146F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CA517D5F-F06D-7C33-E4F2-175483C723B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0AE4499A-F228-7009-152E-3ABDAC1CACF7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(continued) &amp; Total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44885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71733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348" y="2358474"/>
            <a:ext cx="5597085" cy="214888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6348" y="4640619"/>
            <a:ext cx="5597085" cy="6663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6348" y="453061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6348" y="453061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173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Scroll the table to review every vendor line; the Total row at the bottom sums Budget, Executed Budget, Resolved Amount, This Month, Cumulative and Remaining Billing across all contracts for the site.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the Comment box below the table (filtered by month) to record outsourcing notes for that period.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5C1D4F-46B0-8B60-6D43-197A82C8AE96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9A6C1983-3571-1C9C-2D3F-F7EDEC610D7E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9FED7555-588B-1321-8F2C-07F6834B18E7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98B4ACE4-9834-CC4A-874A-E9FFB3C018B0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6AEA9534-EA5F-022B-0D66-C0688CB46CFF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4582A02-4885-CCAD-F1ED-828EBF67E28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3CAC5C6-09E9-FB7B-315E-72C2B79FB84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E8BA90C9-AA8A-0935-C1BF-6DC67D38ACE0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FD0CB01C-D712-0094-7FC7-57A0BB384BE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C67D895A-90F5-BFF7-FBA6-ED7AC12F43D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5B74CBB-7A2E-6982-CACE-D0CC7E269C80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B254789-63D6-8A38-A192-F33D3252BDB9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D44AA303-FDD0-7064-90A2-E66FEFFB270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404B235F-CD6A-D8A3-C4FA-BE3F3EB9DC8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7050D5F8-4D35-2375-0D25-4606D47F8775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94DD623F-052E-9A37-FCFA-64FF1D3BD68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F1467436-692B-663C-E337-77C6DF0B900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3408641E-0792-495D-0041-A2AF410EA001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151409F0-E7F9-58CC-4673-E09943E97BA2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A711E02-81F5-1312-FD61-FDEC93C020B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FBD866FC-7DBE-A9FE-6E4F-E88FAE42EBD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531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8000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747" y="3208500"/>
            <a:ext cx="5600000" cy="183333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6440080" y="3208500"/>
            <a:ext cx="566667" cy="10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6747" y="309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6330080" y="309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0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Cash Flow plots the full construction period (start to end) as Actual cash-in and cash-out bars with the running Balance line; a dashed Reference month marker shows where actuals end and the outlook begins.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the year selector (top right) to focus on a single year within the overall timeline; hover any bar or point for the exact monthly figure.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6073087-FA02-948A-54D4-B6AB06F4AD2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7DC4B1FD-578F-62A7-D0D4-BA0551815DC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ADC95A4-2053-3077-2E56-5F10695A2A2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1E8F3D8-658B-C96C-F618-D71AA368CB7A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E915422-0955-4C30-FC1F-44629B10752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50ACF91-160D-359D-0825-FCCD0CBCB4EA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8AED591A-12B4-A8F0-C858-E1908E518908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354E187-8CE8-D74B-6732-3F00B98B0CA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88FFCEF-6C53-7E93-D6B1-9337C558144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3146DB1E-03DA-8CA0-D7ED-0D677AB0CE8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DF8EF9-FAA6-04A7-4758-BB995E6FBEC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2BB2E8E-A7F7-13EA-1E95-0755F58D2775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E31C014-6FBC-481E-A2E7-00F455EDDC19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A519BA4A-04CB-4AB2-2F58-AF915DAA9C62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94B513D0-F174-529B-8317-B585F3F8DE3C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80C782A-8FF0-7646-697F-D3461BB89B1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B8F81B4E-40D1-90A3-1FA7-D7CE32C196E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A2B3E1E0-8973-4B2F-AF8F-3E349727A80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D2B03E62-F1E6-AE9F-7FB0-4F6D15D8949A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EF8B8604-3617-6F16-FDBB-F5F84ACC661C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98FF979A-AF30-73C2-0C96-3F3D9D5CEA5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– Construction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Data Manager Access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123444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screens require a Data Manager (or Site Manager) account. Log in to PIMS with your company account before the left-hand site tree and Data Entry tab become available.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selection: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pick the site from the left tree, then choose “시공” (Construction) or “용역” (Service) to switch which set of Data Entry cards is shown for that site.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control: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 Progress / Change to closed control on the Data Entry tab to mark a site as closed once it is finished — this also affects which project list (In Progress vs. Closed) the site appears under in the left tree.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behavior: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numbered card has its own Save button, plus a Save all shortcut at the top; use the Lock toggle on a card to freeze it against further edits once its plan is finalized.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E0A34B-89F6-EBE4-8B1F-4DA701D8198D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7" name="Shape 1">
              <a:extLst>
                <a:ext uri="{FF2B5EF4-FFF2-40B4-BE49-F238E27FC236}">
                  <a16:creationId xmlns:a16="http://schemas.microsoft.com/office/drawing/2014/main" id="{6276418B-518F-6716-04D8-504305614FFA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C903DA9F-068B-23AC-61AA-DFBDD1063853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03C732BE-E562-E708-F619-0CA5E5C263A2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64F3BCD5-30FE-4316-BC2D-3429CB4924DB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C8E132D7-A3B4-5103-69BF-EEF477CCAC1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6">
              <a:extLst>
                <a:ext uri="{FF2B5EF4-FFF2-40B4-BE49-F238E27FC236}">
                  <a16:creationId xmlns:a16="http://schemas.microsoft.com/office/drawing/2014/main" id="{BD5452AE-BB37-3355-4369-1D674FD6365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400A13F9-8319-95B0-2F6B-55DFCF581DD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8">
              <a:extLst>
                <a:ext uri="{FF2B5EF4-FFF2-40B4-BE49-F238E27FC236}">
                  <a16:creationId xmlns:a16="http://schemas.microsoft.com/office/drawing/2014/main" id="{7FB9D239-4FFD-887E-E77E-623EA1A1292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9">
              <a:extLst>
                <a:ext uri="{FF2B5EF4-FFF2-40B4-BE49-F238E27FC236}">
                  <a16:creationId xmlns:a16="http://schemas.microsoft.com/office/drawing/2014/main" id="{3504FF32-4CD7-9F6D-CBE8-F3B234F6B380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1B4B10C-C218-FB97-CC9B-ECDADA69A39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C112EB1D-8177-0F2B-78F8-E8BD34D66D4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25">
              <a:extLst>
                <a:ext uri="{FF2B5EF4-FFF2-40B4-BE49-F238E27FC236}">
                  <a16:creationId xmlns:a16="http://schemas.microsoft.com/office/drawing/2014/main" id="{DDAB3A51-C80F-8827-7B4D-B378851208E4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6">
              <a:extLst>
                <a:ext uri="{FF2B5EF4-FFF2-40B4-BE49-F238E27FC236}">
                  <a16:creationId xmlns:a16="http://schemas.microsoft.com/office/drawing/2014/main" id="{3926DC03-1E5E-A9F8-C116-DECC3F1E400A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7">
              <a:extLst>
                <a:ext uri="{FF2B5EF4-FFF2-40B4-BE49-F238E27FC236}">
                  <a16:creationId xmlns:a16="http://schemas.microsoft.com/office/drawing/2014/main" id="{16E6014C-E8E8-136A-5260-17F816002D1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8">
              <a:extLst>
                <a:ext uri="{FF2B5EF4-FFF2-40B4-BE49-F238E27FC236}">
                  <a16:creationId xmlns:a16="http://schemas.microsoft.com/office/drawing/2014/main" id="{96CDFC95-101F-BA0B-ED9F-97E21674DC6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9">
              <a:extLst>
                <a:ext uri="{FF2B5EF4-FFF2-40B4-BE49-F238E27FC236}">
                  <a16:creationId xmlns:a16="http://schemas.microsoft.com/office/drawing/2014/main" id="{37933BAB-59C9-B362-5C48-B7796401D7B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60342010-63F3-F3EE-CB1C-A20EF657B55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97027E91-4F0E-55DD-DB14-980AFACC77DE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A5FC689E-1C45-F4CA-11F3-E8F1A3F947C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 33">
            <a:extLst>
              <a:ext uri="{FF2B5EF4-FFF2-40B4-BE49-F238E27FC236}">
                <a16:creationId xmlns:a16="http://schemas.microsoft.com/office/drawing/2014/main" id="{CCD67955-CFD0-2CAF-6AB7-46595852615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Overview &amp; Monthly Progress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6831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95164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5332748" y="3207096"/>
            <a:ext cx="1664067" cy="9984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5551" y="3406784"/>
            <a:ext cx="5591264" cy="89859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5551" y="4355302"/>
            <a:ext cx="5591264" cy="101508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Box 4"/>
          <p:cNvSpPr/>
          <p:nvPr/>
        </p:nvSpPr>
        <p:spPr>
          <a:xfrm>
            <a:off x="6447672" y="3416768"/>
            <a:ext cx="549142" cy="8320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5222748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551" y="329678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5551" y="424530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6337672" y="330676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7516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7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Open the site’s Data Entry tab, choose 시공 (Construction) or 용역 (Service) scope and the site status (In Progress / Change to closed), then edit each numbered card and click its own Save (or Save all at the top).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0. Overview (Overview tab): Contract Amount, Construction Start/End Date, Client, Scale, Location, Site Area, Gross Floor Area, Purpose, Ownership Stake, Partner Company, Contract Method, Payment Terms, Defect Warranty Period/Bond, Advance Payment, Retention and VE Terms.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1. Monthly Progress (Progress tab): Year, Month, Monthly Plan (%), Monthly Actual (%), Cumulative Plan (%) and Cumulative Actual (%) feed the Progress donuts and trend chart.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Each card shows its source Plan version (e.g. “Plan v581”) and a Lock toggle to prevent further edits once finalized.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0399AF-46F7-D3EC-7487-9B11CC70D84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4C727300-C9CF-2A33-7D60-8B1FB4263019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1B55EB9-2752-92A6-23B4-13D0DFD1CB5D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5106152-5626-2560-2C8C-212F77CBBBCF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6742394D-22DF-9C61-712B-708DD3873E7A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7D13766B-CF33-BF12-4EDC-ABAF6564F46C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6346481-8760-0FBC-079A-0B64F69265F5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CA52F9E8-0742-1A9B-09D2-872AD7BF8C5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AD22235F-D958-2043-2F4B-7055B663657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929ED8C-D38D-D269-DBB3-27D9FF901D7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B98A64-FB0F-2C20-2B6F-E16D57290939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86C7DA21-95F6-0E52-33EC-EE7BE785579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546FD496-EC4B-ECDF-54D2-72B5C78AE1F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4AFA158-9FC1-90CC-D3D8-47D1FEE2C14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8188CD8-8141-390C-0F9A-D7716F2843E5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C815C15-48DA-2AA4-C58C-3D23098721F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AB3C4181-A7A7-43F6-EA14-0800A7758ABB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7C98CC63-0F5E-00B4-D534-CF81BC42F618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600BB3C-13EA-E498-DF93-006F5E8BEF1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B100BFE-1831-FBF7-792C-12BCFCF9E2D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CE98D4D-A7F3-51E1-8D80-6324D11E2A9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Monthly Revenue &amp; Milestones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468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73728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358" y="2491262"/>
            <a:ext cx="5582555" cy="164486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4358" y="4152737"/>
            <a:ext cx="5582555" cy="16614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4358" y="4352114"/>
            <a:ext cx="5582555" cy="101349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4358" y="238126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358" y="404273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4358" y="42421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372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2. Monthly Revenue (Revenue tab, K USD): enter Sales Plan and Sales Actual by Year / Month; use + Add Prior-Year Cumulative for a free Year/Month/Plan/Actual row representing cumulative revenue before the current year (Month = 0 convention).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This table is the source for the Report tab’s Revenue Actual &amp; Forecast chart — corrections should go through the main Excel upload, not this screen, per the on-screen note.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3. Milestones (Progress tab): add rows with Plan Start/End and Actual Start/End dates per milestone item; use Excel Download / Excel Upload to bulk edit, or + Add milestone for a new row.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4725A3-DDB6-DAC9-CAED-DCF78D592BBA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44BCB0C-722B-2478-D19A-218DE2743E1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ED26A84-A764-6CB8-9B96-6FEB3C7AB9D6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8DEE724D-BFCB-C046-59AC-ABDC7B3937DC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F46886D-AC3E-928C-C26E-739830CB492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BCA5398F-7FBB-B17D-579C-2D033E9C4C6D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27B8F84-ABA7-6397-6476-18DB97AC2C3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DC88465A-9524-26A3-29D6-08E80A9B5897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89E3D6C-3CC7-18EA-D680-7A5A9BCA971A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B21D9DD-C6B8-875D-2E9B-8DCD01933DE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07E8FC-87AD-99DB-E428-3B4F78D1306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A3E09D5-F4E8-7313-7CA1-DCE32522497B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2A578427-2B45-ABC5-0707-FAD261CD788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C447691-01BD-44BA-CBD4-0C2E54F2B5C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4202364A-70BF-A3DC-C10C-531F29D4219E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D0BA5BC-A2BD-CF6E-3230-44AC36235B6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52C5B62F-A227-FBE0-4BF2-B97C2E562DB1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16E5ACA4-72B0-46D5-8CAA-50F2D1F46B3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60C4C66-F0A0-4F72-070C-7B8EE58681DD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36ABE29-4938-1338-2D3D-D718C617A5DA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6FF8318-E603-AEB5-AD70-BE106578E1F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Cost Plan/Actual by Work Type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4155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6840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348" y="3940983"/>
            <a:ext cx="5597085" cy="143258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6187191" y="3974299"/>
            <a:ext cx="816242" cy="8329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6348" y="383098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6077191" y="386429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840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4. Cost Plan/Actual by Work Type: enter monthly Plan and Actual cost for each work type — Major work, Architecture, Mechanical, Electrical, Civil, Landscaping, Expense 1/2 and more — for the selected year.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Totals here roll up into the Report and Revenue/Cost tabs’ cost figures; use the year selector at the top right to switch fiscal years.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86C5D9-2B57-0587-7E34-D325805939A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925CD88F-F87F-8EAF-E427-3D257E5855B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72E90891-8FD9-4105-6E4D-205D6D22798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BB046CDA-F136-6D0F-F654-7BF16FD7F3C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270E77B-A943-DC7A-E3DE-F990A070F91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F1E6FC7-D544-4C81-4A7A-565392BC57B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8A53CB03-B149-47B6-C51C-4EDCD419F3A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62EB227-D6A8-9AC7-5115-A89AB9CD601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B04C041D-CDAB-D572-3CF5-F1A62D9AF56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2759D5B-9301-C0EF-28D2-3D100EB8F313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1B1D9A9-4B6B-8989-F3C5-572B4B90299B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4698FADF-C74F-076A-33FF-31CE76EB0AF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777699B2-4169-9E17-7426-13BBFA33855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E8B1536-E5B6-612D-055E-CC8556DEC179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74BD515F-43B1-EC8C-B6BB-05169F0F96A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B83AB58F-97E1-B232-A0AB-142EAD53C7D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8FDCF80D-1536-B4BE-2B34-F9064DCF045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E373662A-4F95-BE55-04A4-7C0EA4F484FE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5C2E454B-E270-57E2-8039-113D1EE8E41F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D95CAE05-A953-0919-C781-9BFC5C2EBDE0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7BFAB2A4-6344-0C78-5ECC-6BB20CE43A58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Cost Rate &amp; Budget Execution Status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43557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70405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358" y="2358344"/>
            <a:ext cx="5582555" cy="71443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4358" y="2800296"/>
            <a:ext cx="5582555" cy="17943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4358" y="3189082"/>
            <a:ext cx="5582555" cy="121287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4358" y="307908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358" y="26902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4358" y="307908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040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5. Cost Rate (Cost tab): set the Base Month, Contract Amount and Cost for Bidding, Execution Budget Setup and Estimated Completion Cost Rate; Ratio (%) is auto-calculated as Cost / Contract Amount.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Execution Budget Setup’s Cost is the initial approved budget; Estimated Completion Cost Rate mirrors the same Base Month’s Execution figures.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6. Budget Execution Status (Cost tab): enter Common, Expense 1 (Direct Cost) and Expense 2 / Contingency (Indirect Cost) Budget, Monthly and Cumulative values for the selected Month / Year; Outsourcing-type rows are auto-aggregated from the Outsourcing/Materials table below — no manual entry needed there.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12FDB2-0B05-DFC6-BDE9-44F8B3EA903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0A101812-8C94-68B2-34BD-40887FCAF2C8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A881A9A-7C46-C4CE-3A80-75503D087F3D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90387FA-C896-77B8-1456-BE953231DB20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8B6A395-096B-5351-1015-3032A6AE7E0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6966339D-8C74-60FF-4FB8-D2A0FFC9E7D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3E2DF68-E72D-E8D3-1706-7E8DBF8B2FDF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51011EF-9D21-2C8A-06A1-FA5C1959FC6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0550EAE4-7F6A-348A-2171-D1D55ED2525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DE105A71-2C32-11D3-AFE2-6B77A60D4BAB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19C7E6-4E30-B5E7-D9EB-17A99A694B6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CD3D2829-1B2A-D6CA-8B8F-5A8AB3FA78C0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9498A2E-07ED-2634-AF33-BA1D1E508F34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633F052A-F2A1-64FE-4FFE-A4E81D70608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C449B3A9-ECBA-78DE-7CD7-14BFFC3C789E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32E761B8-402E-034F-1B97-160F7442D04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EFE27BB-4211-2975-7448-F3DD7DECE86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E1C644E-E1B0-87DF-F378-F2412AE1DA5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3AEC60CD-83B7-574B-38D9-18B1294D1D4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215A133-91F6-13C1-D178-ABAAD2BAB05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10BA1662-A28E-1D29-6FD2-DC956A8E773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Monthly Plan/Actual &amp; Outsourcing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69819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96667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747" y="2358500"/>
            <a:ext cx="5600000" cy="22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6747" y="4758500"/>
            <a:ext cx="5600000" cy="61666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5956747" y="4758500"/>
            <a:ext cx="1050000" cy="8333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5846747" y="464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6747" y="464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5846747" y="464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76667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7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 Plan / Actual (year): pick a category (e.g. Common) and year to enter the month-by-month Plan and Actual figures that feed the Budget Execution Status card above.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7. Outsourcing/Materials (Outsourcing tab): one row per vendor contract — Trade Group, Trade, Vendor Name, Category, Initial Contract Date, Change No., Budget (A), Executed Budget, Resolved Amount (B), This Month’s Progress Payment and Cumulative Progress Payment (C).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Select the Month / Year at the top right before entering progress payments for that period, then Save.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6ADEC63-3B33-C202-35E5-CF009863D96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D618B777-DD37-2546-5357-063B6DA7AE58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C5DABD3-3CB5-F629-D661-2A73E3433F2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2E8C0AF7-5B3D-3DA4-141A-2675AF7AB21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B4965A3-D1E9-7BFF-D856-5FBF78B8194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FEF0EC2F-EDD9-5F57-1BF9-DA96ED0353D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1A055A8B-AD4C-359B-1B5F-D1B046A04A0C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5B3DD2E-11D8-3DF7-C4DF-6C1CD954F12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3AD0CFCE-9B62-8426-2A3D-4225B22D1EDF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9FA4ADB1-0BBB-2FD5-03DF-848EE2AA8C6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ADB287D-D8A7-1A03-6700-F1525F7FC83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2659585-EE1D-394B-47F8-B857935842FE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A832F171-56E5-E692-2E5E-85D37C40AFFC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0387ADAE-12B7-DEC7-2D36-961002B7FC2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61A24AF-4FC4-D605-939E-6B5202A69171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C5F813A5-C219-EB37-BE3F-6838FC7F9D96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B4BC94FA-D340-BB33-4079-8C25F7E60BE5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0D58DAF-72A0-F303-08AF-1128B7AB8C1A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E93BCDC3-B824-D4EE-8DD4-1CC7AF859C5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C77106B6-22ED-1C40-D697-9AC6E428945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2261342-B3C7-68AD-55D0-DA7090F5597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Outsourcing, Cash Flow &amp; Site Photos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53027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79875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7546" y="2308500"/>
            <a:ext cx="5605839" cy="111783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7546" y="3493067"/>
            <a:ext cx="5605839" cy="125130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7546" y="4961263"/>
            <a:ext cx="5605839" cy="35036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7546" y="485126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7546" y="338306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7546" y="485126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987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Continue entering outsourcing rows as needed; totals from this table automatically populate the Outsourcing tab and the Budget Execution Status card.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8. Monthly Cash Flow (Cash Flow tab): enter Year, Month, Cash In, Cash Out (as a positive number — the chart displays it downward) and Confirmed Progress; Cash Balance is calculated automatically and VND amounts convert to thousand USD on save. Use + Add month for a new row.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Site Photos: use Select Photos to upload images for the site; set a Slideshow interval (seconds) to auto-rotate them, or 0 to disable.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BFDEFB-20BC-5E3B-BED7-BEBA38F5743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1405A18-9F58-791B-41A6-789DD8669BA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C83A0E8E-E843-7E56-30CD-AC9618A7A4E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B45F25B-C8D9-D162-379B-59A270EBCC41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66DC221-0C5C-F0DC-DB49-13E7FFACD03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6B3B8263-22BD-E9CD-C612-92D6B2CDB34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79A7FB2-6C40-9EF3-8AB7-BDFC1BFBF6F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87F8AA8-39C1-9DE0-3B84-C206216CB51A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5C1BC321-D246-1744-C242-F52B10573892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1666BCAD-B478-F68D-3CC0-488CE7D155F7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FF4471A-D77F-4D22-DC34-CED7932A7A5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F0AEB06-0228-76A7-B8F9-D27DA3B601F5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C2020FB-4FE0-4803-59DD-3D8132816123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913EA25-4FA0-38A8-0176-BCE358B8566F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3B378F35-C108-8181-C14B-EDEA6EBEFF1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463C881-F230-A098-6EA9-31A733642A6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94A1277F-2B8D-EC4B-02DE-AB9D5E6EF1B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408C94DD-F3E9-6AF1-AF80-0EEE08EBF2DE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9B46D535-08B4-F56E-3C67-CC2DC4F54180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E88C1271-5A39-A5F3-B31C-43A08815E37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64F34831-46D6-D5DB-A6BD-A868F7496DB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Dashboard – Service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48735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75583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3170" y="2540745"/>
            <a:ext cx="5573872" cy="33177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3170" y="3287245"/>
            <a:ext cx="5573872" cy="182478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3170" y="3104767"/>
            <a:ext cx="5573872" cy="11612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3170" y="299476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3170" y="3177245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3170" y="299476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558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5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Select a service site from the left tree (e.g. K8CT1 모델하우스 [SITE39]); the header shows Client, Project period, Scope of work and Contract Amount.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Report mirrors the Construction site’s report layout without the Progress section: Overview, Revenue Actual &amp; Forecast, Status (Revenue / Cost / Funds), Cost (Cumulative Execution), Cashflow and Key Issues &amp; Action Plan.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Export Report, the Base Month selector and the Comment box (by month) exactly as on a construction site’s Report tab.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09EECF-972C-4175-E12B-9380A55B8E1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EAA91A6-0690-1C22-11F8-DF472FF0689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BF172554-2FCA-CEE1-5D8F-4B2F7DBB790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75E007B1-9DC8-CD21-E73D-E533075CFEC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4A9470F9-64A8-0E3C-C06A-A2A98A5439C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0BF4040-0F87-470B-76F7-9596136803EE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F4B4F831-5415-ADB7-3961-90433B3845E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5C572B7-DEE3-1F02-6C29-DD369986389F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A569C0D-90AE-CB09-5B1E-3CEAE5C6F443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FC4C2C89-8CEB-BDAE-6AFD-C0862CCB889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67192B3-2AC9-EA51-1742-932E048F834C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F74C44FF-1CF4-2586-AA15-7B32BAB3E72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4E3A46A1-FA21-8086-8032-680A99FC0F58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E1660170-4483-BCAF-17C6-55B1A8701A3C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3568FFB-7CCC-2285-33E5-16EFCDD843C6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0BA7B24-3B63-F020-7966-ABB65A82D26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FCF2429-AA5F-BA45-2463-4997AEF0459F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276EB2DE-FEC9-2882-AFB5-2CA914E5019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A9502BA-B795-2896-2A5A-A1A5D5D33F9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376C14C-0EC1-EF58-307E-1B486AC127B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40C74B9-C84E-BD37-D4D3-CC9457E57C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Revenue/Cost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2172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4857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551" y="3123893"/>
            <a:ext cx="5591264" cy="96515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5551" y="4188895"/>
            <a:ext cx="5591264" cy="88195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5551" y="5120772"/>
            <a:ext cx="5591264" cy="23296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5551" y="301389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551" y="4078895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5551" y="501077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2857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2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Revenue (K USD) charts Monthly Plan against Actual for the selected year, with dashed bars for upcoming forecast months.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Cost Rate shows three donuts — Bidding, Execution Budget Setup and Standard Estimated Cost Ratio — as Cost / Contract Amount, identical in structure to a Construction site’s Cost Rate card.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the Comment box below (filtered by month) to record revenue/cost notes for the period.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A487B5-33B4-7BF6-615C-140222F8D7D8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8F5756B-AEE2-4BDA-303B-6650A9221C9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9B2C534-D028-D0C0-1BBE-0C2262979204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14A1149D-12FB-8CD0-615C-BC50988CDE3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1189AA0A-8ADB-F986-170B-13C7DB9820C6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2608577-81F4-0342-C51E-5E076F3D78C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9DCFC875-2E16-B84B-388F-B29030383A20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3BA5C331-1790-EBA1-AAB6-AEA51F6D5344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3DDA007B-3F8B-5689-6C5E-91BA35ABFFE3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E7BDC9B0-BB0E-8AA2-D379-CDDBDD1DFC7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4655B75-A565-1F8B-8860-9A83F0B638A1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2EE9F0D-64CA-C009-C38C-EB5EA9F1F19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F1039D5-6C7A-8C8A-C404-6DE6BD42DAF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205F04F7-2479-5714-62C3-FDAF54DBE44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DFEA037-73F8-1C51-1D9F-CDA15167D5C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E5FD0F9C-077D-71E4-5433-A0F176BD127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D64F9FEF-D207-F5E8-175F-D6D7BBD131C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B1A9DF8-8B1D-98FD-5418-ED8B7BA3F4F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0922215-9B71-9ABF-D961-AA73D4C46E7E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3C60D778-E901-D024-A91F-F838869EA757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8D48468-86C7-BDC3-8CA0-15D5829A6AB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3546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6231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3170" y="3154534"/>
            <a:ext cx="3782271" cy="84603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5185440" y="3154534"/>
            <a:ext cx="1791602" cy="84603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3170" y="304453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5075440" y="304453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231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Outsourcing &amp; Materials lists each vendor contract for the service site with the same columns as Construction: Category / Detailed Trade, Vendor Name, Initial Contract Date, Change Contract Round, Budget (A), Executed Budget, Resolved Amount (B), Resolved Rate (B/A).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Progress Billing Status shows This Month, Cumulative (C), Ratio (C/B) and Remaining Billing (B−C); the Total row sums every column across all vendors for the site.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03DD6E-738C-7BFF-C13F-F12A34A429C7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AFA5FD88-6C7F-1DF0-FF1B-94DDBDD8FDD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4B50AC0-36F3-CEE3-0F57-C52FC63E93F2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0C0E2620-A204-5AAB-92CA-610168AE9086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E38E1D9-EF16-BBC2-909A-59752917B136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BA9542B9-C5F0-2601-F142-D359996F69F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EE2C5FA1-E594-7A92-7756-D05DF41F1EF0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7562147-E6F5-83EC-A400-C4BBB415220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6B57B693-D8CB-2D9F-E9CA-0F361F9C266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9F73E1D-F86D-51C2-75EB-98A755F1FA12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99216-F3D2-FC55-9767-032DA581470B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AAA7F7F-A193-84FE-9441-EBC296A2EC34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8FCFFC79-C464-BC7B-1C6D-258E93622C90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2FE652E-0285-3D8B-4C98-1DF556B5B3F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6BE5E5C0-1DE7-7CC3-0384-A461AAFE5125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EF03490E-EB2E-4C80-5D40-ADB120F1535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0EC2FEDF-C28E-C24D-7999-665BDEBD39E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723BE255-0467-72AB-EE82-3F24E7130F8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73D4F77C-2CA6-B71B-3E9F-3E9EF3DBA628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D27796A-25AA-4275-9EB4-D2FB94E80EB3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C8FB1691-21E6-DCE9-A8BD-1D97663BC3CD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431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7000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747" y="3141833"/>
            <a:ext cx="5600000" cy="17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6423413" y="3141833"/>
            <a:ext cx="266667" cy="6666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6747" y="303183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6313413" y="303183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0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Cash Flow plots the service engagement period as Actual cash-in / cash-out bars with the running Balance line and a dashed Reference month marker, exactly as on a Construction site.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Use the year selector at the top right to focus on a single year, and the Comment box below (filtered by month) for notes.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269079-6D1A-88F3-6168-BFAEAA97539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0F5C99BF-58F1-2D82-D831-CE236D2242F3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A094094-6FB5-9B16-643D-19AF4F1A896B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183ADC5E-228D-D3B1-7D14-2EFA68C02D5A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51AB6847-B0B5-5435-CD46-95A0DEFCB19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ED895C7-8900-B2B8-8B60-DA4CDF92544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4DAF5E9-CE06-3B38-FAE0-46423411779F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B01F3D6-D687-F36F-CE70-284DC2F8CA5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BDCF704-0CBC-AB73-C70F-9F755054EC4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13C8F8B-C52A-D54B-FCEE-90F032F94E5C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A5DDD33-71AC-A5CA-891E-09D0A1E411B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564F541A-A844-E9FB-759F-6ABC890B81EC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1D722998-5BF9-03D1-7EE6-A797BFBC8966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2A634879-49CD-64E3-4F5C-C9803B38567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ABDCF998-43EB-4CE1-9620-C961B98047D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6631856E-F5B7-45F1-EE52-546B6C34E5EE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CED0C597-7B21-749B-077F-904E502C6B7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E31AA782-80BD-4107-A642-E397C2085EE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1FE1D3E8-E6EA-C616-D00C-93B0B8EF40D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E68B649-F5AC-CC44-D46D-2E3810CAF86E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F9DF04F-2BB3-9EBB-2862-85C3CBD22B1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– Service</a:t>
            </a:r>
            <a:endParaRPr 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Overview, Contract Amount &amp; Cost, Revenue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369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63759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358" y="3454917"/>
            <a:ext cx="5582555" cy="34891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4358" y="3903516"/>
            <a:ext cx="5582555" cy="64797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4358" y="4651179"/>
            <a:ext cx="5582555" cy="71443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4358" y="454117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358" y="379351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4358" y="454117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375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3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0. Overview (Overview tab): Contract Amount, Performance Start/End Date, Performance Period, Client, Scope of Work and Payment Terms.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1. Contract Amount &amp; Cost (Overview): Base Month, Contract Amount and Cost for Bidding, Execution Budget Setup and Estimated Completion Cost Rate, with Ratio (%) auto-calculated — the service equivalent of the Construction site’s Cost Rate card.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2. Monthly Revenue (Revenue tab, K USD): enter Sales Plan and Sales Actual by Year / Month; this feeds the Report tab’s Revenue Actual &amp; Forecast chart.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A83B59-F57C-8D1B-1275-F6512E1AC3C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2C0A2DB-BCCB-39FE-9B3D-C920AB8C0C0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B53227AE-56C0-9D4E-BE38-B9F093550AE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B36C8192-82B4-0793-092B-BD4137C07B50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6E6A05F-5C44-E79D-8C81-2E2A1DC610C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C8A280FE-83E6-1963-5448-A284FA85343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AFB9AFB-F258-A141-11F9-FEA106322354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EA005233-079B-2087-57D9-C0D4CA079C4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B010429-39BD-87B4-9C82-648A41F8683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86B210A-2DAA-1C68-7364-8AD0878B8F6F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80D77E8-B6DE-30E2-4FAF-2110AD2D1A7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CF0A223-566E-8995-4575-EB41430B790D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5AB9CBF-A8CC-7407-7374-63323BCD9CE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AA41446-7010-E7FE-0616-307E866A72B5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723DDB95-D9F2-8462-E4DC-CC0039CBD3A9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B8C826B-F302-1713-D568-FA42A7BBBEC6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679AC26D-D141-ECDE-6F27-96C857624DA0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150F2B1-9C8B-0840-3255-F11FD93AE6F1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CB15F3C4-7600-7996-7480-ADD829864240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2E6CA9DF-7795-F3FA-FD4F-E851684E6BD5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65264D34-6AEF-1DCD-9946-FD2282AC708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Monthly Cost of Revenue &amp; Budget Execution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3517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62026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755" y="2458110"/>
            <a:ext cx="5585455" cy="182857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4755" y="4369799"/>
            <a:ext cx="5585455" cy="99740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4755" y="234811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755" y="425979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202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3. Monthly Cost of Revenue (Revenue tab, K USD): enter Accounting COGS by Year / Month; use + Add Prior-Year Cumulative the same way as on the Revenue card. VND amounts auto-convert to thousand USD on save.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4. Budget Execution Status (Budget Execution tab): enter Common, Expense 1 (Direct Cost) and Expense 2 (Indirect Cost) Budget / Monthly / Cumulative for the selected Month / Year; Outsourcing-type rows aggregate automatically from the Outsourcing/Materials table below.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7D157A-9C28-5CD3-F335-6BA09FFD77F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B9106A2B-B6EC-5DBA-982C-CAD604B63C5C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1B79E265-F4B7-A85C-45D2-05A7307A697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99EB7044-5A0A-B275-587D-D8EEFC2DCC8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B8AE932C-C1C8-5FF2-5997-BF93B9F48B6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C4F9C238-1464-F80E-1829-D52E67F5FC2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450A22D-C1CD-FCCC-19B8-ACB75B82B8FB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E8F32470-B95B-2BAB-CF58-5624047DA5B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D20A3E55-38D6-376E-53D6-18731A7592C4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297B447B-074A-9627-0BA5-9B423C44440D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DF5B7E8-E5E3-B709-F5E6-8C4347866A8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E69B840-9A71-9DF0-6DF5-84011DF5D86C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37C23231-BE68-5501-2C4F-DEFFD1F7F4A1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A688EF8-D75E-8EE3-9543-63273777287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AB466FD-CA0F-4D28-B7E0-57A2EEE0FFF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BC5094C0-BBC6-98AF-CD12-2EC80427710A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06B57530-7129-0876-B3EC-63B3FAC1EF5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6DB43BCD-5514-5F75-B82D-3166E9E728A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B02E172D-6E32-06F7-E25C-44408A5BF4E2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C5E17B8-DB33-AABA-655D-B92FCA92E8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3A83F27-6483-F3CE-3B72-E2738C6346CC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Monthly Plan/Actual &amp; Outsourcing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1919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4604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1591" y="2358164"/>
            <a:ext cx="5562338" cy="221831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1591" y="4708914"/>
            <a:ext cx="5562338" cy="64562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1591" y="224816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1591" y="45989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2604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2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 Plan / Actual (year): pick a category (e.g. Common) and year to enter month-by-month Plan and Actual figures feeding Budget Execution Status above.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5. Outsourcing/Materials (Outsourcing tab): one row per vendor — Trade Group, Trade, Vendor Name, Category, Initial Contract Date, Change No., Budget (A), Executed Budget, Resolved Amount (B), This Month’s Progress Payment and Cumulative Progress Payment (C); select the Month / Year first, then Save.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6F4F83-9597-6B5A-8316-A10999A37B39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F46B644-F6DC-D373-7C25-551CF5F45AF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C3A5EDDE-2A5D-9711-28CE-0FE6C4E6B85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9D8F960-3C78-45FD-4D95-D997057946D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80F2ED9-A361-207B-5162-288DE111100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41315032-801C-C266-534C-CC0BF60BEFAA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A709241-DA5D-086C-DE56-2BCBA15250A9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D742361-C303-F8E0-34F5-851398F3459D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4C24378-7467-2F76-4075-E12502B752D9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8823465D-576F-C182-1CF6-6442C82FAAEC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992660E-B4C5-9E4B-A239-A6DF63B16B63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8BD0548F-4971-3FF2-0EA2-AA976425B68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A9F470B1-5F05-F372-2920-08F17CCD4E66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4D49113-AE8F-1C9F-27AE-4CC0491C171E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361F74B-2CEA-7845-855B-F2D80DBFBB56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0D57E85C-0640-980E-A354-77B35D71E05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F3F60BA7-313F-C2BA-24B2-D9DC7D768577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52D7353-E96A-93AB-C21B-357273E781C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BE22D422-F096-7CE3-7C18-93A06DB06332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18B8022-188C-B569-7133-E0EC86D8884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371FFE37-32E8-BCF4-2E78-238673A73BC6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Outsourcing, Cash Flow &amp; Site Photos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71924"/>
            <a:ext cx="6473152" cy="31613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8500"/>
            <a:ext cx="6400000" cy="3088159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7946" y="3126445"/>
            <a:ext cx="5608764" cy="75117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407946" y="3961082"/>
            <a:ext cx="5608764" cy="88471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407946" y="4962647"/>
            <a:ext cx="5608764" cy="35054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1297946" y="485264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7946" y="385108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7946" y="485264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815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Continue entering outsourcing rows as needed; totals automatically populate the service site’s Outsourcing tab and Budget Execution Status card.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6. Monthly Cash Flow (Cash Flow tab): enter Year, Month, Cash In, Cash Out (as a positive number) and Confirmed Progress; Cash Balance calculates automatically and VND converts to thousand USD on save. Use + Add month for a new row.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Site Photos: use Select Photos to upload images for the service site.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A8636C-1BE3-07A8-288A-B2B7CE76AAD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59" name="Shape 1">
              <a:extLst>
                <a:ext uri="{FF2B5EF4-FFF2-40B4-BE49-F238E27FC236}">
                  <a16:creationId xmlns:a16="http://schemas.microsoft.com/office/drawing/2014/main" id="{121CAC59-1B51-FE66-260A-B9781541CCF9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E1C2E947-6BF7-5EDB-8209-CDE64D1F4D0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491BE5B7-F597-A176-6A25-579B567F313F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D976AFE6-2CE2-BE9F-64F0-7F843B6392D5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5">
              <a:extLst>
                <a:ext uri="{FF2B5EF4-FFF2-40B4-BE49-F238E27FC236}">
                  <a16:creationId xmlns:a16="http://schemas.microsoft.com/office/drawing/2014/main" id="{C72AEAB1-FE5E-4D54-9BC3-9DA5ACF1B0E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ACBC1E79-DFBB-802E-60B4-14CE38040EA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118C2CA6-0117-0BC2-1BDF-C83DDA20C0DA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18456B5D-5FEF-7E5C-DE58-E216F227818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8839BBB0-63A9-1454-B91E-24CF031ACF4B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4D8EF01-BC56-B87F-E490-2BFD55FEE3AF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9" name="Shape 24">
              <a:extLst>
                <a:ext uri="{FF2B5EF4-FFF2-40B4-BE49-F238E27FC236}">
                  <a16:creationId xmlns:a16="http://schemas.microsoft.com/office/drawing/2014/main" id="{6C0E5B07-BA4E-50F7-F451-EAA393D08F6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0E46952B-2975-40DC-674F-859BF46DD17D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CA241657-965B-FAB1-E214-C23DDCFEE07E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429FD885-6C94-362E-3AE9-9F55FDAB155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EA9AF314-2059-D536-0C35-F9FD02CC886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9">
              <a:extLst>
                <a:ext uri="{FF2B5EF4-FFF2-40B4-BE49-F238E27FC236}">
                  <a16:creationId xmlns:a16="http://schemas.microsoft.com/office/drawing/2014/main" id="{B941EADD-1373-C557-235D-CBC833E7CF71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98703823-BFE4-EE30-110B-BE02218AE7E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6FF537F6-F709-5840-BE54-B5400B3FFE7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4F6875A1-2C2F-C5F6-BAD8-B5B1BBDDEDAE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 33">
            <a:extLst>
              <a:ext uri="{FF2B5EF4-FFF2-40B4-BE49-F238E27FC236}">
                <a16:creationId xmlns:a16="http://schemas.microsoft.com/office/drawing/2014/main" id="{25C04FDC-4892-1613-0E55-4667D163D5A6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 – User Guide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5E4590-4BF9-4E1D-A9C8-32A83CE733C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71e7eca-45c2-4654-91ce-e3101f7c97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3781</Words>
  <Application>Microsoft Office PowerPoint</Application>
  <PresentationFormat>Widescreen</PresentationFormat>
  <Paragraphs>372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ERP MS03</cp:lastModifiedBy>
  <cp:revision>2</cp:revision>
  <dcterms:created xsi:type="dcterms:W3CDTF">2026-10-09T08:57:08Z</dcterms:created>
  <dcterms:modified xsi:type="dcterms:W3CDTF">2026-10-12T08:29:24Z</dcterms:modified>
</cp:coreProperties>
</file>