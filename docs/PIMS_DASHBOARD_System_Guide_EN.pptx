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8d1ee67-b919-6ca6-6c4b-dde4dfc2641f}">
          <p14:sldIdLst>
            <p14:sldId id="258"/>
            <p14:sldId id="259"/>
          </p14:sldIdLst>
        </p14:section>
        <p14:section name="Data Lineage" id="{7b5a501a-99c5-1094-4847-6c3caee00b26}">
          <p14:sldIdLst>
            <p14:sldId id="260"/>
            <p14:sldId id="261"/>
            <p14:sldId id="262"/>
            <p14:sldId id="263"/>
          </p14:sldIdLst>
        </p14:section>
        <p14:section name="Operations Guide" id="{3795294e-33eb-8335-e4a7-4ad3709d3c76}">
          <p14:sldIdLst>
            <p14:sldId id="264"/>
            <p14:sldId id="265"/>
            <p14:sldId id="266"/>
            <p14:sldId id="267"/>
          </p14:sldIdLst>
        </p14:section>
        <p14:section name="FAQ" id="{a425b541-b219-b1ba-265d-17692aa3a1fe}">
          <p14:sldIdLst>
            <p14:sldId id="268"/>
            <p14:sldId id="269"/>
          </p14:sldIdLst>
        </p14:section>
        <p14:section name="Default-1" id="{91cb83db-16e1-95d1-45a4-64e010d8b28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88952" cy="2743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3794760"/>
            <a:ext cx="10515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PIMS-DASHBOARD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6537960"/>
            <a:ext cx="10908792" cy="18288"/>
          </a:xfrm>
          <a:prstGeom prst="rect">
            <a:avLst/>
          </a:prstGeom>
          <a:solidFill>
            <a:srgbClr val="E4E9F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PIMS-DASHBOARD — System Guide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6583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PIMS-DASHBOARD</a:t>
            </a:r>
            <a:endParaRPr lang="en-US" sz="4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22960" y="3794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System Specification &amp; User Operations Manual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BASELINE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• ERP Sync • Excel Upload • Manual Entry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548640"/>
            <a:ext cx="1737360" cy="17373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11430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Architecture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PIMS-DASHBOARD consolidates PIMSVINA ERP data into one executive view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PIMS-DASHBOARD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executive business intelligence platform for DECV. It consolidates management reports, project construction tracking, cash flows, and subcontracting performance from the core PIMSVINA ERP system into real-time, actionable dashboards.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data accuracy, timeliness, and operational security, data enters the system through three standardized channels — see next slide.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25196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895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CHANNELS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Sync • Excel Upload • Manual Entry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931920"/>
            <a:ext cx="425196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37083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single source of truth across construction and service projects company-wide.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Entry Channels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777240" cy="777240"/>
          </a:xfrm>
          <a:prstGeom prst="ellipse">
            <a:avLst/>
          </a:prstGeom>
          <a:solidFill>
            <a:srgbClr val="4868B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08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ERP Sync (PIMSVINA)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4767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Oracle database extraction using safe, read-only queries. Admins preview changes in a Preview Modal before committing updates to the live dashboard database.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074420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5468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017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File Upload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5643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monthly workbook imports for corporate management P&amp;L and cash flow sheets. Built-in version snapshots allow 1-click rollback to any previous upload state.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16552"/>
            <a:ext cx="1074420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663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526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Manual Entry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96519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web input via the Project Data Entry tab and header modals — exchange rates (USD/VND/KRW), project metadata, planned schedules, and management commentary.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 &amp; Data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Lineage Mapping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origin, ERP screen mapping, and calculation logic for every dashboard indicator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Dashboard — Main Overview &amp; Charts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69671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Overview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Revenue / Operating Profit (Plan, Actual, Achievement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Overview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 / Operating Profit (Plan, Forecast, Achievement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 Trend (Plan vs Actual / Forecast)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P&amp;L Status (Gross Profit, SG&amp;A, Operating Profit)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(Contract Target, Incurred Orders, Balance)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Cash Flow (Inflow, Outflow, Net Balance)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+ ✍️ 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Comments (Performance Analysis &amp; Outlook)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63550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953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34640" y="6355080"/>
            <a:ext cx="146304" cy="146304"/>
          </a:xfrm>
          <a:prstGeom prst="ellipse">
            <a:avLst/>
          </a:prstGeom>
          <a:solidFill>
            <a:srgbClr val="4868B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5409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Sync (read-only)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63550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1441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 (Construction) — Indicator Sources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696712"/>
                <a:gridCol w="1554480"/>
              </a:tblGrid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Period (Start / End Date)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Specifications (Client, Scale, Site Area, Terms…)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Photo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Actual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Plan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/ Profit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Monthly Revenue (Plan / Actual / Forecast)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/ Profit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Outsourcing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Budget, Executed Budget, Progress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Costing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Execution Status (Direct / Indirect / Contingency)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Costing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 Plan &amp; Work Type Breakdown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Cash Inflow / Outflow / 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63550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953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34640" y="6355080"/>
            <a:ext cx="146304" cy="146304"/>
          </a:xfrm>
          <a:prstGeom prst="ellipse">
            <a:avLst/>
          </a:prstGeom>
          <a:solidFill>
            <a:srgbClr val="4868B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5409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Sync (read-only)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63550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1441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 (Service) &amp; System Administration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69671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— Overview &amp; 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Contract &amp; Scope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— Sales &amp; COGS Tab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Monthly Accounting &amp; Executed COGS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✍️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Rate Maintenance (USD / VND / KRW)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+ ✍️ 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Report Excel Import &amp; Rollback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📤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PIMSVINA Sync (Preview &amp; Confirm)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868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ERP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63550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953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34640" y="6355080"/>
            <a:ext cx="146304" cy="146304"/>
          </a:xfrm>
          <a:prstGeom prst="ellipse">
            <a:avLst/>
          </a:prstGeom>
          <a:solidFill>
            <a:srgbClr val="4868B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5409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Sync (read-only)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63550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14416" y="6300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Operations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by Screen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 for everyday users, project managers, and administrators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Global Filter &amp; Navigation Bar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28216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81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Filtering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58191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Total, Construction Division, Service Division — or filter by lifecycle status (In-Progress / Completed).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08376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08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8620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Selection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86207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Start / End Year-Month pickers for historical trends; set reference closing month to match accounting cutoffs.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88536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42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&amp; Unit Toggle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414223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conversion between USD, KRW, and VND — toggle between thousand-unit and full-currency precision.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568696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568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4223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Reports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42239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active dashboard view as formatted Excel workbooks or high-resolution PDF via the Download menu.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Project Data Entry Tab (Admin Operations)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exclusively to administrators — authenticated via the bottom PIMS logo and administrator password. Enables fine-grained manual adjustments and schedule configuration.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868B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Locks &amp; Auto-Save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06240"/>
            <a:ext cx="29077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(Overview, Progress, Milestones, Cost Plan, Budget, Outsourcing, Cashflow) has its own Save button and a Lock/Unlock control to freeze finalized accounting periods.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23317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Excel Template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4206240"/>
            <a:ext cx="29077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pre-formatted Milestones template, populate it offline, and upload it back for instant bulk population.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8704" y="23317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9302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Precision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4206240"/>
            <a:ext cx="29077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raw monthly amounts directly in project currency (VND). The system auto-converts values using contract exchange rates for multi-currency viewing.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Automated ERP Synchronization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project details synchronized with the ERP while maintaining 100% data integrity.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788920"/>
            <a:ext cx="9326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6816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56816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Preview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86200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‘PIMS Sync’ in the top header. The server connects to the Oracle database via read-only queries and retrieves the latest snapshots for all sites.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96128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9612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33832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Changes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3886200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Preview Modal — record counts, contract updates, and field-level differences across Overview, Progress, Outsourcing, Cost, and Cash Flow.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237744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918704" y="33832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&amp; Apply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918704" y="3886200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‘Confirm Sync’ to commit changes to the dashboard database. All screens and charts update immediately — no server restart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FAQ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and how to resolve them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642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276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currency amounts slightly differ from the ERP?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cost and outsourcing figures are stored in raw VND. Discrepancies usually come from differing exchange-rate dates — check the FX Rate Editor to confirm rates match the ERP contract rate (CBTB_CTRTSUMM.RATEUSD).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552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recover from a wrong Excel upload?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8503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Management Report Upload modal, select the ‘Upload History’ tab, and click ‘Rollback’ next to the prior version to instantly restore earlier records.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18304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9194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82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a new project missing from the sidebar?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31266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matches ERP FLDCODE with dashboard site codes. New projects are auto-registered under ‘Ongoing’ status by the sync service and appear on the sidebar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22960" y="3794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PIMS-DASHBOARD — Standard Baseline 2026  |  For questions, contact the System Administration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MS Midnight Executive">
  <a:themeElements>
    <a:clrScheme name="PIMS Midnight Executive">
      <a:dk1>
        <a:srgbClr val="16204A"/>
      </a:dk1>
      <a:lt1>
        <a:srgbClr val="FFFFFF"/>
      </a:lt1>
      <a:dk2>
        <a:srgbClr val="1E2761"/>
      </a:dk2>
      <a:lt2>
        <a:srgbClr val="CADCFC"/>
      </a:lt2>
      <a:accent1>
        <a:srgbClr val="F2A541"/>
      </a:accent1>
      <a:accent2>
        <a:srgbClr val="4868B5"/>
      </a:accent2>
      <a:accent3>
        <a:srgbClr val="8AA6E0"/>
      </a:accent3>
      <a:accent4>
        <a:srgbClr val="1E2761"/>
      </a:accent4>
      <a:accent5>
        <a:srgbClr val="CADCFC"/>
      </a:accent5>
      <a:accent6>
        <a:srgbClr val="16204A"/>
      </a:accent6>
      <a:hlink>
        <a:srgbClr val="F2A541"/>
      </a:hlink>
      <a:folHlink>
        <a:srgbClr val="4868B5"/>
      </a:folHlink>
    </a:clrScheme>
    <a:fontScheme name="PIMS Midnight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DAEWOO E&amp;C VINA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PIMS-DASHBOARD System Guide</dc:title>
  <dc:subject>PptxGenJS Presentation</dc:subject>
  <dc:creator>PIMS-DASHBOARD</dc:creator>
  <cp:lastModifiedBy>PIMS-DASHBOARD</cp:lastModifiedBy>
  <cp:revision>1</cp:revision>
  <dcterms:created xsi:type="dcterms:W3CDTF">2026-10-07T09:15:42Z</dcterms:created>
  <dcterms:modified xsi:type="dcterms:W3CDTF">2026-10-07T09:15:42Z</dcterms:modified>
</cp:coreProperties>
</file>