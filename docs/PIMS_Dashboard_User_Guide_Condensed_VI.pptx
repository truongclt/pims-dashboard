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3" r:id="rId6"/>
    <p:sldId id="264" r:id="rId7"/>
    <p:sldId id="260" r:id="rId8"/>
    <p:sldId id="295" r:id="rId9"/>
    <p:sldId id="261" r:id="rId10"/>
    <p:sldId id="262" r:id="rId11"/>
    <p:sldId id="265" r:id="rId12"/>
    <p:sldId id="266" r:id="rId13"/>
    <p:sldId id="267" r:id="rId14"/>
    <p:sldId id="299" r:id="rId15"/>
    <p:sldId id="268" r:id="rId16"/>
    <p:sldId id="269" r:id="rId17"/>
    <p:sldId id="270" r:id="rId18"/>
    <p:sldId id="271" r:id="rId19"/>
    <p:sldId id="273" r:id="rId20"/>
    <p:sldId id="275" r:id="rId21"/>
    <p:sldId id="276" r:id="rId22"/>
    <p:sldId id="277" r:id="rId23"/>
    <p:sldId id="296" r:id="rId24"/>
    <p:sldId id="297" r:id="rId25"/>
    <p:sldId id="278" r:id="rId26"/>
    <p:sldId id="29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A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50" d="100"/>
          <a:sy n="150" d="100"/>
        </p:scale>
        <p:origin x="-432" y="-12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096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57729-5E9F-9A87-F206-E8DD2A51B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D9E8D-6ACB-18BC-C529-BCF52592D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6534E-6D24-0953-8441-CD52AE49EF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24BCE0-9774-3270-07C9-016B7261D37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32972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FA1F4-2CB1-2030-7E5C-D37B13317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0B2F1-0116-34FC-3D87-D48323674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0C5F9-BC1F-F28E-AA29-8D006FD752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9263C2-E659-1F2A-BF65-7EE76646FFA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46057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4968-04EA-6671-60EE-4057067FD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E57CA-DE06-40E5-768E-F1C16E184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620821-28D7-E848-2A02-B617FCFF52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0339F3-D4AD-1CF2-B1CF-20497AFBED6C}"/>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7026218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D9EBE-6712-4147-FC6A-36DE4EC55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C95AA-B8E4-9D7B-4E2F-E3BD7A46D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A209F-0123-1162-842B-26649FD241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F6E0A1-9FBD-4D01-55AB-78E32D594AC5}"/>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07956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1A95-DBE4-C2FA-9DEC-E1950F688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355AD-191B-475C-8F8D-DFA66CBD9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CBA3DE-BCDD-E093-6A20-85D58D76EB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0327C0-1440-9C94-3410-6FC08FDDB3A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256242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txBody>
          <a:bodyPr/>
          <a:lstStyle/>
          <a:p>
            <a:endParaRPr lang="en-US"/>
          </a:p>
        </p:txBody>
      </p:sp>
      <p:sp>
        <p:nvSpPr>
          <p:cNvPr id="3" name="Shape 1"/>
          <p:cNvSpPr/>
          <p:nvPr/>
        </p:nvSpPr>
        <p:spPr>
          <a:xfrm>
            <a:off x="9887407" y="0"/>
            <a:ext cx="384048" cy="384048"/>
          </a:xfrm>
          <a:prstGeom prst="rect">
            <a:avLst/>
          </a:prstGeom>
          <a:solidFill>
            <a:srgbClr val="3F8FD0"/>
          </a:solidFill>
          <a:ln/>
        </p:spPr>
        <p:txBody>
          <a:bodyPr/>
          <a:lstStyle/>
          <a:p>
            <a:endParaRPr lang="en-US"/>
          </a:p>
        </p:txBody>
      </p:sp>
      <p:sp>
        <p:nvSpPr>
          <p:cNvPr id="4" name="Shape 2"/>
          <p:cNvSpPr/>
          <p:nvPr/>
        </p:nvSpPr>
        <p:spPr>
          <a:xfrm>
            <a:off x="10655503" y="0"/>
            <a:ext cx="384048" cy="384048"/>
          </a:xfrm>
          <a:prstGeom prst="rect">
            <a:avLst/>
          </a:prstGeom>
          <a:solidFill>
            <a:srgbClr val="3F8FD0"/>
          </a:solidFill>
          <a:ln/>
        </p:spPr>
        <p:txBody>
          <a:bodyPr/>
          <a:lstStyle/>
          <a:p>
            <a:endParaRPr lang="en-US"/>
          </a:p>
        </p:txBody>
      </p:sp>
      <p:sp>
        <p:nvSpPr>
          <p:cNvPr id="5" name="Shape 3"/>
          <p:cNvSpPr/>
          <p:nvPr/>
        </p:nvSpPr>
        <p:spPr>
          <a:xfrm>
            <a:off x="11039551" y="0"/>
            <a:ext cx="384048" cy="384048"/>
          </a:xfrm>
          <a:prstGeom prst="rect">
            <a:avLst/>
          </a:prstGeom>
          <a:solidFill>
            <a:srgbClr val="AEE0F5"/>
          </a:solidFill>
          <a:ln/>
        </p:spPr>
        <p:txBody>
          <a:bodyPr/>
          <a:lstStyle/>
          <a:p>
            <a:endParaRPr lang="en-US"/>
          </a:p>
        </p:txBody>
      </p:sp>
      <p:sp>
        <p:nvSpPr>
          <p:cNvPr id="6" name="Shape 4"/>
          <p:cNvSpPr/>
          <p:nvPr/>
        </p:nvSpPr>
        <p:spPr>
          <a:xfrm>
            <a:off x="11423599" y="0"/>
            <a:ext cx="384048" cy="384048"/>
          </a:xfrm>
          <a:prstGeom prst="rect">
            <a:avLst/>
          </a:prstGeom>
          <a:solidFill>
            <a:srgbClr val="3F8FD0"/>
          </a:solidFill>
          <a:ln/>
        </p:spPr>
        <p:txBody>
          <a:bodyPr/>
          <a:lstStyle/>
          <a:p>
            <a:endParaRPr lang="en-US"/>
          </a:p>
        </p:txBody>
      </p:sp>
      <p:sp>
        <p:nvSpPr>
          <p:cNvPr id="7" name="Shape 5"/>
          <p:cNvSpPr/>
          <p:nvPr/>
        </p:nvSpPr>
        <p:spPr>
          <a:xfrm>
            <a:off x="11807647" y="0"/>
            <a:ext cx="384048" cy="384048"/>
          </a:xfrm>
          <a:prstGeom prst="rect">
            <a:avLst/>
          </a:prstGeom>
          <a:solidFill>
            <a:srgbClr val="AEE0F5"/>
          </a:solidFill>
          <a:ln/>
        </p:spPr>
        <p:txBody>
          <a:bodyPr/>
          <a:lstStyle/>
          <a:p>
            <a:endParaRPr lang="en-US"/>
          </a:p>
        </p:txBody>
      </p:sp>
      <p:sp>
        <p:nvSpPr>
          <p:cNvPr id="8" name="Shape 6"/>
          <p:cNvSpPr/>
          <p:nvPr/>
        </p:nvSpPr>
        <p:spPr>
          <a:xfrm>
            <a:off x="10271455" y="384048"/>
            <a:ext cx="384048" cy="384048"/>
          </a:xfrm>
          <a:prstGeom prst="rect">
            <a:avLst/>
          </a:prstGeom>
          <a:solidFill>
            <a:srgbClr val="3F8FD0"/>
          </a:solidFill>
          <a:ln/>
        </p:spPr>
        <p:txBody>
          <a:bodyPr/>
          <a:lstStyle/>
          <a:p>
            <a:endParaRPr lang="en-US"/>
          </a:p>
        </p:txBody>
      </p:sp>
      <p:sp>
        <p:nvSpPr>
          <p:cNvPr id="9" name="Shape 7"/>
          <p:cNvSpPr/>
          <p:nvPr/>
        </p:nvSpPr>
        <p:spPr>
          <a:xfrm>
            <a:off x="11423599" y="384048"/>
            <a:ext cx="384048" cy="384048"/>
          </a:xfrm>
          <a:prstGeom prst="rect">
            <a:avLst/>
          </a:prstGeom>
          <a:solidFill>
            <a:srgbClr val="AEE0F5"/>
          </a:solidFill>
          <a:ln/>
        </p:spPr>
        <p:txBody>
          <a:bodyPr/>
          <a:lstStyle/>
          <a:p>
            <a:endParaRPr lang="en-US"/>
          </a:p>
        </p:txBody>
      </p:sp>
      <p:sp>
        <p:nvSpPr>
          <p:cNvPr id="10" name="Shape 8"/>
          <p:cNvSpPr/>
          <p:nvPr/>
        </p:nvSpPr>
        <p:spPr>
          <a:xfrm>
            <a:off x="11807647" y="384048"/>
            <a:ext cx="384048" cy="384048"/>
          </a:xfrm>
          <a:prstGeom prst="rect">
            <a:avLst/>
          </a:prstGeom>
          <a:solidFill>
            <a:srgbClr val="3F8FD0"/>
          </a:solidFill>
          <a:ln/>
        </p:spPr>
        <p:txBody>
          <a:bodyPr/>
          <a:lstStyle/>
          <a:p>
            <a:endParaRPr lang="en-US"/>
          </a:p>
        </p:txBody>
      </p:sp>
      <p:sp>
        <p:nvSpPr>
          <p:cNvPr id="11" name="Shape 9"/>
          <p:cNvSpPr/>
          <p:nvPr/>
        </p:nvSpPr>
        <p:spPr>
          <a:xfrm>
            <a:off x="11039551" y="768096"/>
            <a:ext cx="384048" cy="384048"/>
          </a:xfrm>
          <a:prstGeom prst="rect">
            <a:avLst/>
          </a:prstGeom>
          <a:solidFill>
            <a:srgbClr val="AEE0F5"/>
          </a:solidFill>
          <a:ln/>
        </p:spPr>
        <p:txBody>
          <a:bodyPr/>
          <a:lstStyle/>
          <a:p>
            <a:endParaRPr lang="en-US"/>
          </a:p>
        </p:txBody>
      </p:sp>
      <p:sp>
        <p:nvSpPr>
          <p:cNvPr id="12" name="Shape 10"/>
          <p:cNvSpPr/>
          <p:nvPr/>
        </p:nvSpPr>
        <p:spPr>
          <a:xfrm>
            <a:off x="11807647" y="768096"/>
            <a:ext cx="384048" cy="384048"/>
          </a:xfrm>
          <a:prstGeom prst="rect">
            <a:avLst/>
          </a:prstGeom>
          <a:solidFill>
            <a:srgbClr val="AEE0F5"/>
          </a:solidFill>
          <a:ln/>
        </p:spPr>
        <p:txBody>
          <a:bodyPr/>
          <a:lstStyle/>
          <a:p>
            <a:endParaRPr lang="en-US"/>
          </a:p>
        </p:txBody>
      </p:sp>
      <p:sp>
        <p:nvSpPr>
          <p:cNvPr id="13" name="Shape 11"/>
          <p:cNvSpPr/>
          <p:nvPr/>
        </p:nvSpPr>
        <p:spPr>
          <a:xfrm>
            <a:off x="548640" y="502920"/>
            <a:ext cx="64008" cy="64008"/>
          </a:xfrm>
          <a:prstGeom prst="rect">
            <a:avLst/>
          </a:prstGeom>
          <a:solidFill>
            <a:srgbClr val="1F3A6E"/>
          </a:solidFill>
          <a:ln/>
        </p:spPr>
        <p:txBody>
          <a:bodyPr/>
          <a:lstStyle/>
          <a:p>
            <a:endParaRPr lang="en-US"/>
          </a:p>
        </p:txBody>
      </p:sp>
      <p:sp>
        <p:nvSpPr>
          <p:cNvPr id="14" name="Shape 12"/>
          <p:cNvSpPr/>
          <p:nvPr/>
        </p:nvSpPr>
        <p:spPr>
          <a:xfrm>
            <a:off x="630936" y="502920"/>
            <a:ext cx="64008" cy="64008"/>
          </a:xfrm>
          <a:prstGeom prst="rect">
            <a:avLst/>
          </a:prstGeom>
          <a:solidFill>
            <a:srgbClr val="3F8FD0"/>
          </a:solidFill>
          <a:ln/>
        </p:spPr>
        <p:txBody>
          <a:bodyPr/>
          <a:lstStyle/>
          <a:p>
            <a:endParaRPr lang="en-US"/>
          </a:p>
        </p:txBody>
      </p:sp>
      <p:sp>
        <p:nvSpPr>
          <p:cNvPr id="15" name="Shape 13"/>
          <p:cNvSpPr/>
          <p:nvPr/>
        </p:nvSpPr>
        <p:spPr>
          <a:xfrm>
            <a:off x="713232" y="502920"/>
            <a:ext cx="64008" cy="64008"/>
          </a:xfrm>
          <a:prstGeom prst="rect">
            <a:avLst/>
          </a:prstGeom>
          <a:solidFill>
            <a:srgbClr val="1F3A6E"/>
          </a:solidFill>
          <a:ln/>
        </p:spPr>
        <p:txBody>
          <a:bodyPr/>
          <a:lstStyle/>
          <a:p>
            <a:endParaRPr lang="en-US"/>
          </a:p>
        </p:txBody>
      </p:sp>
      <p:sp>
        <p:nvSpPr>
          <p:cNvPr id="16" name="Shape 14"/>
          <p:cNvSpPr/>
          <p:nvPr/>
        </p:nvSpPr>
        <p:spPr>
          <a:xfrm>
            <a:off x="548640" y="585216"/>
            <a:ext cx="64008" cy="64008"/>
          </a:xfrm>
          <a:prstGeom prst="rect">
            <a:avLst/>
          </a:prstGeom>
          <a:solidFill>
            <a:srgbClr val="3F8FD0"/>
          </a:solidFill>
          <a:ln/>
        </p:spPr>
        <p:txBody>
          <a:bodyPr/>
          <a:lstStyle/>
          <a:p>
            <a:endParaRPr lang="en-US"/>
          </a:p>
        </p:txBody>
      </p:sp>
      <p:sp>
        <p:nvSpPr>
          <p:cNvPr id="17" name="Shape 15"/>
          <p:cNvSpPr/>
          <p:nvPr/>
        </p:nvSpPr>
        <p:spPr>
          <a:xfrm>
            <a:off x="630936" y="585216"/>
            <a:ext cx="64008" cy="64008"/>
          </a:xfrm>
          <a:prstGeom prst="rect">
            <a:avLst/>
          </a:prstGeom>
          <a:solidFill>
            <a:srgbClr val="1F3A6E"/>
          </a:solidFill>
          <a:ln/>
        </p:spPr>
        <p:txBody>
          <a:bodyPr/>
          <a:lstStyle/>
          <a:p>
            <a:endParaRPr lang="en-US"/>
          </a:p>
        </p:txBody>
      </p:sp>
      <p:sp>
        <p:nvSpPr>
          <p:cNvPr id="18" name="Shape 16"/>
          <p:cNvSpPr/>
          <p:nvPr/>
        </p:nvSpPr>
        <p:spPr>
          <a:xfrm>
            <a:off x="713232" y="585216"/>
            <a:ext cx="64008" cy="64008"/>
          </a:xfrm>
          <a:prstGeom prst="rect">
            <a:avLst/>
          </a:prstGeom>
          <a:solidFill>
            <a:srgbClr val="3F8FD0"/>
          </a:solidFill>
          <a:ln/>
        </p:spPr>
        <p:txBody>
          <a:bodyPr/>
          <a:lstStyle/>
          <a:p>
            <a:endParaRPr lang="en-US"/>
          </a:p>
        </p:txBody>
      </p:sp>
      <p:sp>
        <p:nvSpPr>
          <p:cNvPr id="19" name="Shape 17"/>
          <p:cNvSpPr/>
          <p:nvPr/>
        </p:nvSpPr>
        <p:spPr>
          <a:xfrm>
            <a:off x="548640" y="667512"/>
            <a:ext cx="64008" cy="64008"/>
          </a:xfrm>
          <a:prstGeom prst="rect">
            <a:avLst/>
          </a:prstGeom>
          <a:solidFill>
            <a:srgbClr val="1F3A6E"/>
          </a:solidFill>
          <a:ln/>
        </p:spPr>
        <p:txBody>
          <a:bodyPr/>
          <a:lstStyle/>
          <a:p>
            <a:endParaRPr lang="en-US"/>
          </a:p>
        </p:txBody>
      </p:sp>
      <p:sp>
        <p:nvSpPr>
          <p:cNvPr id="20" name="Shape 18"/>
          <p:cNvSpPr/>
          <p:nvPr/>
        </p:nvSpPr>
        <p:spPr>
          <a:xfrm>
            <a:off x="630936" y="667512"/>
            <a:ext cx="64008" cy="64008"/>
          </a:xfrm>
          <a:prstGeom prst="rect">
            <a:avLst/>
          </a:prstGeom>
          <a:solidFill>
            <a:srgbClr val="3F8FD0"/>
          </a:solidFill>
          <a:ln/>
        </p:spPr>
        <p:txBody>
          <a:bodyPr/>
          <a:lstStyle/>
          <a:p>
            <a:endParaRPr lang="en-US"/>
          </a:p>
        </p:txBody>
      </p:sp>
      <p:sp>
        <p:nvSpPr>
          <p:cNvPr id="21" name="Shape 19"/>
          <p:cNvSpPr/>
          <p:nvPr/>
        </p:nvSpPr>
        <p:spPr>
          <a:xfrm>
            <a:off x="713232" y="667512"/>
            <a:ext cx="64008" cy="64008"/>
          </a:xfrm>
          <a:prstGeom prst="rect">
            <a:avLst/>
          </a:prstGeom>
          <a:solidFill>
            <a:srgbClr val="1F3A6E"/>
          </a:solidFill>
          <a:ln/>
        </p:spPr>
        <p:txBody>
          <a:bodyPr/>
          <a:lstStyle/>
          <a:p>
            <a:endParaRPr lang="en-US"/>
          </a:p>
        </p:txBody>
      </p:sp>
      <p:sp>
        <p:nvSpPr>
          <p:cNvPr id="22" name="Text 20"/>
          <p:cNvSpPr/>
          <p:nvPr/>
        </p:nvSpPr>
        <p:spPr>
          <a:xfrm>
            <a:off x="914400" y="384048"/>
            <a:ext cx="2743200" cy="457200"/>
          </a:xfrm>
          <a:prstGeom prst="rect">
            <a:avLst/>
          </a:prstGeom>
          <a:noFill/>
          <a:ln/>
        </p:spPr>
        <p:txBody>
          <a:bodyPr wrap="square" lIns="0" tIns="0" rIns="0" bIns="0" rtlCol="0" anchor="ctr"/>
          <a:lstStyle/>
          <a:p>
            <a:pPr marL="0" indent="0">
              <a:buNone/>
            </a:pPr>
            <a:r>
              <a:rPr lang="en-US" sz="2000" b="1" dirty="0">
                <a:solidFill>
                  <a:srgbClr val="1F3A6E"/>
                </a:solidFill>
                <a:latin typeface="Calibri" pitchFamily="34" charset="0"/>
                <a:ea typeface="Calibri" pitchFamily="34" charset="-122"/>
                <a:cs typeface="Calibri" pitchFamily="34" charset="-120"/>
              </a:rPr>
              <a:t>infoERP</a:t>
            </a:r>
            <a:endParaRPr lang="en-US" sz="2000" dirty="0"/>
          </a:p>
        </p:txBody>
      </p:sp>
      <p:sp>
        <p:nvSpPr>
          <p:cNvPr id="23" name="Text 21"/>
          <p:cNvSpPr/>
          <p:nvPr/>
        </p:nvSpPr>
        <p:spPr>
          <a:xfrm>
            <a:off x="914400" y="804672"/>
            <a:ext cx="3200400" cy="274320"/>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
        <p:nvSpPr>
          <p:cNvPr id="24" name="Shape 22"/>
          <p:cNvSpPr/>
          <p:nvPr/>
        </p:nvSpPr>
        <p:spPr>
          <a:xfrm>
            <a:off x="914400" y="2880360"/>
            <a:ext cx="8412480" cy="1325880"/>
          </a:xfrm>
          <a:prstGeom prst="rect">
            <a:avLst/>
          </a:prstGeom>
          <a:solidFill>
            <a:schemeClr val="tx1">
              <a:lumMod val="65000"/>
              <a:lumOff val="35000"/>
            </a:schemeClr>
          </a:solidFill>
          <a:ln/>
        </p:spPr>
        <p:txBody>
          <a:bodyPr/>
          <a:lstStyle/>
          <a:p>
            <a:endParaRPr lang="en-US" dirty="0"/>
          </a:p>
        </p:txBody>
      </p:sp>
      <p:sp>
        <p:nvSpPr>
          <p:cNvPr id="25" name="Text 23"/>
          <p:cNvSpPr/>
          <p:nvPr/>
        </p:nvSpPr>
        <p:spPr>
          <a:xfrm>
            <a:off x="1188720" y="2971800"/>
            <a:ext cx="795528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PIMS Dashboard – Hướng dẫn sử dụng</a:t>
            </a:r>
            <a:endParaRPr lang="en-US" sz="3200" dirty="0"/>
          </a:p>
        </p:txBody>
      </p:sp>
      <p:sp>
        <p:nvSpPr>
          <p:cNvPr id="26" name="Text 24"/>
          <p:cNvSpPr/>
          <p:nvPr/>
        </p:nvSpPr>
        <p:spPr>
          <a:xfrm>
            <a:off x="1188720" y="3703320"/>
            <a:ext cx="5486400" cy="365760"/>
          </a:xfrm>
          <a:prstGeom prst="rect">
            <a:avLst/>
          </a:prstGeom>
          <a:noFill/>
          <a:ln/>
        </p:spPr>
        <p:txBody>
          <a:bodyPr wrap="square" lIns="0" tIns="0" rIns="0" bIns="0" rtlCol="0" anchor="ctr"/>
          <a:lstStyle/>
          <a:p>
            <a:pPr marL="0" indent="0">
              <a:buNone/>
            </a:pPr>
            <a:r>
              <a:rPr lang="en-US" sz="1400" b="1" i="1" dirty="0">
                <a:solidFill>
                  <a:srgbClr val="D9611B"/>
                </a:solidFill>
                <a:latin typeface="Calibri" pitchFamily="34" charset="0"/>
                <a:ea typeface="Calibri" pitchFamily="34" charset="-122"/>
                <a:cs typeface="Calibri" pitchFamily="34" charset="-120"/>
              </a:rPr>
              <a:t>Dành cho Người xem Dashboard &amp; Người quản lý dữ liệu</a:t>
            </a:r>
            <a:endParaRPr lang="en-US" sz="1400" dirty="0"/>
          </a:p>
        </p:txBody>
      </p:sp>
      <p:sp>
        <p:nvSpPr>
          <p:cNvPr id="27" name="Text 25"/>
          <p:cNvSpPr/>
          <p:nvPr/>
        </p:nvSpPr>
        <p:spPr>
          <a:xfrm>
            <a:off x="7772400" y="3703320"/>
            <a:ext cx="1463040" cy="36576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Tháng 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770839" y="292608"/>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Giới thiệu – PIMS Dashboard</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24" name="Text 22"/>
          <p:cNvSpPr/>
          <p:nvPr/>
        </p:nvSpPr>
        <p:spPr>
          <a:xfrm>
            <a:off x="898855" y="1593342"/>
            <a:ext cx="10332720" cy="3842385"/>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Mục đích: </a:t>
            </a:r>
            <a:r>
              <a:rPr lang="en-US" sz="1500" dirty="0">
                <a:solidFill>
                  <a:srgbClr val="262626"/>
                </a:solidFill>
                <a:latin typeface="Calibri" pitchFamily="34" charset="0"/>
                <a:ea typeface="Calibri" pitchFamily="34" charset="-122"/>
                <a:cs typeface="Calibri" pitchFamily="34" charset="-120"/>
              </a:rPr>
              <a:t>Tài liệu này hướng dẫn toàn bộ PIMS Management Dashboard — từ các màn hình công khai mà bất kỳ người dùng nào cũng có thể xem, đến các màn hình Nhập liệu dùng để cập nhật dữ liệu cho từng báo cáo.</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Đối tượng sử dụng: </a:t>
            </a:r>
            <a:r>
              <a:rPr lang="en-US" sz="1500" dirty="0">
                <a:solidFill>
                  <a:srgbClr val="262626"/>
                </a:solidFill>
                <a:latin typeface="Calibri" pitchFamily="34" charset="0"/>
                <a:ea typeface="Calibri" pitchFamily="34" charset="-122"/>
                <a:cs typeface="Calibri" pitchFamily="34" charset="-120"/>
              </a:rPr>
              <a:t>Ban lãnh đạo và các bên liên quan theo dõi hiệu quả hoạt động của công ty và công trường, cùng với Quản lý công trường / Người quản lý dữ liệu phụ trách cập nhật tiến độ, doanh thu, chi phí, thầu phụ và dòng tiền hàng tháng.</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Phạm vi: </a:t>
            </a:r>
            <a:r>
              <a:rPr lang="en-US" sz="1500" dirty="0">
                <a:solidFill>
                  <a:srgbClr val="262626"/>
                </a:solidFill>
                <a:latin typeface="Calibri" pitchFamily="34" charset="0"/>
                <a:ea typeface="Calibri" pitchFamily="34" charset="-122"/>
                <a:cs typeface="Calibri" pitchFamily="34" charset="-120"/>
              </a:rPr>
              <a:t>Main Dashboard (KPI toàn công ty) → Project Dashboard – Xây dựng → Project Dashboard – Dịch vụ → Nhập liệu cho công trường Xây dựng → Nhập liệu cho công trường Dịch vụ.</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Quyền truy cập: </a:t>
            </a:r>
            <a:r>
              <a:rPr lang="en-US" sz="1500" dirty="0">
                <a:solidFill>
                  <a:srgbClr val="262626"/>
                </a:solidFill>
                <a:latin typeface="Calibri" pitchFamily="34" charset="0"/>
                <a:ea typeface="Calibri" pitchFamily="34" charset="-122"/>
                <a:cs typeface="Calibri" pitchFamily="34" charset="-120"/>
              </a:rPr>
              <a:t>Main Dashboard và các project dashboard chỉ ở chế độ xem, không cần đăng nhập. Màn hình Nhập liệu được truy cập theo từng công trường qua cây công trường bên trái, sau khi đăng nhập bằng tài khoản Người quản lý dữ liệu.</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Điều hướng: </a:t>
            </a:r>
            <a:r>
              <a:rPr lang="en-US" sz="1500" dirty="0">
                <a:solidFill>
                  <a:srgbClr val="262626"/>
                </a:solidFill>
                <a:latin typeface="Calibri" pitchFamily="34" charset="0"/>
                <a:ea typeface="Calibri" pitchFamily="34" charset="-122"/>
                <a:cs typeface="Calibri" pitchFamily="34" charset="-120"/>
              </a:rPr>
              <a:t>Dùng bảng bên trái để chọn công trường (Construction / Service / TCC / DE HEIM). Dùng Exchange Rate (USD / KRW / VND) và Unit (USD / K USD) ở đầu mỗi màn hình để thay đổi đơn vị tiền tệ hiển thị.</a:t>
            </a:r>
            <a:endParaRPr lang="en-US" sz="1500" dirty="0"/>
          </a:p>
        </p:txBody>
      </p:sp>
      <p:sp>
        <p:nvSpPr>
          <p:cNvPr id="35" name="Text 33"/>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36" name="Group 35">
            <a:extLst>
              <a:ext uri="{FF2B5EF4-FFF2-40B4-BE49-F238E27FC236}">
                <a16:creationId xmlns:a16="http://schemas.microsoft.com/office/drawing/2014/main" id="{C983486A-2F5D-9986-26C0-DE397249BD5E}"/>
              </a:ext>
            </a:extLst>
          </p:cNvPr>
          <p:cNvGrpSpPr/>
          <p:nvPr/>
        </p:nvGrpSpPr>
        <p:grpSpPr>
          <a:xfrm>
            <a:off x="320040" y="498348"/>
            <a:ext cx="228600" cy="228600"/>
            <a:chOff x="457200" y="384048"/>
            <a:chExt cx="228600" cy="228600"/>
          </a:xfrm>
        </p:grpSpPr>
        <p:sp>
          <p:nvSpPr>
            <p:cNvPr id="37" name="Shape 1">
              <a:extLst>
                <a:ext uri="{FF2B5EF4-FFF2-40B4-BE49-F238E27FC236}">
                  <a16:creationId xmlns:a16="http://schemas.microsoft.com/office/drawing/2014/main" id="{0FDEFC72-DFB7-5FF7-C5A3-33109F268F04}"/>
                </a:ext>
              </a:extLst>
            </p:cNvPr>
            <p:cNvSpPr/>
            <p:nvPr/>
          </p:nvSpPr>
          <p:spPr>
            <a:xfrm>
              <a:off x="457200" y="384048"/>
              <a:ext cx="64008" cy="64008"/>
            </a:xfrm>
            <a:prstGeom prst="rect">
              <a:avLst/>
            </a:prstGeom>
            <a:solidFill>
              <a:srgbClr val="1F3A6E"/>
            </a:solidFill>
            <a:ln/>
          </p:spPr>
          <p:txBody>
            <a:bodyPr/>
            <a:lstStyle/>
            <a:p>
              <a:endParaRPr lang="en-US"/>
            </a:p>
          </p:txBody>
        </p:sp>
        <p:sp>
          <p:nvSpPr>
            <p:cNvPr id="38" name="Shape 2">
              <a:extLst>
                <a:ext uri="{FF2B5EF4-FFF2-40B4-BE49-F238E27FC236}">
                  <a16:creationId xmlns:a16="http://schemas.microsoft.com/office/drawing/2014/main" id="{FA5D9E53-DC91-F438-152E-C564A6C7AFBA}"/>
                </a:ext>
              </a:extLst>
            </p:cNvPr>
            <p:cNvSpPr/>
            <p:nvPr/>
          </p:nvSpPr>
          <p:spPr>
            <a:xfrm>
              <a:off x="539496" y="384048"/>
              <a:ext cx="64008" cy="64008"/>
            </a:xfrm>
            <a:prstGeom prst="rect">
              <a:avLst/>
            </a:prstGeom>
            <a:solidFill>
              <a:srgbClr val="3F8FD0"/>
            </a:solidFill>
            <a:ln/>
          </p:spPr>
          <p:txBody>
            <a:bodyPr/>
            <a:lstStyle/>
            <a:p>
              <a:endParaRPr lang="en-US"/>
            </a:p>
          </p:txBody>
        </p:sp>
        <p:sp>
          <p:nvSpPr>
            <p:cNvPr id="39" name="Shape 3">
              <a:extLst>
                <a:ext uri="{FF2B5EF4-FFF2-40B4-BE49-F238E27FC236}">
                  <a16:creationId xmlns:a16="http://schemas.microsoft.com/office/drawing/2014/main" id="{710ED4EF-72A0-67EC-7F1B-48FEC57AC24B}"/>
                </a:ext>
              </a:extLst>
            </p:cNvPr>
            <p:cNvSpPr/>
            <p:nvPr/>
          </p:nvSpPr>
          <p:spPr>
            <a:xfrm>
              <a:off x="621792" y="384048"/>
              <a:ext cx="64008" cy="64008"/>
            </a:xfrm>
            <a:prstGeom prst="rect">
              <a:avLst/>
            </a:prstGeom>
            <a:solidFill>
              <a:srgbClr val="1F3A6E"/>
            </a:solidFill>
            <a:ln/>
          </p:spPr>
          <p:txBody>
            <a:bodyPr/>
            <a:lstStyle/>
            <a:p>
              <a:endParaRPr lang="en-US"/>
            </a:p>
          </p:txBody>
        </p:sp>
        <p:sp>
          <p:nvSpPr>
            <p:cNvPr id="40" name="Shape 4">
              <a:extLst>
                <a:ext uri="{FF2B5EF4-FFF2-40B4-BE49-F238E27FC236}">
                  <a16:creationId xmlns:a16="http://schemas.microsoft.com/office/drawing/2014/main" id="{B0BBE8C1-E797-2124-D751-06B8719538C9}"/>
                </a:ext>
              </a:extLst>
            </p:cNvPr>
            <p:cNvSpPr/>
            <p:nvPr/>
          </p:nvSpPr>
          <p:spPr>
            <a:xfrm>
              <a:off x="457200" y="466344"/>
              <a:ext cx="64008" cy="64008"/>
            </a:xfrm>
            <a:prstGeom prst="rect">
              <a:avLst/>
            </a:prstGeom>
            <a:solidFill>
              <a:srgbClr val="3F8FD0"/>
            </a:solidFill>
            <a:ln/>
          </p:spPr>
          <p:txBody>
            <a:bodyPr/>
            <a:lstStyle/>
            <a:p>
              <a:endParaRPr lang="en-US"/>
            </a:p>
          </p:txBody>
        </p:sp>
        <p:sp>
          <p:nvSpPr>
            <p:cNvPr id="41" name="Shape 5">
              <a:extLst>
                <a:ext uri="{FF2B5EF4-FFF2-40B4-BE49-F238E27FC236}">
                  <a16:creationId xmlns:a16="http://schemas.microsoft.com/office/drawing/2014/main" id="{7A47A71E-7ED6-3F8E-4F98-73BA69682430}"/>
                </a:ext>
              </a:extLst>
            </p:cNvPr>
            <p:cNvSpPr/>
            <p:nvPr/>
          </p:nvSpPr>
          <p:spPr>
            <a:xfrm>
              <a:off x="539496" y="466344"/>
              <a:ext cx="64008" cy="64008"/>
            </a:xfrm>
            <a:prstGeom prst="rect">
              <a:avLst/>
            </a:prstGeom>
            <a:solidFill>
              <a:srgbClr val="1F3A6E"/>
            </a:solidFill>
            <a:ln/>
          </p:spPr>
          <p:txBody>
            <a:bodyPr/>
            <a:lstStyle/>
            <a:p>
              <a:endParaRPr lang="en-US"/>
            </a:p>
          </p:txBody>
        </p:sp>
        <p:sp>
          <p:nvSpPr>
            <p:cNvPr id="42" name="Shape 6">
              <a:extLst>
                <a:ext uri="{FF2B5EF4-FFF2-40B4-BE49-F238E27FC236}">
                  <a16:creationId xmlns:a16="http://schemas.microsoft.com/office/drawing/2014/main" id="{C329F704-E2F8-082E-F215-5E48FEF0D0DE}"/>
                </a:ext>
              </a:extLst>
            </p:cNvPr>
            <p:cNvSpPr/>
            <p:nvPr/>
          </p:nvSpPr>
          <p:spPr>
            <a:xfrm>
              <a:off x="621792" y="466344"/>
              <a:ext cx="64008" cy="64008"/>
            </a:xfrm>
            <a:prstGeom prst="rect">
              <a:avLst/>
            </a:prstGeom>
            <a:solidFill>
              <a:srgbClr val="3F8FD0"/>
            </a:solidFill>
            <a:ln/>
          </p:spPr>
          <p:txBody>
            <a:bodyPr/>
            <a:lstStyle/>
            <a:p>
              <a:endParaRPr lang="en-US"/>
            </a:p>
          </p:txBody>
        </p:sp>
        <p:sp>
          <p:nvSpPr>
            <p:cNvPr id="43" name="Shape 7">
              <a:extLst>
                <a:ext uri="{FF2B5EF4-FFF2-40B4-BE49-F238E27FC236}">
                  <a16:creationId xmlns:a16="http://schemas.microsoft.com/office/drawing/2014/main" id="{3AF2C597-4B63-D1C3-871A-CD98ABBF919A}"/>
                </a:ext>
              </a:extLst>
            </p:cNvPr>
            <p:cNvSpPr/>
            <p:nvPr/>
          </p:nvSpPr>
          <p:spPr>
            <a:xfrm>
              <a:off x="457200" y="548640"/>
              <a:ext cx="64008" cy="64008"/>
            </a:xfrm>
            <a:prstGeom prst="rect">
              <a:avLst/>
            </a:prstGeom>
            <a:solidFill>
              <a:srgbClr val="1F3A6E"/>
            </a:solidFill>
            <a:ln/>
          </p:spPr>
          <p:txBody>
            <a:bodyPr/>
            <a:lstStyle/>
            <a:p>
              <a:endParaRPr lang="en-US"/>
            </a:p>
          </p:txBody>
        </p:sp>
        <p:sp>
          <p:nvSpPr>
            <p:cNvPr id="44" name="Shape 8">
              <a:extLst>
                <a:ext uri="{FF2B5EF4-FFF2-40B4-BE49-F238E27FC236}">
                  <a16:creationId xmlns:a16="http://schemas.microsoft.com/office/drawing/2014/main" id="{B7648809-CEFA-E714-CAA7-7004AFF77649}"/>
                </a:ext>
              </a:extLst>
            </p:cNvPr>
            <p:cNvSpPr/>
            <p:nvPr/>
          </p:nvSpPr>
          <p:spPr>
            <a:xfrm>
              <a:off x="539496" y="548640"/>
              <a:ext cx="64008" cy="64008"/>
            </a:xfrm>
            <a:prstGeom prst="rect">
              <a:avLst/>
            </a:prstGeom>
            <a:solidFill>
              <a:srgbClr val="3F8FD0"/>
            </a:solidFill>
            <a:ln/>
          </p:spPr>
          <p:txBody>
            <a:bodyPr/>
            <a:lstStyle/>
            <a:p>
              <a:endParaRPr lang="en-US"/>
            </a:p>
          </p:txBody>
        </p:sp>
        <p:sp>
          <p:nvSpPr>
            <p:cNvPr id="45" name="Shape 9">
              <a:extLst>
                <a:ext uri="{FF2B5EF4-FFF2-40B4-BE49-F238E27FC236}">
                  <a16:creationId xmlns:a16="http://schemas.microsoft.com/office/drawing/2014/main" id="{AB380E78-43C4-7D96-2426-D30FB6E5DCBD}"/>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6" name="Group 45">
            <a:extLst>
              <a:ext uri="{FF2B5EF4-FFF2-40B4-BE49-F238E27FC236}">
                <a16:creationId xmlns:a16="http://schemas.microsoft.com/office/drawing/2014/main" id="{078EFB0C-C7FF-B3C7-3F5D-8307C6AAFFA0}"/>
              </a:ext>
            </a:extLst>
          </p:cNvPr>
          <p:cNvGrpSpPr/>
          <p:nvPr/>
        </p:nvGrpSpPr>
        <p:grpSpPr>
          <a:xfrm>
            <a:off x="320040" y="6473952"/>
            <a:ext cx="228600" cy="228600"/>
            <a:chOff x="320040" y="6473952"/>
            <a:chExt cx="228600" cy="228600"/>
          </a:xfrm>
        </p:grpSpPr>
        <p:sp>
          <p:nvSpPr>
            <p:cNvPr id="47" name="Shape 24">
              <a:extLst>
                <a:ext uri="{FF2B5EF4-FFF2-40B4-BE49-F238E27FC236}">
                  <a16:creationId xmlns:a16="http://schemas.microsoft.com/office/drawing/2014/main" id="{9BAA19CE-6B75-B52F-069E-70CD1412F375}"/>
                </a:ext>
              </a:extLst>
            </p:cNvPr>
            <p:cNvSpPr/>
            <p:nvPr/>
          </p:nvSpPr>
          <p:spPr>
            <a:xfrm>
              <a:off x="320040" y="6473952"/>
              <a:ext cx="64008" cy="64008"/>
            </a:xfrm>
            <a:prstGeom prst="rect">
              <a:avLst/>
            </a:prstGeom>
            <a:solidFill>
              <a:srgbClr val="1F3A6E"/>
            </a:solidFill>
            <a:ln/>
          </p:spPr>
          <p:txBody>
            <a:bodyPr/>
            <a:lstStyle/>
            <a:p>
              <a:endParaRPr lang="en-US"/>
            </a:p>
          </p:txBody>
        </p:sp>
        <p:sp>
          <p:nvSpPr>
            <p:cNvPr id="48" name="Shape 25">
              <a:extLst>
                <a:ext uri="{FF2B5EF4-FFF2-40B4-BE49-F238E27FC236}">
                  <a16:creationId xmlns:a16="http://schemas.microsoft.com/office/drawing/2014/main" id="{673714CA-280C-E824-35E9-9A1B29C01E1A}"/>
                </a:ext>
              </a:extLst>
            </p:cNvPr>
            <p:cNvSpPr/>
            <p:nvPr/>
          </p:nvSpPr>
          <p:spPr>
            <a:xfrm>
              <a:off x="402336" y="6473952"/>
              <a:ext cx="64008" cy="64008"/>
            </a:xfrm>
            <a:prstGeom prst="rect">
              <a:avLst/>
            </a:prstGeom>
            <a:solidFill>
              <a:srgbClr val="3F8FD0"/>
            </a:solidFill>
            <a:ln/>
          </p:spPr>
          <p:txBody>
            <a:bodyPr/>
            <a:lstStyle/>
            <a:p>
              <a:endParaRPr lang="en-US"/>
            </a:p>
          </p:txBody>
        </p:sp>
        <p:sp>
          <p:nvSpPr>
            <p:cNvPr id="49" name="Shape 26">
              <a:extLst>
                <a:ext uri="{FF2B5EF4-FFF2-40B4-BE49-F238E27FC236}">
                  <a16:creationId xmlns:a16="http://schemas.microsoft.com/office/drawing/2014/main" id="{D37373D6-DB30-39DB-E660-6FAD30AC012F}"/>
                </a:ext>
              </a:extLst>
            </p:cNvPr>
            <p:cNvSpPr/>
            <p:nvPr/>
          </p:nvSpPr>
          <p:spPr>
            <a:xfrm>
              <a:off x="484632" y="6473952"/>
              <a:ext cx="64008" cy="64008"/>
            </a:xfrm>
            <a:prstGeom prst="rect">
              <a:avLst/>
            </a:prstGeom>
            <a:solidFill>
              <a:srgbClr val="1F3A6E"/>
            </a:solidFill>
            <a:ln/>
          </p:spPr>
          <p:txBody>
            <a:bodyPr/>
            <a:lstStyle/>
            <a:p>
              <a:endParaRPr lang="en-US"/>
            </a:p>
          </p:txBody>
        </p:sp>
        <p:sp>
          <p:nvSpPr>
            <p:cNvPr id="50" name="Shape 27">
              <a:extLst>
                <a:ext uri="{FF2B5EF4-FFF2-40B4-BE49-F238E27FC236}">
                  <a16:creationId xmlns:a16="http://schemas.microsoft.com/office/drawing/2014/main" id="{B09F2DFE-57B0-7C22-BC72-7A367E8B5563}"/>
                </a:ext>
              </a:extLst>
            </p:cNvPr>
            <p:cNvSpPr/>
            <p:nvPr/>
          </p:nvSpPr>
          <p:spPr>
            <a:xfrm>
              <a:off x="320040" y="6556248"/>
              <a:ext cx="64008" cy="64008"/>
            </a:xfrm>
            <a:prstGeom prst="rect">
              <a:avLst/>
            </a:prstGeom>
            <a:solidFill>
              <a:srgbClr val="3F8FD0"/>
            </a:solidFill>
            <a:ln/>
          </p:spPr>
          <p:txBody>
            <a:bodyPr/>
            <a:lstStyle/>
            <a:p>
              <a:endParaRPr lang="en-US"/>
            </a:p>
          </p:txBody>
        </p:sp>
        <p:sp>
          <p:nvSpPr>
            <p:cNvPr id="51" name="Shape 28">
              <a:extLst>
                <a:ext uri="{FF2B5EF4-FFF2-40B4-BE49-F238E27FC236}">
                  <a16:creationId xmlns:a16="http://schemas.microsoft.com/office/drawing/2014/main" id="{4448D449-9E7A-54E4-F40A-1B1F227A8421}"/>
                </a:ext>
              </a:extLst>
            </p:cNvPr>
            <p:cNvSpPr/>
            <p:nvPr/>
          </p:nvSpPr>
          <p:spPr>
            <a:xfrm>
              <a:off x="402336" y="6556248"/>
              <a:ext cx="64008" cy="64008"/>
            </a:xfrm>
            <a:prstGeom prst="rect">
              <a:avLst/>
            </a:prstGeom>
            <a:solidFill>
              <a:srgbClr val="1F3A6E"/>
            </a:solidFill>
            <a:ln/>
          </p:spPr>
          <p:txBody>
            <a:bodyPr/>
            <a:lstStyle/>
            <a:p>
              <a:endParaRPr lang="en-US"/>
            </a:p>
          </p:txBody>
        </p:sp>
        <p:sp>
          <p:nvSpPr>
            <p:cNvPr id="52" name="Shape 29">
              <a:extLst>
                <a:ext uri="{FF2B5EF4-FFF2-40B4-BE49-F238E27FC236}">
                  <a16:creationId xmlns:a16="http://schemas.microsoft.com/office/drawing/2014/main" id="{966DB12F-542B-9A40-785C-2C2C58876C28}"/>
                </a:ext>
              </a:extLst>
            </p:cNvPr>
            <p:cNvSpPr/>
            <p:nvPr/>
          </p:nvSpPr>
          <p:spPr>
            <a:xfrm>
              <a:off x="484632" y="6556248"/>
              <a:ext cx="64008" cy="64008"/>
            </a:xfrm>
            <a:prstGeom prst="rect">
              <a:avLst/>
            </a:prstGeom>
            <a:solidFill>
              <a:srgbClr val="3F8FD0"/>
            </a:solidFill>
            <a:ln/>
          </p:spPr>
          <p:txBody>
            <a:bodyPr/>
            <a:lstStyle/>
            <a:p>
              <a:endParaRPr lang="en-US"/>
            </a:p>
          </p:txBody>
        </p:sp>
        <p:sp>
          <p:nvSpPr>
            <p:cNvPr id="53" name="Shape 30">
              <a:extLst>
                <a:ext uri="{FF2B5EF4-FFF2-40B4-BE49-F238E27FC236}">
                  <a16:creationId xmlns:a16="http://schemas.microsoft.com/office/drawing/2014/main" id="{55DB26D6-A11C-0879-24E8-00B3C9E3AFB4}"/>
                </a:ext>
              </a:extLst>
            </p:cNvPr>
            <p:cNvSpPr/>
            <p:nvPr/>
          </p:nvSpPr>
          <p:spPr>
            <a:xfrm>
              <a:off x="320040" y="6638544"/>
              <a:ext cx="64008" cy="64008"/>
            </a:xfrm>
            <a:prstGeom prst="rect">
              <a:avLst/>
            </a:prstGeom>
            <a:solidFill>
              <a:srgbClr val="1F3A6E"/>
            </a:solidFill>
            <a:ln/>
          </p:spPr>
          <p:txBody>
            <a:bodyPr/>
            <a:lstStyle/>
            <a:p>
              <a:endParaRPr lang="en-US"/>
            </a:p>
          </p:txBody>
        </p:sp>
        <p:sp>
          <p:nvSpPr>
            <p:cNvPr id="54" name="Shape 31">
              <a:extLst>
                <a:ext uri="{FF2B5EF4-FFF2-40B4-BE49-F238E27FC236}">
                  <a16:creationId xmlns:a16="http://schemas.microsoft.com/office/drawing/2014/main" id="{D4364774-6F96-3FF7-1AA9-B28575A0984A}"/>
                </a:ext>
              </a:extLst>
            </p:cNvPr>
            <p:cNvSpPr/>
            <p:nvPr/>
          </p:nvSpPr>
          <p:spPr>
            <a:xfrm>
              <a:off x="402336" y="6638544"/>
              <a:ext cx="64008" cy="64008"/>
            </a:xfrm>
            <a:prstGeom prst="rect">
              <a:avLst/>
            </a:prstGeom>
            <a:solidFill>
              <a:srgbClr val="3F8FD0"/>
            </a:solidFill>
            <a:ln/>
          </p:spPr>
          <p:txBody>
            <a:bodyPr/>
            <a:lstStyle/>
            <a:p>
              <a:endParaRPr lang="en-US"/>
            </a:p>
          </p:txBody>
        </p:sp>
        <p:sp>
          <p:nvSpPr>
            <p:cNvPr id="55" name="Shape 32">
              <a:extLst>
                <a:ext uri="{FF2B5EF4-FFF2-40B4-BE49-F238E27FC236}">
                  <a16:creationId xmlns:a16="http://schemas.microsoft.com/office/drawing/2014/main" id="{24E584C9-8A05-EE8F-5AA1-CFAA126D506C}"/>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6" name="Text 33">
            <a:extLst>
              <a:ext uri="{FF2B5EF4-FFF2-40B4-BE49-F238E27FC236}">
                <a16:creationId xmlns:a16="http://schemas.microsoft.com/office/drawing/2014/main" id="{5471630A-7D2D-CA9E-8C39-3C318596EB36}"/>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txBody>
          <a:bodyPr/>
          <a:lstStyle/>
          <a:p>
            <a:endParaRPr lang="en-US"/>
          </a:p>
        </p:txBody>
      </p:sp>
      <p:sp>
        <p:nvSpPr>
          <p:cNvPr id="3" name="Shape 1"/>
          <p:cNvSpPr/>
          <p:nvPr/>
        </p:nvSpPr>
        <p:spPr>
          <a:xfrm>
            <a:off x="9887407" y="0"/>
            <a:ext cx="384048" cy="384048"/>
          </a:xfrm>
          <a:prstGeom prst="rect">
            <a:avLst/>
          </a:prstGeom>
          <a:solidFill>
            <a:srgbClr val="3F8FD0"/>
          </a:solidFill>
          <a:ln/>
        </p:spPr>
        <p:txBody>
          <a:bodyPr/>
          <a:lstStyle/>
          <a:p>
            <a:endParaRPr lang="en-US"/>
          </a:p>
        </p:txBody>
      </p:sp>
      <p:sp>
        <p:nvSpPr>
          <p:cNvPr id="4" name="Shape 2"/>
          <p:cNvSpPr/>
          <p:nvPr/>
        </p:nvSpPr>
        <p:spPr>
          <a:xfrm>
            <a:off x="10655503" y="0"/>
            <a:ext cx="384048" cy="384048"/>
          </a:xfrm>
          <a:prstGeom prst="rect">
            <a:avLst/>
          </a:prstGeom>
          <a:solidFill>
            <a:srgbClr val="3F8FD0"/>
          </a:solidFill>
          <a:ln/>
        </p:spPr>
        <p:txBody>
          <a:bodyPr/>
          <a:lstStyle/>
          <a:p>
            <a:endParaRPr lang="en-US"/>
          </a:p>
        </p:txBody>
      </p:sp>
      <p:sp>
        <p:nvSpPr>
          <p:cNvPr id="5" name="Shape 3"/>
          <p:cNvSpPr/>
          <p:nvPr/>
        </p:nvSpPr>
        <p:spPr>
          <a:xfrm>
            <a:off x="11039551" y="0"/>
            <a:ext cx="384048" cy="384048"/>
          </a:xfrm>
          <a:prstGeom prst="rect">
            <a:avLst/>
          </a:prstGeom>
          <a:solidFill>
            <a:srgbClr val="AEE0F5"/>
          </a:solidFill>
          <a:ln/>
        </p:spPr>
        <p:txBody>
          <a:bodyPr/>
          <a:lstStyle/>
          <a:p>
            <a:endParaRPr lang="en-US"/>
          </a:p>
        </p:txBody>
      </p:sp>
      <p:sp>
        <p:nvSpPr>
          <p:cNvPr id="6" name="Shape 4"/>
          <p:cNvSpPr/>
          <p:nvPr/>
        </p:nvSpPr>
        <p:spPr>
          <a:xfrm>
            <a:off x="11423599" y="0"/>
            <a:ext cx="384048" cy="384048"/>
          </a:xfrm>
          <a:prstGeom prst="rect">
            <a:avLst/>
          </a:prstGeom>
          <a:solidFill>
            <a:srgbClr val="3F8FD0"/>
          </a:solidFill>
          <a:ln/>
        </p:spPr>
        <p:txBody>
          <a:bodyPr/>
          <a:lstStyle/>
          <a:p>
            <a:endParaRPr lang="en-US"/>
          </a:p>
        </p:txBody>
      </p:sp>
      <p:sp>
        <p:nvSpPr>
          <p:cNvPr id="7" name="Shape 5"/>
          <p:cNvSpPr/>
          <p:nvPr/>
        </p:nvSpPr>
        <p:spPr>
          <a:xfrm>
            <a:off x="11807647" y="0"/>
            <a:ext cx="384048" cy="384048"/>
          </a:xfrm>
          <a:prstGeom prst="rect">
            <a:avLst/>
          </a:prstGeom>
          <a:solidFill>
            <a:srgbClr val="AEE0F5"/>
          </a:solidFill>
          <a:ln/>
        </p:spPr>
        <p:txBody>
          <a:bodyPr/>
          <a:lstStyle/>
          <a:p>
            <a:endParaRPr lang="en-US"/>
          </a:p>
        </p:txBody>
      </p:sp>
      <p:sp>
        <p:nvSpPr>
          <p:cNvPr id="8" name="Shape 6"/>
          <p:cNvSpPr/>
          <p:nvPr/>
        </p:nvSpPr>
        <p:spPr>
          <a:xfrm>
            <a:off x="10271455" y="384048"/>
            <a:ext cx="384048" cy="384048"/>
          </a:xfrm>
          <a:prstGeom prst="rect">
            <a:avLst/>
          </a:prstGeom>
          <a:solidFill>
            <a:srgbClr val="3F8FD0"/>
          </a:solidFill>
          <a:ln/>
        </p:spPr>
        <p:txBody>
          <a:bodyPr/>
          <a:lstStyle/>
          <a:p>
            <a:endParaRPr lang="en-US"/>
          </a:p>
        </p:txBody>
      </p:sp>
      <p:sp>
        <p:nvSpPr>
          <p:cNvPr id="9" name="Shape 7"/>
          <p:cNvSpPr/>
          <p:nvPr/>
        </p:nvSpPr>
        <p:spPr>
          <a:xfrm>
            <a:off x="11423599" y="384048"/>
            <a:ext cx="384048" cy="384048"/>
          </a:xfrm>
          <a:prstGeom prst="rect">
            <a:avLst/>
          </a:prstGeom>
          <a:solidFill>
            <a:srgbClr val="AEE0F5"/>
          </a:solidFill>
          <a:ln/>
        </p:spPr>
        <p:txBody>
          <a:bodyPr/>
          <a:lstStyle/>
          <a:p>
            <a:endParaRPr lang="en-US"/>
          </a:p>
        </p:txBody>
      </p:sp>
      <p:sp>
        <p:nvSpPr>
          <p:cNvPr id="10" name="Shape 8"/>
          <p:cNvSpPr/>
          <p:nvPr/>
        </p:nvSpPr>
        <p:spPr>
          <a:xfrm>
            <a:off x="11807647" y="384048"/>
            <a:ext cx="384048" cy="384048"/>
          </a:xfrm>
          <a:prstGeom prst="rect">
            <a:avLst/>
          </a:prstGeom>
          <a:solidFill>
            <a:srgbClr val="3F8FD0"/>
          </a:solidFill>
          <a:ln/>
        </p:spPr>
        <p:txBody>
          <a:bodyPr/>
          <a:lstStyle/>
          <a:p>
            <a:endParaRPr lang="en-US"/>
          </a:p>
        </p:txBody>
      </p:sp>
      <p:sp>
        <p:nvSpPr>
          <p:cNvPr id="11" name="Shape 9"/>
          <p:cNvSpPr/>
          <p:nvPr/>
        </p:nvSpPr>
        <p:spPr>
          <a:xfrm>
            <a:off x="11039551" y="768096"/>
            <a:ext cx="384048" cy="384048"/>
          </a:xfrm>
          <a:prstGeom prst="rect">
            <a:avLst/>
          </a:prstGeom>
          <a:solidFill>
            <a:srgbClr val="AEE0F5"/>
          </a:solidFill>
          <a:ln/>
        </p:spPr>
        <p:txBody>
          <a:bodyPr/>
          <a:lstStyle/>
          <a:p>
            <a:endParaRPr lang="en-US"/>
          </a:p>
        </p:txBody>
      </p:sp>
      <p:sp>
        <p:nvSpPr>
          <p:cNvPr id="12" name="Shape 10"/>
          <p:cNvSpPr/>
          <p:nvPr/>
        </p:nvSpPr>
        <p:spPr>
          <a:xfrm>
            <a:off x="11807647" y="768096"/>
            <a:ext cx="384048" cy="384048"/>
          </a:xfrm>
          <a:prstGeom prst="rect">
            <a:avLst/>
          </a:prstGeom>
          <a:solidFill>
            <a:srgbClr val="AEE0F5"/>
          </a:solidFill>
          <a:ln/>
        </p:spPr>
        <p:txBody>
          <a:bodyPr/>
          <a:lstStyle/>
          <a:p>
            <a:endParaRPr lang="en-US"/>
          </a:p>
        </p:txBody>
      </p:sp>
      <p:sp>
        <p:nvSpPr>
          <p:cNvPr id="13" name="Shape 11"/>
          <p:cNvSpPr/>
          <p:nvPr/>
        </p:nvSpPr>
        <p:spPr>
          <a:xfrm>
            <a:off x="548640" y="457200"/>
            <a:ext cx="64008" cy="64008"/>
          </a:xfrm>
          <a:prstGeom prst="rect">
            <a:avLst/>
          </a:prstGeom>
          <a:solidFill>
            <a:srgbClr val="1F3A6E"/>
          </a:solidFill>
          <a:ln/>
        </p:spPr>
        <p:txBody>
          <a:bodyPr/>
          <a:lstStyle/>
          <a:p>
            <a:endParaRPr lang="en-US"/>
          </a:p>
        </p:txBody>
      </p:sp>
      <p:sp>
        <p:nvSpPr>
          <p:cNvPr id="14" name="Shape 12"/>
          <p:cNvSpPr/>
          <p:nvPr/>
        </p:nvSpPr>
        <p:spPr>
          <a:xfrm>
            <a:off x="630936" y="457200"/>
            <a:ext cx="64008" cy="64008"/>
          </a:xfrm>
          <a:prstGeom prst="rect">
            <a:avLst/>
          </a:prstGeom>
          <a:solidFill>
            <a:srgbClr val="3F8FD0"/>
          </a:solidFill>
          <a:ln/>
        </p:spPr>
        <p:txBody>
          <a:bodyPr/>
          <a:lstStyle/>
          <a:p>
            <a:endParaRPr lang="en-US"/>
          </a:p>
        </p:txBody>
      </p:sp>
      <p:sp>
        <p:nvSpPr>
          <p:cNvPr id="15" name="Shape 13"/>
          <p:cNvSpPr/>
          <p:nvPr/>
        </p:nvSpPr>
        <p:spPr>
          <a:xfrm>
            <a:off x="713232" y="457200"/>
            <a:ext cx="64008" cy="64008"/>
          </a:xfrm>
          <a:prstGeom prst="rect">
            <a:avLst/>
          </a:prstGeom>
          <a:solidFill>
            <a:srgbClr val="1F3A6E"/>
          </a:solidFill>
          <a:ln/>
        </p:spPr>
        <p:txBody>
          <a:bodyPr/>
          <a:lstStyle/>
          <a:p>
            <a:endParaRPr lang="en-US"/>
          </a:p>
        </p:txBody>
      </p:sp>
      <p:sp>
        <p:nvSpPr>
          <p:cNvPr id="16" name="Shape 14"/>
          <p:cNvSpPr/>
          <p:nvPr/>
        </p:nvSpPr>
        <p:spPr>
          <a:xfrm>
            <a:off x="548640" y="539496"/>
            <a:ext cx="64008" cy="64008"/>
          </a:xfrm>
          <a:prstGeom prst="rect">
            <a:avLst/>
          </a:prstGeom>
          <a:solidFill>
            <a:srgbClr val="3F8FD0"/>
          </a:solidFill>
          <a:ln/>
        </p:spPr>
        <p:txBody>
          <a:bodyPr/>
          <a:lstStyle/>
          <a:p>
            <a:endParaRPr lang="en-US"/>
          </a:p>
        </p:txBody>
      </p:sp>
      <p:sp>
        <p:nvSpPr>
          <p:cNvPr id="17" name="Shape 15"/>
          <p:cNvSpPr/>
          <p:nvPr/>
        </p:nvSpPr>
        <p:spPr>
          <a:xfrm>
            <a:off x="630936" y="539496"/>
            <a:ext cx="64008" cy="64008"/>
          </a:xfrm>
          <a:prstGeom prst="rect">
            <a:avLst/>
          </a:prstGeom>
          <a:solidFill>
            <a:srgbClr val="1F3A6E"/>
          </a:solidFill>
          <a:ln/>
        </p:spPr>
        <p:txBody>
          <a:bodyPr/>
          <a:lstStyle/>
          <a:p>
            <a:endParaRPr lang="en-US"/>
          </a:p>
        </p:txBody>
      </p:sp>
      <p:sp>
        <p:nvSpPr>
          <p:cNvPr id="18" name="Shape 16"/>
          <p:cNvSpPr/>
          <p:nvPr/>
        </p:nvSpPr>
        <p:spPr>
          <a:xfrm>
            <a:off x="713232" y="539496"/>
            <a:ext cx="64008" cy="64008"/>
          </a:xfrm>
          <a:prstGeom prst="rect">
            <a:avLst/>
          </a:prstGeom>
          <a:solidFill>
            <a:srgbClr val="3F8FD0"/>
          </a:solidFill>
          <a:ln/>
        </p:spPr>
        <p:txBody>
          <a:bodyPr/>
          <a:lstStyle/>
          <a:p>
            <a:endParaRPr lang="en-US"/>
          </a:p>
        </p:txBody>
      </p:sp>
      <p:sp>
        <p:nvSpPr>
          <p:cNvPr id="19" name="Shape 17"/>
          <p:cNvSpPr/>
          <p:nvPr/>
        </p:nvSpPr>
        <p:spPr>
          <a:xfrm>
            <a:off x="548640" y="621792"/>
            <a:ext cx="64008" cy="64008"/>
          </a:xfrm>
          <a:prstGeom prst="rect">
            <a:avLst/>
          </a:prstGeom>
          <a:solidFill>
            <a:srgbClr val="1F3A6E"/>
          </a:solidFill>
          <a:ln/>
        </p:spPr>
        <p:txBody>
          <a:bodyPr/>
          <a:lstStyle/>
          <a:p>
            <a:endParaRPr lang="en-US"/>
          </a:p>
        </p:txBody>
      </p:sp>
      <p:sp>
        <p:nvSpPr>
          <p:cNvPr id="20" name="Shape 18"/>
          <p:cNvSpPr/>
          <p:nvPr/>
        </p:nvSpPr>
        <p:spPr>
          <a:xfrm>
            <a:off x="630936" y="621792"/>
            <a:ext cx="64008" cy="64008"/>
          </a:xfrm>
          <a:prstGeom prst="rect">
            <a:avLst/>
          </a:prstGeom>
          <a:solidFill>
            <a:srgbClr val="3F8FD0"/>
          </a:solidFill>
          <a:ln/>
        </p:spPr>
        <p:txBody>
          <a:bodyPr/>
          <a:lstStyle/>
          <a:p>
            <a:endParaRPr lang="en-US"/>
          </a:p>
        </p:txBody>
      </p:sp>
      <p:sp>
        <p:nvSpPr>
          <p:cNvPr id="21" name="Shape 19"/>
          <p:cNvSpPr/>
          <p:nvPr/>
        </p:nvSpPr>
        <p:spPr>
          <a:xfrm>
            <a:off x="713232" y="621792"/>
            <a:ext cx="64008" cy="64008"/>
          </a:xfrm>
          <a:prstGeom prst="rect">
            <a:avLst/>
          </a:prstGeom>
          <a:solidFill>
            <a:srgbClr val="1F3A6E"/>
          </a:solidFill>
          <a:ln/>
        </p:spPr>
        <p:txBody>
          <a:bodyPr/>
          <a:lstStyle/>
          <a:p>
            <a:endParaRPr lang="en-US"/>
          </a:p>
        </p:txBody>
      </p:sp>
      <p:sp>
        <p:nvSpPr>
          <p:cNvPr id="22" name="Shape 20"/>
          <p:cNvSpPr/>
          <p:nvPr/>
        </p:nvSpPr>
        <p:spPr>
          <a:xfrm>
            <a:off x="914400" y="2743200"/>
            <a:ext cx="1417320" cy="1417320"/>
          </a:xfrm>
          <a:prstGeom prst="rect">
            <a:avLst/>
          </a:prstGeom>
          <a:solidFill>
            <a:srgbClr val="1F3A6E"/>
          </a:solidFill>
          <a:ln/>
          <a:effectLst>
            <a:outerShdw blurRad="76200" dist="38100" dir="2700000" algn="bl" rotWithShape="0">
              <a:srgbClr val="000000">
                <a:alpha val="35000"/>
              </a:srgbClr>
            </a:outerShdw>
          </a:effectLst>
        </p:spPr>
        <p:txBody>
          <a:bodyPr/>
          <a:lstStyle/>
          <a:p>
            <a:endParaRPr lang="en-US"/>
          </a:p>
        </p:txBody>
      </p:sp>
      <p:sp>
        <p:nvSpPr>
          <p:cNvPr id="23" name="Text 21"/>
          <p:cNvSpPr/>
          <p:nvPr/>
        </p:nvSpPr>
        <p:spPr>
          <a:xfrm>
            <a:off x="914400" y="2743200"/>
            <a:ext cx="1417320" cy="14173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1</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marL="0" indent="0">
              <a:buNone/>
            </a:pPr>
            <a:r>
              <a:rPr lang="en-US" sz="3000" b="1" dirty="0">
                <a:solidFill>
                  <a:srgbClr val="1F3A6E"/>
                </a:solidFill>
                <a:latin typeface="Calibri" pitchFamily="34" charset="0"/>
                <a:ea typeface="Calibri" pitchFamily="34" charset="-122"/>
                <a:cs typeface="Calibri" pitchFamily="34" charset="-120"/>
              </a:rPr>
              <a:t>Người xem Dashboard - Main Dashboard</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74" name="Picture 73">
            <a:extLst>
              <a:ext uri="{FF2B5EF4-FFF2-40B4-BE49-F238E27FC236}">
                <a16:creationId xmlns:a16="http://schemas.microsoft.com/office/drawing/2014/main" id="{18DED404-9B27-31C2-3E30-3F8F10F33C43}"/>
              </a:ext>
            </a:extLst>
          </p:cNvPr>
          <p:cNvPicPr>
            <a:picLocks noChangeAspect="1"/>
          </p:cNvPicPr>
          <p:nvPr/>
        </p:nvPicPr>
        <p:blipFill>
          <a:blip r:embed="rId3"/>
          <a:stretch>
            <a:fillRect/>
          </a:stretch>
        </p:blipFill>
        <p:spPr>
          <a:xfrm>
            <a:off x="205045" y="2053194"/>
            <a:ext cx="7304050" cy="3384617"/>
          </a:xfrm>
          <a:prstGeom prst="rect">
            <a:avLst/>
          </a:prstGeom>
        </p:spPr>
      </p:pic>
      <p:sp>
        <p:nvSpPr>
          <p:cNvPr id="2" name="Shape 0"/>
          <p:cNvSpPr/>
          <p:nvPr/>
        </p:nvSpPr>
        <p:spPr>
          <a:xfrm>
            <a:off x="0" y="0"/>
            <a:ext cx="12191695" cy="54864"/>
          </a:xfrm>
          <a:prstGeom prst="rect">
            <a:avLst/>
          </a:prstGeom>
          <a:solidFill>
            <a:srgbClr val="3F8FD0"/>
          </a:solidFill>
          <a:ln/>
        </p:spPr>
        <p:txBody>
          <a:bodyPr/>
          <a:lstStyle/>
          <a:p>
            <a:endParaRPr lang="en-US"/>
          </a:p>
        </p:txBody>
      </p:sp>
      <p:grpSp>
        <p:nvGrpSpPr>
          <p:cNvPr id="38" name="Group 37">
            <a:extLst>
              <a:ext uri="{FF2B5EF4-FFF2-40B4-BE49-F238E27FC236}">
                <a16:creationId xmlns:a16="http://schemas.microsoft.com/office/drawing/2014/main" id="{FF758668-28C2-B874-3125-4569E49026DD}"/>
              </a:ext>
            </a:extLst>
          </p:cNvPr>
          <p:cNvGrpSpPr/>
          <p:nvPr/>
        </p:nvGrpSpPr>
        <p:grpSpPr>
          <a:xfrm>
            <a:off x="320040" y="491129"/>
            <a:ext cx="228600" cy="228600"/>
            <a:chOff x="457200" y="384048"/>
            <a:chExt cx="228600" cy="228600"/>
          </a:xfrm>
        </p:grpSpPr>
        <p:sp>
          <p:nvSpPr>
            <p:cNvPr id="3" name="Shape 1"/>
            <p:cNvSpPr/>
            <p:nvPr/>
          </p:nvSpPr>
          <p:spPr>
            <a:xfrm>
              <a:off x="457200" y="384048"/>
              <a:ext cx="64008" cy="64008"/>
            </a:xfrm>
            <a:prstGeom prst="rect">
              <a:avLst/>
            </a:prstGeom>
            <a:solidFill>
              <a:srgbClr val="1F3A6E"/>
            </a:solidFill>
            <a:ln/>
          </p:spPr>
          <p:txBody>
            <a:bodyPr/>
            <a:lstStyle/>
            <a:p>
              <a:endParaRPr lang="en-US"/>
            </a:p>
          </p:txBody>
        </p:sp>
        <p:sp>
          <p:nvSpPr>
            <p:cNvPr id="4" name="Shape 2"/>
            <p:cNvSpPr/>
            <p:nvPr/>
          </p:nvSpPr>
          <p:spPr>
            <a:xfrm>
              <a:off x="539496" y="384048"/>
              <a:ext cx="64008" cy="64008"/>
            </a:xfrm>
            <a:prstGeom prst="rect">
              <a:avLst/>
            </a:prstGeom>
            <a:solidFill>
              <a:srgbClr val="3F8FD0"/>
            </a:solidFill>
            <a:ln/>
          </p:spPr>
          <p:txBody>
            <a:bodyPr/>
            <a:lstStyle/>
            <a:p>
              <a:endParaRPr lang="en-US"/>
            </a:p>
          </p:txBody>
        </p:sp>
        <p:sp>
          <p:nvSpPr>
            <p:cNvPr id="5" name="Shape 3"/>
            <p:cNvSpPr/>
            <p:nvPr/>
          </p:nvSpPr>
          <p:spPr>
            <a:xfrm>
              <a:off x="621792" y="384048"/>
              <a:ext cx="64008" cy="64008"/>
            </a:xfrm>
            <a:prstGeom prst="rect">
              <a:avLst/>
            </a:prstGeom>
            <a:solidFill>
              <a:srgbClr val="1F3A6E"/>
            </a:solidFill>
            <a:ln/>
          </p:spPr>
          <p:txBody>
            <a:bodyPr/>
            <a:lstStyle/>
            <a:p>
              <a:endParaRPr lang="en-US"/>
            </a:p>
          </p:txBody>
        </p:sp>
        <p:sp>
          <p:nvSpPr>
            <p:cNvPr id="6" name="Shape 4"/>
            <p:cNvSpPr/>
            <p:nvPr/>
          </p:nvSpPr>
          <p:spPr>
            <a:xfrm>
              <a:off x="457200" y="466344"/>
              <a:ext cx="64008" cy="64008"/>
            </a:xfrm>
            <a:prstGeom prst="rect">
              <a:avLst/>
            </a:prstGeom>
            <a:solidFill>
              <a:srgbClr val="3F8FD0"/>
            </a:solidFill>
            <a:ln/>
          </p:spPr>
          <p:txBody>
            <a:bodyPr/>
            <a:lstStyle/>
            <a:p>
              <a:endParaRPr lang="en-US"/>
            </a:p>
          </p:txBody>
        </p:sp>
        <p:sp>
          <p:nvSpPr>
            <p:cNvPr id="7" name="Shape 5"/>
            <p:cNvSpPr/>
            <p:nvPr/>
          </p:nvSpPr>
          <p:spPr>
            <a:xfrm>
              <a:off x="539496" y="466344"/>
              <a:ext cx="64008" cy="64008"/>
            </a:xfrm>
            <a:prstGeom prst="rect">
              <a:avLst/>
            </a:prstGeom>
            <a:solidFill>
              <a:srgbClr val="1F3A6E"/>
            </a:solidFill>
            <a:ln/>
          </p:spPr>
          <p:txBody>
            <a:bodyPr/>
            <a:lstStyle/>
            <a:p>
              <a:endParaRPr lang="en-US"/>
            </a:p>
          </p:txBody>
        </p:sp>
        <p:sp>
          <p:nvSpPr>
            <p:cNvPr id="8" name="Shape 6"/>
            <p:cNvSpPr/>
            <p:nvPr/>
          </p:nvSpPr>
          <p:spPr>
            <a:xfrm>
              <a:off x="621792" y="466344"/>
              <a:ext cx="64008" cy="64008"/>
            </a:xfrm>
            <a:prstGeom prst="rect">
              <a:avLst/>
            </a:prstGeom>
            <a:solidFill>
              <a:srgbClr val="3F8FD0"/>
            </a:solidFill>
            <a:ln/>
          </p:spPr>
          <p:txBody>
            <a:bodyPr/>
            <a:lstStyle/>
            <a:p>
              <a:endParaRPr lang="en-US"/>
            </a:p>
          </p:txBody>
        </p:sp>
        <p:sp>
          <p:nvSpPr>
            <p:cNvPr id="9" name="Shape 7"/>
            <p:cNvSpPr/>
            <p:nvPr/>
          </p:nvSpPr>
          <p:spPr>
            <a:xfrm>
              <a:off x="457200" y="548640"/>
              <a:ext cx="64008" cy="64008"/>
            </a:xfrm>
            <a:prstGeom prst="rect">
              <a:avLst/>
            </a:prstGeom>
            <a:solidFill>
              <a:srgbClr val="1F3A6E"/>
            </a:solidFill>
            <a:ln/>
          </p:spPr>
          <p:txBody>
            <a:bodyPr/>
            <a:lstStyle/>
            <a:p>
              <a:endParaRPr lang="en-US"/>
            </a:p>
          </p:txBody>
        </p:sp>
        <p:sp>
          <p:nvSpPr>
            <p:cNvPr id="10" name="Shape 8"/>
            <p:cNvSpPr/>
            <p:nvPr/>
          </p:nvSpPr>
          <p:spPr>
            <a:xfrm>
              <a:off x="539496" y="548640"/>
              <a:ext cx="64008" cy="64008"/>
            </a:xfrm>
            <a:prstGeom prst="rect">
              <a:avLst/>
            </a:prstGeom>
            <a:solidFill>
              <a:srgbClr val="3F8FD0"/>
            </a:solidFill>
            <a:ln/>
          </p:spPr>
          <p:txBody>
            <a:bodyPr/>
            <a:lstStyle/>
            <a:p>
              <a:endParaRPr lang="en-US"/>
            </a:p>
          </p:txBody>
        </p:sp>
        <p:sp>
          <p:nvSpPr>
            <p:cNvPr id="11" name="Shape 9"/>
            <p:cNvSpPr/>
            <p:nvPr/>
          </p:nvSpPr>
          <p:spPr>
            <a:xfrm>
              <a:off x="621792" y="548640"/>
              <a:ext cx="64008" cy="64008"/>
            </a:xfrm>
            <a:prstGeom prst="rect">
              <a:avLst/>
            </a:prstGeom>
            <a:solidFill>
              <a:srgbClr val="1F3A6E"/>
            </a:solidFill>
            <a:ln/>
          </p:spPr>
          <p:txBody>
            <a:bodyPr/>
            <a:lstStyle/>
            <a:p>
              <a:endParaRPr lang="en-US"/>
            </a:p>
          </p:txBody>
        </p:sp>
      </p:grpSp>
      <p:sp>
        <p:nvSpPr>
          <p:cNvPr id="12" name="Text 10"/>
          <p:cNvSpPr/>
          <p:nvPr/>
        </p:nvSpPr>
        <p:spPr>
          <a:xfrm>
            <a:off x="745067" y="291500"/>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Bộ lọc &amp; KPI tổng hợp</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60" name="Panel Header"/>
          <p:cNvSpPr/>
          <p:nvPr/>
        </p:nvSpPr>
        <p:spPr>
          <a:xfrm>
            <a:off x="7595807" y="2051075"/>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61" name="Panel Body"/>
          <p:cNvSpPr/>
          <p:nvPr/>
        </p:nvSpPr>
        <p:spPr>
          <a:xfrm>
            <a:off x="7595807" y="2579595"/>
            <a:ext cx="4211840" cy="2858216"/>
          </a:xfrm>
          <a:prstGeom prst="rect">
            <a:avLst/>
          </a:prstGeom>
          <a:solidFill>
            <a:srgbClr val="F4F8FD"/>
          </a:solidFill>
          <a:ln w="9525">
            <a:solidFill>
              <a:srgbClr val="BFBFBF"/>
            </a:solidFill>
          </a:ln>
        </p:spPr>
        <p:txBody>
          <a:bodyPr/>
          <a:lstStyle/>
          <a:p>
            <a:endParaRPr lang="en-US"/>
          </a:p>
        </p:txBody>
      </p:sp>
      <p:sp>
        <p:nvSpPr>
          <p:cNvPr id="62" name="Panel Text"/>
          <p:cNvSpPr txBox="1"/>
          <p:nvPr/>
        </p:nvSpPr>
        <p:spPr>
          <a:xfrm>
            <a:off x="7795807" y="2729594"/>
            <a:ext cx="3811840" cy="2753573"/>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Thiết lập: </a:t>
            </a:r>
          </a:p>
          <a:p>
            <a:pPr>
              <a:lnSpc>
                <a:spcPct val="100000"/>
              </a:lnSpc>
              <a:spcAft>
                <a:spcPts val="500"/>
              </a:spcAft>
            </a:pPr>
            <a:r>
              <a:rPr lang="en-US" sz="1100" dirty="0"/>
              <a:t>Chọn </a:t>
            </a:r>
            <a:r>
              <a:rPr lang="en-US" sz="1100" b="1" dirty="0">
                <a:solidFill>
                  <a:srgbClr val="1F3A6E"/>
                </a:solidFill>
                <a:latin typeface="Calibri" pitchFamily="34" charset="0"/>
              </a:rPr>
              <a:t>Project</a:t>
            </a:r>
            <a:r>
              <a:rPr lang="en-US" sz="1100" dirty="0">
                <a:solidFill>
                  <a:srgbClr val="262626"/>
                </a:solidFill>
                <a:latin typeface="Calibri" pitchFamily="34" charset="0"/>
              </a:rPr>
              <a:t>, </a:t>
            </a:r>
            <a:r>
              <a:rPr lang="en-US" sz="1100" b="1" dirty="0">
                <a:solidFill>
                  <a:srgbClr val="1F3A6E"/>
                </a:solidFill>
                <a:latin typeface="Calibri" pitchFamily="34" charset="0"/>
              </a:rPr>
              <a:t>Period / Base Month (Kỳ / Tháng gốc)</a:t>
            </a:r>
            <a:r>
              <a:rPr lang="en-US" sz="1100" dirty="0">
                <a:solidFill>
                  <a:srgbClr val="262626"/>
                </a:solidFill>
                <a:latin typeface="Calibri" pitchFamily="34" charset="0"/>
              </a:rPr>
              <a:t>, </a:t>
            </a:r>
            <a:r>
              <a:rPr lang="en-US" sz="1100" b="1" dirty="0">
                <a:solidFill>
                  <a:srgbClr val="1F3A6E"/>
                </a:solidFill>
                <a:latin typeface="Calibri" pitchFamily="34" charset="0"/>
              </a:rPr>
              <a:t>View by </a:t>
            </a:r>
            <a:r>
              <a:rPr lang="en-US" sz="1100" dirty="0">
                <a:solidFill>
                  <a:srgbClr val="262626"/>
                </a:solidFill>
                <a:latin typeface="Calibri" pitchFamily="34" charset="0"/>
              </a:rPr>
              <a:t>(Month), </a:t>
            </a:r>
            <a:r>
              <a:rPr lang="en-US" sz="1100" b="1" dirty="0">
                <a:solidFill>
                  <a:srgbClr val="1F3A6E"/>
                </a:solidFill>
                <a:latin typeface="Calibri" pitchFamily="34" charset="0"/>
              </a:rPr>
              <a:t>Exchange Rate </a:t>
            </a:r>
            <a:r>
              <a:rPr lang="en-US" sz="1100" dirty="0">
                <a:solidFill>
                  <a:srgbClr val="262626"/>
                </a:solidFill>
                <a:latin typeface="Calibri" pitchFamily="34" charset="0"/>
              </a:rPr>
              <a:t>và </a:t>
            </a:r>
            <a:r>
              <a:rPr lang="en-US" sz="1100" b="1" dirty="0">
                <a:solidFill>
                  <a:srgbClr val="1F3A6E"/>
                </a:solidFill>
                <a:latin typeface="Calibri" pitchFamily="34" charset="0"/>
              </a:rPr>
              <a:t>Unit</a:t>
            </a:r>
            <a:r>
              <a:rPr lang="en-US" sz="1100" dirty="0">
                <a:solidFill>
                  <a:srgbClr val="262626"/>
                </a:solidFill>
                <a:latin typeface="Calibri" pitchFamily="34" charset="0"/>
              </a:rPr>
              <a:t> (USD hoặc K USD </a:t>
            </a:r>
            <a:r>
              <a:rPr lang="en-US" sz="1100" dirty="0"/>
              <a:t>để làm mới toàn bộ thẻ và biểu đồ.</a:t>
            </a:r>
          </a:p>
          <a:p>
            <a:pPr>
              <a:lnSpc>
                <a:spcPct val="100000"/>
              </a:lnSpc>
              <a:spcAft>
                <a:spcPts val="500"/>
              </a:spcAft>
            </a:pPr>
            <a:endParaRPr lang="en-US" sz="1100" dirty="0"/>
          </a:p>
          <a:p>
            <a:pPr marL="228600" indent="-228600">
              <a:lnSpc>
                <a:spcPct val="106000"/>
              </a:lnSpc>
              <a:spcAft>
                <a:spcPts val="500"/>
              </a:spcAft>
              <a:buAutoNum type="arabicPlain" startAt="2"/>
            </a:pPr>
            <a:r>
              <a:rPr lang="en-US" sz="1100" b="1" dirty="0">
                <a:solidFill>
                  <a:srgbClr val="1F3A6E"/>
                </a:solidFill>
                <a:latin typeface="Calibri" pitchFamily="34" charset="0"/>
              </a:rPr>
              <a:t>Download: </a:t>
            </a:r>
            <a:r>
              <a:rPr lang="en-US" sz="1100" dirty="0">
                <a:solidFill>
                  <a:srgbClr val="262626"/>
                </a:solidFill>
                <a:latin typeface="Calibri" pitchFamily="34" charset="0"/>
              </a:rPr>
              <a:t>xuất dữ liệu dashboard hiện tại.</a:t>
            </a:r>
          </a:p>
          <a:p>
            <a:pPr>
              <a:lnSpc>
                <a:spcPct val="106000"/>
              </a:lnSpc>
              <a:spcAft>
                <a:spcPts val="500"/>
              </a:spcAft>
            </a:pPr>
            <a:endParaRPr lang="en-US" sz="1100" dirty="0">
              <a:solidFill>
                <a:srgbClr val="262626"/>
              </a:solidFill>
              <a:latin typeface="Calibri" pitchFamily="34" charset="0"/>
            </a:endParaRPr>
          </a:p>
          <a:p>
            <a:pPr marL="0" indent="0">
              <a:lnSpc>
                <a:spcPct val="106000"/>
              </a:lnSpc>
              <a:spcAft>
                <a:spcPts val="500"/>
              </a:spcAft>
              <a:buNone/>
            </a:pPr>
            <a:r>
              <a:rPr lang="en-US" sz="1100" b="1" dirty="0">
                <a:solidFill>
                  <a:srgbClr val="1F3A6E"/>
                </a:solidFill>
                <a:latin typeface="Calibri" pitchFamily="34" charset="0"/>
              </a:rPr>
              <a:t>3  </a:t>
            </a:r>
            <a:r>
              <a:rPr lang="en-US" sz="1100" dirty="0"/>
              <a:t>KPI Summary (Tổng hợp KPI)</a:t>
            </a:r>
            <a:r>
              <a:rPr lang="en-US" sz="1100" dirty="0">
                <a:solidFill>
                  <a:srgbClr val="262626"/>
                </a:solidFill>
                <a:latin typeface="Calibri" pitchFamily="34" charset="0"/>
              </a:rPr>
              <a:t>:</a:t>
            </a:r>
          </a:p>
          <a:p>
            <a:pPr marL="228600" indent="-228600">
              <a:lnSpc>
                <a:spcPct val="106000"/>
              </a:lnSpc>
              <a:spcAft>
                <a:spcPts val="400"/>
              </a:spcAft>
              <a:buChar char="•"/>
            </a:pPr>
            <a:r>
              <a:rPr lang="en-US" sz="1050" b="1" dirty="0">
                <a:solidFill>
                  <a:srgbClr val="1F3A6E"/>
                </a:solidFill>
                <a:latin typeface="Calibri" pitchFamily="34" charset="0"/>
              </a:rPr>
              <a:t>YTD Revenue (Doanh thu lũy kế năm), YTD Operating Profit (Lợi nhuận hoạt động lũy kế năm) </a:t>
            </a:r>
            <a:r>
              <a:rPr lang="en-US" sz="1050" dirty="0">
                <a:solidFill>
                  <a:srgbClr val="262626"/>
                </a:solidFill>
                <a:latin typeface="Calibri" pitchFamily="34" charset="0"/>
              </a:rPr>
              <a:t>(từ Tháng 1 đến Tháng gốc)</a:t>
            </a:r>
          </a:p>
          <a:p>
            <a:pPr marL="228600" indent="-228600">
              <a:lnSpc>
                <a:spcPct val="106000"/>
              </a:lnSpc>
              <a:spcAft>
                <a:spcPts val="400"/>
              </a:spcAft>
              <a:buChar char="•"/>
            </a:pPr>
            <a:r>
              <a:rPr lang="en-US" sz="1050" b="1" dirty="0">
                <a:solidFill>
                  <a:srgbClr val="1F3A6E"/>
                </a:solidFill>
                <a:latin typeface="Calibri" pitchFamily="34" charset="0"/>
              </a:rPr>
              <a:t>Full Year Revenue (Doanh thu cả năm) và Full Year Operating Profit (Lợi nhuận hoạt động cả năm) </a:t>
            </a:r>
            <a:r>
              <a:rPr lang="en-US" sz="1050" dirty="0">
                <a:solidFill>
                  <a:srgbClr val="262626"/>
                </a:solidFill>
                <a:latin typeface="Calibri" pitchFamily="34" charset="0"/>
              </a:rPr>
              <a:t>(Tháng 1 – 12)</a:t>
            </a:r>
          </a:p>
          <a:p>
            <a:pPr marL="228600" indent="-228600">
              <a:lnSpc>
                <a:spcPct val="100000"/>
              </a:lnSpc>
              <a:buChar char="•"/>
            </a:pPr>
            <a:r>
              <a:rPr lang="en-US" sz="1050" dirty="0"/>
              <a:t>Nguồn: Dữ liệu nhập từ Excel</a:t>
            </a:r>
          </a:p>
        </p:txBody>
      </p:sp>
      <p:sp>
        <p:nvSpPr>
          <p:cNvPr id="27" name="Shape 24"/>
          <p:cNvSpPr/>
          <p:nvPr/>
        </p:nvSpPr>
        <p:spPr>
          <a:xfrm>
            <a:off x="320040" y="6473952"/>
            <a:ext cx="64008" cy="64008"/>
          </a:xfrm>
          <a:prstGeom prst="rect">
            <a:avLst/>
          </a:prstGeom>
          <a:solidFill>
            <a:srgbClr val="1F3A6E"/>
          </a:solidFill>
          <a:ln/>
        </p:spPr>
        <p:txBody>
          <a:bodyPr/>
          <a:lstStyle/>
          <a:p>
            <a:endParaRPr lang="en-US"/>
          </a:p>
        </p:txBody>
      </p:sp>
      <p:sp>
        <p:nvSpPr>
          <p:cNvPr id="28" name="Shape 25"/>
          <p:cNvSpPr/>
          <p:nvPr/>
        </p:nvSpPr>
        <p:spPr>
          <a:xfrm>
            <a:off x="402336" y="6473952"/>
            <a:ext cx="64008" cy="64008"/>
          </a:xfrm>
          <a:prstGeom prst="rect">
            <a:avLst/>
          </a:prstGeom>
          <a:solidFill>
            <a:srgbClr val="3F8FD0"/>
          </a:solidFill>
          <a:ln/>
        </p:spPr>
        <p:txBody>
          <a:bodyPr/>
          <a:lstStyle/>
          <a:p>
            <a:endParaRPr lang="en-US"/>
          </a:p>
        </p:txBody>
      </p:sp>
      <p:sp>
        <p:nvSpPr>
          <p:cNvPr id="29" name="Shape 26"/>
          <p:cNvSpPr/>
          <p:nvPr/>
        </p:nvSpPr>
        <p:spPr>
          <a:xfrm>
            <a:off x="484632" y="6473952"/>
            <a:ext cx="64008" cy="64008"/>
          </a:xfrm>
          <a:prstGeom prst="rect">
            <a:avLst/>
          </a:prstGeom>
          <a:solidFill>
            <a:srgbClr val="1F3A6E"/>
          </a:solidFill>
          <a:ln/>
        </p:spPr>
        <p:txBody>
          <a:bodyPr/>
          <a:lstStyle/>
          <a:p>
            <a:endParaRPr lang="en-US"/>
          </a:p>
        </p:txBody>
      </p:sp>
      <p:sp>
        <p:nvSpPr>
          <p:cNvPr id="30" name="Shape 27"/>
          <p:cNvSpPr/>
          <p:nvPr/>
        </p:nvSpPr>
        <p:spPr>
          <a:xfrm>
            <a:off x="320040" y="6556248"/>
            <a:ext cx="64008" cy="64008"/>
          </a:xfrm>
          <a:prstGeom prst="rect">
            <a:avLst/>
          </a:prstGeom>
          <a:solidFill>
            <a:srgbClr val="3F8FD0"/>
          </a:solidFill>
          <a:ln/>
        </p:spPr>
        <p:txBody>
          <a:bodyPr/>
          <a:lstStyle/>
          <a:p>
            <a:endParaRPr lang="en-US"/>
          </a:p>
        </p:txBody>
      </p:sp>
      <p:sp>
        <p:nvSpPr>
          <p:cNvPr id="31" name="Shape 28"/>
          <p:cNvSpPr/>
          <p:nvPr/>
        </p:nvSpPr>
        <p:spPr>
          <a:xfrm>
            <a:off x="402336" y="6556248"/>
            <a:ext cx="64008" cy="64008"/>
          </a:xfrm>
          <a:prstGeom prst="rect">
            <a:avLst/>
          </a:prstGeom>
          <a:solidFill>
            <a:srgbClr val="1F3A6E"/>
          </a:solidFill>
          <a:ln/>
        </p:spPr>
        <p:txBody>
          <a:bodyPr/>
          <a:lstStyle/>
          <a:p>
            <a:endParaRPr lang="en-US"/>
          </a:p>
        </p:txBody>
      </p:sp>
      <p:sp>
        <p:nvSpPr>
          <p:cNvPr id="32" name="Shape 29"/>
          <p:cNvSpPr/>
          <p:nvPr/>
        </p:nvSpPr>
        <p:spPr>
          <a:xfrm>
            <a:off x="484632" y="6556248"/>
            <a:ext cx="64008" cy="64008"/>
          </a:xfrm>
          <a:prstGeom prst="rect">
            <a:avLst/>
          </a:prstGeom>
          <a:solidFill>
            <a:srgbClr val="3F8FD0"/>
          </a:solidFill>
          <a:ln/>
        </p:spPr>
        <p:txBody>
          <a:bodyPr/>
          <a:lstStyle/>
          <a:p>
            <a:endParaRPr lang="en-US"/>
          </a:p>
        </p:txBody>
      </p:sp>
      <p:sp>
        <p:nvSpPr>
          <p:cNvPr id="33" name="Shape 30"/>
          <p:cNvSpPr/>
          <p:nvPr/>
        </p:nvSpPr>
        <p:spPr>
          <a:xfrm>
            <a:off x="320040" y="6638544"/>
            <a:ext cx="64008" cy="64008"/>
          </a:xfrm>
          <a:prstGeom prst="rect">
            <a:avLst/>
          </a:prstGeom>
          <a:solidFill>
            <a:srgbClr val="1F3A6E"/>
          </a:solidFill>
          <a:ln/>
        </p:spPr>
        <p:txBody>
          <a:bodyPr/>
          <a:lstStyle/>
          <a:p>
            <a:endParaRPr lang="en-US"/>
          </a:p>
        </p:txBody>
      </p:sp>
      <p:sp>
        <p:nvSpPr>
          <p:cNvPr id="34" name="Shape 31"/>
          <p:cNvSpPr/>
          <p:nvPr/>
        </p:nvSpPr>
        <p:spPr>
          <a:xfrm>
            <a:off x="402336" y="6638544"/>
            <a:ext cx="64008" cy="64008"/>
          </a:xfrm>
          <a:prstGeom prst="rect">
            <a:avLst/>
          </a:prstGeom>
          <a:solidFill>
            <a:srgbClr val="3F8FD0"/>
          </a:solidFill>
          <a:ln/>
        </p:spPr>
        <p:txBody>
          <a:bodyPr/>
          <a:lstStyle/>
          <a:p>
            <a:endParaRPr lang="en-US"/>
          </a:p>
        </p:txBody>
      </p:sp>
      <p:sp>
        <p:nvSpPr>
          <p:cNvPr id="35" name="Shape 32"/>
          <p:cNvSpPr/>
          <p:nvPr/>
        </p:nvSpPr>
        <p:spPr>
          <a:xfrm>
            <a:off x="484632" y="6638544"/>
            <a:ext cx="64008" cy="64008"/>
          </a:xfrm>
          <a:prstGeom prst="rect">
            <a:avLst/>
          </a:prstGeom>
          <a:solidFill>
            <a:srgbClr val="1F3A6E"/>
          </a:solidFill>
          <a:ln/>
        </p:spPr>
        <p:txBody>
          <a:bodyPr/>
          <a:lstStyle/>
          <a:p>
            <a:endParaRPr lang="en-US"/>
          </a:p>
        </p:txBody>
      </p:sp>
      <p:sp>
        <p:nvSpPr>
          <p:cNvPr id="36" name="Text 33"/>
          <p:cNvSpPr/>
          <p:nvPr/>
        </p:nvSpPr>
        <p:spPr>
          <a:xfrm>
            <a:off x="567933" y="6419088"/>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39" name="Group 38">
            <a:extLst>
              <a:ext uri="{FF2B5EF4-FFF2-40B4-BE49-F238E27FC236}">
                <a16:creationId xmlns:a16="http://schemas.microsoft.com/office/drawing/2014/main" id="{101994EA-C65F-83B5-5767-69EE6C166144}"/>
              </a:ext>
            </a:extLst>
          </p:cNvPr>
          <p:cNvGrpSpPr/>
          <p:nvPr/>
        </p:nvGrpSpPr>
        <p:grpSpPr>
          <a:xfrm>
            <a:off x="320040" y="498348"/>
            <a:ext cx="228600" cy="228600"/>
            <a:chOff x="457200" y="384048"/>
            <a:chExt cx="228600" cy="228600"/>
          </a:xfrm>
        </p:grpSpPr>
        <p:sp>
          <p:nvSpPr>
            <p:cNvPr id="45" name="Shape 1">
              <a:extLst>
                <a:ext uri="{FF2B5EF4-FFF2-40B4-BE49-F238E27FC236}">
                  <a16:creationId xmlns:a16="http://schemas.microsoft.com/office/drawing/2014/main" id="{27A47108-86D0-AD6E-9EC3-B612DA9DD484}"/>
                </a:ext>
              </a:extLst>
            </p:cNvPr>
            <p:cNvSpPr/>
            <p:nvPr/>
          </p:nvSpPr>
          <p:spPr>
            <a:xfrm>
              <a:off x="457200" y="384048"/>
              <a:ext cx="64008" cy="64008"/>
            </a:xfrm>
            <a:prstGeom prst="rect">
              <a:avLst/>
            </a:prstGeom>
            <a:solidFill>
              <a:srgbClr val="1F3A6E"/>
            </a:solidFill>
            <a:ln/>
          </p:spPr>
          <p:txBody>
            <a:bodyPr/>
            <a:lstStyle/>
            <a:p>
              <a:endParaRPr lang="en-US"/>
            </a:p>
          </p:txBody>
        </p:sp>
        <p:sp>
          <p:nvSpPr>
            <p:cNvPr id="46" name="Shape 2">
              <a:extLst>
                <a:ext uri="{FF2B5EF4-FFF2-40B4-BE49-F238E27FC236}">
                  <a16:creationId xmlns:a16="http://schemas.microsoft.com/office/drawing/2014/main" id="{01472BD7-DA03-9AF7-0513-9A363EA62754}"/>
                </a:ext>
              </a:extLst>
            </p:cNvPr>
            <p:cNvSpPr/>
            <p:nvPr/>
          </p:nvSpPr>
          <p:spPr>
            <a:xfrm>
              <a:off x="539496" y="384048"/>
              <a:ext cx="64008" cy="64008"/>
            </a:xfrm>
            <a:prstGeom prst="rect">
              <a:avLst/>
            </a:prstGeom>
            <a:solidFill>
              <a:srgbClr val="3F8FD0"/>
            </a:solidFill>
            <a:ln/>
          </p:spPr>
          <p:txBody>
            <a:bodyPr/>
            <a:lstStyle/>
            <a:p>
              <a:endParaRPr lang="en-US"/>
            </a:p>
          </p:txBody>
        </p:sp>
        <p:sp>
          <p:nvSpPr>
            <p:cNvPr id="47" name="Shape 3">
              <a:extLst>
                <a:ext uri="{FF2B5EF4-FFF2-40B4-BE49-F238E27FC236}">
                  <a16:creationId xmlns:a16="http://schemas.microsoft.com/office/drawing/2014/main" id="{8DBCFAE3-627F-8A50-B312-580D73C7C90C}"/>
                </a:ext>
              </a:extLst>
            </p:cNvPr>
            <p:cNvSpPr/>
            <p:nvPr/>
          </p:nvSpPr>
          <p:spPr>
            <a:xfrm>
              <a:off x="621792" y="384048"/>
              <a:ext cx="64008" cy="64008"/>
            </a:xfrm>
            <a:prstGeom prst="rect">
              <a:avLst/>
            </a:prstGeom>
            <a:solidFill>
              <a:srgbClr val="1F3A6E"/>
            </a:solidFill>
            <a:ln/>
          </p:spPr>
          <p:txBody>
            <a:bodyPr/>
            <a:lstStyle/>
            <a:p>
              <a:endParaRPr lang="en-US"/>
            </a:p>
          </p:txBody>
        </p:sp>
        <p:sp>
          <p:nvSpPr>
            <p:cNvPr id="48" name="Shape 4">
              <a:extLst>
                <a:ext uri="{FF2B5EF4-FFF2-40B4-BE49-F238E27FC236}">
                  <a16:creationId xmlns:a16="http://schemas.microsoft.com/office/drawing/2014/main" id="{63274FB6-980F-A207-2C0A-087CAE6DFA43}"/>
                </a:ext>
              </a:extLst>
            </p:cNvPr>
            <p:cNvSpPr/>
            <p:nvPr/>
          </p:nvSpPr>
          <p:spPr>
            <a:xfrm>
              <a:off x="457200" y="466344"/>
              <a:ext cx="64008" cy="64008"/>
            </a:xfrm>
            <a:prstGeom prst="rect">
              <a:avLst/>
            </a:prstGeom>
            <a:solidFill>
              <a:srgbClr val="3F8FD0"/>
            </a:solidFill>
            <a:ln/>
          </p:spPr>
          <p:txBody>
            <a:bodyPr/>
            <a:lstStyle/>
            <a:p>
              <a:endParaRPr lang="en-US"/>
            </a:p>
          </p:txBody>
        </p:sp>
        <p:sp>
          <p:nvSpPr>
            <p:cNvPr id="49" name="Shape 5">
              <a:extLst>
                <a:ext uri="{FF2B5EF4-FFF2-40B4-BE49-F238E27FC236}">
                  <a16:creationId xmlns:a16="http://schemas.microsoft.com/office/drawing/2014/main" id="{B79BBE8A-A478-06D1-7571-D44BF24F9943}"/>
                </a:ext>
              </a:extLst>
            </p:cNvPr>
            <p:cNvSpPr/>
            <p:nvPr/>
          </p:nvSpPr>
          <p:spPr>
            <a:xfrm>
              <a:off x="539496" y="466344"/>
              <a:ext cx="64008" cy="64008"/>
            </a:xfrm>
            <a:prstGeom prst="rect">
              <a:avLst/>
            </a:prstGeom>
            <a:solidFill>
              <a:srgbClr val="1F3A6E"/>
            </a:solidFill>
            <a:ln/>
          </p:spPr>
          <p:txBody>
            <a:bodyPr/>
            <a:lstStyle/>
            <a:p>
              <a:endParaRPr lang="en-US"/>
            </a:p>
          </p:txBody>
        </p:sp>
        <p:sp>
          <p:nvSpPr>
            <p:cNvPr id="55" name="Shape 6">
              <a:extLst>
                <a:ext uri="{FF2B5EF4-FFF2-40B4-BE49-F238E27FC236}">
                  <a16:creationId xmlns:a16="http://schemas.microsoft.com/office/drawing/2014/main" id="{F4330B29-93DC-D34D-E2CA-07F0401309F1}"/>
                </a:ext>
              </a:extLst>
            </p:cNvPr>
            <p:cNvSpPr/>
            <p:nvPr/>
          </p:nvSpPr>
          <p:spPr>
            <a:xfrm>
              <a:off x="621792" y="466344"/>
              <a:ext cx="64008" cy="64008"/>
            </a:xfrm>
            <a:prstGeom prst="rect">
              <a:avLst/>
            </a:prstGeom>
            <a:solidFill>
              <a:srgbClr val="3F8FD0"/>
            </a:solidFill>
            <a:ln/>
          </p:spPr>
          <p:txBody>
            <a:bodyPr/>
            <a:lstStyle/>
            <a:p>
              <a:endParaRPr lang="en-US"/>
            </a:p>
          </p:txBody>
        </p:sp>
        <p:sp>
          <p:nvSpPr>
            <p:cNvPr id="56" name="Shape 7">
              <a:extLst>
                <a:ext uri="{FF2B5EF4-FFF2-40B4-BE49-F238E27FC236}">
                  <a16:creationId xmlns:a16="http://schemas.microsoft.com/office/drawing/2014/main" id="{A64FE5CE-4E85-EF47-316C-A43B576B474E}"/>
                </a:ext>
              </a:extLst>
            </p:cNvPr>
            <p:cNvSpPr/>
            <p:nvPr/>
          </p:nvSpPr>
          <p:spPr>
            <a:xfrm>
              <a:off x="457200" y="548640"/>
              <a:ext cx="64008" cy="64008"/>
            </a:xfrm>
            <a:prstGeom prst="rect">
              <a:avLst/>
            </a:prstGeom>
            <a:solidFill>
              <a:srgbClr val="1F3A6E"/>
            </a:solidFill>
            <a:ln/>
          </p:spPr>
          <p:txBody>
            <a:bodyPr/>
            <a:lstStyle/>
            <a:p>
              <a:endParaRPr lang="en-US"/>
            </a:p>
          </p:txBody>
        </p:sp>
        <p:sp>
          <p:nvSpPr>
            <p:cNvPr id="57" name="Shape 8">
              <a:extLst>
                <a:ext uri="{FF2B5EF4-FFF2-40B4-BE49-F238E27FC236}">
                  <a16:creationId xmlns:a16="http://schemas.microsoft.com/office/drawing/2014/main" id="{803DEDA2-DB3E-10A1-60E4-4D73CAC32FCB}"/>
                </a:ext>
              </a:extLst>
            </p:cNvPr>
            <p:cNvSpPr/>
            <p:nvPr/>
          </p:nvSpPr>
          <p:spPr>
            <a:xfrm>
              <a:off x="539496" y="548640"/>
              <a:ext cx="64008" cy="64008"/>
            </a:xfrm>
            <a:prstGeom prst="rect">
              <a:avLst/>
            </a:prstGeom>
            <a:solidFill>
              <a:srgbClr val="3F8FD0"/>
            </a:solidFill>
            <a:ln/>
          </p:spPr>
          <p:txBody>
            <a:bodyPr/>
            <a:lstStyle/>
            <a:p>
              <a:endParaRPr lang="en-US"/>
            </a:p>
          </p:txBody>
        </p:sp>
        <p:sp>
          <p:nvSpPr>
            <p:cNvPr id="58" name="Shape 9">
              <a:extLst>
                <a:ext uri="{FF2B5EF4-FFF2-40B4-BE49-F238E27FC236}">
                  <a16:creationId xmlns:a16="http://schemas.microsoft.com/office/drawing/2014/main" id="{30346C5E-286A-2E05-C6F8-4455173E101A}"/>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59" name="Group 58">
            <a:extLst>
              <a:ext uri="{FF2B5EF4-FFF2-40B4-BE49-F238E27FC236}">
                <a16:creationId xmlns:a16="http://schemas.microsoft.com/office/drawing/2014/main" id="{FB7DDE4F-48F0-7EF8-A276-DE6989FAFF65}"/>
              </a:ext>
            </a:extLst>
          </p:cNvPr>
          <p:cNvGrpSpPr/>
          <p:nvPr/>
        </p:nvGrpSpPr>
        <p:grpSpPr>
          <a:xfrm>
            <a:off x="320040" y="6473952"/>
            <a:ext cx="228600" cy="228600"/>
            <a:chOff x="320040" y="6473952"/>
            <a:chExt cx="228600" cy="228600"/>
          </a:xfrm>
        </p:grpSpPr>
        <p:sp>
          <p:nvSpPr>
            <p:cNvPr id="63" name="Shape 24">
              <a:extLst>
                <a:ext uri="{FF2B5EF4-FFF2-40B4-BE49-F238E27FC236}">
                  <a16:creationId xmlns:a16="http://schemas.microsoft.com/office/drawing/2014/main" id="{C56B2379-7FA6-F746-CED8-F766837E05F1}"/>
                </a:ext>
              </a:extLst>
            </p:cNvPr>
            <p:cNvSpPr/>
            <p:nvPr/>
          </p:nvSpPr>
          <p:spPr>
            <a:xfrm>
              <a:off x="320040" y="6473952"/>
              <a:ext cx="64008" cy="64008"/>
            </a:xfrm>
            <a:prstGeom prst="rect">
              <a:avLst/>
            </a:prstGeom>
            <a:solidFill>
              <a:srgbClr val="1F3A6E"/>
            </a:solidFill>
            <a:ln/>
          </p:spPr>
          <p:txBody>
            <a:bodyPr/>
            <a:lstStyle/>
            <a:p>
              <a:endParaRPr lang="en-US"/>
            </a:p>
          </p:txBody>
        </p:sp>
        <p:sp>
          <p:nvSpPr>
            <p:cNvPr id="64" name="Shape 25">
              <a:extLst>
                <a:ext uri="{FF2B5EF4-FFF2-40B4-BE49-F238E27FC236}">
                  <a16:creationId xmlns:a16="http://schemas.microsoft.com/office/drawing/2014/main" id="{E44F0776-CB03-3236-4F05-0C79654BA7DC}"/>
                </a:ext>
              </a:extLst>
            </p:cNvPr>
            <p:cNvSpPr/>
            <p:nvPr/>
          </p:nvSpPr>
          <p:spPr>
            <a:xfrm>
              <a:off x="402336" y="6473952"/>
              <a:ext cx="64008" cy="64008"/>
            </a:xfrm>
            <a:prstGeom prst="rect">
              <a:avLst/>
            </a:prstGeom>
            <a:solidFill>
              <a:srgbClr val="3F8FD0"/>
            </a:solidFill>
            <a:ln/>
          </p:spPr>
          <p:txBody>
            <a:bodyPr/>
            <a:lstStyle/>
            <a:p>
              <a:endParaRPr lang="en-US"/>
            </a:p>
          </p:txBody>
        </p:sp>
        <p:sp>
          <p:nvSpPr>
            <p:cNvPr id="65" name="Shape 26">
              <a:extLst>
                <a:ext uri="{FF2B5EF4-FFF2-40B4-BE49-F238E27FC236}">
                  <a16:creationId xmlns:a16="http://schemas.microsoft.com/office/drawing/2014/main" id="{15688C11-7213-01E4-8C1B-849FE021EAD0}"/>
                </a:ext>
              </a:extLst>
            </p:cNvPr>
            <p:cNvSpPr/>
            <p:nvPr/>
          </p:nvSpPr>
          <p:spPr>
            <a:xfrm>
              <a:off x="484632" y="6473952"/>
              <a:ext cx="64008" cy="64008"/>
            </a:xfrm>
            <a:prstGeom prst="rect">
              <a:avLst/>
            </a:prstGeom>
            <a:solidFill>
              <a:srgbClr val="1F3A6E"/>
            </a:solidFill>
            <a:ln/>
          </p:spPr>
          <p:txBody>
            <a:bodyPr/>
            <a:lstStyle/>
            <a:p>
              <a:endParaRPr lang="en-US"/>
            </a:p>
          </p:txBody>
        </p:sp>
        <p:sp>
          <p:nvSpPr>
            <p:cNvPr id="66" name="Shape 27">
              <a:extLst>
                <a:ext uri="{FF2B5EF4-FFF2-40B4-BE49-F238E27FC236}">
                  <a16:creationId xmlns:a16="http://schemas.microsoft.com/office/drawing/2014/main" id="{F39999C6-144A-E368-D017-23E5CC2EB162}"/>
                </a:ext>
              </a:extLst>
            </p:cNvPr>
            <p:cNvSpPr/>
            <p:nvPr/>
          </p:nvSpPr>
          <p:spPr>
            <a:xfrm>
              <a:off x="320040" y="6556248"/>
              <a:ext cx="64008" cy="64008"/>
            </a:xfrm>
            <a:prstGeom prst="rect">
              <a:avLst/>
            </a:prstGeom>
            <a:solidFill>
              <a:srgbClr val="3F8FD0"/>
            </a:solidFill>
            <a:ln/>
          </p:spPr>
          <p:txBody>
            <a:bodyPr/>
            <a:lstStyle/>
            <a:p>
              <a:endParaRPr lang="en-US"/>
            </a:p>
          </p:txBody>
        </p:sp>
        <p:sp>
          <p:nvSpPr>
            <p:cNvPr id="67" name="Shape 28">
              <a:extLst>
                <a:ext uri="{FF2B5EF4-FFF2-40B4-BE49-F238E27FC236}">
                  <a16:creationId xmlns:a16="http://schemas.microsoft.com/office/drawing/2014/main" id="{84CE9728-D668-8A7A-9ADA-88D0676EA65F}"/>
                </a:ext>
              </a:extLst>
            </p:cNvPr>
            <p:cNvSpPr/>
            <p:nvPr/>
          </p:nvSpPr>
          <p:spPr>
            <a:xfrm>
              <a:off x="402336" y="6556248"/>
              <a:ext cx="64008" cy="64008"/>
            </a:xfrm>
            <a:prstGeom prst="rect">
              <a:avLst/>
            </a:prstGeom>
            <a:solidFill>
              <a:srgbClr val="1F3A6E"/>
            </a:solidFill>
            <a:ln/>
          </p:spPr>
          <p:txBody>
            <a:bodyPr/>
            <a:lstStyle/>
            <a:p>
              <a:endParaRPr lang="en-US"/>
            </a:p>
          </p:txBody>
        </p:sp>
        <p:sp>
          <p:nvSpPr>
            <p:cNvPr id="68" name="Shape 29">
              <a:extLst>
                <a:ext uri="{FF2B5EF4-FFF2-40B4-BE49-F238E27FC236}">
                  <a16:creationId xmlns:a16="http://schemas.microsoft.com/office/drawing/2014/main" id="{0ADE43DD-8E2C-2C46-9038-3CC0D6DEAD25}"/>
                </a:ext>
              </a:extLst>
            </p:cNvPr>
            <p:cNvSpPr/>
            <p:nvPr/>
          </p:nvSpPr>
          <p:spPr>
            <a:xfrm>
              <a:off x="484632" y="6556248"/>
              <a:ext cx="64008" cy="64008"/>
            </a:xfrm>
            <a:prstGeom prst="rect">
              <a:avLst/>
            </a:prstGeom>
            <a:solidFill>
              <a:srgbClr val="3F8FD0"/>
            </a:solidFill>
            <a:ln/>
          </p:spPr>
          <p:txBody>
            <a:bodyPr/>
            <a:lstStyle/>
            <a:p>
              <a:endParaRPr lang="en-US"/>
            </a:p>
          </p:txBody>
        </p:sp>
        <p:sp>
          <p:nvSpPr>
            <p:cNvPr id="69" name="Shape 30">
              <a:extLst>
                <a:ext uri="{FF2B5EF4-FFF2-40B4-BE49-F238E27FC236}">
                  <a16:creationId xmlns:a16="http://schemas.microsoft.com/office/drawing/2014/main" id="{15DEC9C3-F91F-B118-8A2B-B9A7062AEF4C}"/>
                </a:ext>
              </a:extLst>
            </p:cNvPr>
            <p:cNvSpPr/>
            <p:nvPr/>
          </p:nvSpPr>
          <p:spPr>
            <a:xfrm>
              <a:off x="320040" y="6638544"/>
              <a:ext cx="64008" cy="64008"/>
            </a:xfrm>
            <a:prstGeom prst="rect">
              <a:avLst/>
            </a:prstGeom>
            <a:solidFill>
              <a:srgbClr val="1F3A6E"/>
            </a:solidFill>
            <a:ln/>
          </p:spPr>
          <p:txBody>
            <a:bodyPr/>
            <a:lstStyle/>
            <a:p>
              <a:endParaRPr lang="en-US"/>
            </a:p>
          </p:txBody>
        </p:sp>
        <p:sp>
          <p:nvSpPr>
            <p:cNvPr id="70" name="Shape 31">
              <a:extLst>
                <a:ext uri="{FF2B5EF4-FFF2-40B4-BE49-F238E27FC236}">
                  <a16:creationId xmlns:a16="http://schemas.microsoft.com/office/drawing/2014/main" id="{6C1D6485-C15C-CC19-D08B-FD939F7829CC}"/>
                </a:ext>
              </a:extLst>
            </p:cNvPr>
            <p:cNvSpPr/>
            <p:nvPr/>
          </p:nvSpPr>
          <p:spPr>
            <a:xfrm>
              <a:off x="402336" y="6638544"/>
              <a:ext cx="64008" cy="64008"/>
            </a:xfrm>
            <a:prstGeom prst="rect">
              <a:avLst/>
            </a:prstGeom>
            <a:solidFill>
              <a:srgbClr val="3F8FD0"/>
            </a:solidFill>
            <a:ln/>
          </p:spPr>
          <p:txBody>
            <a:bodyPr/>
            <a:lstStyle/>
            <a:p>
              <a:endParaRPr lang="en-US"/>
            </a:p>
          </p:txBody>
        </p:sp>
        <p:sp>
          <p:nvSpPr>
            <p:cNvPr id="71" name="Shape 32">
              <a:extLst>
                <a:ext uri="{FF2B5EF4-FFF2-40B4-BE49-F238E27FC236}">
                  <a16:creationId xmlns:a16="http://schemas.microsoft.com/office/drawing/2014/main" id="{061F1B2D-80E5-072C-4039-D1F922B61798}"/>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72" name="Text 33">
            <a:extLst>
              <a:ext uri="{FF2B5EF4-FFF2-40B4-BE49-F238E27FC236}">
                <a16:creationId xmlns:a16="http://schemas.microsoft.com/office/drawing/2014/main" id="{2D1DDA1E-69F5-556C-226E-0D4C29206AFA}"/>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76" name="Box 1">
            <a:extLst>
              <a:ext uri="{FF2B5EF4-FFF2-40B4-BE49-F238E27FC236}">
                <a16:creationId xmlns:a16="http://schemas.microsoft.com/office/drawing/2014/main" id="{5E75BBF0-F8B4-AE7B-1186-9E88BFA5D871}"/>
              </a:ext>
            </a:extLst>
          </p:cNvPr>
          <p:cNvSpPr/>
          <p:nvPr/>
        </p:nvSpPr>
        <p:spPr>
          <a:xfrm>
            <a:off x="1202411" y="2748896"/>
            <a:ext cx="5517477" cy="189613"/>
          </a:xfrm>
          <a:prstGeom prst="roundRect">
            <a:avLst>
              <a:gd name="adj" fmla="val 16667"/>
            </a:avLst>
          </a:prstGeom>
          <a:noFill/>
          <a:ln w="19050">
            <a:solidFill>
              <a:srgbClr val="1F3A6E"/>
            </a:solidFill>
          </a:ln>
        </p:spPr>
        <p:txBody>
          <a:bodyPr/>
          <a:lstStyle/>
          <a:p>
            <a:endParaRPr lang="en-US"/>
          </a:p>
        </p:txBody>
      </p:sp>
      <p:sp>
        <p:nvSpPr>
          <p:cNvPr id="78" name="Box 2">
            <a:extLst>
              <a:ext uri="{FF2B5EF4-FFF2-40B4-BE49-F238E27FC236}">
                <a16:creationId xmlns:a16="http://schemas.microsoft.com/office/drawing/2014/main" id="{A8899268-E2FB-56E7-4776-F2478FF44AAE}"/>
              </a:ext>
            </a:extLst>
          </p:cNvPr>
          <p:cNvSpPr/>
          <p:nvPr/>
        </p:nvSpPr>
        <p:spPr>
          <a:xfrm>
            <a:off x="6754581" y="2758523"/>
            <a:ext cx="495404" cy="179987"/>
          </a:xfrm>
          <a:prstGeom prst="roundRect">
            <a:avLst>
              <a:gd name="adj" fmla="val 16667"/>
            </a:avLst>
          </a:prstGeom>
          <a:noFill/>
          <a:ln w="19050">
            <a:solidFill>
              <a:srgbClr val="1F3A6E"/>
            </a:solidFill>
          </a:ln>
        </p:spPr>
        <p:txBody>
          <a:bodyPr/>
          <a:lstStyle/>
          <a:p>
            <a:endParaRPr lang="en-US"/>
          </a:p>
        </p:txBody>
      </p:sp>
      <p:sp>
        <p:nvSpPr>
          <p:cNvPr id="80" name="Box 5">
            <a:extLst>
              <a:ext uri="{FF2B5EF4-FFF2-40B4-BE49-F238E27FC236}">
                <a16:creationId xmlns:a16="http://schemas.microsoft.com/office/drawing/2014/main" id="{89A57D4E-E7B6-77A6-8A7D-481934A64BCC}"/>
              </a:ext>
            </a:extLst>
          </p:cNvPr>
          <p:cNvSpPr/>
          <p:nvPr/>
        </p:nvSpPr>
        <p:spPr>
          <a:xfrm>
            <a:off x="1139930" y="3028852"/>
            <a:ext cx="6194320" cy="567348"/>
          </a:xfrm>
          <a:prstGeom prst="roundRect">
            <a:avLst>
              <a:gd name="adj" fmla="val 8333"/>
            </a:avLst>
          </a:prstGeom>
          <a:noFill/>
          <a:ln w="19050">
            <a:solidFill>
              <a:srgbClr val="1F3A6E"/>
            </a:solidFill>
          </a:ln>
        </p:spPr>
        <p:txBody>
          <a:bodyPr/>
          <a:lstStyle/>
          <a:p>
            <a:endParaRPr lang="en-US"/>
          </a:p>
        </p:txBody>
      </p:sp>
      <p:sp>
        <p:nvSpPr>
          <p:cNvPr id="82" name="Callout 1">
            <a:extLst>
              <a:ext uri="{FF2B5EF4-FFF2-40B4-BE49-F238E27FC236}">
                <a16:creationId xmlns:a16="http://schemas.microsoft.com/office/drawing/2014/main" id="{57B7C8FC-D5DB-5085-04F5-F47392C42D5B}"/>
              </a:ext>
            </a:extLst>
          </p:cNvPr>
          <p:cNvSpPr/>
          <p:nvPr/>
        </p:nvSpPr>
        <p:spPr>
          <a:xfrm>
            <a:off x="1005225" y="2579595"/>
            <a:ext cx="235645" cy="258686"/>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84" name="Callout 2">
            <a:extLst>
              <a:ext uri="{FF2B5EF4-FFF2-40B4-BE49-F238E27FC236}">
                <a16:creationId xmlns:a16="http://schemas.microsoft.com/office/drawing/2014/main" id="{EC8A9EAF-67BB-6CA7-E2F6-1E998A268035}"/>
              </a:ext>
            </a:extLst>
          </p:cNvPr>
          <p:cNvSpPr/>
          <p:nvPr/>
        </p:nvSpPr>
        <p:spPr>
          <a:xfrm>
            <a:off x="7175519" y="2567952"/>
            <a:ext cx="235645" cy="258686"/>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86" name="Callout 3">
            <a:extLst>
              <a:ext uri="{FF2B5EF4-FFF2-40B4-BE49-F238E27FC236}">
                <a16:creationId xmlns:a16="http://schemas.microsoft.com/office/drawing/2014/main" id="{63585BF2-4502-6485-2690-0FA33EDFAD8D}"/>
              </a:ext>
            </a:extLst>
          </p:cNvPr>
          <p:cNvSpPr/>
          <p:nvPr/>
        </p:nvSpPr>
        <p:spPr>
          <a:xfrm>
            <a:off x="966766" y="2977255"/>
            <a:ext cx="235645" cy="258686"/>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grpSp>
        <p:nvGrpSpPr>
          <p:cNvPr id="44" name="Group 43">
            <a:extLst>
              <a:ext uri="{FF2B5EF4-FFF2-40B4-BE49-F238E27FC236}">
                <a16:creationId xmlns:a16="http://schemas.microsoft.com/office/drawing/2014/main" id="{A0D539C0-C9DA-BEC8-A93F-63AFF377D03F}"/>
              </a:ext>
            </a:extLst>
          </p:cNvPr>
          <p:cNvGrpSpPr/>
          <p:nvPr/>
        </p:nvGrpSpPr>
        <p:grpSpPr>
          <a:xfrm>
            <a:off x="320040" y="498348"/>
            <a:ext cx="228600" cy="228600"/>
            <a:chOff x="457200" y="384048"/>
            <a:chExt cx="228600" cy="228600"/>
          </a:xfrm>
        </p:grpSpPr>
        <p:sp>
          <p:nvSpPr>
            <p:cNvPr id="3" name="Shape 1"/>
            <p:cNvSpPr/>
            <p:nvPr/>
          </p:nvSpPr>
          <p:spPr>
            <a:xfrm>
              <a:off x="457200" y="384048"/>
              <a:ext cx="64008" cy="64008"/>
            </a:xfrm>
            <a:prstGeom prst="rect">
              <a:avLst/>
            </a:prstGeom>
            <a:solidFill>
              <a:srgbClr val="1F3A6E"/>
            </a:solidFill>
            <a:ln/>
          </p:spPr>
          <p:txBody>
            <a:bodyPr/>
            <a:lstStyle/>
            <a:p>
              <a:endParaRPr lang="en-US"/>
            </a:p>
          </p:txBody>
        </p:sp>
        <p:sp>
          <p:nvSpPr>
            <p:cNvPr id="4" name="Shape 2"/>
            <p:cNvSpPr/>
            <p:nvPr/>
          </p:nvSpPr>
          <p:spPr>
            <a:xfrm>
              <a:off x="539496" y="384048"/>
              <a:ext cx="64008" cy="64008"/>
            </a:xfrm>
            <a:prstGeom prst="rect">
              <a:avLst/>
            </a:prstGeom>
            <a:solidFill>
              <a:srgbClr val="3F8FD0"/>
            </a:solidFill>
            <a:ln/>
          </p:spPr>
          <p:txBody>
            <a:bodyPr/>
            <a:lstStyle/>
            <a:p>
              <a:endParaRPr lang="en-US"/>
            </a:p>
          </p:txBody>
        </p:sp>
        <p:sp>
          <p:nvSpPr>
            <p:cNvPr id="5" name="Shape 3"/>
            <p:cNvSpPr/>
            <p:nvPr/>
          </p:nvSpPr>
          <p:spPr>
            <a:xfrm>
              <a:off x="621792" y="384048"/>
              <a:ext cx="64008" cy="64008"/>
            </a:xfrm>
            <a:prstGeom prst="rect">
              <a:avLst/>
            </a:prstGeom>
            <a:solidFill>
              <a:srgbClr val="1F3A6E"/>
            </a:solidFill>
            <a:ln/>
          </p:spPr>
          <p:txBody>
            <a:bodyPr/>
            <a:lstStyle/>
            <a:p>
              <a:endParaRPr lang="en-US"/>
            </a:p>
          </p:txBody>
        </p:sp>
        <p:sp>
          <p:nvSpPr>
            <p:cNvPr id="6" name="Shape 4"/>
            <p:cNvSpPr/>
            <p:nvPr/>
          </p:nvSpPr>
          <p:spPr>
            <a:xfrm>
              <a:off x="457200" y="466344"/>
              <a:ext cx="64008" cy="64008"/>
            </a:xfrm>
            <a:prstGeom prst="rect">
              <a:avLst/>
            </a:prstGeom>
            <a:solidFill>
              <a:srgbClr val="3F8FD0"/>
            </a:solidFill>
            <a:ln/>
          </p:spPr>
          <p:txBody>
            <a:bodyPr/>
            <a:lstStyle/>
            <a:p>
              <a:endParaRPr lang="en-US"/>
            </a:p>
          </p:txBody>
        </p:sp>
        <p:sp>
          <p:nvSpPr>
            <p:cNvPr id="7" name="Shape 5"/>
            <p:cNvSpPr/>
            <p:nvPr/>
          </p:nvSpPr>
          <p:spPr>
            <a:xfrm>
              <a:off x="539496" y="466344"/>
              <a:ext cx="64008" cy="64008"/>
            </a:xfrm>
            <a:prstGeom prst="rect">
              <a:avLst/>
            </a:prstGeom>
            <a:solidFill>
              <a:srgbClr val="1F3A6E"/>
            </a:solidFill>
            <a:ln/>
          </p:spPr>
          <p:txBody>
            <a:bodyPr/>
            <a:lstStyle/>
            <a:p>
              <a:endParaRPr lang="en-US"/>
            </a:p>
          </p:txBody>
        </p:sp>
        <p:sp>
          <p:nvSpPr>
            <p:cNvPr id="8" name="Shape 6"/>
            <p:cNvSpPr/>
            <p:nvPr/>
          </p:nvSpPr>
          <p:spPr>
            <a:xfrm>
              <a:off x="621792" y="466344"/>
              <a:ext cx="64008" cy="64008"/>
            </a:xfrm>
            <a:prstGeom prst="rect">
              <a:avLst/>
            </a:prstGeom>
            <a:solidFill>
              <a:srgbClr val="3F8FD0"/>
            </a:solidFill>
            <a:ln/>
          </p:spPr>
          <p:txBody>
            <a:bodyPr/>
            <a:lstStyle/>
            <a:p>
              <a:endParaRPr lang="en-US"/>
            </a:p>
          </p:txBody>
        </p:sp>
        <p:sp>
          <p:nvSpPr>
            <p:cNvPr id="9" name="Shape 7"/>
            <p:cNvSpPr/>
            <p:nvPr/>
          </p:nvSpPr>
          <p:spPr>
            <a:xfrm>
              <a:off x="457200" y="548640"/>
              <a:ext cx="64008" cy="64008"/>
            </a:xfrm>
            <a:prstGeom prst="rect">
              <a:avLst/>
            </a:prstGeom>
            <a:solidFill>
              <a:srgbClr val="1F3A6E"/>
            </a:solidFill>
            <a:ln/>
          </p:spPr>
          <p:txBody>
            <a:bodyPr/>
            <a:lstStyle/>
            <a:p>
              <a:endParaRPr lang="en-US"/>
            </a:p>
          </p:txBody>
        </p:sp>
        <p:sp>
          <p:nvSpPr>
            <p:cNvPr id="10" name="Shape 8"/>
            <p:cNvSpPr/>
            <p:nvPr/>
          </p:nvSpPr>
          <p:spPr>
            <a:xfrm>
              <a:off x="539496" y="548640"/>
              <a:ext cx="64008" cy="64008"/>
            </a:xfrm>
            <a:prstGeom prst="rect">
              <a:avLst/>
            </a:prstGeom>
            <a:solidFill>
              <a:srgbClr val="3F8FD0"/>
            </a:solidFill>
            <a:ln/>
          </p:spPr>
          <p:txBody>
            <a:bodyPr/>
            <a:lstStyle/>
            <a:p>
              <a:endParaRPr lang="en-US"/>
            </a:p>
          </p:txBody>
        </p:sp>
        <p:sp>
          <p:nvSpPr>
            <p:cNvPr id="11" name="Shape 9"/>
            <p:cNvSpPr/>
            <p:nvPr/>
          </p:nvSpPr>
          <p:spPr>
            <a:xfrm>
              <a:off x="621792" y="548640"/>
              <a:ext cx="64008" cy="64008"/>
            </a:xfrm>
            <a:prstGeom prst="rect">
              <a:avLst/>
            </a:prstGeom>
            <a:solidFill>
              <a:srgbClr val="1F3A6E"/>
            </a:solidFill>
            <a:ln/>
          </p:spPr>
          <p:txBody>
            <a:bodyPr/>
            <a:lstStyle/>
            <a:p>
              <a:endParaRPr lang="en-US"/>
            </a:p>
          </p:txBody>
        </p:sp>
      </p:grpSp>
      <p:sp>
        <p:nvSpPr>
          <p:cNvPr id="12" name="Text 10"/>
          <p:cNvSpPr/>
          <p:nvPr/>
        </p:nvSpPr>
        <p:spPr>
          <a:xfrm>
            <a:off x="743407" y="286464"/>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Thiết lập tỷ giá – Tỷ giá hiện hành</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24" name="Group 23">
            <a:extLst>
              <a:ext uri="{FF2B5EF4-FFF2-40B4-BE49-F238E27FC236}">
                <a16:creationId xmlns:a16="http://schemas.microsoft.com/office/drawing/2014/main" id="{8EF2CBB5-969F-B38C-CB1C-3CBF7061320D}"/>
              </a:ext>
            </a:extLst>
          </p:cNvPr>
          <p:cNvGrpSpPr/>
          <p:nvPr/>
        </p:nvGrpSpPr>
        <p:grpSpPr>
          <a:xfrm>
            <a:off x="316751" y="1715928"/>
            <a:ext cx="7142382" cy="3745072"/>
            <a:chOff x="603504" y="2271924"/>
            <a:chExt cx="6473152" cy="3188108"/>
          </a:xfrm>
        </p:grpSpPr>
        <p:sp>
          <p:nvSpPr>
            <p:cNvPr id="25" name="Shape 23"/>
            <p:cNvSpPr/>
            <p:nvPr/>
          </p:nvSpPr>
          <p:spPr>
            <a:xfrm>
              <a:off x="603504" y="2271924"/>
              <a:ext cx="6473152" cy="3188108"/>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114956"/>
            </a:xfrm>
            <a:prstGeom prst="rect">
              <a:avLst/>
            </a:prstGeom>
          </p:spPr>
        </p:pic>
        <p:sp>
          <p:nvSpPr>
            <p:cNvPr id="100" name="Box 1"/>
            <p:cNvSpPr/>
            <p:nvPr/>
          </p:nvSpPr>
          <p:spPr>
            <a:xfrm>
              <a:off x="5400004" y="2575499"/>
              <a:ext cx="1045519" cy="1183110"/>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5448467" y="2986279"/>
              <a:ext cx="943103" cy="729679"/>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5338467" y="255709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5269405" y="3082294"/>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95807" y="1721854"/>
            <a:ext cx="4211840" cy="458282"/>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5807" y="2241853"/>
            <a:ext cx="4211840" cy="3219147"/>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5807" y="2391854"/>
            <a:ext cx="3811840" cy="2767098"/>
          </a:xfrm>
          <a:prstGeom prst="rect">
            <a:avLst/>
          </a:prstGeom>
          <a:noFill/>
          <a:ln/>
        </p:spPr>
        <p:txBody>
          <a:bodyPr wrap="square" lIns="0" tIns="0" rIns="0" bIns="0" rtlCol="0" anchor="t"/>
          <a:lstStyle/>
          <a:p>
            <a:r>
              <a:rPr lang="en-US" sz="1100" b="1" dirty="0">
                <a:solidFill>
                  <a:srgbClr val="1F3A6E"/>
                </a:solidFill>
              </a:rPr>
              <a:t>1. Thiết lập tỷ giá</a:t>
            </a:r>
            <a:br>
              <a:rPr lang="en-US" sz="1100" dirty="0"/>
            </a:br>
            <a:r>
              <a:rPr lang="en-US" sz="1100" dirty="0"/>
              <a:t>Mở bảng </a:t>
            </a:r>
            <a:r>
              <a:rPr lang="en-US" sz="1100" b="1" dirty="0">
                <a:solidFill>
                  <a:srgbClr val="1F3A6E"/>
                </a:solidFill>
              </a:rPr>
              <a:t>Current Rate (Tỷ giá hiện hành)</a:t>
            </a:r>
            <a:r>
              <a:rPr lang="en-US" sz="1100" dirty="0"/>
              <a:t> để thiết lập tỷ giá quy đổi cho dashboard.</a:t>
            </a:r>
          </a:p>
          <a:p>
            <a:endParaRPr lang="en-US" sz="1100" dirty="0"/>
          </a:p>
          <a:p>
            <a:r>
              <a:rPr lang="en-US" sz="1100" b="1" dirty="0">
                <a:solidFill>
                  <a:srgbClr val="1F3A6E"/>
                </a:solidFill>
              </a:rPr>
              <a:t>2. Thiết lập tỷ giá</a:t>
            </a:r>
            <a:br>
              <a:rPr lang="en-US" sz="1100" dirty="0"/>
            </a:br>
            <a:r>
              <a:rPr lang="en-US" sz="1100" dirty="0"/>
              <a:t>Nhập tỷ giá KRW &amp; VND trên 1 USD → nhấn Save để áp dụng cho toàn bộ dashboard.</a:t>
            </a:r>
          </a:p>
        </p:txBody>
      </p:sp>
      <p:grpSp>
        <p:nvGrpSpPr>
          <p:cNvPr id="45" name="Group 44">
            <a:extLst>
              <a:ext uri="{FF2B5EF4-FFF2-40B4-BE49-F238E27FC236}">
                <a16:creationId xmlns:a16="http://schemas.microsoft.com/office/drawing/2014/main" id="{AD965E76-7E2D-7206-A66B-F696DEABDC52}"/>
              </a:ext>
            </a:extLst>
          </p:cNvPr>
          <p:cNvGrpSpPr/>
          <p:nvPr/>
        </p:nvGrpSpPr>
        <p:grpSpPr>
          <a:xfrm>
            <a:off x="320040" y="6473952"/>
            <a:ext cx="228600" cy="228600"/>
            <a:chOff x="320040" y="6473952"/>
            <a:chExt cx="228600" cy="228600"/>
          </a:xfrm>
        </p:grpSpPr>
        <p:sp>
          <p:nvSpPr>
            <p:cNvPr id="27" name="Shape 24"/>
            <p:cNvSpPr/>
            <p:nvPr/>
          </p:nvSpPr>
          <p:spPr>
            <a:xfrm>
              <a:off x="320040" y="6473952"/>
              <a:ext cx="64008" cy="64008"/>
            </a:xfrm>
            <a:prstGeom prst="rect">
              <a:avLst/>
            </a:prstGeom>
            <a:solidFill>
              <a:srgbClr val="1F3A6E"/>
            </a:solidFill>
            <a:ln/>
          </p:spPr>
          <p:txBody>
            <a:bodyPr/>
            <a:lstStyle/>
            <a:p>
              <a:endParaRPr lang="en-US"/>
            </a:p>
          </p:txBody>
        </p:sp>
        <p:sp>
          <p:nvSpPr>
            <p:cNvPr id="28" name="Shape 25"/>
            <p:cNvSpPr/>
            <p:nvPr/>
          </p:nvSpPr>
          <p:spPr>
            <a:xfrm>
              <a:off x="402336" y="6473952"/>
              <a:ext cx="64008" cy="64008"/>
            </a:xfrm>
            <a:prstGeom prst="rect">
              <a:avLst/>
            </a:prstGeom>
            <a:solidFill>
              <a:srgbClr val="3F8FD0"/>
            </a:solidFill>
            <a:ln/>
          </p:spPr>
          <p:txBody>
            <a:bodyPr/>
            <a:lstStyle/>
            <a:p>
              <a:endParaRPr lang="en-US"/>
            </a:p>
          </p:txBody>
        </p:sp>
        <p:sp>
          <p:nvSpPr>
            <p:cNvPr id="29" name="Shape 26"/>
            <p:cNvSpPr/>
            <p:nvPr/>
          </p:nvSpPr>
          <p:spPr>
            <a:xfrm>
              <a:off x="484632" y="6473952"/>
              <a:ext cx="64008" cy="64008"/>
            </a:xfrm>
            <a:prstGeom prst="rect">
              <a:avLst/>
            </a:prstGeom>
            <a:solidFill>
              <a:srgbClr val="1F3A6E"/>
            </a:solidFill>
            <a:ln/>
          </p:spPr>
          <p:txBody>
            <a:bodyPr/>
            <a:lstStyle/>
            <a:p>
              <a:endParaRPr lang="en-US"/>
            </a:p>
          </p:txBody>
        </p:sp>
        <p:sp>
          <p:nvSpPr>
            <p:cNvPr id="30" name="Shape 27"/>
            <p:cNvSpPr/>
            <p:nvPr/>
          </p:nvSpPr>
          <p:spPr>
            <a:xfrm>
              <a:off x="320040" y="6556248"/>
              <a:ext cx="64008" cy="64008"/>
            </a:xfrm>
            <a:prstGeom prst="rect">
              <a:avLst/>
            </a:prstGeom>
            <a:solidFill>
              <a:srgbClr val="3F8FD0"/>
            </a:solidFill>
            <a:ln/>
          </p:spPr>
          <p:txBody>
            <a:bodyPr/>
            <a:lstStyle/>
            <a:p>
              <a:endParaRPr lang="en-US"/>
            </a:p>
          </p:txBody>
        </p:sp>
        <p:sp>
          <p:nvSpPr>
            <p:cNvPr id="31" name="Shape 28"/>
            <p:cNvSpPr/>
            <p:nvPr/>
          </p:nvSpPr>
          <p:spPr>
            <a:xfrm>
              <a:off x="402336" y="6556248"/>
              <a:ext cx="64008" cy="64008"/>
            </a:xfrm>
            <a:prstGeom prst="rect">
              <a:avLst/>
            </a:prstGeom>
            <a:solidFill>
              <a:srgbClr val="1F3A6E"/>
            </a:solidFill>
            <a:ln/>
          </p:spPr>
          <p:txBody>
            <a:bodyPr/>
            <a:lstStyle/>
            <a:p>
              <a:endParaRPr lang="en-US"/>
            </a:p>
          </p:txBody>
        </p:sp>
        <p:sp>
          <p:nvSpPr>
            <p:cNvPr id="32" name="Shape 29"/>
            <p:cNvSpPr/>
            <p:nvPr/>
          </p:nvSpPr>
          <p:spPr>
            <a:xfrm>
              <a:off x="484632" y="6556248"/>
              <a:ext cx="64008" cy="64008"/>
            </a:xfrm>
            <a:prstGeom prst="rect">
              <a:avLst/>
            </a:prstGeom>
            <a:solidFill>
              <a:srgbClr val="3F8FD0"/>
            </a:solidFill>
            <a:ln/>
          </p:spPr>
          <p:txBody>
            <a:bodyPr/>
            <a:lstStyle/>
            <a:p>
              <a:endParaRPr lang="en-US"/>
            </a:p>
          </p:txBody>
        </p:sp>
        <p:sp>
          <p:nvSpPr>
            <p:cNvPr id="33" name="Shape 30"/>
            <p:cNvSpPr/>
            <p:nvPr/>
          </p:nvSpPr>
          <p:spPr>
            <a:xfrm>
              <a:off x="320040" y="6638544"/>
              <a:ext cx="64008" cy="64008"/>
            </a:xfrm>
            <a:prstGeom prst="rect">
              <a:avLst/>
            </a:prstGeom>
            <a:solidFill>
              <a:srgbClr val="1F3A6E"/>
            </a:solidFill>
            <a:ln/>
          </p:spPr>
          <p:txBody>
            <a:bodyPr/>
            <a:lstStyle/>
            <a:p>
              <a:endParaRPr lang="en-US"/>
            </a:p>
          </p:txBody>
        </p:sp>
        <p:sp>
          <p:nvSpPr>
            <p:cNvPr id="34" name="Shape 31"/>
            <p:cNvSpPr/>
            <p:nvPr/>
          </p:nvSpPr>
          <p:spPr>
            <a:xfrm>
              <a:off x="402336" y="6638544"/>
              <a:ext cx="64008" cy="64008"/>
            </a:xfrm>
            <a:prstGeom prst="rect">
              <a:avLst/>
            </a:prstGeom>
            <a:solidFill>
              <a:srgbClr val="3F8FD0"/>
            </a:solidFill>
            <a:ln/>
          </p:spPr>
          <p:txBody>
            <a:bodyPr/>
            <a:lstStyle/>
            <a:p>
              <a:endParaRPr lang="en-US"/>
            </a:p>
          </p:txBody>
        </p:sp>
        <p:sp>
          <p:nvSpPr>
            <p:cNvPr id="35" name="Shape 32"/>
            <p:cNvSpPr/>
            <p:nvPr/>
          </p:nvSpPr>
          <p:spPr>
            <a:xfrm>
              <a:off x="484632" y="6638544"/>
              <a:ext cx="64008" cy="64008"/>
            </a:xfrm>
            <a:prstGeom prst="rect">
              <a:avLst/>
            </a:prstGeom>
            <a:solidFill>
              <a:srgbClr val="1F3A6E"/>
            </a:solidFill>
            <a:ln/>
          </p:spPr>
          <p:txBody>
            <a:bodyPr/>
            <a:lstStyle/>
            <a:p>
              <a:endParaRPr lang="en-US"/>
            </a:p>
          </p:txBody>
        </p:sp>
      </p:grpSp>
      <p:sp>
        <p:nvSpPr>
          <p:cNvPr id="36" name="Text 33"/>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Thiết lập tỷ giá – Tỷ giá doanh thu hàng tháng</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71E8C172-1B7D-DAF3-9BE3-268E06CE0AD5}"/>
              </a:ext>
            </a:extLst>
          </p:cNvPr>
          <p:cNvGrpSpPr/>
          <p:nvPr/>
        </p:nvGrpSpPr>
        <p:grpSpPr>
          <a:xfrm>
            <a:off x="320040" y="1822903"/>
            <a:ext cx="7108952" cy="3553100"/>
            <a:chOff x="603504" y="2271924"/>
            <a:chExt cx="6473152" cy="3151422"/>
          </a:xfrm>
        </p:grpSpPr>
        <p:sp>
          <p:nvSpPr>
            <p:cNvPr id="25" name="Shape 23"/>
            <p:cNvSpPr/>
            <p:nvPr/>
          </p:nvSpPr>
          <p:spPr>
            <a:xfrm>
              <a:off x="603504" y="2271924"/>
              <a:ext cx="6473152" cy="3151422"/>
            </a:xfrm>
            <a:prstGeom prst="rect">
              <a:avLst/>
            </a:prstGeom>
            <a:solidFill>
              <a:srgbClr val="F2F2F2"/>
            </a:solidFill>
            <a:ln w="9525">
              <a:solidFill>
                <a:srgbClr val="BFBFBF"/>
              </a:solidFill>
              <a:prstDash val="solid"/>
            </a:ln>
          </p:spPr>
          <p:txBody>
            <a:bodyPr/>
            <a:lstStyle/>
            <a:p>
              <a:endParaRPr lang="en-US"/>
            </a:p>
          </p:txBody>
        </p:sp>
        <p:grpSp>
          <p:nvGrpSpPr>
            <p:cNvPr id="24" name="Group 23">
              <a:extLst>
                <a:ext uri="{FF2B5EF4-FFF2-40B4-BE49-F238E27FC236}">
                  <a16:creationId xmlns:a16="http://schemas.microsoft.com/office/drawing/2014/main" id="{C4647FBC-4228-CA1D-1C27-37EA5882C185}"/>
                </a:ext>
              </a:extLst>
            </p:cNvPr>
            <p:cNvGrpSpPr/>
            <p:nvPr/>
          </p:nvGrpSpPr>
          <p:grpSpPr>
            <a:xfrm>
              <a:off x="640080" y="2308500"/>
              <a:ext cx="6400000" cy="3078270"/>
              <a:chOff x="640080" y="2308500"/>
              <a:chExt cx="6400000" cy="3078270"/>
            </a:xfrm>
          </p:grpSpPr>
          <p:pic>
            <p:nvPicPr>
              <p:cNvPr id="26" name="Image 0" descr="screenshot"/>
              <p:cNvPicPr>
                <a:picLocks noChangeAspect="1"/>
              </p:cNvPicPr>
              <p:nvPr/>
            </p:nvPicPr>
            <p:blipFill>
              <a:blip r:embed="rId3"/>
              <a:stretch>
                <a:fillRect/>
              </a:stretch>
            </p:blipFill>
            <p:spPr>
              <a:xfrm>
                <a:off x="640080" y="2308500"/>
                <a:ext cx="6400000" cy="3078270"/>
              </a:xfrm>
              <a:prstGeom prst="rect">
                <a:avLst/>
              </a:prstGeom>
            </p:spPr>
          </p:pic>
          <p:sp>
            <p:nvSpPr>
              <p:cNvPr id="100" name="Box 1"/>
              <p:cNvSpPr/>
              <p:nvPr/>
            </p:nvSpPr>
            <p:spPr>
              <a:xfrm>
                <a:off x="5369371" y="2667049"/>
                <a:ext cx="1078735" cy="1296382"/>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5438905" y="2989726"/>
                <a:ext cx="972550" cy="901034"/>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6356393" y="258470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5292253" y="298972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grpSp>
      <p:sp>
        <p:nvSpPr>
          <p:cNvPr id="300" name="Panel Header"/>
          <p:cNvSpPr/>
          <p:nvPr/>
        </p:nvSpPr>
        <p:spPr>
          <a:xfrm>
            <a:off x="7619951" y="1800318"/>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619951" y="2320317"/>
            <a:ext cx="4211840" cy="3055685"/>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819951" y="2470318"/>
            <a:ext cx="3811840" cy="2258270"/>
          </a:xfrm>
          <a:prstGeom prst="rect">
            <a:avLst/>
          </a:prstGeom>
          <a:noFill/>
          <a:ln/>
        </p:spPr>
        <p:txBody>
          <a:bodyPr wrap="square" lIns="0" tIns="0" rIns="0" bIns="0" rtlCol="0" anchor="t"/>
          <a:lstStyle/>
          <a:p>
            <a:r>
              <a:rPr lang="en-US" sz="1100" b="1" dirty="0">
                <a:solidFill>
                  <a:srgbClr val="1F3A6E"/>
                </a:solidFill>
              </a:rPr>
              <a:t>1. Tỷ giá doanh thu hàng tháng</a:t>
            </a:r>
            <a:br>
              <a:rPr lang="en-US" sz="1100" dirty="0"/>
            </a:br>
            <a:r>
              <a:rPr lang="en-US" sz="1100" dirty="0"/>
              <a:t>Thiết lập tỷ giá KRW / VND cụ thể theo Năm &amp; Tháng để quy đổi doanh thu hàng tháng.</a:t>
            </a:r>
          </a:p>
          <a:p>
            <a:endParaRPr lang="en-US" sz="1100" dirty="0"/>
          </a:p>
          <a:p>
            <a:r>
              <a:rPr lang="en-US" sz="1100" b="1" dirty="0">
                <a:solidFill>
                  <a:srgbClr val="1F3A6E"/>
                </a:solidFill>
              </a:rPr>
              <a:t>2. Thiết lập tỷ giá hàng tháng</a:t>
            </a:r>
            <a:br>
              <a:rPr lang="en-US" sz="1100" dirty="0"/>
            </a:br>
            <a:r>
              <a:rPr lang="en-US" sz="1100" dirty="0"/>
              <a:t>Chọn Year / Month → nhập tỷ giá KRW &amp; VND → Save.</a:t>
            </a:r>
            <a:br>
              <a:rPr lang="en-US" sz="1100" dirty="0"/>
            </a:br>
            <a:r>
              <a:rPr lang="en-US" sz="1100" dirty="0"/>
              <a:t>Dashboard sẽ sử dụng tỷ giá hàng tháng khi đã được thiết lập.</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38" name="Group 37">
            <a:extLst>
              <a:ext uri="{FF2B5EF4-FFF2-40B4-BE49-F238E27FC236}">
                <a16:creationId xmlns:a16="http://schemas.microsoft.com/office/drawing/2014/main" id="{45383575-5E54-1592-45CC-02EED1268F25}"/>
              </a:ext>
            </a:extLst>
          </p:cNvPr>
          <p:cNvGrpSpPr/>
          <p:nvPr/>
        </p:nvGrpSpPr>
        <p:grpSpPr>
          <a:xfrm>
            <a:off x="320040" y="498348"/>
            <a:ext cx="228600" cy="228600"/>
            <a:chOff x="457200" y="384048"/>
            <a:chExt cx="228600" cy="228600"/>
          </a:xfrm>
        </p:grpSpPr>
        <p:sp>
          <p:nvSpPr>
            <p:cNvPr id="39" name="Shape 1">
              <a:extLst>
                <a:ext uri="{FF2B5EF4-FFF2-40B4-BE49-F238E27FC236}">
                  <a16:creationId xmlns:a16="http://schemas.microsoft.com/office/drawing/2014/main" id="{CD906F62-A4CA-8E4E-3191-AD5433992CCA}"/>
                </a:ext>
              </a:extLst>
            </p:cNvPr>
            <p:cNvSpPr/>
            <p:nvPr/>
          </p:nvSpPr>
          <p:spPr>
            <a:xfrm>
              <a:off x="457200" y="384048"/>
              <a:ext cx="64008" cy="64008"/>
            </a:xfrm>
            <a:prstGeom prst="rect">
              <a:avLst/>
            </a:prstGeom>
            <a:solidFill>
              <a:srgbClr val="1F3A6E"/>
            </a:solidFill>
            <a:ln/>
          </p:spPr>
          <p:txBody>
            <a:bodyPr/>
            <a:lstStyle/>
            <a:p>
              <a:endParaRPr lang="en-US"/>
            </a:p>
          </p:txBody>
        </p:sp>
        <p:sp>
          <p:nvSpPr>
            <p:cNvPr id="40" name="Shape 2">
              <a:extLst>
                <a:ext uri="{FF2B5EF4-FFF2-40B4-BE49-F238E27FC236}">
                  <a16:creationId xmlns:a16="http://schemas.microsoft.com/office/drawing/2014/main" id="{6E402576-2217-0003-BC3F-F975C83948E1}"/>
                </a:ext>
              </a:extLst>
            </p:cNvPr>
            <p:cNvSpPr/>
            <p:nvPr/>
          </p:nvSpPr>
          <p:spPr>
            <a:xfrm>
              <a:off x="539496" y="384048"/>
              <a:ext cx="64008" cy="64008"/>
            </a:xfrm>
            <a:prstGeom prst="rect">
              <a:avLst/>
            </a:prstGeom>
            <a:solidFill>
              <a:srgbClr val="3F8FD0"/>
            </a:solidFill>
            <a:ln/>
          </p:spPr>
          <p:txBody>
            <a:bodyPr/>
            <a:lstStyle/>
            <a:p>
              <a:endParaRPr lang="en-US"/>
            </a:p>
          </p:txBody>
        </p:sp>
        <p:sp>
          <p:nvSpPr>
            <p:cNvPr id="41" name="Shape 3">
              <a:extLst>
                <a:ext uri="{FF2B5EF4-FFF2-40B4-BE49-F238E27FC236}">
                  <a16:creationId xmlns:a16="http://schemas.microsoft.com/office/drawing/2014/main" id="{7CD5361B-2025-2C87-EFC0-0EAFA2EB64C9}"/>
                </a:ext>
              </a:extLst>
            </p:cNvPr>
            <p:cNvSpPr/>
            <p:nvPr/>
          </p:nvSpPr>
          <p:spPr>
            <a:xfrm>
              <a:off x="621792" y="384048"/>
              <a:ext cx="64008" cy="64008"/>
            </a:xfrm>
            <a:prstGeom prst="rect">
              <a:avLst/>
            </a:prstGeom>
            <a:solidFill>
              <a:srgbClr val="1F3A6E"/>
            </a:solidFill>
            <a:ln/>
          </p:spPr>
          <p:txBody>
            <a:bodyPr/>
            <a:lstStyle/>
            <a:p>
              <a:endParaRPr lang="en-US"/>
            </a:p>
          </p:txBody>
        </p:sp>
        <p:sp>
          <p:nvSpPr>
            <p:cNvPr id="42" name="Shape 4">
              <a:extLst>
                <a:ext uri="{FF2B5EF4-FFF2-40B4-BE49-F238E27FC236}">
                  <a16:creationId xmlns:a16="http://schemas.microsoft.com/office/drawing/2014/main" id="{7F3CDDA6-6BAD-00ED-9116-8ECF1FC2DCD4}"/>
                </a:ext>
              </a:extLst>
            </p:cNvPr>
            <p:cNvSpPr/>
            <p:nvPr/>
          </p:nvSpPr>
          <p:spPr>
            <a:xfrm>
              <a:off x="457200" y="466344"/>
              <a:ext cx="64008" cy="64008"/>
            </a:xfrm>
            <a:prstGeom prst="rect">
              <a:avLst/>
            </a:prstGeom>
            <a:solidFill>
              <a:srgbClr val="3F8FD0"/>
            </a:solidFill>
            <a:ln/>
          </p:spPr>
          <p:txBody>
            <a:bodyPr/>
            <a:lstStyle/>
            <a:p>
              <a:endParaRPr lang="en-US"/>
            </a:p>
          </p:txBody>
        </p:sp>
        <p:sp>
          <p:nvSpPr>
            <p:cNvPr id="43" name="Shape 5">
              <a:extLst>
                <a:ext uri="{FF2B5EF4-FFF2-40B4-BE49-F238E27FC236}">
                  <a16:creationId xmlns:a16="http://schemas.microsoft.com/office/drawing/2014/main" id="{C8B7A43E-3753-64D2-0B64-8B83BE65613F}"/>
                </a:ext>
              </a:extLst>
            </p:cNvPr>
            <p:cNvSpPr/>
            <p:nvPr/>
          </p:nvSpPr>
          <p:spPr>
            <a:xfrm>
              <a:off x="539496" y="466344"/>
              <a:ext cx="64008" cy="64008"/>
            </a:xfrm>
            <a:prstGeom prst="rect">
              <a:avLst/>
            </a:prstGeom>
            <a:solidFill>
              <a:srgbClr val="1F3A6E"/>
            </a:solidFill>
            <a:ln/>
          </p:spPr>
          <p:txBody>
            <a:bodyPr/>
            <a:lstStyle/>
            <a:p>
              <a:endParaRPr lang="en-US"/>
            </a:p>
          </p:txBody>
        </p:sp>
        <p:sp>
          <p:nvSpPr>
            <p:cNvPr id="44" name="Shape 6">
              <a:extLst>
                <a:ext uri="{FF2B5EF4-FFF2-40B4-BE49-F238E27FC236}">
                  <a16:creationId xmlns:a16="http://schemas.microsoft.com/office/drawing/2014/main" id="{CCFDDA96-357D-D945-0F31-E3CC6BD0661E}"/>
                </a:ext>
              </a:extLst>
            </p:cNvPr>
            <p:cNvSpPr/>
            <p:nvPr/>
          </p:nvSpPr>
          <p:spPr>
            <a:xfrm>
              <a:off x="621792" y="466344"/>
              <a:ext cx="64008" cy="64008"/>
            </a:xfrm>
            <a:prstGeom prst="rect">
              <a:avLst/>
            </a:prstGeom>
            <a:solidFill>
              <a:srgbClr val="3F8FD0"/>
            </a:solidFill>
            <a:ln/>
          </p:spPr>
          <p:txBody>
            <a:bodyPr/>
            <a:lstStyle/>
            <a:p>
              <a:endParaRPr lang="en-US"/>
            </a:p>
          </p:txBody>
        </p:sp>
        <p:sp>
          <p:nvSpPr>
            <p:cNvPr id="45" name="Shape 7">
              <a:extLst>
                <a:ext uri="{FF2B5EF4-FFF2-40B4-BE49-F238E27FC236}">
                  <a16:creationId xmlns:a16="http://schemas.microsoft.com/office/drawing/2014/main" id="{D757E1ED-8866-4018-2000-5F2CAAF06117}"/>
                </a:ext>
              </a:extLst>
            </p:cNvPr>
            <p:cNvSpPr/>
            <p:nvPr/>
          </p:nvSpPr>
          <p:spPr>
            <a:xfrm>
              <a:off x="457200" y="548640"/>
              <a:ext cx="64008" cy="64008"/>
            </a:xfrm>
            <a:prstGeom prst="rect">
              <a:avLst/>
            </a:prstGeom>
            <a:solidFill>
              <a:srgbClr val="1F3A6E"/>
            </a:solidFill>
            <a:ln/>
          </p:spPr>
          <p:txBody>
            <a:bodyPr/>
            <a:lstStyle/>
            <a:p>
              <a:endParaRPr lang="en-US"/>
            </a:p>
          </p:txBody>
        </p:sp>
        <p:sp>
          <p:nvSpPr>
            <p:cNvPr id="46" name="Shape 8">
              <a:extLst>
                <a:ext uri="{FF2B5EF4-FFF2-40B4-BE49-F238E27FC236}">
                  <a16:creationId xmlns:a16="http://schemas.microsoft.com/office/drawing/2014/main" id="{B28BB277-8AE8-7F08-370D-BD0CDDCF3345}"/>
                </a:ext>
              </a:extLst>
            </p:cNvPr>
            <p:cNvSpPr/>
            <p:nvPr/>
          </p:nvSpPr>
          <p:spPr>
            <a:xfrm>
              <a:off x="539496" y="548640"/>
              <a:ext cx="64008" cy="64008"/>
            </a:xfrm>
            <a:prstGeom prst="rect">
              <a:avLst/>
            </a:prstGeom>
            <a:solidFill>
              <a:srgbClr val="3F8FD0"/>
            </a:solidFill>
            <a:ln/>
          </p:spPr>
          <p:txBody>
            <a:bodyPr/>
            <a:lstStyle/>
            <a:p>
              <a:endParaRPr lang="en-US"/>
            </a:p>
          </p:txBody>
        </p:sp>
        <p:sp>
          <p:nvSpPr>
            <p:cNvPr id="47" name="Shape 9">
              <a:extLst>
                <a:ext uri="{FF2B5EF4-FFF2-40B4-BE49-F238E27FC236}">
                  <a16:creationId xmlns:a16="http://schemas.microsoft.com/office/drawing/2014/main" id="{518B06C5-B194-1971-2DE0-EEF1DA10D0D9}"/>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8" name="Group 47">
            <a:extLst>
              <a:ext uri="{FF2B5EF4-FFF2-40B4-BE49-F238E27FC236}">
                <a16:creationId xmlns:a16="http://schemas.microsoft.com/office/drawing/2014/main" id="{519DBFE2-2F34-E571-A7B0-796934A42B16}"/>
              </a:ext>
            </a:extLst>
          </p:cNvPr>
          <p:cNvGrpSpPr/>
          <p:nvPr/>
        </p:nvGrpSpPr>
        <p:grpSpPr>
          <a:xfrm>
            <a:off x="320040" y="6473952"/>
            <a:ext cx="228600" cy="228600"/>
            <a:chOff x="320040" y="6473952"/>
            <a:chExt cx="228600" cy="228600"/>
          </a:xfrm>
        </p:grpSpPr>
        <p:sp>
          <p:nvSpPr>
            <p:cNvPr id="49" name="Shape 24">
              <a:extLst>
                <a:ext uri="{FF2B5EF4-FFF2-40B4-BE49-F238E27FC236}">
                  <a16:creationId xmlns:a16="http://schemas.microsoft.com/office/drawing/2014/main" id="{2B400A7E-F924-F784-119D-749AD98FC0E6}"/>
                </a:ext>
              </a:extLst>
            </p:cNvPr>
            <p:cNvSpPr/>
            <p:nvPr/>
          </p:nvSpPr>
          <p:spPr>
            <a:xfrm>
              <a:off x="320040" y="6473952"/>
              <a:ext cx="64008" cy="64008"/>
            </a:xfrm>
            <a:prstGeom prst="rect">
              <a:avLst/>
            </a:prstGeom>
            <a:solidFill>
              <a:srgbClr val="1F3A6E"/>
            </a:solidFill>
            <a:ln/>
          </p:spPr>
          <p:txBody>
            <a:bodyPr/>
            <a:lstStyle/>
            <a:p>
              <a:endParaRPr lang="en-US"/>
            </a:p>
          </p:txBody>
        </p:sp>
        <p:sp>
          <p:nvSpPr>
            <p:cNvPr id="50" name="Shape 25">
              <a:extLst>
                <a:ext uri="{FF2B5EF4-FFF2-40B4-BE49-F238E27FC236}">
                  <a16:creationId xmlns:a16="http://schemas.microsoft.com/office/drawing/2014/main" id="{9AB5A4FB-628C-76B2-2587-A0FBBFF2CF82}"/>
                </a:ext>
              </a:extLst>
            </p:cNvPr>
            <p:cNvSpPr/>
            <p:nvPr/>
          </p:nvSpPr>
          <p:spPr>
            <a:xfrm>
              <a:off x="402336" y="6473952"/>
              <a:ext cx="64008" cy="64008"/>
            </a:xfrm>
            <a:prstGeom prst="rect">
              <a:avLst/>
            </a:prstGeom>
            <a:solidFill>
              <a:srgbClr val="3F8FD0"/>
            </a:solidFill>
            <a:ln/>
          </p:spPr>
          <p:txBody>
            <a:bodyPr/>
            <a:lstStyle/>
            <a:p>
              <a:endParaRPr lang="en-US"/>
            </a:p>
          </p:txBody>
        </p:sp>
        <p:sp>
          <p:nvSpPr>
            <p:cNvPr id="51" name="Shape 26">
              <a:extLst>
                <a:ext uri="{FF2B5EF4-FFF2-40B4-BE49-F238E27FC236}">
                  <a16:creationId xmlns:a16="http://schemas.microsoft.com/office/drawing/2014/main" id="{160CD9ED-66F5-EE6C-21D6-EF1048037CFB}"/>
                </a:ext>
              </a:extLst>
            </p:cNvPr>
            <p:cNvSpPr/>
            <p:nvPr/>
          </p:nvSpPr>
          <p:spPr>
            <a:xfrm>
              <a:off x="484632" y="6473952"/>
              <a:ext cx="64008" cy="64008"/>
            </a:xfrm>
            <a:prstGeom prst="rect">
              <a:avLst/>
            </a:prstGeom>
            <a:solidFill>
              <a:srgbClr val="1F3A6E"/>
            </a:solidFill>
            <a:ln/>
          </p:spPr>
          <p:txBody>
            <a:bodyPr/>
            <a:lstStyle/>
            <a:p>
              <a:endParaRPr lang="en-US"/>
            </a:p>
          </p:txBody>
        </p:sp>
        <p:sp>
          <p:nvSpPr>
            <p:cNvPr id="52" name="Shape 27">
              <a:extLst>
                <a:ext uri="{FF2B5EF4-FFF2-40B4-BE49-F238E27FC236}">
                  <a16:creationId xmlns:a16="http://schemas.microsoft.com/office/drawing/2014/main" id="{B8A3D3D2-E48D-6BFD-9AD1-9A048E1547B2}"/>
                </a:ext>
              </a:extLst>
            </p:cNvPr>
            <p:cNvSpPr/>
            <p:nvPr/>
          </p:nvSpPr>
          <p:spPr>
            <a:xfrm>
              <a:off x="320040" y="6556248"/>
              <a:ext cx="64008" cy="64008"/>
            </a:xfrm>
            <a:prstGeom prst="rect">
              <a:avLst/>
            </a:prstGeom>
            <a:solidFill>
              <a:srgbClr val="3F8FD0"/>
            </a:solidFill>
            <a:ln/>
          </p:spPr>
          <p:txBody>
            <a:bodyPr/>
            <a:lstStyle/>
            <a:p>
              <a:endParaRPr lang="en-US"/>
            </a:p>
          </p:txBody>
        </p:sp>
        <p:sp>
          <p:nvSpPr>
            <p:cNvPr id="53" name="Shape 28">
              <a:extLst>
                <a:ext uri="{FF2B5EF4-FFF2-40B4-BE49-F238E27FC236}">
                  <a16:creationId xmlns:a16="http://schemas.microsoft.com/office/drawing/2014/main" id="{76523397-CA2D-5146-1BE1-E69F6859EE33}"/>
                </a:ext>
              </a:extLst>
            </p:cNvPr>
            <p:cNvSpPr/>
            <p:nvPr/>
          </p:nvSpPr>
          <p:spPr>
            <a:xfrm>
              <a:off x="402336" y="6556248"/>
              <a:ext cx="64008" cy="64008"/>
            </a:xfrm>
            <a:prstGeom prst="rect">
              <a:avLst/>
            </a:prstGeom>
            <a:solidFill>
              <a:srgbClr val="1F3A6E"/>
            </a:solidFill>
            <a:ln/>
          </p:spPr>
          <p:txBody>
            <a:bodyPr/>
            <a:lstStyle/>
            <a:p>
              <a:endParaRPr lang="en-US"/>
            </a:p>
          </p:txBody>
        </p:sp>
        <p:sp>
          <p:nvSpPr>
            <p:cNvPr id="54" name="Shape 29">
              <a:extLst>
                <a:ext uri="{FF2B5EF4-FFF2-40B4-BE49-F238E27FC236}">
                  <a16:creationId xmlns:a16="http://schemas.microsoft.com/office/drawing/2014/main" id="{E14E5AB8-AE4E-37CD-4C14-962E9AFABD1A}"/>
                </a:ext>
              </a:extLst>
            </p:cNvPr>
            <p:cNvSpPr/>
            <p:nvPr/>
          </p:nvSpPr>
          <p:spPr>
            <a:xfrm>
              <a:off x="484632" y="6556248"/>
              <a:ext cx="64008" cy="64008"/>
            </a:xfrm>
            <a:prstGeom prst="rect">
              <a:avLst/>
            </a:prstGeom>
            <a:solidFill>
              <a:srgbClr val="3F8FD0"/>
            </a:solidFill>
            <a:ln/>
          </p:spPr>
          <p:txBody>
            <a:bodyPr/>
            <a:lstStyle/>
            <a:p>
              <a:endParaRPr lang="en-US"/>
            </a:p>
          </p:txBody>
        </p:sp>
        <p:sp>
          <p:nvSpPr>
            <p:cNvPr id="55" name="Shape 30">
              <a:extLst>
                <a:ext uri="{FF2B5EF4-FFF2-40B4-BE49-F238E27FC236}">
                  <a16:creationId xmlns:a16="http://schemas.microsoft.com/office/drawing/2014/main" id="{762CDBF7-EC6E-6E16-E946-F7E127499464}"/>
                </a:ext>
              </a:extLst>
            </p:cNvPr>
            <p:cNvSpPr/>
            <p:nvPr/>
          </p:nvSpPr>
          <p:spPr>
            <a:xfrm>
              <a:off x="320040" y="6638544"/>
              <a:ext cx="64008" cy="64008"/>
            </a:xfrm>
            <a:prstGeom prst="rect">
              <a:avLst/>
            </a:prstGeom>
            <a:solidFill>
              <a:srgbClr val="1F3A6E"/>
            </a:solidFill>
            <a:ln/>
          </p:spPr>
          <p:txBody>
            <a:bodyPr/>
            <a:lstStyle/>
            <a:p>
              <a:endParaRPr lang="en-US"/>
            </a:p>
          </p:txBody>
        </p:sp>
        <p:sp>
          <p:nvSpPr>
            <p:cNvPr id="56" name="Shape 31">
              <a:extLst>
                <a:ext uri="{FF2B5EF4-FFF2-40B4-BE49-F238E27FC236}">
                  <a16:creationId xmlns:a16="http://schemas.microsoft.com/office/drawing/2014/main" id="{D310D598-5E2A-0352-535B-92F263E4C5DF}"/>
                </a:ext>
              </a:extLst>
            </p:cNvPr>
            <p:cNvSpPr/>
            <p:nvPr/>
          </p:nvSpPr>
          <p:spPr>
            <a:xfrm>
              <a:off x="402336" y="6638544"/>
              <a:ext cx="64008" cy="64008"/>
            </a:xfrm>
            <a:prstGeom prst="rect">
              <a:avLst/>
            </a:prstGeom>
            <a:solidFill>
              <a:srgbClr val="3F8FD0"/>
            </a:solidFill>
            <a:ln/>
          </p:spPr>
          <p:txBody>
            <a:bodyPr/>
            <a:lstStyle/>
            <a:p>
              <a:endParaRPr lang="en-US"/>
            </a:p>
          </p:txBody>
        </p:sp>
        <p:sp>
          <p:nvSpPr>
            <p:cNvPr id="57" name="Shape 32">
              <a:extLst>
                <a:ext uri="{FF2B5EF4-FFF2-40B4-BE49-F238E27FC236}">
                  <a16:creationId xmlns:a16="http://schemas.microsoft.com/office/drawing/2014/main" id="{92BE5DE7-988A-645F-5BDB-EB34061F8F68}"/>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8" name="Text 33">
            <a:extLst>
              <a:ext uri="{FF2B5EF4-FFF2-40B4-BE49-F238E27FC236}">
                <a16:creationId xmlns:a16="http://schemas.microsoft.com/office/drawing/2014/main" id="{377AA8A9-0328-C7F5-E636-7BAAE9909E41}"/>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743407" y="275088"/>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Biểu đồ &amp; Xem chi tiết</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79" name="Group 78">
            <a:extLst>
              <a:ext uri="{FF2B5EF4-FFF2-40B4-BE49-F238E27FC236}">
                <a16:creationId xmlns:a16="http://schemas.microsoft.com/office/drawing/2014/main" id="{6633EA0F-50EC-098C-411A-41E458EBD64E}"/>
              </a:ext>
            </a:extLst>
          </p:cNvPr>
          <p:cNvGrpSpPr/>
          <p:nvPr/>
        </p:nvGrpSpPr>
        <p:grpSpPr>
          <a:xfrm>
            <a:off x="277440" y="1805106"/>
            <a:ext cx="7145654" cy="3703386"/>
            <a:chOff x="603504" y="2248526"/>
            <a:chExt cx="6473152" cy="3181490"/>
          </a:xfrm>
        </p:grpSpPr>
        <p:sp>
          <p:nvSpPr>
            <p:cNvPr id="25" name="Shape 23"/>
            <p:cNvSpPr/>
            <p:nvPr/>
          </p:nvSpPr>
          <p:spPr>
            <a:xfrm>
              <a:off x="603504" y="2271924"/>
              <a:ext cx="6473152" cy="3158092"/>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84940"/>
            </a:xfrm>
            <a:prstGeom prst="rect">
              <a:avLst/>
            </a:prstGeom>
          </p:spPr>
        </p:pic>
        <p:sp>
          <p:nvSpPr>
            <p:cNvPr id="100" name="Box 1"/>
            <p:cNvSpPr/>
            <p:nvPr/>
          </p:nvSpPr>
          <p:spPr>
            <a:xfrm>
              <a:off x="1407146" y="2358526"/>
              <a:ext cx="2184471" cy="1150599"/>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3641643" y="2358526"/>
              <a:ext cx="2201146" cy="1150599"/>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5892816" y="2358526"/>
              <a:ext cx="1117249" cy="1150599"/>
            </a:xfrm>
            <a:prstGeom prst="roundRect">
              <a:avLst>
                <a:gd name="adj" fmla="val 10000"/>
              </a:avLst>
            </a:prstGeom>
            <a:noFill/>
            <a:ln w="19050">
              <a:solidFill>
                <a:srgbClr val="1F3A6E"/>
              </a:solidFill>
            </a:ln>
          </p:spPr>
          <p:txBody>
            <a:bodyPr/>
            <a:lstStyle/>
            <a:p>
              <a:endParaRPr lang="en-US"/>
            </a:p>
          </p:txBody>
        </p:sp>
        <p:sp>
          <p:nvSpPr>
            <p:cNvPr id="103" name="Box 4"/>
            <p:cNvSpPr/>
            <p:nvPr/>
          </p:nvSpPr>
          <p:spPr>
            <a:xfrm>
              <a:off x="1385497" y="3642528"/>
              <a:ext cx="2201146" cy="933820"/>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7146" y="224852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3531643" y="224852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5782816" y="224852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203" name="Callout 4"/>
            <p:cNvSpPr/>
            <p:nvPr/>
          </p:nvSpPr>
          <p:spPr>
            <a:xfrm>
              <a:off x="1245482" y="3617857"/>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4</a:t>
              </a:r>
            </a:p>
          </p:txBody>
        </p:sp>
      </p:grpSp>
      <p:sp>
        <p:nvSpPr>
          <p:cNvPr id="300" name="Panel Header"/>
          <p:cNvSpPr/>
          <p:nvPr/>
        </p:nvSpPr>
        <p:spPr>
          <a:xfrm>
            <a:off x="7623094" y="1244352"/>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623094" y="1789237"/>
            <a:ext cx="4211840" cy="4437912"/>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823094" y="1942353"/>
            <a:ext cx="3811840" cy="4284796"/>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Sales Actual &amp; Forecast (Doanh số thực tế &amp; Dự báo) </a:t>
            </a:r>
          </a:p>
          <a:p>
            <a:pPr marL="171450" indent="-171450">
              <a:lnSpc>
                <a:spcPct val="106000"/>
              </a:lnSpc>
              <a:spcAft>
                <a:spcPts val="500"/>
              </a:spcAft>
              <a:buFontTx/>
              <a:buChar char="-"/>
            </a:pPr>
            <a:r>
              <a:rPr lang="en-US" sz="1100" b="1" dirty="0">
                <a:solidFill>
                  <a:srgbClr val="1F3A6E"/>
                </a:solidFill>
                <a:latin typeface="Calibri" pitchFamily="34" charset="0"/>
              </a:rPr>
              <a:t>Sales (Plan) (Kế hoạch), Sales (Actual) (Thực tế) </a:t>
            </a:r>
            <a:r>
              <a:rPr lang="en-US" sz="1100" dirty="0">
                <a:solidFill>
                  <a:srgbClr val="1F3A6E"/>
                </a:solidFill>
                <a:latin typeface="Calibri" pitchFamily="34" charset="0"/>
              </a:rPr>
              <a:t>và</a:t>
            </a:r>
            <a:r>
              <a:rPr lang="en-US" sz="1100" b="1" dirty="0">
                <a:solidFill>
                  <a:srgbClr val="1F3A6E"/>
                </a:solidFill>
                <a:latin typeface="Calibri" pitchFamily="34" charset="0"/>
              </a:rPr>
              <a:t> Sales (Forecast) (Dự báo): </a:t>
            </a:r>
            <a:r>
              <a:rPr lang="en-US" sz="1100" dirty="0"/>
              <a:t>Dữ liệu nhập từ Excel.</a:t>
            </a:r>
            <a:endParaRPr lang="en-US" sz="1100" dirty="0">
              <a:solidFill>
                <a:srgbClr val="262626"/>
              </a:solidFill>
              <a:latin typeface="Calibri" pitchFamily="34" charset="0"/>
            </a:endParaRPr>
          </a:p>
          <a:p>
            <a:pPr marL="171450" indent="-171450">
              <a:lnSpc>
                <a:spcPct val="100000"/>
              </a:lnSpc>
              <a:spcAft>
                <a:spcPts val="500"/>
              </a:spcAft>
              <a:buFontTx/>
              <a:buChar char="-"/>
            </a:pPr>
            <a:r>
              <a:rPr lang="en-US" sz="1100" b="1" dirty="0">
                <a:solidFill>
                  <a:srgbClr val="1F3A6E"/>
                </a:solidFill>
              </a:rPr>
              <a:t>Achievement % (Tỷ lệ đạt được)</a:t>
            </a:r>
            <a:r>
              <a:rPr lang="en-US" sz="1100" dirty="0"/>
              <a:t> = Plan ÷ Actual/Forecast</a:t>
            </a:r>
            <a:endParaRPr lang="en-US" sz="1100" dirty="0">
              <a:solidFill>
                <a:srgbClr val="262626"/>
              </a:solidFill>
              <a:latin typeface="Calibri" pitchFamily="34" charset="0"/>
            </a:endParaRPr>
          </a:p>
          <a:p>
            <a:pPr marL="171450" indent="-171450">
              <a:lnSpc>
                <a:spcPct val="106000"/>
              </a:lnSpc>
              <a:spcAft>
                <a:spcPts val="500"/>
              </a:spcAft>
              <a:buFontTx/>
              <a:buChar char="-"/>
            </a:pPr>
            <a:r>
              <a:rPr lang="en-US" sz="1100" b="1" dirty="0">
                <a:solidFill>
                  <a:srgbClr val="1F3A6E"/>
                </a:solidFill>
                <a:latin typeface="Calibri" pitchFamily="34" charset="0"/>
              </a:rPr>
              <a:t>View Details (Xem chi tiết) </a:t>
            </a:r>
            <a:r>
              <a:rPr lang="en-US" sz="1100" dirty="0">
                <a:solidFill>
                  <a:srgbClr val="262626"/>
                </a:solidFill>
                <a:latin typeface="Calibri" pitchFamily="34" charset="0"/>
              </a:rPr>
              <a:t>để xem chi tiết theo từng tháng.</a:t>
            </a:r>
          </a:p>
          <a:p>
            <a:pPr>
              <a:lnSpc>
                <a:spcPct val="106000"/>
              </a:lnSpc>
              <a:spcAft>
                <a:spcPts val="500"/>
              </a:spcAft>
            </a:pPr>
            <a:endParaRPr lang="en-US" sz="1100"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Profit &amp; Loss Status (Tình trạng lãi/lỗ)</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b="1" dirty="0">
                <a:solidFill>
                  <a:srgbClr val="1F3A6E"/>
                </a:solidFill>
                <a:latin typeface="Calibri" pitchFamily="34" charset="0"/>
              </a:rPr>
              <a:t>Operating Profit + SG&amp;A (Lợi nhuận hoạt động + Chi phí QLBH)</a:t>
            </a:r>
            <a:r>
              <a:rPr lang="en-US" sz="1100" dirty="0">
                <a:solidFill>
                  <a:srgbClr val="262626"/>
                </a:solidFill>
                <a:latin typeface="Calibri" pitchFamily="34" charset="0"/>
              </a:rPr>
              <a:t>: </a:t>
            </a:r>
            <a:r>
              <a:rPr lang="en-US" sz="1100" dirty="0"/>
              <a:t>Dữ liệu nhập từ Excel. </a:t>
            </a:r>
          </a:p>
          <a:p>
            <a:pPr marL="171450" indent="-171450">
              <a:lnSpc>
                <a:spcPct val="106000"/>
              </a:lnSpc>
              <a:spcAft>
                <a:spcPts val="500"/>
              </a:spcAft>
              <a:buFontTx/>
              <a:buChar char="-"/>
            </a:pPr>
            <a:r>
              <a:rPr lang="en-US" sz="1100" dirty="0">
                <a:solidFill>
                  <a:srgbClr val="262626"/>
                </a:solidFill>
                <a:latin typeface="Calibri" pitchFamily="34" charset="0"/>
              </a:rPr>
              <a:t>hiển thị dạng chồng cột Gross Profit (Lợi nhuận gộp) theo từng tháng, kèm tỷ suất OP margin % bên dưới.</a:t>
            </a:r>
          </a:p>
          <a:p>
            <a:pPr marL="171450" indent="-171450">
              <a:lnSpc>
                <a:spcPct val="100000"/>
              </a:lnSpc>
              <a:spcAft>
                <a:spcPts val="500"/>
              </a:spcAft>
              <a:buFontTx/>
              <a:buChar char="-"/>
            </a:pPr>
            <a:r>
              <a:rPr lang="en-US" sz="1100" b="1" dirty="0">
                <a:solidFill>
                  <a:srgbClr val="1F3A6E"/>
                </a:solidFill>
              </a:rPr>
              <a:t>View Details (Xem chi tiết) </a:t>
            </a:r>
            <a:r>
              <a:rPr lang="en-US" sz="1100" dirty="0"/>
              <a:t>để xem chi tiết theo từng tháng.</a:t>
            </a:r>
            <a:endParaRPr lang="en-US" sz="1100" dirty="0">
              <a:solidFill>
                <a:srgbClr val="262626"/>
              </a:solidFill>
              <a:latin typeface="Calibri" pitchFamily="34" charset="0"/>
            </a:endParaRPr>
          </a:p>
          <a:p>
            <a:pPr marL="228600" indent="-228600">
              <a:lnSpc>
                <a:spcPct val="106000"/>
              </a:lnSpc>
              <a:spcAft>
                <a:spcPts val="500"/>
              </a:spcAft>
              <a:buAutoNum type="arabicPlain" startAt="3"/>
            </a:pPr>
            <a:r>
              <a:rPr lang="en-US" sz="1100" b="1" dirty="0">
                <a:solidFill>
                  <a:srgbClr val="1F3A6E"/>
                </a:solidFill>
                <a:latin typeface="Calibri" pitchFamily="34" charset="0"/>
              </a:rPr>
              <a:t>Order Status (Tình trạng đơn hàng)</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Orders received (Đơn hàng nhận được) so với Annual plan/forecast (Kế hoạch/Dự báo năm). </a:t>
            </a:r>
          </a:p>
          <a:p>
            <a:pPr marL="171450" indent="-171450">
              <a:lnSpc>
                <a:spcPct val="100000"/>
              </a:lnSpc>
              <a:spcAft>
                <a:spcPts val="500"/>
              </a:spcAft>
              <a:buFontTx/>
              <a:buChar char="-"/>
            </a:pPr>
            <a:r>
              <a:rPr lang="en-US" sz="1100" dirty="0">
                <a:solidFill>
                  <a:srgbClr val="262626"/>
                </a:solidFill>
                <a:latin typeface="Calibri" pitchFamily="34" charset="0"/>
              </a:rPr>
              <a:t>Orders received (Đơn hàng nhận được) (</a:t>
            </a:r>
            <a:r>
              <a:rPr lang="en-US" sz="1100" dirty="0"/>
              <a:t>Cumulative) (Lũy kế), </a:t>
            </a:r>
            <a:r>
              <a:rPr lang="en-US" sz="1100" dirty="0">
                <a:solidFill>
                  <a:srgbClr val="262626"/>
                </a:solidFill>
                <a:latin typeface="Calibri" pitchFamily="34" charset="0"/>
              </a:rPr>
              <a:t>Annual plan/forecast (Kế hoạch/Dự báo năm): </a:t>
            </a:r>
            <a:r>
              <a:rPr lang="en-US" sz="1100" dirty="0"/>
              <a:t>Dữ liệu nhập từ Excel</a:t>
            </a:r>
            <a:endParaRPr lang="en-US" sz="1100" dirty="0">
              <a:solidFill>
                <a:srgbClr val="262626"/>
              </a:solidFill>
              <a:latin typeface="Calibri" pitchFamily="34" charset="0"/>
            </a:endParaRPr>
          </a:p>
          <a:p>
            <a:pPr marL="171450" indent="-171450">
              <a:lnSpc>
                <a:spcPct val="106000"/>
              </a:lnSpc>
              <a:spcAft>
                <a:spcPts val="500"/>
              </a:spcAft>
              <a:buFontTx/>
              <a:buChar char="-"/>
            </a:pPr>
            <a:endParaRPr lang="en-US" sz="1100" dirty="0">
              <a:solidFill>
                <a:srgbClr val="262626"/>
              </a:solidFill>
              <a:latin typeface="Calibri" pitchFamily="34" charset="0"/>
            </a:endParaRPr>
          </a:p>
          <a:p>
            <a:pPr>
              <a:lnSpc>
                <a:spcPct val="106000"/>
              </a:lnSpc>
              <a:spcAft>
                <a:spcPts val="500"/>
              </a:spcAft>
            </a:pPr>
            <a:r>
              <a:rPr lang="en-US" sz="1100" b="1" dirty="0">
                <a:solidFill>
                  <a:srgbClr val="1F3A6E"/>
                </a:solidFill>
                <a:latin typeface="Calibri" pitchFamily="34" charset="0"/>
              </a:rPr>
              <a:t>4 Cash Flow (Dòng tiền)</a:t>
            </a:r>
            <a:r>
              <a:rPr lang="en-US" sz="1100" dirty="0">
                <a:solidFill>
                  <a:srgbClr val="262626"/>
                </a:solidFill>
                <a:latin typeface="Calibri" pitchFamily="34" charset="0"/>
              </a:rPr>
              <a:t>: </a:t>
            </a:r>
          </a:p>
          <a:p>
            <a:pPr marL="171450" indent="-171450">
              <a:lnSpc>
                <a:spcPct val="100000"/>
              </a:lnSpc>
              <a:spcAft>
                <a:spcPts val="500"/>
              </a:spcAft>
              <a:buFontTx/>
              <a:buChar char="-"/>
            </a:pPr>
            <a:r>
              <a:rPr lang="en-US" sz="1100" dirty="0">
                <a:solidFill>
                  <a:srgbClr val="262626"/>
                </a:solidFill>
                <a:latin typeface="Calibri" pitchFamily="34" charset="0"/>
              </a:rPr>
              <a:t>Cash In/Out (Thu/Chi tiền), Cumulative Balance (Số dư lũy kế): </a:t>
            </a:r>
            <a:r>
              <a:rPr lang="en-US" sz="1100" dirty="0"/>
              <a:t>Nhập liệu → 8. Dòng tiền hàng tháng</a:t>
            </a:r>
            <a:r>
              <a:rPr lang="en-US" sz="1100" dirty="0">
                <a:solidFill>
                  <a:srgbClr val="262626"/>
                </a:solidFill>
                <a:latin typeface="Calibri" pitchFamily="34" charset="0"/>
              </a:rPr>
              <a:t>.</a:t>
            </a:r>
          </a:p>
          <a:p>
            <a:pPr marL="171450" indent="-171450">
              <a:spcAft>
                <a:spcPts val="500"/>
              </a:spcAft>
              <a:buFontTx/>
              <a:buChar char="-"/>
            </a:pPr>
            <a:r>
              <a:rPr lang="en-US" sz="1100" b="1" dirty="0">
                <a:solidFill>
                  <a:srgbClr val="1F3A6E"/>
                </a:solidFill>
                <a:latin typeface="Calibri" pitchFamily="34" charset="0"/>
              </a:rPr>
              <a:t>View Details (Xem chi tiết) </a:t>
            </a:r>
            <a:r>
              <a:rPr lang="en-US" sz="1100" dirty="0">
                <a:solidFill>
                  <a:srgbClr val="262626"/>
                </a:solidFill>
                <a:latin typeface="Calibri" pitchFamily="34" charset="0"/>
              </a:rPr>
              <a:t>để xem chi tiết theo từng tháng.</a:t>
            </a:r>
          </a:p>
          <a:p>
            <a:pPr marL="0" indent="0">
              <a:lnSpc>
                <a:spcPct val="106000"/>
              </a:lnSpc>
              <a:spcAft>
                <a:spcPts val="500"/>
              </a:spcAft>
              <a:buNone/>
            </a:pPr>
            <a:endParaRPr lang="en-US" sz="1100" dirty="0">
              <a:solidFill>
                <a:srgbClr val="262626"/>
              </a:solidFill>
              <a:latin typeface="Calibri" pitchFamily="34" charset="0"/>
            </a:endParaRP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58" name="Group 57">
            <a:extLst>
              <a:ext uri="{FF2B5EF4-FFF2-40B4-BE49-F238E27FC236}">
                <a16:creationId xmlns:a16="http://schemas.microsoft.com/office/drawing/2014/main" id="{9467C732-B91B-7D55-CA83-BCD12712B2FB}"/>
              </a:ext>
            </a:extLst>
          </p:cNvPr>
          <p:cNvGrpSpPr/>
          <p:nvPr/>
        </p:nvGrpSpPr>
        <p:grpSpPr>
          <a:xfrm>
            <a:off x="320040" y="498348"/>
            <a:ext cx="228600" cy="228600"/>
            <a:chOff x="457200" y="384048"/>
            <a:chExt cx="228600" cy="228600"/>
          </a:xfrm>
        </p:grpSpPr>
        <p:sp>
          <p:nvSpPr>
            <p:cNvPr id="59" name="Shape 1">
              <a:extLst>
                <a:ext uri="{FF2B5EF4-FFF2-40B4-BE49-F238E27FC236}">
                  <a16:creationId xmlns:a16="http://schemas.microsoft.com/office/drawing/2014/main" id="{36C87B39-1F23-DED7-1A16-4630972D413D}"/>
                </a:ext>
              </a:extLst>
            </p:cNvPr>
            <p:cNvSpPr/>
            <p:nvPr/>
          </p:nvSpPr>
          <p:spPr>
            <a:xfrm>
              <a:off x="457200" y="384048"/>
              <a:ext cx="64008" cy="64008"/>
            </a:xfrm>
            <a:prstGeom prst="rect">
              <a:avLst/>
            </a:prstGeom>
            <a:solidFill>
              <a:srgbClr val="1F3A6E"/>
            </a:solidFill>
            <a:ln/>
          </p:spPr>
          <p:txBody>
            <a:bodyPr/>
            <a:lstStyle/>
            <a:p>
              <a:endParaRPr lang="en-US"/>
            </a:p>
          </p:txBody>
        </p:sp>
        <p:sp>
          <p:nvSpPr>
            <p:cNvPr id="60" name="Shape 2">
              <a:extLst>
                <a:ext uri="{FF2B5EF4-FFF2-40B4-BE49-F238E27FC236}">
                  <a16:creationId xmlns:a16="http://schemas.microsoft.com/office/drawing/2014/main" id="{579EF8AD-A7E2-B3A3-945D-B681D459B9AC}"/>
                </a:ext>
              </a:extLst>
            </p:cNvPr>
            <p:cNvSpPr/>
            <p:nvPr/>
          </p:nvSpPr>
          <p:spPr>
            <a:xfrm>
              <a:off x="539496" y="384048"/>
              <a:ext cx="64008" cy="64008"/>
            </a:xfrm>
            <a:prstGeom prst="rect">
              <a:avLst/>
            </a:prstGeom>
            <a:solidFill>
              <a:srgbClr val="3F8FD0"/>
            </a:solidFill>
            <a:ln/>
          </p:spPr>
          <p:txBody>
            <a:bodyPr/>
            <a:lstStyle/>
            <a:p>
              <a:endParaRPr lang="en-US"/>
            </a:p>
          </p:txBody>
        </p:sp>
        <p:sp>
          <p:nvSpPr>
            <p:cNvPr id="61" name="Shape 3">
              <a:extLst>
                <a:ext uri="{FF2B5EF4-FFF2-40B4-BE49-F238E27FC236}">
                  <a16:creationId xmlns:a16="http://schemas.microsoft.com/office/drawing/2014/main" id="{63F6CCDB-D5B1-3AC3-9B60-D74002727059}"/>
                </a:ext>
              </a:extLst>
            </p:cNvPr>
            <p:cNvSpPr/>
            <p:nvPr/>
          </p:nvSpPr>
          <p:spPr>
            <a:xfrm>
              <a:off x="621792" y="384048"/>
              <a:ext cx="64008" cy="64008"/>
            </a:xfrm>
            <a:prstGeom prst="rect">
              <a:avLst/>
            </a:prstGeom>
            <a:solidFill>
              <a:srgbClr val="1F3A6E"/>
            </a:solidFill>
            <a:ln/>
          </p:spPr>
          <p:txBody>
            <a:bodyPr/>
            <a:lstStyle/>
            <a:p>
              <a:endParaRPr lang="en-US"/>
            </a:p>
          </p:txBody>
        </p:sp>
        <p:sp>
          <p:nvSpPr>
            <p:cNvPr id="62" name="Shape 4">
              <a:extLst>
                <a:ext uri="{FF2B5EF4-FFF2-40B4-BE49-F238E27FC236}">
                  <a16:creationId xmlns:a16="http://schemas.microsoft.com/office/drawing/2014/main" id="{7EC95289-1743-4C0B-0147-2274EB3C0971}"/>
                </a:ext>
              </a:extLst>
            </p:cNvPr>
            <p:cNvSpPr/>
            <p:nvPr/>
          </p:nvSpPr>
          <p:spPr>
            <a:xfrm>
              <a:off x="457200" y="466344"/>
              <a:ext cx="64008" cy="64008"/>
            </a:xfrm>
            <a:prstGeom prst="rect">
              <a:avLst/>
            </a:prstGeom>
            <a:solidFill>
              <a:srgbClr val="3F8FD0"/>
            </a:solidFill>
            <a:ln/>
          </p:spPr>
          <p:txBody>
            <a:bodyPr/>
            <a:lstStyle/>
            <a:p>
              <a:endParaRPr lang="en-US"/>
            </a:p>
          </p:txBody>
        </p:sp>
        <p:sp>
          <p:nvSpPr>
            <p:cNvPr id="63" name="Shape 5">
              <a:extLst>
                <a:ext uri="{FF2B5EF4-FFF2-40B4-BE49-F238E27FC236}">
                  <a16:creationId xmlns:a16="http://schemas.microsoft.com/office/drawing/2014/main" id="{349D4375-5E28-4AF9-557B-B84E7A8C6132}"/>
                </a:ext>
              </a:extLst>
            </p:cNvPr>
            <p:cNvSpPr/>
            <p:nvPr/>
          </p:nvSpPr>
          <p:spPr>
            <a:xfrm>
              <a:off x="539496" y="466344"/>
              <a:ext cx="64008" cy="64008"/>
            </a:xfrm>
            <a:prstGeom prst="rect">
              <a:avLst/>
            </a:prstGeom>
            <a:solidFill>
              <a:srgbClr val="1F3A6E"/>
            </a:solidFill>
            <a:ln/>
          </p:spPr>
          <p:txBody>
            <a:bodyPr/>
            <a:lstStyle/>
            <a:p>
              <a:endParaRPr lang="en-US"/>
            </a:p>
          </p:txBody>
        </p:sp>
        <p:sp>
          <p:nvSpPr>
            <p:cNvPr id="64" name="Shape 6">
              <a:extLst>
                <a:ext uri="{FF2B5EF4-FFF2-40B4-BE49-F238E27FC236}">
                  <a16:creationId xmlns:a16="http://schemas.microsoft.com/office/drawing/2014/main" id="{354071CD-EE51-461D-3DF1-F849225DBF13}"/>
                </a:ext>
              </a:extLst>
            </p:cNvPr>
            <p:cNvSpPr/>
            <p:nvPr/>
          </p:nvSpPr>
          <p:spPr>
            <a:xfrm>
              <a:off x="621792" y="466344"/>
              <a:ext cx="64008" cy="64008"/>
            </a:xfrm>
            <a:prstGeom prst="rect">
              <a:avLst/>
            </a:prstGeom>
            <a:solidFill>
              <a:srgbClr val="3F8FD0"/>
            </a:solidFill>
            <a:ln/>
          </p:spPr>
          <p:txBody>
            <a:bodyPr/>
            <a:lstStyle/>
            <a:p>
              <a:endParaRPr lang="en-US"/>
            </a:p>
          </p:txBody>
        </p:sp>
        <p:sp>
          <p:nvSpPr>
            <p:cNvPr id="65" name="Shape 7">
              <a:extLst>
                <a:ext uri="{FF2B5EF4-FFF2-40B4-BE49-F238E27FC236}">
                  <a16:creationId xmlns:a16="http://schemas.microsoft.com/office/drawing/2014/main" id="{0586196D-F1F7-EE1E-3723-29D0A4FB4E04}"/>
                </a:ext>
              </a:extLst>
            </p:cNvPr>
            <p:cNvSpPr/>
            <p:nvPr/>
          </p:nvSpPr>
          <p:spPr>
            <a:xfrm>
              <a:off x="457200" y="548640"/>
              <a:ext cx="64008" cy="64008"/>
            </a:xfrm>
            <a:prstGeom prst="rect">
              <a:avLst/>
            </a:prstGeom>
            <a:solidFill>
              <a:srgbClr val="1F3A6E"/>
            </a:solidFill>
            <a:ln/>
          </p:spPr>
          <p:txBody>
            <a:bodyPr/>
            <a:lstStyle/>
            <a:p>
              <a:endParaRPr lang="en-US"/>
            </a:p>
          </p:txBody>
        </p:sp>
        <p:sp>
          <p:nvSpPr>
            <p:cNvPr id="66" name="Shape 8">
              <a:extLst>
                <a:ext uri="{FF2B5EF4-FFF2-40B4-BE49-F238E27FC236}">
                  <a16:creationId xmlns:a16="http://schemas.microsoft.com/office/drawing/2014/main" id="{DF837CA4-A1F8-39AF-2583-4797B0557C2A}"/>
                </a:ext>
              </a:extLst>
            </p:cNvPr>
            <p:cNvSpPr/>
            <p:nvPr/>
          </p:nvSpPr>
          <p:spPr>
            <a:xfrm>
              <a:off x="539496" y="548640"/>
              <a:ext cx="64008" cy="64008"/>
            </a:xfrm>
            <a:prstGeom prst="rect">
              <a:avLst/>
            </a:prstGeom>
            <a:solidFill>
              <a:srgbClr val="3F8FD0"/>
            </a:solidFill>
            <a:ln/>
          </p:spPr>
          <p:txBody>
            <a:bodyPr/>
            <a:lstStyle/>
            <a:p>
              <a:endParaRPr lang="en-US"/>
            </a:p>
          </p:txBody>
        </p:sp>
        <p:sp>
          <p:nvSpPr>
            <p:cNvPr id="67" name="Shape 9">
              <a:extLst>
                <a:ext uri="{FF2B5EF4-FFF2-40B4-BE49-F238E27FC236}">
                  <a16:creationId xmlns:a16="http://schemas.microsoft.com/office/drawing/2014/main" id="{D8282B26-975E-AB28-1143-7A32A41EDDF6}"/>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68" name="Group 67">
            <a:extLst>
              <a:ext uri="{FF2B5EF4-FFF2-40B4-BE49-F238E27FC236}">
                <a16:creationId xmlns:a16="http://schemas.microsoft.com/office/drawing/2014/main" id="{32B175DF-FAD9-A5A9-EC61-4EFFB55CF8D5}"/>
              </a:ext>
            </a:extLst>
          </p:cNvPr>
          <p:cNvGrpSpPr/>
          <p:nvPr/>
        </p:nvGrpSpPr>
        <p:grpSpPr>
          <a:xfrm>
            <a:off x="320040" y="6473952"/>
            <a:ext cx="228600" cy="228600"/>
            <a:chOff x="320040" y="6473952"/>
            <a:chExt cx="228600" cy="228600"/>
          </a:xfrm>
        </p:grpSpPr>
        <p:sp>
          <p:nvSpPr>
            <p:cNvPr id="69" name="Shape 24">
              <a:extLst>
                <a:ext uri="{FF2B5EF4-FFF2-40B4-BE49-F238E27FC236}">
                  <a16:creationId xmlns:a16="http://schemas.microsoft.com/office/drawing/2014/main" id="{6E435900-9BBD-1948-B55B-8A160F8A304E}"/>
                </a:ext>
              </a:extLst>
            </p:cNvPr>
            <p:cNvSpPr/>
            <p:nvPr/>
          </p:nvSpPr>
          <p:spPr>
            <a:xfrm>
              <a:off x="320040" y="6473952"/>
              <a:ext cx="64008" cy="64008"/>
            </a:xfrm>
            <a:prstGeom prst="rect">
              <a:avLst/>
            </a:prstGeom>
            <a:solidFill>
              <a:srgbClr val="1F3A6E"/>
            </a:solidFill>
            <a:ln/>
          </p:spPr>
          <p:txBody>
            <a:bodyPr/>
            <a:lstStyle/>
            <a:p>
              <a:endParaRPr lang="en-US"/>
            </a:p>
          </p:txBody>
        </p:sp>
        <p:sp>
          <p:nvSpPr>
            <p:cNvPr id="70" name="Shape 25">
              <a:extLst>
                <a:ext uri="{FF2B5EF4-FFF2-40B4-BE49-F238E27FC236}">
                  <a16:creationId xmlns:a16="http://schemas.microsoft.com/office/drawing/2014/main" id="{4E0B10C0-4901-292A-8AF6-B61663ACAC17}"/>
                </a:ext>
              </a:extLst>
            </p:cNvPr>
            <p:cNvSpPr/>
            <p:nvPr/>
          </p:nvSpPr>
          <p:spPr>
            <a:xfrm>
              <a:off x="402336" y="6473952"/>
              <a:ext cx="64008" cy="64008"/>
            </a:xfrm>
            <a:prstGeom prst="rect">
              <a:avLst/>
            </a:prstGeom>
            <a:solidFill>
              <a:srgbClr val="3F8FD0"/>
            </a:solidFill>
            <a:ln/>
          </p:spPr>
          <p:txBody>
            <a:bodyPr/>
            <a:lstStyle/>
            <a:p>
              <a:endParaRPr lang="en-US"/>
            </a:p>
          </p:txBody>
        </p:sp>
        <p:sp>
          <p:nvSpPr>
            <p:cNvPr id="71" name="Shape 26">
              <a:extLst>
                <a:ext uri="{FF2B5EF4-FFF2-40B4-BE49-F238E27FC236}">
                  <a16:creationId xmlns:a16="http://schemas.microsoft.com/office/drawing/2014/main" id="{8A11C5D8-F0BC-28E5-B7B3-A01FB5E41EDB}"/>
                </a:ext>
              </a:extLst>
            </p:cNvPr>
            <p:cNvSpPr/>
            <p:nvPr/>
          </p:nvSpPr>
          <p:spPr>
            <a:xfrm>
              <a:off x="484632" y="6473952"/>
              <a:ext cx="64008" cy="64008"/>
            </a:xfrm>
            <a:prstGeom prst="rect">
              <a:avLst/>
            </a:prstGeom>
            <a:solidFill>
              <a:srgbClr val="1F3A6E"/>
            </a:solidFill>
            <a:ln/>
          </p:spPr>
          <p:txBody>
            <a:bodyPr/>
            <a:lstStyle/>
            <a:p>
              <a:endParaRPr lang="en-US"/>
            </a:p>
          </p:txBody>
        </p:sp>
        <p:sp>
          <p:nvSpPr>
            <p:cNvPr id="72" name="Shape 27">
              <a:extLst>
                <a:ext uri="{FF2B5EF4-FFF2-40B4-BE49-F238E27FC236}">
                  <a16:creationId xmlns:a16="http://schemas.microsoft.com/office/drawing/2014/main" id="{9F1F98AB-90A5-79B3-D672-2BC27BCFC69A}"/>
                </a:ext>
              </a:extLst>
            </p:cNvPr>
            <p:cNvSpPr/>
            <p:nvPr/>
          </p:nvSpPr>
          <p:spPr>
            <a:xfrm>
              <a:off x="320040" y="6556248"/>
              <a:ext cx="64008" cy="64008"/>
            </a:xfrm>
            <a:prstGeom prst="rect">
              <a:avLst/>
            </a:prstGeom>
            <a:solidFill>
              <a:srgbClr val="3F8FD0"/>
            </a:solidFill>
            <a:ln/>
          </p:spPr>
          <p:txBody>
            <a:bodyPr/>
            <a:lstStyle/>
            <a:p>
              <a:endParaRPr lang="en-US"/>
            </a:p>
          </p:txBody>
        </p:sp>
        <p:sp>
          <p:nvSpPr>
            <p:cNvPr id="73" name="Shape 28">
              <a:extLst>
                <a:ext uri="{FF2B5EF4-FFF2-40B4-BE49-F238E27FC236}">
                  <a16:creationId xmlns:a16="http://schemas.microsoft.com/office/drawing/2014/main" id="{F50BB390-B4E4-4449-4F56-29EC98A19A5A}"/>
                </a:ext>
              </a:extLst>
            </p:cNvPr>
            <p:cNvSpPr/>
            <p:nvPr/>
          </p:nvSpPr>
          <p:spPr>
            <a:xfrm>
              <a:off x="402336" y="6556248"/>
              <a:ext cx="64008" cy="64008"/>
            </a:xfrm>
            <a:prstGeom prst="rect">
              <a:avLst/>
            </a:prstGeom>
            <a:solidFill>
              <a:srgbClr val="1F3A6E"/>
            </a:solidFill>
            <a:ln/>
          </p:spPr>
          <p:txBody>
            <a:bodyPr/>
            <a:lstStyle/>
            <a:p>
              <a:endParaRPr lang="en-US"/>
            </a:p>
          </p:txBody>
        </p:sp>
        <p:sp>
          <p:nvSpPr>
            <p:cNvPr id="74" name="Shape 29">
              <a:extLst>
                <a:ext uri="{FF2B5EF4-FFF2-40B4-BE49-F238E27FC236}">
                  <a16:creationId xmlns:a16="http://schemas.microsoft.com/office/drawing/2014/main" id="{678EC1C0-DAA4-9324-90B5-DC481BF133DC}"/>
                </a:ext>
              </a:extLst>
            </p:cNvPr>
            <p:cNvSpPr/>
            <p:nvPr/>
          </p:nvSpPr>
          <p:spPr>
            <a:xfrm>
              <a:off x="484632" y="6556248"/>
              <a:ext cx="64008" cy="64008"/>
            </a:xfrm>
            <a:prstGeom prst="rect">
              <a:avLst/>
            </a:prstGeom>
            <a:solidFill>
              <a:srgbClr val="3F8FD0"/>
            </a:solidFill>
            <a:ln/>
          </p:spPr>
          <p:txBody>
            <a:bodyPr/>
            <a:lstStyle/>
            <a:p>
              <a:endParaRPr lang="en-US"/>
            </a:p>
          </p:txBody>
        </p:sp>
        <p:sp>
          <p:nvSpPr>
            <p:cNvPr id="75" name="Shape 30">
              <a:extLst>
                <a:ext uri="{FF2B5EF4-FFF2-40B4-BE49-F238E27FC236}">
                  <a16:creationId xmlns:a16="http://schemas.microsoft.com/office/drawing/2014/main" id="{D3678261-DA9C-89B0-7EA9-B80E301C9F8F}"/>
                </a:ext>
              </a:extLst>
            </p:cNvPr>
            <p:cNvSpPr/>
            <p:nvPr/>
          </p:nvSpPr>
          <p:spPr>
            <a:xfrm>
              <a:off x="320040" y="6638544"/>
              <a:ext cx="64008" cy="64008"/>
            </a:xfrm>
            <a:prstGeom prst="rect">
              <a:avLst/>
            </a:prstGeom>
            <a:solidFill>
              <a:srgbClr val="1F3A6E"/>
            </a:solidFill>
            <a:ln/>
          </p:spPr>
          <p:txBody>
            <a:bodyPr/>
            <a:lstStyle/>
            <a:p>
              <a:endParaRPr lang="en-US"/>
            </a:p>
          </p:txBody>
        </p:sp>
        <p:sp>
          <p:nvSpPr>
            <p:cNvPr id="76" name="Shape 31">
              <a:extLst>
                <a:ext uri="{FF2B5EF4-FFF2-40B4-BE49-F238E27FC236}">
                  <a16:creationId xmlns:a16="http://schemas.microsoft.com/office/drawing/2014/main" id="{B6AF39D2-3A45-4B11-F4C4-4D46195A0255}"/>
                </a:ext>
              </a:extLst>
            </p:cNvPr>
            <p:cNvSpPr/>
            <p:nvPr/>
          </p:nvSpPr>
          <p:spPr>
            <a:xfrm>
              <a:off x="402336" y="6638544"/>
              <a:ext cx="64008" cy="64008"/>
            </a:xfrm>
            <a:prstGeom prst="rect">
              <a:avLst/>
            </a:prstGeom>
            <a:solidFill>
              <a:srgbClr val="3F8FD0"/>
            </a:solidFill>
            <a:ln/>
          </p:spPr>
          <p:txBody>
            <a:bodyPr/>
            <a:lstStyle/>
            <a:p>
              <a:endParaRPr lang="en-US"/>
            </a:p>
          </p:txBody>
        </p:sp>
        <p:sp>
          <p:nvSpPr>
            <p:cNvPr id="77" name="Shape 32">
              <a:extLst>
                <a:ext uri="{FF2B5EF4-FFF2-40B4-BE49-F238E27FC236}">
                  <a16:creationId xmlns:a16="http://schemas.microsoft.com/office/drawing/2014/main" id="{622A597A-F9C8-F13C-372C-0B27586DA4F7}"/>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78" name="Text 33">
            <a:extLst>
              <a:ext uri="{FF2B5EF4-FFF2-40B4-BE49-F238E27FC236}">
                <a16:creationId xmlns:a16="http://schemas.microsoft.com/office/drawing/2014/main" id="{F63732B0-146D-8668-DDEC-1DCA30EB54AA}"/>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033632-AD31-4CF6-5352-1973364693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5D32B5-9D4E-1313-5349-FCCC9C548851}"/>
              </a:ext>
            </a:extLst>
          </p:cNvPr>
          <p:cNvSpPr/>
          <p:nvPr/>
        </p:nvSpPr>
        <p:spPr>
          <a:xfrm>
            <a:off x="0" y="0"/>
            <a:ext cx="12191695" cy="54864"/>
          </a:xfrm>
          <a:prstGeom prst="rect">
            <a:avLst/>
          </a:prstGeom>
          <a:solidFill>
            <a:srgbClr val="3F8FD0"/>
          </a:solidFill>
          <a:ln/>
        </p:spPr>
        <p:txBody>
          <a:bodyPr/>
          <a:lstStyle/>
          <a:p>
            <a:endParaRPr lang="en-US"/>
          </a:p>
        </p:txBody>
      </p:sp>
      <p:sp>
        <p:nvSpPr>
          <p:cNvPr id="12" name="Text 10">
            <a:extLst>
              <a:ext uri="{FF2B5EF4-FFF2-40B4-BE49-F238E27FC236}">
                <a16:creationId xmlns:a16="http://schemas.microsoft.com/office/drawing/2014/main" id="{02D7F1EF-1EB4-1F4C-3333-51596A2E9379}"/>
              </a:ext>
            </a:extLst>
          </p:cNvPr>
          <p:cNvSpPr/>
          <p:nvPr/>
        </p:nvSpPr>
        <p:spPr>
          <a:xfrm>
            <a:off x="743407" y="275088"/>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Biểu đồ &amp; Xem chi tiết</a:t>
            </a:r>
            <a:endParaRPr lang="en-US" sz="2800" dirty="0"/>
          </a:p>
        </p:txBody>
      </p:sp>
      <p:sp>
        <p:nvSpPr>
          <p:cNvPr id="13" name="Shape 11">
            <a:extLst>
              <a:ext uri="{FF2B5EF4-FFF2-40B4-BE49-F238E27FC236}">
                <a16:creationId xmlns:a16="http://schemas.microsoft.com/office/drawing/2014/main" id="{C44B7DAF-B07B-2F9F-8970-38FF632C46FF}"/>
              </a:ext>
            </a:extLst>
          </p:cNvPr>
          <p:cNvSpPr/>
          <p:nvPr/>
        </p:nvSpPr>
        <p:spPr>
          <a:xfrm>
            <a:off x="9503359" y="0"/>
            <a:ext cx="384048" cy="384048"/>
          </a:xfrm>
          <a:prstGeom prst="rect">
            <a:avLst/>
          </a:prstGeom>
          <a:solidFill>
            <a:srgbClr val="AEE0F5"/>
          </a:solidFill>
          <a:ln/>
        </p:spPr>
        <p:txBody>
          <a:bodyPr/>
          <a:lstStyle/>
          <a:p>
            <a:endParaRPr lang="en-US"/>
          </a:p>
        </p:txBody>
      </p:sp>
      <p:sp>
        <p:nvSpPr>
          <p:cNvPr id="14" name="Shape 12">
            <a:extLst>
              <a:ext uri="{FF2B5EF4-FFF2-40B4-BE49-F238E27FC236}">
                <a16:creationId xmlns:a16="http://schemas.microsoft.com/office/drawing/2014/main" id="{338A8053-D5C3-FFD6-2DC4-3D3665D581F0}"/>
              </a:ext>
            </a:extLst>
          </p:cNvPr>
          <p:cNvSpPr/>
          <p:nvPr/>
        </p:nvSpPr>
        <p:spPr>
          <a:xfrm>
            <a:off x="9887407" y="0"/>
            <a:ext cx="384048" cy="384048"/>
          </a:xfrm>
          <a:prstGeom prst="rect">
            <a:avLst/>
          </a:prstGeom>
          <a:solidFill>
            <a:srgbClr val="3F8FD0"/>
          </a:solidFill>
          <a:ln/>
        </p:spPr>
        <p:txBody>
          <a:bodyPr/>
          <a:lstStyle/>
          <a:p>
            <a:endParaRPr lang="en-US"/>
          </a:p>
        </p:txBody>
      </p:sp>
      <p:sp>
        <p:nvSpPr>
          <p:cNvPr id="15" name="Shape 13">
            <a:extLst>
              <a:ext uri="{FF2B5EF4-FFF2-40B4-BE49-F238E27FC236}">
                <a16:creationId xmlns:a16="http://schemas.microsoft.com/office/drawing/2014/main" id="{FAF8F15B-F3C3-FB70-B7BA-E9C0FB73AFCC}"/>
              </a:ext>
            </a:extLst>
          </p:cNvPr>
          <p:cNvSpPr/>
          <p:nvPr/>
        </p:nvSpPr>
        <p:spPr>
          <a:xfrm>
            <a:off x="10655503" y="0"/>
            <a:ext cx="384048" cy="384048"/>
          </a:xfrm>
          <a:prstGeom prst="rect">
            <a:avLst/>
          </a:prstGeom>
          <a:solidFill>
            <a:srgbClr val="3F8FD0"/>
          </a:solidFill>
          <a:ln/>
        </p:spPr>
        <p:txBody>
          <a:bodyPr/>
          <a:lstStyle/>
          <a:p>
            <a:endParaRPr lang="en-US"/>
          </a:p>
        </p:txBody>
      </p:sp>
      <p:sp>
        <p:nvSpPr>
          <p:cNvPr id="16" name="Shape 14">
            <a:extLst>
              <a:ext uri="{FF2B5EF4-FFF2-40B4-BE49-F238E27FC236}">
                <a16:creationId xmlns:a16="http://schemas.microsoft.com/office/drawing/2014/main" id="{3AEEECDE-7CA7-C08A-3486-B37AC22C78D2}"/>
              </a:ext>
            </a:extLst>
          </p:cNvPr>
          <p:cNvSpPr/>
          <p:nvPr/>
        </p:nvSpPr>
        <p:spPr>
          <a:xfrm>
            <a:off x="11039551" y="0"/>
            <a:ext cx="384048" cy="384048"/>
          </a:xfrm>
          <a:prstGeom prst="rect">
            <a:avLst/>
          </a:prstGeom>
          <a:solidFill>
            <a:srgbClr val="AEE0F5"/>
          </a:solidFill>
          <a:ln/>
        </p:spPr>
        <p:txBody>
          <a:bodyPr/>
          <a:lstStyle/>
          <a:p>
            <a:endParaRPr lang="en-US"/>
          </a:p>
        </p:txBody>
      </p:sp>
      <p:sp>
        <p:nvSpPr>
          <p:cNvPr id="17" name="Shape 15">
            <a:extLst>
              <a:ext uri="{FF2B5EF4-FFF2-40B4-BE49-F238E27FC236}">
                <a16:creationId xmlns:a16="http://schemas.microsoft.com/office/drawing/2014/main" id="{9E4DBCB0-2C24-C68D-0769-F64A2F16A6FD}"/>
              </a:ext>
            </a:extLst>
          </p:cNvPr>
          <p:cNvSpPr/>
          <p:nvPr/>
        </p:nvSpPr>
        <p:spPr>
          <a:xfrm>
            <a:off x="11423599" y="0"/>
            <a:ext cx="384048" cy="384048"/>
          </a:xfrm>
          <a:prstGeom prst="rect">
            <a:avLst/>
          </a:prstGeom>
          <a:solidFill>
            <a:srgbClr val="3F8FD0"/>
          </a:solidFill>
          <a:ln/>
        </p:spPr>
        <p:txBody>
          <a:bodyPr/>
          <a:lstStyle/>
          <a:p>
            <a:endParaRPr lang="en-US"/>
          </a:p>
        </p:txBody>
      </p:sp>
      <p:sp>
        <p:nvSpPr>
          <p:cNvPr id="18" name="Shape 16">
            <a:extLst>
              <a:ext uri="{FF2B5EF4-FFF2-40B4-BE49-F238E27FC236}">
                <a16:creationId xmlns:a16="http://schemas.microsoft.com/office/drawing/2014/main" id="{3DAB1E2F-AFF2-63D4-A1DB-A5796D6EFA75}"/>
              </a:ext>
            </a:extLst>
          </p:cNvPr>
          <p:cNvSpPr/>
          <p:nvPr/>
        </p:nvSpPr>
        <p:spPr>
          <a:xfrm>
            <a:off x="11807647" y="0"/>
            <a:ext cx="384048" cy="384048"/>
          </a:xfrm>
          <a:prstGeom prst="rect">
            <a:avLst/>
          </a:prstGeom>
          <a:solidFill>
            <a:srgbClr val="AEE0F5"/>
          </a:solidFill>
          <a:ln/>
        </p:spPr>
        <p:txBody>
          <a:bodyPr/>
          <a:lstStyle/>
          <a:p>
            <a:endParaRPr lang="en-US"/>
          </a:p>
        </p:txBody>
      </p:sp>
      <p:sp>
        <p:nvSpPr>
          <p:cNvPr id="19" name="Shape 17">
            <a:extLst>
              <a:ext uri="{FF2B5EF4-FFF2-40B4-BE49-F238E27FC236}">
                <a16:creationId xmlns:a16="http://schemas.microsoft.com/office/drawing/2014/main" id="{3654CEF1-6ED7-5DD3-4312-4B2F35C2E664}"/>
              </a:ext>
            </a:extLst>
          </p:cNvPr>
          <p:cNvSpPr/>
          <p:nvPr/>
        </p:nvSpPr>
        <p:spPr>
          <a:xfrm>
            <a:off x="10271455" y="384048"/>
            <a:ext cx="384048" cy="384048"/>
          </a:xfrm>
          <a:prstGeom prst="rect">
            <a:avLst/>
          </a:prstGeom>
          <a:solidFill>
            <a:srgbClr val="3F8FD0"/>
          </a:solidFill>
          <a:ln/>
        </p:spPr>
        <p:txBody>
          <a:bodyPr/>
          <a:lstStyle/>
          <a:p>
            <a:endParaRPr lang="en-US"/>
          </a:p>
        </p:txBody>
      </p:sp>
      <p:sp>
        <p:nvSpPr>
          <p:cNvPr id="20" name="Shape 18">
            <a:extLst>
              <a:ext uri="{FF2B5EF4-FFF2-40B4-BE49-F238E27FC236}">
                <a16:creationId xmlns:a16="http://schemas.microsoft.com/office/drawing/2014/main" id="{798D19D3-F9B0-668A-B8A1-68C61C4110E8}"/>
              </a:ext>
            </a:extLst>
          </p:cNvPr>
          <p:cNvSpPr/>
          <p:nvPr/>
        </p:nvSpPr>
        <p:spPr>
          <a:xfrm>
            <a:off x="11423599" y="384048"/>
            <a:ext cx="384048" cy="384048"/>
          </a:xfrm>
          <a:prstGeom prst="rect">
            <a:avLst/>
          </a:prstGeom>
          <a:solidFill>
            <a:srgbClr val="AEE0F5"/>
          </a:solidFill>
          <a:ln/>
        </p:spPr>
        <p:txBody>
          <a:bodyPr/>
          <a:lstStyle/>
          <a:p>
            <a:endParaRPr lang="en-US"/>
          </a:p>
        </p:txBody>
      </p:sp>
      <p:sp>
        <p:nvSpPr>
          <p:cNvPr id="21" name="Shape 19">
            <a:extLst>
              <a:ext uri="{FF2B5EF4-FFF2-40B4-BE49-F238E27FC236}">
                <a16:creationId xmlns:a16="http://schemas.microsoft.com/office/drawing/2014/main" id="{3D42C211-35A4-DFD3-CDE3-37C7BFAD0906}"/>
              </a:ext>
            </a:extLst>
          </p:cNvPr>
          <p:cNvSpPr/>
          <p:nvPr/>
        </p:nvSpPr>
        <p:spPr>
          <a:xfrm>
            <a:off x="11807647" y="384048"/>
            <a:ext cx="384048" cy="384048"/>
          </a:xfrm>
          <a:prstGeom prst="rect">
            <a:avLst/>
          </a:prstGeom>
          <a:solidFill>
            <a:srgbClr val="3F8FD0"/>
          </a:solidFill>
          <a:ln/>
        </p:spPr>
        <p:txBody>
          <a:bodyPr/>
          <a:lstStyle/>
          <a:p>
            <a:endParaRPr lang="en-US"/>
          </a:p>
        </p:txBody>
      </p:sp>
      <p:sp>
        <p:nvSpPr>
          <p:cNvPr id="22" name="Shape 20">
            <a:extLst>
              <a:ext uri="{FF2B5EF4-FFF2-40B4-BE49-F238E27FC236}">
                <a16:creationId xmlns:a16="http://schemas.microsoft.com/office/drawing/2014/main" id="{969CCB09-3141-B34B-210C-C71D244C4AF3}"/>
              </a:ext>
            </a:extLst>
          </p:cNvPr>
          <p:cNvSpPr/>
          <p:nvPr/>
        </p:nvSpPr>
        <p:spPr>
          <a:xfrm>
            <a:off x="11039551" y="768096"/>
            <a:ext cx="384048" cy="384048"/>
          </a:xfrm>
          <a:prstGeom prst="rect">
            <a:avLst/>
          </a:prstGeom>
          <a:solidFill>
            <a:srgbClr val="AEE0F5"/>
          </a:solidFill>
          <a:ln/>
        </p:spPr>
        <p:txBody>
          <a:bodyPr/>
          <a:lstStyle/>
          <a:p>
            <a:endParaRPr lang="en-US"/>
          </a:p>
        </p:txBody>
      </p:sp>
      <p:sp>
        <p:nvSpPr>
          <p:cNvPr id="23" name="Shape 21">
            <a:extLst>
              <a:ext uri="{FF2B5EF4-FFF2-40B4-BE49-F238E27FC236}">
                <a16:creationId xmlns:a16="http://schemas.microsoft.com/office/drawing/2014/main" id="{EAAF3C4F-1994-F3F0-15DA-79756290C1E6}"/>
              </a:ext>
            </a:extLst>
          </p:cNvPr>
          <p:cNvSpPr/>
          <p:nvPr/>
        </p:nvSpPr>
        <p:spPr>
          <a:xfrm>
            <a:off x="11807647" y="768096"/>
            <a:ext cx="384048" cy="384048"/>
          </a:xfrm>
          <a:prstGeom prst="rect">
            <a:avLst/>
          </a:prstGeom>
          <a:solidFill>
            <a:srgbClr val="AEE0F5"/>
          </a:solidFill>
          <a:ln/>
        </p:spPr>
        <p:txBody>
          <a:bodyPr/>
          <a:lstStyle/>
          <a:p>
            <a:endParaRPr lang="en-US"/>
          </a:p>
        </p:txBody>
      </p:sp>
      <p:grpSp>
        <p:nvGrpSpPr>
          <p:cNvPr id="79" name="Group 78">
            <a:extLst>
              <a:ext uri="{FF2B5EF4-FFF2-40B4-BE49-F238E27FC236}">
                <a16:creationId xmlns:a16="http://schemas.microsoft.com/office/drawing/2014/main" id="{554E28AE-74C4-16A0-D11C-C4AB6E33D6C4}"/>
              </a:ext>
            </a:extLst>
          </p:cNvPr>
          <p:cNvGrpSpPr/>
          <p:nvPr/>
        </p:nvGrpSpPr>
        <p:grpSpPr>
          <a:xfrm>
            <a:off x="320040" y="1830931"/>
            <a:ext cx="7103054" cy="3604669"/>
            <a:chOff x="603504" y="2271924"/>
            <a:chExt cx="6473152" cy="3158092"/>
          </a:xfrm>
        </p:grpSpPr>
        <p:sp>
          <p:nvSpPr>
            <p:cNvPr id="25" name="Shape 23">
              <a:extLst>
                <a:ext uri="{FF2B5EF4-FFF2-40B4-BE49-F238E27FC236}">
                  <a16:creationId xmlns:a16="http://schemas.microsoft.com/office/drawing/2014/main" id="{BD2B30E7-AAEE-09C4-952B-96C5BFB7859E}"/>
                </a:ext>
              </a:extLst>
            </p:cNvPr>
            <p:cNvSpPr/>
            <p:nvPr/>
          </p:nvSpPr>
          <p:spPr>
            <a:xfrm>
              <a:off x="603504" y="2271924"/>
              <a:ext cx="6473152" cy="3158092"/>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a:extLst>
                <a:ext uri="{FF2B5EF4-FFF2-40B4-BE49-F238E27FC236}">
                  <a16:creationId xmlns:a16="http://schemas.microsoft.com/office/drawing/2014/main" id="{9C818E8D-2F17-0BC4-B31E-D0F6C26ADD6F}"/>
                </a:ext>
              </a:extLst>
            </p:cNvPr>
            <p:cNvPicPr>
              <a:picLocks noChangeAspect="1"/>
            </p:cNvPicPr>
            <p:nvPr/>
          </p:nvPicPr>
          <p:blipFill>
            <a:blip r:embed="rId3"/>
            <a:stretch>
              <a:fillRect/>
            </a:stretch>
          </p:blipFill>
          <p:spPr>
            <a:xfrm>
              <a:off x="640080" y="2308500"/>
              <a:ext cx="6400000" cy="3084940"/>
            </a:xfrm>
            <a:prstGeom prst="rect">
              <a:avLst/>
            </a:prstGeom>
          </p:spPr>
        </p:pic>
        <p:sp>
          <p:nvSpPr>
            <p:cNvPr id="103" name="Box 4">
              <a:extLst>
                <a:ext uri="{FF2B5EF4-FFF2-40B4-BE49-F238E27FC236}">
                  <a16:creationId xmlns:a16="http://schemas.microsoft.com/office/drawing/2014/main" id="{ED3D7175-0D44-6882-7871-F19CF3E73972}"/>
                </a:ext>
              </a:extLst>
            </p:cNvPr>
            <p:cNvSpPr/>
            <p:nvPr/>
          </p:nvSpPr>
          <p:spPr>
            <a:xfrm>
              <a:off x="3641643" y="3642528"/>
              <a:ext cx="2201146" cy="933820"/>
            </a:xfrm>
            <a:prstGeom prst="roundRect">
              <a:avLst>
                <a:gd name="adj" fmla="val 10000"/>
              </a:avLst>
            </a:prstGeom>
            <a:noFill/>
            <a:ln w="19050">
              <a:solidFill>
                <a:srgbClr val="1F3A6E"/>
              </a:solidFill>
            </a:ln>
          </p:spPr>
          <p:txBody>
            <a:bodyPr/>
            <a:lstStyle/>
            <a:p>
              <a:endParaRPr lang="en-US"/>
            </a:p>
          </p:txBody>
        </p:sp>
        <p:sp>
          <p:nvSpPr>
            <p:cNvPr id="104" name="Box 5">
              <a:extLst>
                <a:ext uri="{FF2B5EF4-FFF2-40B4-BE49-F238E27FC236}">
                  <a16:creationId xmlns:a16="http://schemas.microsoft.com/office/drawing/2014/main" id="{64F7712A-84EB-0F6A-C4CF-62845BDBE56F}"/>
                </a:ext>
              </a:extLst>
            </p:cNvPr>
            <p:cNvSpPr/>
            <p:nvPr/>
          </p:nvSpPr>
          <p:spPr>
            <a:xfrm>
              <a:off x="5892816" y="3609177"/>
              <a:ext cx="1117249" cy="967170"/>
            </a:xfrm>
            <a:prstGeom prst="roundRect">
              <a:avLst>
                <a:gd name="adj" fmla="val 10000"/>
              </a:avLst>
            </a:prstGeom>
            <a:noFill/>
            <a:ln w="19050">
              <a:solidFill>
                <a:srgbClr val="1F3A6E"/>
              </a:solidFill>
            </a:ln>
          </p:spPr>
          <p:txBody>
            <a:bodyPr/>
            <a:lstStyle/>
            <a:p>
              <a:endParaRPr lang="en-US"/>
            </a:p>
          </p:txBody>
        </p:sp>
        <p:sp>
          <p:nvSpPr>
            <p:cNvPr id="203" name="Callout 4">
              <a:extLst>
                <a:ext uri="{FF2B5EF4-FFF2-40B4-BE49-F238E27FC236}">
                  <a16:creationId xmlns:a16="http://schemas.microsoft.com/office/drawing/2014/main" id="{B7A2F10D-0FD6-8316-2D0B-E4A4DDE74A69}"/>
                </a:ext>
              </a:extLst>
            </p:cNvPr>
            <p:cNvSpPr/>
            <p:nvPr/>
          </p:nvSpPr>
          <p:spPr>
            <a:xfrm>
              <a:off x="3531643" y="3532528"/>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4" name="Callout 5">
              <a:extLst>
                <a:ext uri="{FF2B5EF4-FFF2-40B4-BE49-F238E27FC236}">
                  <a16:creationId xmlns:a16="http://schemas.microsoft.com/office/drawing/2014/main" id="{E275B4CA-2D04-8AEB-EC5C-053755DDE673}"/>
                </a:ext>
              </a:extLst>
            </p:cNvPr>
            <p:cNvSpPr/>
            <p:nvPr/>
          </p:nvSpPr>
          <p:spPr>
            <a:xfrm>
              <a:off x="5782816" y="3499177"/>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a:extLst>
              <a:ext uri="{FF2B5EF4-FFF2-40B4-BE49-F238E27FC236}">
                <a16:creationId xmlns:a16="http://schemas.microsoft.com/office/drawing/2014/main" id="{A9706C90-18D1-AA19-D5B6-8E2360B5BA44}"/>
              </a:ext>
            </a:extLst>
          </p:cNvPr>
          <p:cNvSpPr/>
          <p:nvPr/>
        </p:nvSpPr>
        <p:spPr>
          <a:xfrm>
            <a:off x="7623094" y="1830931"/>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a:extLst>
              <a:ext uri="{FF2B5EF4-FFF2-40B4-BE49-F238E27FC236}">
                <a16:creationId xmlns:a16="http://schemas.microsoft.com/office/drawing/2014/main" id="{E4C27FA9-3307-0D3F-A8F3-C60677EA1F7E}"/>
              </a:ext>
            </a:extLst>
          </p:cNvPr>
          <p:cNvSpPr/>
          <p:nvPr/>
        </p:nvSpPr>
        <p:spPr>
          <a:xfrm>
            <a:off x="7623094" y="2375817"/>
            <a:ext cx="4211840" cy="3059784"/>
          </a:xfrm>
          <a:prstGeom prst="rect">
            <a:avLst/>
          </a:prstGeom>
          <a:solidFill>
            <a:srgbClr val="F4F8FD"/>
          </a:solidFill>
          <a:ln w="9525">
            <a:solidFill>
              <a:srgbClr val="BFBFBF"/>
            </a:solidFill>
          </a:ln>
        </p:spPr>
        <p:txBody>
          <a:bodyPr/>
          <a:lstStyle/>
          <a:p>
            <a:endParaRPr lang="en-US"/>
          </a:p>
        </p:txBody>
      </p:sp>
      <p:sp>
        <p:nvSpPr>
          <p:cNvPr id="302" name="Panel Text">
            <a:extLst>
              <a:ext uri="{FF2B5EF4-FFF2-40B4-BE49-F238E27FC236}">
                <a16:creationId xmlns:a16="http://schemas.microsoft.com/office/drawing/2014/main" id="{FAA393EE-C6BF-6A02-2B87-D65FB1F1F990}"/>
              </a:ext>
            </a:extLst>
          </p:cNvPr>
          <p:cNvSpPr txBox="1"/>
          <p:nvPr/>
        </p:nvSpPr>
        <p:spPr>
          <a:xfrm>
            <a:off x="7823094" y="2528932"/>
            <a:ext cx="3811840" cy="2778801"/>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Management Performance Status (Tình trạng hiệu quả quản lý) </a:t>
            </a:r>
          </a:p>
          <a:p>
            <a:pPr marL="171450" indent="-171450">
              <a:spcAft>
                <a:spcPts val="500"/>
              </a:spcAft>
              <a:buFontTx/>
              <a:buChar char="-"/>
            </a:pPr>
            <a:r>
              <a:rPr lang="en-US" sz="1100" dirty="0"/>
              <a:t>Nguồn: Nhập liệu → 2. Doanh thu hàng tháng → </a:t>
            </a:r>
            <a:r>
              <a:rPr lang="en-US" sz="1100" dirty="0">
                <a:solidFill>
                  <a:srgbClr val="262626"/>
                </a:solidFill>
                <a:latin typeface="Calibri" pitchFamily="34" charset="0"/>
              </a:rPr>
              <a:t>Cost Plan/Actual (Kế hoạch/Thực tế chi phí) và Budget Execution Status (Tình trạng thực hiện ngân sách)</a:t>
            </a:r>
          </a:p>
          <a:p>
            <a:pPr marL="171450" indent="-171450">
              <a:spcAft>
                <a:spcPts val="500"/>
              </a:spcAft>
              <a:buFontTx/>
              <a:buChar char="-"/>
            </a:pPr>
            <a:r>
              <a:rPr lang="en-US" sz="1100" b="1" dirty="0">
                <a:solidFill>
                  <a:srgbClr val="1F3A6E"/>
                </a:solidFill>
                <a:latin typeface="Calibri" pitchFamily="34" charset="0"/>
              </a:rPr>
              <a:t>View Details (Xem chi tiết) </a:t>
            </a:r>
            <a:r>
              <a:rPr lang="en-US" sz="1100" dirty="0">
                <a:solidFill>
                  <a:srgbClr val="262626"/>
                </a:solidFill>
                <a:latin typeface="Calibri" pitchFamily="34" charset="0"/>
              </a:rPr>
              <a:t>để xem chi tiết theo từng tháng.</a:t>
            </a:r>
          </a:p>
          <a:p>
            <a:pPr>
              <a:spcAft>
                <a:spcPts val="500"/>
              </a:spcAft>
            </a:pPr>
            <a:endParaRPr lang="en-US" sz="1100"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Detail Info (Xem chi tiết): </a:t>
            </a:r>
          </a:p>
          <a:p>
            <a:r>
              <a:rPr lang="en-US" sz="1100" dirty="0"/>
              <a:t>Hiển thị </a:t>
            </a:r>
            <a:r>
              <a:rPr lang="en-US" sz="1100" b="1" dirty="0">
                <a:solidFill>
                  <a:srgbClr val="1F3A6E"/>
                </a:solidFill>
              </a:rPr>
              <a:t>Order Result (Kết quả đơn hàng) </a:t>
            </a:r>
            <a:r>
              <a:rPr lang="en-US" sz="1100" dirty="0"/>
              <a:t>và </a:t>
            </a:r>
            <a:r>
              <a:rPr lang="en-US" sz="1100" b="1" dirty="0">
                <a:solidFill>
                  <a:srgbClr val="1F3A6E"/>
                </a:solidFill>
              </a:rPr>
              <a:t>Top Revenue (Doanh thu cao nhất) </a:t>
            </a:r>
            <a:r>
              <a:rPr lang="en-US" sz="1100" dirty="0"/>
              <a:t>của các công trường trong tháng này. Ô ghi chú Actual / Forecast dùng để ghi lại ghi chú hàng tháng.</a:t>
            </a:r>
          </a:p>
        </p:txBody>
      </p:sp>
      <p:sp>
        <p:nvSpPr>
          <p:cNvPr id="37" name="Text 34">
            <a:extLst>
              <a:ext uri="{FF2B5EF4-FFF2-40B4-BE49-F238E27FC236}">
                <a16:creationId xmlns:a16="http://schemas.microsoft.com/office/drawing/2014/main" id="{C67F756C-0EB8-91A7-9B96-292815611E5E}"/>
              </a:ext>
            </a:extLst>
          </p:cNvPr>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58" name="Group 57">
            <a:extLst>
              <a:ext uri="{FF2B5EF4-FFF2-40B4-BE49-F238E27FC236}">
                <a16:creationId xmlns:a16="http://schemas.microsoft.com/office/drawing/2014/main" id="{6FF92A94-89F5-7193-8A4B-D0FB11120028}"/>
              </a:ext>
            </a:extLst>
          </p:cNvPr>
          <p:cNvGrpSpPr/>
          <p:nvPr/>
        </p:nvGrpSpPr>
        <p:grpSpPr>
          <a:xfrm>
            <a:off x="320040" y="498348"/>
            <a:ext cx="228600" cy="228600"/>
            <a:chOff x="457200" y="384048"/>
            <a:chExt cx="228600" cy="228600"/>
          </a:xfrm>
        </p:grpSpPr>
        <p:sp>
          <p:nvSpPr>
            <p:cNvPr id="59" name="Shape 1">
              <a:extLst>
                <a:ext uri="{FF2B5EF4-FFF2-40B4-BE49-F238E27FC236}">
                  <a16:creationId xmlns:a16="http://schemas.microsoft.com/office/drawing/2014/main" id="{BE7DF6B8-B5CB-8417-4A6D-78D8CB123F55}"/>
                </a:ext>
              </a:extLst>
            </p:cNvPr>
            <p:cNvSpPr/>
            <p:nvPr/>
          </p:nvSpPr>
          <p:spPr>
            <a:xfrm>
              <a:off x="457200" y="384048"/>
              <a:ext cx="64008" cy="64008"/>
            </a:xfrm>
            <a:prstGeom prst="rect">
              <a:avLst/>
            </a:prstGeom>
            <a:solidFill>
              <a:srgbClr val="1F3A6E"/>
            </a:solidFill>
            <a:ln/>
          </p:spPr>
          <p:txBody>
            <a:bodyPr/>
            <a:lstStyle/>
            <a:p>
              <a:endParaRPr lang="en-US"/>
            </a:p>
          </p:txBody>
        </p:sp>
        <p:sp>
          <p:nvSpPr>
            <p:cNvPr id="60" name="Shape 2">
              <a:extLst>
                <a:ext uri="{FF2B5EF4-FFF2-40B4-BE49-F238E27FC236}">
                  <a16:creationId xmlns:a16="http://schemas.microsoft.com/office/drawing/2014/main" id="{421B8FCC-565A-5EBA-41DE-39A29F37D7E0}"/>
                </a:ext>
              </a:extLst>
            </p:cNvPr>
            <p:cNvSpPr/>
            <p:nvPr/>
          </p:nvSpPr>
          <p:spPr>
            <a:xfrm>
              <a:off x="539496" y="384048"/>
              <a:ext cx="64008" cy="64008"/>
            </a:xfrm>
            <a:prstGeom prst="rect">
              <a:avLst/>
            </a:prstGeom>
            <a:solidFill>
              <a:srgbClr val="3F8FD0"/>
            </a:solidFill>
            <a:ln/>
          </p:spPr>
          <p:txBody>
            <a:bodyPr/>
            <a:lstStyle/>
            <a:p>
              <a:endParaRPr lang="en-US"/>
            </a:p>
          </p:txBody>
        </p:sp>
        <p:sp>
          <p:nvSpPr>
            <p:cNvPr id="61" name="Shape 3">
              <a:extLst>
                <a:ext uri="{FF2B5EF4-FFF2-40B4-BE49-F238E27FC236}">
                  <a16:creationId xmlns:a16="http://schemas.microsoft.com/office/drawing/2014/main" id="{907DBACC-BA58-5ABA-2357-16963F6F9F8A}"/>
                </a:ext>
              </a:extLst>
            </p:cNvPr>
            <p:cNvSpPr/>
            <p:nvPr/>
          </p:nvSpPr>
          <p:spPr>
            <a:xfrm>
              <a:off x="621792" y="384048"/>
              <a:ext cx="64008" cy="64008"/>
            </a:xfrm>
            <a:prstGeom prst="rect">
              <a:avLst/>
            </a:prstGeom>
            <a:solidFill>
              <a:srgbClr val="1F3A6E"/>
            </a:solidFill>
            <a:ln/>
          </p:spPr>
          <p:txBody>
            <a:bodyPr/>
            <a:lstStyle/>
            <a:p>
              <a:endParaRPr lang="en-US"/>
            </a:p>
          </p:txBody>
        </p:sp>
        <p:sp>
          <p:nvSpPr>
            <p:cNvPr id="62" name="Shape 4">
              <a:extLst>
                <a:ext uri="{FF2B5EF4-FFF2-40B4-BE49-F238E27FC236}">
                  <a16:creationId xmlns:a16="http://schemas.microsoft.com/office/drawing/2014/main" id="{7FF4C918-E007-5AF9-EFC1-40CA803E9244}"/>
                </a:ext>
              </a:extLst>
            </p:cNvPr>
            <p:cNvSpPr/>
            <p:nvPr/>
          </p:nvSpPr>
          <p:spPr>
            <a:xfrm>
              <a:off x="457200" y="466344"/>
              <a:ext cx="64008" cy="64008"/>
            </a:xfrm>
            <a:prstGeom prst="rect">
              <a:avLst/>
            </a:prstGeom>
            <a:solidFill>
              <a:srgbClr val="3F8FD0"/>
            </a:solidFill>
            <a:ln/>
          </p:spPr>
          <p:txBody>
            <a:bodyPr/>
            <a:lstStyle/>
            <a:p>
              <a:endParaRPr lang="en-US"/>
            </a:p>
          </p:txBody>
        </p:sp>
        <p:sp>
          <p:nvSpPr>
            <p:cNvPr id="63" name="Shape 5">
              <a:extLst>
                <a:ext uri="{FF2B5EF4-FFF2-40B4-BE49-F238E27FC236}">
                  <a16:creationId xmlns:a16="http://schemas.microsoft.com/office/drawing/2014/main" id="{84D817D9-C4E7-65CD-0C43-5895522E68A9}"/>
                </a:ext>
              </a:extLst>
            </p:cNvPr>
            <p:cNvSpPr/>
            <p:nvPr/>
          </p:nvSpPr>
          <p:spPr>
            <a:xfrm>
              <a:off x="539496" y="466344"/>
              <a:ext cx="64008" cy="64008"/>
            </a:xfrm>
            <a:prstGeom prst="rect">
              <a:avLst/>
            </a:prstGeom>
            <a:solidFill>
              <a:srgbClr val="1F3A6E"/>
            </a:solidFill>
            <a:ln/>
          </p:spPr>
          <p:txBody>
            <a:bodyPr/>
            <a:lstStyle/>
            <a:p>
              <a:endParaRPr lang="en-US"/>
            </a:p>
          </p:txBody>
        </p:sp>
        <p:sp>
          <p:nvSpPr>
            <p:cNvPr id="64" name="Shape 6">
              <a:extLst>
                <a:ext uri="{FF2B5EF4-FFF2-40B4-BE49-F238E27FC236}">
                  <a16:creationId xmlns:a16="http://schemas.microsoft.com/office/drawing/2014/main" id="{6A116385-BAD2-A4C6-17C4-C64C879B1A1B}"/>
                </a:ext>
              </a:extLst>
            </p:cNvPr>
            <p:cNvSpPr/>
            <p:nvPr/>
          </p:nvSpPr>
          <p:spPr>
            <a:xfrm>
              <a:off x="621792" y="466344"/>
              <a:ext cx="64008" cy="64008"/>
            </a:xfrm>
            <a:prstGeom prst="rect">
              <a:avLst/>
            </a:prstGeom>
            <a:solidFill>
              <a:srgbClr val="3F8FD0"/>
            </a:solidFill>
            <a:ln/>
          </p:spPr>
          <p:txBody>
            <a:bodyPr/>
            <a:lstStyle/>
            <a:p>
              <a:endParaRPr lang="en-US"/>
            </a:p>
          </p:txBody>
        </p:sp>
        <p:sp>
          <p:nvSpPr>
            <p:cNvPr id="65" name="Shape 7">
              <a:extLst>
                <a:ext uri="{FF2B5EF4-FFF2-40B4-BE49-F238E27FC236}">
                  <a16:creationId xmlns:a16="http://schemas.microsoft.com/office/drawing/2014/main" id="{76443341-5EA1-856A-7EE4-754AFF60F716}"/>
                </a:ext>
              </a:extLst>
            </p:cNvPr>
            <p:cNvSpPr/>
            <p:nvPr/>
          </p:nvSpPr>
          <p:spPr>
            <a:xfrm>
              <a:off x="457200" y="548640"/>
              <a:ext cx="64008" cy="64008"/>
            </a:xfrm>
            <a:prstGeom prst="rect">
              <a:avLst/>
            </a:prstGeom>
            <a:solidFill>
              <a:srgbClr val="1F3A6E"/>
            </a:solidFill>
            <a:ln/>
          </p:spPr>
          <p:txBody>
            <a:bodyPr/>
            <a:lstStyle/>
            <a:p>
              <a:endParaRPr lang="en-US"/>
            </a:p>
          </p:txBody>
        </p:sp>
        <p:sp>
          <p:nvSpPr>
            <p:cNvPr id="66" name="Shape 8">
              <a:extLst>
                <a:ext uri="{FF2B5EF4-FFF2-40B4-BE49-F238E27FC236}">
                  <a16:creationId xmlns:a16="http://schemas.microsoft.com/office/drawing/2014/main" id="{5081702D-AAEC-27A6-B95D-7BCA7EB725AD}"/>
                </a:ext>
              </a:extLst>
            </p:cNvPr>
            <p:cNvSpPr/>
            <p:nvPr/>
          </p:nvSpPr>
          <p:spPr>
            <a:xfrm>
              <a:off x="539496" y="548640"/>
              <a:ext cx="64008" cy="64008"/>
            </a:xfrm>
            <a:prstGeom prst="rect">
              <a:avLst/>
            </a:prstGeom>
            <a:solidFill>
              <a:srgbClr val="3F8FD0"/>
            </a:solidFill>
            <a:ln/>
          </p:spPr>
          <p:txBody>
            <a:bodyPr/>
            <a:lstStyle/>
            <a:p>
              <a:endParaRPr lang="en-US"/>
            </a:p>
          </p:txBody>
        </p:sp>
        <p:sp>
          <p:nvSpPr>
            <p:cNvPr id="67" name="Shape 9">
              <a:extLst>
                <a:ext uri="{FF2B5EF4-FFF2-40B4-BE49-F238E27FC236}">
                  <a16:creationId xmlns:a16="http://schemas.microsoft.com/office/drawing/2014/main" id="{DCA3E42C-D113-5A88-ED1B-1492C3989E49}"/>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68" name="Group 67">
            <a:extLst>
              <a:ext uri="{FF2B5EF4-FFF2-40B4-BE49-F238E27FC236}">
                <a16:creationId xmlns:a16="http://schemas.microsoft.com/office/drawing/2014/main" id="{803F8987-6DE3-BA6B-FE5E-AD9019E92DE0}"/>
              </a:ext>
            </a:extLst>
          </p:cNvPr>
          <p:cNvGrpSpPr/>
          <p:nvPr/>
        </p:nvGrpSpPr>
        <p:grpSpPr>
          <a:xfrm>
            <a:off x="320040" y="6473952"/>
            <a:ext cx="228600" cy="228600"/>
            <a:chOff x="320040" y="6473952"/>
            <a:chExt cx="228600" cy="228600"/>
          </a:xfrm>
        </p:grpSpPr>
        <p:sp>
          <p:nvSpPr>
            <p:cNvPr id="69" name="Shape 24">
              <a:extLst>
                <a:ext uri="{FF2B5EF4-FFF2-40B4-BE49-F238E27FC236}">
                  <a16:creationId xmlns:a16="http://schemas.microsoft.com/office/drawing/2014/main" id="{395655B6-B082-6501-F8B9-084319C54480}"/>
                </a:ext>
              </a:extLst>
            </p:cNvPr>
            <p:cNvSpPr/>
            <p:nvPr/>
          </p:nvSpPr>
          <p:spPr>
            <a:xfrm>
              <a:off x="320040" y="6473952"/>
              <a:ext cx="64008" cy="64008"/>
            </a:xfrm>
            <a:prstGeom prst="rect">
              <a:avLst/>
            </a:prstGeom>
            <a:solidFill>
              <a:srgbClr val="1F3A6E"/>
            </a:solidFill>
            <a:ln/>
          </p:spPr>
          <p:txBody>
            <a:bodyPr/>
            <a:lstStyle/>
            <a:p>
              <a:endParaRPr lang="en-US"/>
            </a:p>
          </p:txBody>
        </p:sp>
        <p:sp>
          <p:nvSpPr>
            <p:cNvPr id="70" name="Shape 25">
              <a:extLst>
                <a:ext uri="{FF2B5EF4-FFF2-40B4-BE49-F238E27FC236}">
                  <a16:creationId xmlns:a16="http://schemas.microsoft.com/office/drawing/2014/main" id="{02B34F36-B848-52DF-EA45-7690F056D742}"/>
                </a:ext>
              </a:extLst>
            </p:cNvPr>
            <p:cNvSpPr/>
            <p:nvPr/>
          </p:nvSpPr>
          <p:spPr>
            <a:xfrm>
              <a:off x="402336" y="6473952"/>
              <a:ext cx="64008" cy="64008"/>
            </a:xfrm>
            <a:prstGeom prst="rect">
              <a:avLst/>
            </a:prstGeom>
            <a:solidFill>
              <a:srgbClr val="3F8FD0"/>
            </a:solidFill>
            <a:ln/>
          </p:spPr>
          <p:txBody>
            <a:bodyPr/>
            <a:lstStyle/>
            <a:p>
              <a:endParaRPr lang="en-US"/>
            </a:p>
          </p:txBody>
        </p:sp>
        <p:sp>
          <p:nvSpPr>
            <p:cNvPr id="71" name="Shape 26">
              <a:extLst>
                <a:ext uri="{FF2B5EF4-FFF2-40B4-BE49-F238E27FC236}">
                  <a16:creationId xmlns:a16="http://schemas.microsoft.com/office/drawing/2014/main" id="{64AFFAAA-A5FD-C740-E88C-2608DB4A1B4C}"/>
                </a:ext>
              </a:extLst>
            </p:cNvPr>
            <p:cNvSpPr/>
            <p:nvPr/>
          </p:nvSpPr>
          <p:spPr>
            <a:xfrm>
              <a:off x="484632" y="6473952"/>
              <a:ext cx="64008" cy="64008"/>
            </a:xfrm>
            <a:prstGeom prst="rect">
              <a:avLst/>
            </a:prstGeom>
            <a:solidFill>
              <a:srgbClr val="1F3A6E"/>
            </a:solidFill>
            <a:ln/>
          </p:spPr>
          <p:txBody>
            <a:bodyPr/>
            <a:lstStyle/>
            <a:p>
              <a:endParaRPr lang="en-US"/>
            </a:p>
          </p:txBody>
        </p:sp>
        <p:sp>
          <p:nvSpPr>
            <p:cNvPr id="72" name="Shape 27">
              <a:extLst>
                <a:ext uri="{FF2B5EF4-FFF2-40B4-BE49-F238E27FC236}">
                  <a16:creationId xmlns:a16="http://schemas.microsoft.com/office/drawing/2014/main" id="{5F6D8882-1691-42CA-50E3-AFAF3799524D}"/>
                </a:ext>
              </a:extLst>
            </p:cNvPr>
            <p:cNvSpPr/>
            <p:nvPr/>
          </p:nvSpPr>
          <p:spPr>
            <a:xfrm>
              <a:off x="320040" y="6556248"/>
              <a:ext cx="64008" cy="64008"/>
            </a:xfrm>
            <a:prstGeom prst="rect">
              <a:avLst/>
            </a:prstGeom>
            <a:solidFill>
              <a:srgbClr val="3F8FD0"/>
            </a:solidFill>
            <a:ln/>
          </p:spPr>
          <p:txBody>
            <a:bodyPr/>
            <a:lstStyle/>
            <a:p>
              <a:endParaRPr lang="en-US"/>
            </a:p>
          </p:txBody>
        </p:sp>
        <p:sp>
          <p:nvSpPr>
            <p:cNvPr id="73" name="Shape 28">
              <a:extLst>
                <a:ext uri="{FF2B5EF4-FFF2-40B4-BE49-F238E27FC236}">
                  <a16:creationId xmlns:a16="http://schemas.microsoft.com/office/drawing/2014/main" id="{3081C1DC-C2C8-076B-36DC-041D554A6F79}"/>
                </a:ext>
              </a:extLst>
            </p:cNvPr>
            <p:cNvSpPr/>
            <p:nvPr/>
          </p:nvSpPr>
          <p:spPr>
            <a:xfrm>
              <a:off x="402336" y="6556248"/>
              <a:ext cx="64008" cy="64008"/>
            </a:xfrm>
            <a:prstGeom prst="rect">
              <a:avLst/>
            </a:prstGeom>
            <a:solidFill>
              <a:srgbClr val="1F3A6E"/>
            </a:solidFill>
            <a:ln/>
          </p:spPr>
          <p:txBody>
            <a:bodyPr/>
            <a:lstStyle/>
            <a:p>
              <a:endParaRPr lang="en-US"/>
            </a:p>
          </p:txBody>
        </p:sp>
        <p:sp>
          <p:nvSpPr>
            <p:cNvPr id="74" name="Shape 29">
              <a:extLst>
                <a:ext uri="{FF2B5EF4-FFF2-40B4-BE49-F238E27FC236}">
                  <a16:creationId xmlns:a16="http://schemas.microsoft.com/office/drawing/2014/main" id="{4E683E84-4648-35BA-408E-B6E2514797C6}"/>
                </a:ext>
              </a:extLst>
            </p:cNvPr>
            <p:cNvSpPr/>
            <p:nvPr/>
          </p:nvSpPr>
          <p:spPr>
            <a:xfrm>
              <a:off x="484632" y="6556248"/>
              <a:ext cx="64008" cy="64008"/>
            </a:xfrm>
            <a:prstGeom prst="rect">
              <a:avLst/>
            </a:prstGeom>
            <a:solidFill>
              <a:srgbClr val="3F8FD0"/>
            </a:solidFill>
            <a:ln/>
          </p:spPr>
          <p:txBody>
            <a:bodyPr/>
            <a:lstStyle/>
            <a:p>
              <a:endParaRPr lang="en-US"/>
            </a:p>
          </p:txBody>
        </p:sp>
        <p:sp>
          <p:nvSpPr>
            <p:cNvPr id="75" name="Shape 30">
              <a:extLst>
                <a:ext uri="{FF2B5EF4-FFF2-40B4-BE49-F238E27FC236}">
                  <a16:creationId xmlns:a16="http://schemas.microsoft.com/office/drawing/2014/main" id="{1EEA64FB-96BA-5E97-84DC-A9E054F6DF57}"/>
                </a:ext>
              </a:extLst>
            </p:cNvPr>
            <p:cNvSpPr/>
            <p:nvPr/>
          </p:nvSpPr>
          <p:spPr>
            <a:xfrm>
              <a:off x="320040" y="6638544"/>
              <a:ext cx="64008" cy="64008"/>
            </a:xfrm>
            <a:prstGeom prst="rect">
              <a:avLst/>
            </a:prstGeom>
            <a:solidFill>
              <a:srgbClr val="1F3A6E"/>
            </a:solidFill>
            <a:ln/>
          </p:spPr>
          <p:txBody>
            <a:bodyPr/>
            <a:lstStyle/>
            <a:p>
              <a:endParaRPr lang="en-US"/>
            </a:p>
          </p:txBody>
        </p:sp>
        <p:sp>
          <p:nvSpPr>
            <p:cNvPr id="76" name="Shape 31">
              <a:extLst>
                <a:ext uri="{FF2B5EF4-FFF2-40B4-BE49-F238E27FC236}">
                  <a16:creationId xmlns:a16="http://schemas.microsoft.com/office/drawing/2014/main" id="{D57C8993-40FF-7BBB-47D5-5553F843503E}"/>
                </a:ext>
              </a:extLst>
            </p:cNvPr>
            <p:cNvSpPr/>
            <p:nvPr/>
          </p:nvSpPr>
          <p:spPr>
            <a:xfrm>
              <a:off x="402336" y="6638544"/>
              <a:ext cx="64008" cy="64008"/>
            </a:xfrm>
            <a:prstGeom prst="rect">
              <a:avLst/>
            </a:prstGeom>
            <a:solidFill>
              <a:srgbClr val="3F8FD0"/>
            </a:solidFill>
            <a:ln/>
          </p:spPr>
          <p:txBody>
            <a:bodyPr/>
            <a:lstStyle/>
            <a:p>
              <a:endParaRPr lang="en-US"/>
            </a:p>
          </p:txBody>
        </p:sp>
        <p:sp>
          <p:nvSpPr>
            <p:cNvPr id="77" name="Shape 32">
              <a:extLst>
                <a:ext uri="{FF2B5EF4-FFF2-40B4-BE49-F238E27FC236}">
                  <a16:creationId xmlns:a16="http://schemas.microsoft.com/office/drawing/2014/main" id="{F0731717-F4EB-C20A-3120-FFCDFA3C3961}"/>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78" name="Text 33">
            <a:extLst>
              <a:ext uri="{FF2B5EF4-FFF2-40B4-BE49-F238E27FC236}">
                <a16:creationId xmlns:a16="http://schemas.microsoft.com/office/drawing/2014/main" id="{11FB514C-3977-6E96-C5A8-689F3C89FF65}"/>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extLst>
      <p:ext uri="{BB962C8B-B14F-4D97-AF65-F5344CB8AC3E}">
        <p14:creationId xmlns:p14="http://schemas.microsoft.com/office/powerpoint/2010/main" val="2972299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Dashboard Xây dựng &amp; Dashboard Dịch vụ</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B39FE4F8-5C55-5C31-B5C7-C71FE34E06CE}"/>
              </a:ext>
            </a:extLst>
          </p:cNvPr>
          <p:cNvGrpSpPr/>
          <p:nvPr/>
        </p:nvGrpSpPr>
        <p:grpSpPr>
          <a:xfrm>
            <a:off x="234335" y="1917784"/>
            <a:ext cx="7055465" cy="3491379"/>
            <a:chOff x="483269" y="2271924"/>
            <a:chExt cx="6593387" cy="3151675"/>
          </a:xfrm>
        </p:grpSpPr>
        <p:sp>
          <p:nvSpPr>
            <p:cNvPr id="25" name="Shape 23"/>
            <p:cNvSpPr/>
            <p:nvPr/>
          </p:nvSpPr>
          <p:spPr>
            <a:xfrm>
              <a:off x="603504" y="2271924"/>
              <a:ext cx="6473152" cy="3151675"/>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78523"/>
            </a:xfrm>
            <a:prstGeom prst="rect">
              <a:avLst/>
            </a:prstGeom>
          </p:spPr>
        </p:pic>
        <p:sp>
          <p:nvSpPr>
            <p:cNvPr id="100" name="Box 1"/>
            <p:cNvSpPr/>
            <p:nvPr/>
          </p:nvSpPr>
          <p:spPr>
            <a:xfrm>
              <a:off x="673361" y="2574751"/>
              <a:ext cx="648986" cy="73219"/>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673361" y="2667938"/>
              <a:ext cx="648986" cy="73219"/>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497174" y="241700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483269" y="2656734"/>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50120" y="1917784"/>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50120" y="2437784"/>
            <a:ext cx="4211840" cy="2971379"/>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50120" y="2587784"/>
            <a:ext cx="3811840" cy="2258523"/>
          </a:xfrm>
          <a:prstGeom prst="rect">
            <a:avLst/>
          </a:prstGeom>
          <a:noFill/>
          <a:ln/>
        </p:spPr>
        <p:txBody>
          <a:bodyPr wrap="square" lIns="0" tIns="0" rIns="0" bIns="0" rtlCol="0" anchor="t"/>
          <a:lstStyle/>
          <a:p>
            <a:r>
              <a:rPr lang="en-US" sz="1100" b="1" dirty="0">
                <a:solidFill>
                  <a:srgbClr val="1F3A6E"/>
                </a:solidFill>
                <a:latin typeface="Calibri" pitchFamily="34" charset="0"/>
              </a:rPr>
              <a:t>1 </a:t>
            </a:r>
            <a:r>
              <a:rPr lang="en-US" sz="1100" b="1" dirty="0">
                <a:solidFill>
                  <a:srgbClr val="1F3A6E"/>
                </a:solidFill>
              </a:rPr>
              <a:t>Dashboard Xây dựng &amp; Dịch vụ</a:t>
            </a:r>
            <a:br>
              <a:rPr lang="en-US" sz="1100" dirty="0"/>
            </a:br>
            <a:r>
              <a:rPr lang="en-US" sz="1100" dirty="0"/>
              <a:t>Hiển thị bố cục KPI/biểu đồ của Main Dashboard được lọc theo công trường Xây dựng hoặc Dịch vụ. Chọn tiêu đề nhóm trong cây bên trái, không chọn một công trường cụ thể.</a:t>
            </a:r>
          </a:p>
          <a:p>
            <a:pPr marL="0" indent="0">
              <a:lnSpc>
                <a:spcPct val="106000"/>
              </a:lnSpc>
              <a:spcAft>
                <a:spcPts val="400"/>
              </a:spcAft>
              <a:buNone/>
            </a:pPr>
            <a:endParaRPr lang="en-US" sz="1100" b="1" dirty="0">
              <a:solidFill>
                <a:srgbClr val="1F3A6E"/>
              </a:solidFill>
              <a:latin typeface="Calibri" pitchFamily="34" charset="0"/>
            </a:endParaRPr>
          </a:p>
          <a:p>
            <a:pPr marL="0" indent="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So sánh hiệu quả riêng của Xây dựng hoặc Dịch vụ trước khi xem chi tiết từng công trường. Các bộ lọc (Project, Period, Exchange Rate, Unit) hoạt động giống như trên Main Dashboard.</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62FFA55A-660F-8BCF-699C-644C6008D352}"/>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9328D214-C8F2-494F-03DD-3BB00FCE04C6}"/>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203FEABD-76C8-8BBA-D692-48157538B37C}"/>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46F8A0F7-4A03-65C9-6A1D-6C20ABDB144E}"/>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FE59C754-8878-0FA3-1691-145D91EE030C}"/>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35C84B4B-A426-C29E-145B-D5FACB544E82}"/>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37A336D2-6999-5A2D-7718-0CE66E040A5D}"/>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D5234443-61B8-1E31-D133-DD2D1E3FE333}"/>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212481AA-0C16-1A84-3BA2-5E1DFA9CB2E6}"/>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72A0F89E-4536-9FB6-C911-2C7B2DE567E4}"/>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8AF92C11-C1D5-3565-BBB9-6FC9414BE31D}"/>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B83BFEF1-ACD7-C610-1A89-068776349FA1}"/>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387CE8A5-E13C-5E46-61D4-5FEC8AC0955D}"/>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8A6D5441-FE7D-04A6-614F-3E68D2DD65AD}"/>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24D7C2C7-ABE8-BFE3-6013-708117867398}"/>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39B4E94D-34A7-6E1C-42F3-26B8675ED33E}"/>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D5F32908-8C71-BEFB-CDF9-99EA07ED2706}"/>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8DC4678E-5081-454D-EB6F-886968AF5A13}"/>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2E0980FE-DE81-E3D6-1DFD-E1F73219E81B}"/>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F192AC07-77A3-423F-3D6E-7450EE72F699}"/>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588335F1-20E8-5A14-A0DF-50B1163A99A0}"/>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Tải lên Excel</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25" name="Shape 23"/>
          <p:cNvSpPr/>
          <p:nvPr/>
        </p:nvSpPr>
        <p:spPr>
          <a:xfrm>
            <a:off x="320039" y="1905001"/>
            <a:ext cx="6889657" cy="3463243"/>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356616" y="1941577"/>
            <a:ext cx="7029396" cy="3382897"/>
          </a:xfrm>
          <a:prstGeom prst="rect">
            <a:avLst/>
          </a:prstGeom>
        </p:spPr>
      </p:pic>
      <p:sp>
        <p:nvSpPr>
          <p:cNvPr id="100" name="Box 1"/>
          <p:cNvSpPr/>
          <p:nvPr/>
        </p:nvSpPr>
        <p:spPr>
          <a:xfrm>
            <a:off x="2680772" y="3070020"/>
            <a:ext cx="2345103" cy="164751"/>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2647349" y="3271348"/>
            <a:ext cx="2431429" cy="1415026"/>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2733675" y="3668421"/>
            <a:ext cx="2270183" cy="867691"/>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4908797" y="2958320"/>
            <a:ext cx="234156" cy="241636"/>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2503897" y="3256679"/>
            <a:ext cx="234156" cy="241636"/>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4752624" y="3550191"/>
            <a:ext cx="234156" cy="241636"/>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300" name="Panel Header"/>
          <p:cNvSpPr/>
          <p:nvPr/>
        </p:nvSpPr>
        <p:spPr>
          <a:xfrm>
            <a:off x="7529464" y="1905002"/>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29464" y="2425002"/>
            <a:ext cx="4211840" cy="2899472"/>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29464" y="2575002"/>
            <a:ext cx="3811840" cy="2260000"/>
          </a:xfrm>
          <a:prstGeom prst="rect">
            <a:avLst/>
          </a:prstGeom>
          <a:noFill/>
          <a:ln/>
        </p:spPr>
        <p:txBody>
          <a:bodyPr wrap="square" lIns="0" tIns="0" rIns="0" bIns="0" rtlCol="0" anchor="t"/>
          <a:lstStyle/>
          <a:p>
            <a:pPr marL="0" indent="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Nhấn Excel Upload, chọn Data type (Management Report, Cash Flow, Revenue/COGS hoặc Order Plan &amp; Performance), Target year, sau đó chọn tệp .xlsx.</a:t>
            </a:r>
          </a:p>
          <a:p>
            <a:pPr marL="0" indent="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Tệp được tự động phân tích để xem trước (Preview); nhấn Apply để làm mới dashboard với dữ liệu mới.</a:t>
            </a:r>
          </a:p>
          <a:p>
            <a:pPr marL="0" indent="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Recent Uploads liệt kê các lần tải lên trước đó (thời gian, tên tệp); Revert to previous data sẽ khôi phục về trạng thái trước lần tải lên đó.</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667F0F0B-05D7-68EE-EF4F-599345F81514}"/>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67A59684-F326-6993-833A-1F7FE902D2AB}"/>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5316E7BA-45EF-AFCC-02E0-87EDA9F02CEF}"/>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73D2094B-91A5-D132-E4C9-31578F0478B4}"/>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5EF8E4FA-E321-FA82-2B6B-FA4F17F925A1}"/>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1D22A476-C062-B036-EC47-D47E073F9B3D}"/>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BB9148DB-BC98-E353-9C46-85C7C05F960A}"/>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57889280-A54F-99F9-68CA-207CC17873CB}"/>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108B9EAF-48C5-1D94-2954-46DF348A6C70}"/>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444A72B8-AE94-247D-DD42-8F4510CD62B1}"/>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36CF1A4C-7823-FE45-B929-3DE038D144D4}"/>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368B6378-2945-75DC-6522-9AA19B723306}"/>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C0BFB859-EAFE-0452-2C08-8FFD76BA735A}"/>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3924BAFC-14E4-1531-6E6E-03E4FB8DA0E4}"/>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D061D977-0D1D-0778-BA3F-C5D4415C2E2F}"/>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D6354219-6360-BAC5-D088-2A567140D4F9}"/>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4740173B-8727-0BD9-12E5-B387141E6379}"/>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0BF3A124-84C0-A4BF-0EC0-48E6BB3A5D4D}"/>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9AEB9819-ECE3-C61D-6F1D-D880BFEDF504}"/>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F63D9823-75B7-203B-C203-A27547A64518}"/>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F24E71A7-8C68-97FD-5288-298A0096FB19}"/>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txBody>
          <a:bodyPr/>
          <a:lstStyle/>
          <a:p>
            <a:endParaRPr lang="en-US"/>
          </a:p>
        </p:txBody>
      </p:sp>
      <p:sp>
        <p:nvSpPr>
          <p:cNvPr id="3" name="Shape 1"/>
          <p:cNvSpPr/>
          <p:nvPr/>
        </p:nvSpPr>
        <p:spPr>
          <a:xfrm>
            <a:off x="9887407" y="0"/>
            <a:ext cx="384048" cy="384048"/>
          </a:xfrm>
          <a:prstGeom prst="rect">
            <a:avLst/>
          </a:prstGeom>
          <a:solidFill>
            <a:srgbClr val="3F8FD0"/>
          </a:solidFill>
          <a:ln/>
        </p:spPr>
        <p:txBody>
          <a:bodyPr/>
          <a:lstStyle/>
          <a:p>
            <a:endParaRPr lang="en-US"/>
          </a:p>
        </p:txBody>
      </p:sp>
      <p:sp>
        <p:nvSpPr>
          <p:cNvPr id="4" name="Shape 2"/>
          <p:cNvSpPr/>
          <p:nvPr/>
        </p:nvSpPr>
        <p:spPr>
          <a:xfrm>
            <a:off x="10655503" y="0"/>
            <a:ext cx="384048" cy="384048"/>
          </a:xfrm>
          <a:prstGeom prst="rect">
            <a:avLst/>
          </a:prstGeom>
          <a:solidFill>
            <a:srgbClr val="3F8FD0"/>
          </a:solidFill>
          <a:ln/>
        </p:spPr>
        <p:txBody>
          <a:bodyPr/>
          <a:lstStyle/>
          <a:p>
            <a:endParaRPr lang="en-US"/>
          </a:p>
        </p:txBody>
      </p:sp>
      <p:sp>
        <p:nvSpPr>
          <p:cNvPr id="5" name="Shape 3"/>
          <p:cNvSpPr/>
          <p:nvPr/>
        </p:nvSpPr>
        <p:spPr>
          <a:xfrm>
            <a:off x="11039551" y="0"/>
            <a:ext cx="384048" cy="384048"/>
          </a:xfrm>
          <a:prstGeom prst="rect">
            <a:avLst/>
          </a:prstGeom>
          <a:solidFill>
            <a:srgbClr val="AEE0F5"/>
          </a:solidFill>
          <a:ln/>
        </p:spPr>
        <p:txBody>
          <a:bodyPr/>
          <a:lstStyle/>
          <a:p>
            <a:endParaRPr lang="en-US"/>
          </a:p>
        </p:txBody>
      </p:sp>
      <p:sp>
        <p:nvSpPr>
          <p:cNvPr id="6" name="Shape 4"/>
          <p:cNvSpPr/>
          <p:nvPr/>
        </p:nvSpPr>
        <p:spPr>
          <a:xfrm>
            <a:off x="11423599" y="0"/>
            <a:ext cx="384048" cy="384048"/>
          </a:xfrm>
          <a:prstGeom prst="rect">
            <a:avLst/>
          </a:prstGeom>
          <a:solidFill>
            <a:srgbClr val="3F8FD0"/>
          </a:solidFill>
          <a:ln/>
        </p:spPr>
        <p:txBody>
          <a:bodyPr/>
          <a:lstStyle/>
          <a:p>
            <a:endParaRPr lang="en-US"/>
          </a:p>
        </p:txBody>
      </p:sp>
      <p:sp>
        <p:nvSpPr>
          <p:cNvPr id="7" name="Shape 5"/>
          <p:cNvSpPr/>
          <p:nvPr/>
        </p:nvSpPr>
        <p:spPr>
          <a:xfrm>
            <a:off x="11807647" y="0"/>
            <a:ext cx="384048" cy="384048"/>
          </a:xfrm>
          <a:prstGeom prst="rect">
            <a:avLst/>
          </a:prstGeom>
          <a:solidFill>
            <a:srgbClr val="AEE0F5"/>
          </a:solidFill>
          <a:ln/>
        </p:spPr>
        <p:txBody>
          <a:bodyPr/>
          <a:lstStyle/>
          <a:p>
            <a:endParaRPr lang="en-US"/>
          </a:p>
        </p:txBody>
      </p:sp>
      <p:sp>
        <p:nvSpPr>
          <p:cNvPr id="8" name="Shape 6"/>
          <p:cNvSpPr/>
          <p:nvPr/>
        </p:nvSpPr>
        <p:spPr>
          <a:xfrm>
            <a:off x="10271455" y="384048"/>
            <a:ext cx="384048" cy="384048"/>
          </a:xfrm>
          <a:prstGeom prst="rect">
            <a:avLst/>
          </a:prstGeom>
          <a:solidFill>
            <a:srgbClr val="3F8FD0"/>
          </a:solidFill>
          <a:ln/>
        </p:spPr>
        <p:txBody>
          <a:bodyPr/>
          <a:lstStyle/>
          <a:p>
            <a:endParaRPr lang="en-US"/>
          </a:p>
        </p:txBody>
      </p:sp>
      <p:sp>
        <p:nvSpPr>
          <p:cNvPr id="9" name="Shape 7"/>
          <p:cNvSpPr/>
          <p:nvPr/>
        </p:nvSpPr>
        <p:spPr>
          <a:xfrm>
            <a:off x="11423599" y="384048"/>
            <a:ext cx="384048" cy="384048"/>
          </a:xfrm>
          <a:prstGeom prst="rect">
            <a:avLst/>
          </a:prstGeom>
          <a:solidFill>
            <a:srgbClr val="AEE0F5"/>
          </a:solidFill>
          <a:ln/>
        </p:spPr>
        <p:txBody>
          <a:bodyPr/>
          <a:lstStyle/>
          <a:p>
            <a:endParaRPr lang="en-US"/>
          </a:p>
        </p:txBody>
      </p:sp>
      <p:sp>
        <p:nvSpPr>
          <p:cNvPr id="10" name="Shape 8"/>
          <p:cNvSpPr/>
          <p:nvPr/>
        </p:nvSpPr>
        <p:spPr>
          <a:xfrm>
            <a:off x="11807647" y="384048"/>
            <a:ext cx="384048" cy="384048"/>
          </a:xfrm>
          <a:prstGeom prst="rect">
            <a:avLst/>
          </a:prstGeom>
          <a:solidFill>
            <a:srgbClr val="3F8FD0"/>
          </a:solidFill>
          <a:ln/>
        </p:spPr>
        <p:txBody>
          <a:bodyPr/>
          <a:lstStyle/>
          <a:p>
            <a:endParaRPr lang="en-US"/>
          </a:p>
        </p:txBody>
      </p:sp>
      <p:sp>
        <p:nvSpPr>
          <p:cNvPr id="11" name="Shape 9"/>
          <p:cNvSpPr/>
          <p:nvPr/>
        </p:nvSpPr>
        <p:spPr>
          <a:xfrm>
            <a:off x="11039551" y="768096"/>
            <a:ext cx="384048" cy="384048"/>
          </a:xfrm>
          <a:prstGeom prst="rect">
            <a:avLst/>
          </a:prstGeom>
          <a:solidFill>
            <a:srgbClr val="AEE0F5"/>
          </a:solidFill>
          <a:ln/>
        </p:spPr>
        <p:txBody>
          <a:bodyPr/>
          <a:lstStyle/>
          <a:p>
            <a:endParaRPr lang="en-US"/>
          </a:p>
        </p:txBody>
      </p:sp>
      <p:sp>
        <p:nvSpPr>
          <p:cNvPr id="12" name="Shape 10"/>
          <p:cNvSpPr/>
          <p:nvPr/>
        </p:nvSpPr>
        <p:spPr>
          <a:xfrm>
            <a:off x="11807647" y="768096"/>
            <a:ext cx="384048" cy="384048"/>
          </a:xfrm>
          <a:prstGeom prst="rect">
            <a:avLst/>
          </a:prstGeom>
          <a:solidFill>
            <a:srgbClr val="AEE0F5"/>
          </a:solidFill>
          <a:ln/>
        </p:spPr>
        <p:txBody>
          <a:bodyPr/>
          <a:lstStyle/>
          <a:p>
            <a:endParaRPr lang="en-US"/>
          </a:p>
        </p:txBody>
      </p:sp>
      <p:sp>
        <p:nvSpPr>
          <p:cNvPr id="13" name="Shape 11"/>
          <p:cNvSpPr/>
          <p:nvPr/>
        </p:nvSpPr>
        <p:spPr>
          <a:xfrm>
            <a:off x="548640" y="457200"/>
            <a:ext cx="64008" cy="64008"/>
          </a:xfrm>
          <a:prstGeom prst="rect">
            <a:avLst/>
          </a:prstGeom>
          <a:solidFill>
            <a:srgbClr val="1F3A6E"/>
          </a:solidFill>
          <a:ln/>
        </p:spPr>
        <p:txBody>
          <a:bodyPr/>
          <a:lstStyle/>
          <a:p>
            <a:endParaRPr lang="en-US"/>
          </a:p>
        </p:txBody>
      </p:sp>
      <p:sp>
        <p:nvSpPr>
          <p:cNvPr id="14" name="Shape 12"/>
          <p:cNvSpPr/>
          <p:nvPr/>
        </p:nvSpPr>
        <p:spPr>
          <a:xfrm>
            <a:off x="630936" y="457200"/>
            <a:ext cx="64008" cy="64008"/>
          </a:xfrm>
          <a:prstGeom prst="rect">
            <a:avLst/>
          </a:prstGeom>
          <a:solidFill>
            <a:srgbClr val="3F8FD0"/>
          </a:solidFill>
          <a:ln/>
        </p:spPr>
        <p:txBody>
          <a:bodyPr/>
          <a:lstStyle/>
          <a:p>
            <a:endParaRPr lang="en-US"/>
          </a:p>
        </p:txBody>
      </p:sp>
      <p:sp>
        <p:nvSpPr>
          <p:cNvPr id="15" name="Shape 13"/>
          <p:cNvSpPr/>
          <p:nvPr/>
        </p:nvSpPr>
        <p:spPr>
          <a:xfrm>
            <a:off x="713232" y="457200"/>
            <a:ext cx="64008" cy="64008"/>
          </a:xfrm>
          <a:prstGeom prst="rect">
            <a:avLst/>
          </a:prstGeom>
          <a:solidFill>
            <a:srgbClr val="1F3A6E"/>
          </a:solidFill>
          <a:ln/>
        </p:spPr>
        <p:txBody>
          <a:bodyPr/>
          <a:lstStyle/>
          <a:p>
            <a:endParaRPr lang="en-US"/>
          </a:p>
        </p:txBody>
      </p:sp>
      <p:sp>
        <p:nvSpPr>
          <p:cNvPr id="16" name="Shape 14"/>
          <p:cNvSpPr/>
          <p:nvPr/>
        </p:nvSpPr>
        <p:spPr>
          <a:xfrm>
            <a:off x="548640" y="539496"/>
            <a:ext cx="64008" cy="64008"/>
          </a:xfrm>
          <a:prstGeom prst="rect">
            <a:avLst/>
          </a:prstGeom>
          <a:solidFill>
            <a:srgbClr val="3F8FD0"/>
          </a:solidFill>
          <a:ln/>
        </p:spPr>
        <p:txBody>
          <a:bodyPr/>
          <a:lstStyle/>
          <a:p>
            <a:endParaRPr lang="en-US"/>
          </a:p>
        </p:txBody>
      </p:sp>
      <p:sp>
        <p:nvSpPr>
          <p:cNvPr id="17" name="Shape 15"/>
          <p:cNvSpPr/>
          <p:nvPr/>
        </p:nvSpPr>
        <p:spPr>
          <a:xfrm>
            <a:off x="630936" y="539496"/>
            <a:ext cx="64008" cy="64008"/>
          </a:xfrm>
          <a:prstGeom prst="rect">
            <a:avLst/>
          </a:prstGeom>
          <a:solidFill>
            <a:srgbClr val="1F3A6E"/>
          </a:solidFill>
          <a:ln/>
        </p:spPr>
        <p:txBody>
          <a:bodyPr/>
          <a:lstStyle/>
          <a:p>
            <a:endParaRPr lang="en-US"/>
          </a:p>
        </p:txBody>
      </p:sp>
      <p:sp>
        <p:nvSpPr>
          <p:cNvPr id="18" name="Shape 16"/>
          <p:cNvSpPr/>
          <p:nvPr/>
        </p:nvSpPr>
        <p:spPr>
          <a:xfrm>
            <a:off x="713232" y="539496"/>
            <a:ext cx="64008" cy="64008"/>
          </a:xfrm>
          <a:prstGeom prst="rect">
            <a:avLst/>
          </a:prstGeom>
          <a:solidFill>
            <a:srgbClr val="3F8FD0"/>
          </a:solidFill>
          <a:ln/>
        </p:spPr>
        <p:txBody>
          <a:bodyPr/>
          <a:lstStyle/>
          <a:p>
            <a:endParaRPr lang="en-US"/>
          </a:p>
        </p:txBody>
      </p:sp>
      <p:sp>
        <p:nvSpPr>
          <p:cNvPr id="19" name="Shape 17"/>
          <p:cNvSpPr/>
          <p:nvPr/>
        </p:nvSpPr>
        <p:spPr>
          <a:xfrm>
            <a:off x="548640" y="621792"/>
            <a:ext cx="64008" cy="64008"/>
          </a:xfrm>
          <a:prstGeom prst="rect">
            <a:avLst/>
          </a:prstGeom>
          <a:solidFill>
            <a:srgbClr val="1F3A6E"/>
          </a:solidFill>
          <a:ln/>
        </p:spPr>
        <p:txBody>
          <a:bodyPr/>
          <a:lstStyle/>
          <a:p>
            <a:endParaRPr lang="en-US"/>
          </a:p>
        </p:txBody>
      </p:sp>
      <p:sp>
        <p:nvSpPr>
          <p:cNvPr id="20" name="Shape 18"/>
          <p:cNvSpPr/>
          <p:nvPr/>
        </p:nvSpPr>
        <p:spPr>
          <a:xfrm>
            <a:off x="630936" y="621792"/>
            <a:ext cx="64008" cy="64008"/>
          </a:xfrm>
          <a:prstGeom prst="rect">
            <a:avLst/>
          </a:prstGeom>
          <a:solidFill>
            <a:srgbClr val="3F8FD0"/>
          </a:solidFill>
          <a:ln/>
        </p:spPr>
        <p:txBody>
          <a:bodyPr/>
          <a:lstStyle/>
          <a:p>
            <a:endParaRPr lang="en-US"/>
          </a:p>
        </p:txBody>
      </p:sp>
      <p:sp>
        <p:nvSpPr>
          <p:cNvPr id="21" name="Shape 19"/>
          <p:cNvSpPr/>
          <p:nvPr/>
        </p:nvSpPr>
        <p:spPr>
          <a:xfrm>
            <a:off x="713232" y="621792"/>
            <a:ext cx="64008" cy="64008"/>
          </a:xfrm>
          <a:prstGeom prst="rect">
            <a:avLst/>
          </a:prstGeom>
          <a:solidFill>
            <a:srgbClr val="1F3A6E"/>
          </a:solidFill>
          <a:ln/>
        </p:spPr>
        <p:txBody>
          <a:bodyPr/>
          <a:lstStyle/>
          <a:p>
            <a:endParaRPr lang="en-US"/>
          </a:p>
        </p:txBody>
      </p:sp>
      <p:sp>
        <p:nvSpPr>
          <p:cNvPr id="22" name="Shape 20"/>
          <p:cNvSpPr/>
          <p:nvPr/>
        </p:nvSpPr>
        <p:spPr>
          <a:xfrm>
            <a:off x="914400" y="2743200"/>
            <a:ext cx="1417320" cy="1417320"/>
          </a:xfrm>
          <a:prstGeom prst="rect">
            <a:avLst/>
          </a:prstGeom>
          <a:solidFill>
            <a:srgbClr val="1F3A6E"/>
          </a:solidFill>
          <a:ln/>
          <a:effectLst>
            <a:outerShdw blurRad="76200" dist="38100" dir="2700000" algn="bl" rotWithShape="0">
              <a:srgbClr val="000000">
                <a:alpha val="35000"/>
              </a:srgbClr>
            </a:outerShdw>
          </a:effectLst>
        </p:spPr>
        <p:txBody>
          <a:bodyPr/>
          <a:lstStyle/>
          <a:p>
            <a:endParaRPr lang="en-US"/>
          </a:p>
        </p:txBody>
      </p:sp>
      <p:sp>
        <p:nvSpPr>
          <p:cNvPr id="23" name="Text 21"/>
          <p:cNvSpPr/>
          <p:nvPr/>
        </p:nvSpPr>
        <p:spPr>
          <a:xfrm>
            <a:off x="914400" y="2743200"/>
            <a:ext cx="1417320" cy="14173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2</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marL="0" indent="0">
              <a:buNone/>
            </a:pPr>
            <a:r>
              <a:rPr lang="en-US" sz="3000" b="1" dirty="0">
                <a:solidFill>
                  <a:srgbClr val="1F3A6E"/>
                </a:solidFill>
                <a:latin typeface="Calibri" pitchFamily="34" charset="0"/>
                <a:ea typeface="Calibri" pitchFamily="34" charset="-122"/>
                <a:cs typeface="Calibri" pitchFamily="34" charset="-120"/>
              </a:rPr>
              <a:t>Người xem Dashboard - Project Dashboard - Xây dựng</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Overview (Tổng quan)</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25" name="Shape 23"/>
          <p:cNvSpPr/>
          <p:nvPr/>
        </p:nvSpPr>
        <p:spPr>
          <a:xfrm>
            <a:off x="320039" y="1828202"/>
            <a:ext cx="7019901" cy="3483240"/>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356615" y="1864777"/>
            <a:ext cx="7066951" cy="3419492"/>
          </a:xfrm>
          <a:prstGeom prst="rect">
            <a:avLst/>
          </a:prstGeom>
        </p:spPr>
      </p:pic>
      <p:sp>
        <p:nvSpPr>
          <p:cNvPr id="100" name="Box 1"/>
          <p:cNvSpPr/>
          <p:nvPr/>
        </p:nvSpPr>
        <p:spPr>
          <a:xfrm>
            <a:off x="1184564" y="2124507"/>
            <a:ext cx="6066680" cy="446396"/>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184564" y="1909415"/>
            <a:ext cx="1488121" cy="137055"/>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184564" y="2815615"/>
            <a:ext cx="6275578" cy="1079401"/>
          </a:xfrm>
          <a:prstGeom prst="roundRect">
            <a:avLst>
              <a:gd name="adj" fmla="val 10000"/>
            </a:avLst>
          </a:prstGeom>
          <a:noFill/>
          <a:ln w="19050">
            <a:solidFill>
              <a:srgbClr val="1F3A6E"/>
            </a:solidFill>
          </a:ln>
        </p:spPr>
        <p:txBody>
          <a:bodyPr/>
          <a:lstStyle/>
          <a:p>
            <a:endParaRPr lang="en-US"/>
          </a:p>
        </p:txBody>
      </p:sp>
      <p:sp>
        <p:nvSpPr>
          <p:cNvPr id="103" name="Box 4"/>
          <p:cNvSpPr/>
          <p:nvPr/>
        </p:nvSpPr>
        <p:spPr>
          <a:xfrm>
            <a:off x="3680438" y="3969000"/>
            <a:ext cx="3743128" cy="1155450"/>
          </a:xfrm>
          <a:prstGeom prst="roundRect">
            <a:avLst>
              <a:gd name="adj" fmla="val 10000"/>
            </a:avLst>
          </a:prstGeom>
          <a:noFill/>
          <a:ln w="19050">
            <a:solidFill>
              <a:srgbClr val="1F3A6E"/>
            </a:solidFill>
          </a:ln>
        </p:spPr>
        <p:txBody>
          <a:bodyPr/>
          <a:lstStyle/>
          <a:p>
            <a:endParaRPr lang="en-US"/>
          </a:p>
        </p:txBody>
      </p:sp>
      <p:sp>
        <p:nvSpPr>
          <p:cNvPr id="104" name="Box 5"/>
          <p:cNvSpPr/>
          <p:nvPr/>
        </p:nvSpPr>
        <p:spPr>
          <a:xfrm>
            <a:off x="440540" y="2370438"/>
            <a:ext cx="610880" cy="109769"/>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984563" y="2150734"/>
            <a:ext cx="238583" cy="241745"/>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991276" y="1788542"/>
            <a:ext cx="238583" cy="241745"/>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1012484" y="2933088"/>
            <a:ext cx="238583" cy="241745"/>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203" name="Callout 4"/>
          <p:cNvSpPr/>
          <p:nvPr/>
        </p:nvSpPr>
        <p:spPr>
          <a:xfrm>
            <a:off x="3489434" y="3985536"/>
            <a:ext cx="238583" cy="241745"/>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4</a:t>
            </a:r>
          </a:p>
        </p:txBody>
      </p:sp>
      <p:sp>
        <p:nvSpPr>
          <p:cNvPr id="204" name="Callout 5"/>
          <p:cNvSpPr/>
          <p:nvPr/>
        </p:nvSpPr>
        <p:spPr>
          <a:xfrm>
            <a:off x="3370143" y="1839285"/>
            <a:ext cx="238583" cy="241745"/>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5</a:t>
            </a:r>
          </a:p>
        </p:txBody>
      </p:sp>
      <p:sp>
        <p:nvSpPr>
          <p:cNvPr id="300" name="Panel Header"/>
          <p:cNvSpPr/>
          <p:nvPr/>
        </p:nvSpPr>
        <p:spPr>
          <a:xfrm>
            <a:off x="7623567" y="2013634"/>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623567" y="2533634"/>
            <a:ext cx="4211840" cy="2777808"/>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823567" y="2683634"/>
            <a:ext cx="3811840" cy="2276774"/>
          </a:xfrm>
          <a:prstGeom prst="rect">
            <a:avLst/>
          </a:prstGeom>
          <a:noFill/>
          <a:ln/>
        </p:spPr>
        <p:txBody>
          <a:bodyPr wrap="square" lIns="0" tIns="0" rIns="0" bIns="0" rtlCol="0" anchor="t"/>
          <a:lstStyle/>
          <a:p>
            <a:pPr>
              <a:spcAft>
                <a:spcPts val="500"/>
              </a:spcAft>
            </a:pPr>
            <a:r>
              <a:rPr lang="en-US" sz="1100" b="1" dirty="0">
                <a:solidFill>
                  <a:srgbClr val="1F3A6E"/>
                </a:solidFill>
                <a:latin typeface="Calibri" pitchFamily="34" charset="0"/>
              </a:rPr>
              <a:t>1 </a:t>
            </a:r>
            <a:r>
              <a:rPr lang="en-US" sz="1100" dirty="0"/>
              <a:t>Chọn một công trường xây dựng trong cây bên trái để xem dashboard. Phần đầu trang hiển thị Client (Chủ đầu tư), Construction Period (Thời gian thi công), Construction Scale (Quy mô công trình), Contract Amount (Giá trị hợp đồng) và Status (Trạng thái). </a:t>
            </a:r>
          </a:p>
          <a:p>
            <a:pPr>
              <a:spcAft>
                <a:spcPts val="500"/>
              </a:spcAft>
            </a:pPr>
            <a:r>
              <a:rPr lang="en-US" sz="1100" b="1" dirty="0">
                <a:solidFill>
                  <a:srgbClr val="1F3A6E"/>
                </a:solidFill>
                <a:latin typeface="Calibri" pitchFamily="34" charset="0"/>
              </a:rPr>
              <a:t>2  Exchange Rate </a:t>
            </a:r>
            <a:r>
              <a:rPr lang="en-US" sz="1100" dirty="0">
                <a:solidFill>
                  <a:srgbClr val="262626"/>
                </a:solidFill>
                <a:latin typeface="Calibri" pitchFamily="34" charset="0"/>
              </a:rPr>
              <a:t>(USD/KRW/VND) và </a:t>
            </a:r>
            <a:r>
              <a:rPr lang="en-US" sz="1100" b="1" dirty="0">
                <a:solidFill>
                  <a:srgbClr val="1F3A6E"/>
                </a:solidFill>
                <a:latin typeface="Calibri" pitchFamily="34" charset="0"/>
              </a:rPr>
              <a:t>Unit</a:t>
            </a:r>
            <a:r>
              <a:rPr lang="en-US" sz="1100" dirty="0">
                <a:solidFill>
                  <a:srgbClr val="262626"/>
                </a:solidFill>
                <a:latin typeface="Calibri" pitchFamily="34" charset="0"/>
              </a:rPr>
              <a:t> (USD/K USD): áp dụng cho toàn bộ các tab Overview, Report, Progress, Revenue/Cost, Outsourcing, Cashflow và Data Entry.</a:t>
            </a:r>
          </a:p>
          <a:p>
            <a:pPr marL="228600" indent="-228600">
              <a:lnSpc>
                <a:spcPct val="106000"/>
              </a:lnSpc>
              <a:spcAft>
                <a:spcPts val="500"/>
              </a:spcAft>
              <a:buAutoNum type="arabicPlain" startAt="3"/>
            </a:pPr>
            <a:r>
              <a:rPr lang="en-US" sz="1100" b="1" dirty="0">
                <a:solidFill>
                  <a:srgbClr val="1F3A6E"/>
                </a:solidFill>
                <a:latin typeface="Calibri" pitchFamily="34" charset="0"/>
              </a:rPr>
              <a:t>Site Photo (Ảnh công trường) &amp; Construction Info (Thông tin thi công) </a:t>
            </a:r>
            <a:r>
              <a:rPr lang="en-US" sz="1100" dirty="0">
                <a:solidFill>
                  <a:srgbClr val="262626"/>
                </a:solidFill>
                <a:latin typeface="Calibri" pitchFamily="34" charset="0"/>
              </a:rPr>
              <a:t>: </a:t>
            </a:r>
          </a:p>
          <a:p>
            <a:pPr>
              <a:lnSpc>
                <a:spcPct val="106000"/>
              </a:lnSpc>
              <a:spcAft>
                <a:spcPts val="500"/>
              </a:spcAft>
            </a:pPr>
            <a:r>
              <a:rPr lang="en-US" sz="1100" dirty="0">
                <a:solidFill>
                  <a:srgbClr val="262626"/>
                </a:solidFill>
                <a:latin typeface="Calibri" pitchFamily="34" charset="0"/>
              </a:rPr>
              <a:t>- Site Photo: Đồng bộ từ PIMSVINA</a:t>
            </a:r>
          </a:p>
          <a:p>
            <a:pPr marL="171450" indent="-171450">
              <a:lnSpc>
                <a:spcPct val="106000"/>
              </a:lnSpc>
              <a:spcAft>
                <a:spcPts val="500"/>
              </a:spcAft>
              <a:buFontTx/>
              <a:buChar char="-"/>
            </a:pPr>
            <a:r>
              <a:rPr lang="en-US" sz="1100" dirty="0">
                <a:solidFill>
                  <a:srgbClr val="262626"/>
                </a:solidFill>
                <a:latin typeface="Calibri" pitchFamily="34" charset="0"/>
              </a:rPr>
              <a:t>Construction Info: </a:t>
            </a:r>
            <a:r>
              <a:rPr lang="en-US" sz="1100" dirty="0"/>
              <a:t>Nhập liệu → 0. Tổng quan </a:t>
            </a:r>
          </a:p>
          <a:p>
            <a:pPr marL="228600" indent="-228600">
              <a:lnSpc>
                <a:spcPct val="106000"/>
              </a:lnSpc>
              <a:spcAft>
                <a:spcPts val="500"/>
              </a:spcAft>
              <a:buAutoNum type="arabicPlain" startAt="4"/>
            </a:pPr>
            <a:r>
              <a:rPr lang="en-US" sz="1100" b="1" dirty="0">
                <a:solidFill>
                  <a:srgbClr val="1F3A6E"/>
                </a:solidFill>
                <a:latin typeface="Calibri" pitchFamily="34" charset="0"/>
              </a:rPr>
              <a:t>Contract Info (Thông tin hợp đồng)</a:t>
            </a:r>
            <a:r>
              <a:rPr lang="en-US" sz="1100" dirty="0">
                <a:solidFill>
                  <a:srgbClr val="262626"/>
                </a:solidFill>
                <a:latin typeface="Calibri" pitchFamily="34" charset="0"/>
              </a:rPr>
              <a:t>: </a:t>
            </a:r>
            <a:r>
              <a:rPr lang="en-US" sz="1100" dirty="0"/>
              <a:t>Nhập liệu → 0. Tổng quan </a:t>
            </a:r>
          </a:p>
          <a:p>
            <a:pPr marL="228600" indent="-228600">
              <a:lnSpc>
                <a:spcPct val="106000"/>
              </a:lnSpc>
              <a:spcAft>
                <a:spcPts val="500"/>
              </a:spcAft>
              <a:buAutoNum type="arabicPlain" startAt="4"/>
            </a:pPr>
            <a:r>
              <a:rPr lang="en-US" sz="1100" b="1" dirty="0">
                <a:solidFill>
                  <a:srgbClr val="1F3A6E"/>
                </a:solidFill>
                <a:latin typeface="Calibri" pitchFamily="34" charset="0"/>
              </a:rPr>
              <a:t>Sync PIMSVINA </a:t>
            </a:r>
            <a:r>
              <a:rPr lang="en-US" sz="1100" dirty="0">
                <a:solidFill>
                  <a:srgbClr val="262626"/>
                </a:solidFill>
                <a:latin typeface="Calibri" pitchFamily="34" charset="0"/>
              </a:rPr>
              <a:t>làm mới dữ liệu dự án từ hệ thống nguồn.</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FDB6A664-5AC1-8261-DDE8-F306CA8B5FBD}"/>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AAF7B755-20BA-150B-AD23-CC2D51DC2D30}"/>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EE37291C-1A95-AA67-7DFE-6982E241C66C}"/>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FD0F9A43-0C35-F502-9543-C69A19B5B827}"/>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DEA553BC-E424-71FA-EC42-B4FC31A40FDD}"/>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1B6DA4B8-75EB-FD1A-B652-59084D03DA08}"/>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E213C936-9802-31DC-AD26-3987C584EDB6}"/>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832CD734-C13E-9DC0-21BC-527BA47C7BB9}"/>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BB03237A-9611-8742-FC3D-DFBE577C6872}"/>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5B5EBED2-A9A3-73C0-1DA6-7722FFCD3D03}"/>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1509D46F-2F0F-56BD-EC91-E273BBF7643D}"/>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75E9609C-D518-5994-D364-4255A3AF40BF}"/>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0F067C7A-FA7A-08A7-35BE-B385B3A50AD2}"/>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CC6D2AA6-0424-A4A6-19E8-E2558568FCE7}"/>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1FB1C1D7-2AC0-3B7D-31B4-5CD66115C664}"/>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4766F7E1-1423-8EFA-6F7B-F106B1F24C43}"/>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45890850-D8F2-9553-2ADD-9F8D0D2B1D4A}"/>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B7D30435-C431-73A8-D34F-FAC104967D40}"/>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7CC25B37-D6F6-6C57-11F8-5B0D184D6766}"/>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7BF2DC54-EB7F-B85A-5CD3-301CA04240F6}"/>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A394E48D-92AF-3557-A28A-3FEBBDFFC5AF}"/>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 name="Box 5">
            <a:extLst>
              <a:ext uri="{FF2B5EF4-FFF2-40B4-BE49-F238E27FC236}">
                <a16:creationId xmlns:a16="http://schemas.microsoft.com/office/drawing/2014/main" id="{134FB871-C014-CDFE-E158-9C13028F9F9C}"/>
              </a:ext>
            </a:extLst>
          </p:cNvPr>
          <p:cNvSpPr/>
          <p:nvPr/>
        </p:nvSpPr>
        <p:spPr>
          <a:xfrm>
            <a:off x="2772686" y="1914725"/>
            <a:ext cx="610880" cy="109769"/>
          </a:xfrm>
          <a:prstGeom prst="roundRect">
            <a:avLst>
              <a:gd name="adj" fmla="val 10000"/>
            </a:avLst>
          </a:prstGeom>
          <a:noFill/>
          <a:ln w="19050">
            <a:solidFill>
              <a:srgbClr val="1F3A6E"/>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Report (Báo cáo)</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25" name="Shape 23"/>
          <p:cNvSpPr/>
          <p:nvPr/>
        </p:nvSpPr>
        <p:spPr>
          <a:xfrm>
            <a:off x="283465" y="1964847"/>
            <a:ext cx="6917368" cy="3466683"/>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320040" y="2001424"/>
            <a:ext cx="7065323" cy="3385926"/>
          </a:xfrm>
          <a:prstGeom prst="rect">
            <a:avLst/>
          </a:prstGeom>
        </p:spPr>
      </p:pic>
      <p:sp>
        <p:nvSpPr>
          <p:cNvPr id="100" name="Box 1"/>
          <p:cNvSpPr/>
          <p:nvPr/>
        </p:nvSpPr>
        <p:spPr>
          <a:xfrm>
            <a:off x="1091865" y="2905597"/>
            <a:ext cx="6293497" cy="168341"/>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156248" y="3109950"/>
            <a:ext cx="2044152" cy="1164632"/>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3236974" y="3109951"/>
            <a:ext cx="2044151" cy="1164632"/>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943877" y="2762839"/>
            <a:ext cx="235097" cy="24287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966770" y="3152596"/>
            <a:ext cx="235097" cy="24287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5082602" y="3065771"/>
            <a:ext cx="235097" cy="24287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300" name="Panel Header"/>
          <p:cNvSpPr/>
          <p:nvPr/>
        </p:nvSpPr>
        <p:spPr>
          <a:xfrm>
            <a:off x="7587958" y="1537366"/>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87958" y="2057365"/>
            <a:ext cx="4211840" cy="3857659"/>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87957" y="2207366"/>
            <a:ext cx="3883520" cy="2247082"/>
          </a:xfrm>
          <a:prstGeom prst="rect">
            <a:avLst/>
          </a:prstGeom>
          <a:noFill/>
          <a:ln/>
        </p:spPr>
        <p:txBody>
          <a:bodyPr wrap="square" lIns="0" tIns="0" rIns="0" bIns="0" rtlCol="0" anchor="t"/>
          <a:lstStyle/>
          <a:p>
            <a:pPr marL="0" indent="0">
              <a:lnSpc>
                <a:spcPct val="106000"/>
              </a:lnSpc>
              <a:spcAft>
                <a:spcPts val="500"/>
              </a:spcAft>
              <a:buNone/>
            </a:pPr>
            <a:r>
              <a:rPr lang="en-US" sz="1100" b="1" dirty="0">
                <a:solidFill>
                  <a:srgbClr val="1F3A6E"/>
                </a:solidFill>
                <a:latin typeface="Calibri" pitchFamily="34" charset="0"/>
              </a:rPr>
              <a:t>1  Tab Report</a:t>
            </a:r>
            <a:r>
              <a:rPr lang="en-US" sz="1100" dirty="0">
                <a:solidFill>
                  <a:srgbClr val="262626"/>
                </a:solidFill>
                <a:latin typeface="Calibri" pitchFamily="34" charset="0"/>
              </a:rPr>
              <a:t>: tóm tắt điều hành hàng tháng. Chọn </a:t>
            </a:r>
            <a:r>
              <a:rPr lang="en-US" sz="1100" b="1" dirty="0">
                <a:solidFill>
                  <a:srgbClr val="1F3A6E"/>
                </a:solidFill>
                <a:latin typeface="Calibri" pitchFamily="34" charset="0"/>
              </a:rPr>
              <a:t>Base Month (Tháng gốc)</a:t>
            </a:r>
            <a:r>
              <a:rPr lang="en-US" sz="1100" dirty="0">
                <a:solidFill>
                  <a:srgbClr val="262626"/>
                </a:solidFill>
                <a:latin typeface="Calibri" pitchFamily="34" charset="0"/>
              </a:rPr>
              <a:t>, nhấn </a:t>
            </a:r>
            <a:r>
              <a:rPr lang="en-US" sz="1100" b="1" dirty="0">
                <a:solidFill>
                  <a:srgbClr val="1F3A6E"/>
                </a:solidFill>
                <a:latin typeface="Calibri" pitchFamily="34" charset="0"/>
              </a:rPr>
              <a:t>Export Report (Xuất báo cáo) </a:t>
            </a:r>
            <a:r>
              <a:rPr lang="en-US" sz="1100" dirty="0">
                <a:solidFill>
                  <a:srgbClr val="262626"/>
                </a:solidFill>
                <a:latin typeface="Calibri" pitchFamily="34" charset="0"/>
              </a:rPr>
              <a:t>để tạo tệp có thể chia sẻ.</a:t>
            </a:r>
          </a:p>
          <a:p>
            <a:pPr marL="228600" indent="-228600">
              <a:lnSpc>
                <a:spcPct val="106000"/>
              </a:lnSpc>
              <a:spcAft>
                <a:spcPts val="500"/>
              </a:spcAft>
              <a:buAutoNum type="arabicPlain" startAt="2"/>
            </a:pPr>
            <a:r>
              <a:rPr lang="en-US" sz="1100" b="1" dirty="0">
                <a:solidFill>
                  <a:srgbClr val="1F3A6E"/>
                </a:solidFill>
                <a:latin typeface="Calibri" pitchFamily="34" charset="0"/>
              </a:rPr>
              <a:t>Progress (Tiến độ)</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Monthly/Cumulative Progress (Tiến độ hàng tháng/lũy kế): </a:t>
            </a:r>
            <a:r>
              <a:rPr lang="en-US" sz="1100" dirty="0"/>
              <a:t>Nhập liệu → 1. Tiến độ hàng tháng.</a:t>
            </a:r>
          </a:p>
          <a:p>
            <a:pPr marL="171450" indent="-171450">
              <a:lnSpc>
                <a:spcPct val="106000"/>
              </a:lnSpc>
              <a:spcAft>
                <a:spcPts val="500"/>
              </a:spcAft>
              <a:buFontTx/>
              <a:buChar char="-"/>
            </a:pPr>
            <a:r>
              <a:rPr lang="en-US" sz="1100" dirty="0">
                <a:solidFill>
                  <a:srgbClr val="262626"/>
                </a:solidFill>
                <a:latin typeface="Calibri" pitchFamily="34" charset="0"/>
              </a:rPr>
              <a:t>Rate (Tỷ lệ) = Actual ÷ Plan * 100%</a:t>
            </a:r>
          </a:p>
          <a:p>
            <a:pPr marL="171450" indent="-171450">
              <a:lnSpc>
                <a:spcPct val="106000"/>
              </a:lnSpc>
              <a:spcAft>
                <a:spcPts val="500"/>
              </a:spcAft>
              <a:buFontTx/>
              <a:buChar char="-"/>
            </a:pPr>
            <a:r>
              <a:rPr lang="en-US" sz="1100" dirty="0">
                <a:solidFill>
                  <a:srgbClr val="262626"/>
                </a:solidFill>
                <a:latin typeface="Calibri" pitchFamily="34" charset="0"/>
              </a:rPr>
              <a:t>Duration rate (Tỷ lệ thời gian) = thời gian đã trôi qua ÷ tổng thời gian, cùng với chênh lệch so với tiến độ lũy kế.</a:t>
            </a:r>
          </a:p>
          <a:p>
            <a:pPr marL="228600" indent="-228600">
              <a:lnSpc>
                <a:spcPct val="106000"/>
              </a:lnSpc>
              <a:spcAft>
                <a:spcPts val="500"/>
              </a:spcAft>
              <a:buAutoNum type="arabicPlain" startAt="3"/>
            </a:pPr>
            <a:r>
              <a:rPr lang="en-US" sz="1100" b="1" dirty="0">
                <a:solidFill>
                  <a:srgbClr val="1F3A6E"/>
                </a:solidFill>
                <a:latin typeface="Calibri" pitchFamily="34" charset="0"/>
              </a:rPr>
              <a:t>Revenue Actual &amp; Forecast (Doanh thu thực tế &amp; Dự báo)</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Monthly Revenue (Doanh thu hàng tháng) (Plan/Actual/Forecast): </a:t>
            </a:r>
            <a:r>
              <a:rPr lang="en-US" sz="1100" dirty="0"/>
              <a:t>Nhập liệu → 2. Doanh thu hàng tháng → Plan, Actual, Forecast</a:t>
            </a:r>
          </a:p>
          <a:p>
            <a:pPr marL="171450" indent="-171450">
              <a:lnSpc>
                <a:spcPct val="106000"/>
              </a:lnSpc>
              <a:spcAft>
                <a:spcPts val="500"/>
              </a:spcAft>
              <a:buFontTx/>
              <a:buChar char="-"/>
            </a:pPr>
            <a:r>
              <a:rPr lang="en-US" sz="1100" dirty="0">
                <a:solidFill>
                  <a:srgbClr val="262626"/>
                </a:solidFill>
                <a:latin typeface="Calibri" pitchFamily="34" charset="0"/>
              </a:rPr>
              <a:t>Annual Accumulative (Lũy kế năm): Doanh thu lũy kế từ tháng 1 đến tháng hiện tại</a:t>
            </a:r>
          </a:p>
          <a:p>
            <a:pPr marL="171450" indent="-171450">
              <a:lnSpc>
                <a:spcPct val="106000"/>
              </a:lnSpc>
              <a:spcAft>
                <a:spcPts val="500"/>
              </a:spcAft>
              <a:buFontTx/>
              <a:buChar char="-"/>
            </a:pPr>
            <a:r>
              <a:rPr lang="en-US" sz="1100" dirty="0">
                <a:solidFill>
                  <a:srgbClr val="262626"/>
                </a:solidFill>
                <a:latin typeface="Calibri" pitchFamily="34" charset="0"/>
              </a:rPr>
              <a:t>Overall Accumulative (Lũy kế toàn dự án): Doanh thu lũy kế từ khi bắt đầu dự án đến tháng hiện tại.</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8782734B-5A0B-9CA8-47B3-BF7D97B4C4A1}"/>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5DE6B7A5-F9AB-675B-AACD-0FF6322236A1}"/>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EEE5327A-E070-0263-007D-485C5B25BE88}"/>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F87B8585-255A-8559-1392-431AD76637FD}"/>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AE9FAA88-1685-D4E9-C7E9-1B10044A9440}"/>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E405EBDB-8858-3BCB-740A-CE993F0FB82B}"/>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4AB71EAD-56EA-2150-1922-9061A6AA575D}"/>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FF6AF07D-DFDB-E3C1-C845-A5C376597ED3}"/>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ED4D2F6A-F1BC-DF5B-0D61-EB4E1C8554C7}"/>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135F75A1-4EBA-6FE9-7A9D-3CF533B5BE39}"/>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BC49F208-888D-74EA-1466-AB420C4EA104}"/>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CB2F9B98-FBC7-6373-BD52-366101D2513D}"/>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8C84BABE-973E-FABB-04FD-234FC6C6F78B}"/>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81BA6D92-B32A-A14E-767E-5E8E6C622940}"/>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E9CEA3B6-9754-DB1D-10B1-9A4E5CA40C84}"/>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CF9C8399-D4B0-4E4B-F329-4E81637514FC}"/>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7538D3AB-B9F1-037A-49D0-11839014E4ED}"/>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57F8B387-632A-74FC-D7DF-2C8ADDCC5155}"/>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245F1303-F41A-9AC1-ECAA-ADE8DFAF7024}"/>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379AFABB-651B-E373-0EB1-F3E963FD5C95}"/>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12D31633-5A3B-9070-8746-47097C5B19F0}"/>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FA22662-2892-76A3-FE04-DDF49198204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B7E3F0-9874-F102-92AC-6ED8067CE7AE}"/>
              </a:ext>
            </a:extLst>
          </p:cNvPr>
          <p:cNvSpPr/>
          <p:nvPr/>
        </p:nvSpPr>
        <p:spPr>
          <a:xfrm>
            <a:off x="0" y="0"/>
            <a:ext cx="12191695" cy="54864"/>
          </a:xfrm>
          <a:prstGeom prst="rect">
            <a:avLst/>
          </a:prstGeom>
          <a:solidFill>
            <a:srgbClr val="3F8FD0"/>
          </a:solidFill>
          <a:ln/>
        </p:spPr>
        <p:txBody>
          <a:bodyPr/>
          <a:lstStyle/>
          <a:p>
            <a:endParaRPr lang="en-US"/>
          </a:p>
        </p:txBody>
      </p:sp>
      <p:sp>
        <p:nvSpPr>
          <p:cNvPr id="12" name="Text 10">
            <a:extLst>
              <a:ext uri="{FF2B5EF4-FFF2-40B4-BE49-F238E27FC236}">
                <a16:creationId xmlns:a16="http://schemas.microsoft.com/office/drawing/2014/main" id="{3434B97A-3214-7EE6-6F68-1D25A396A9F2}"/>
              </a:ext>
            </a:extLst>
          </p:cNvPr>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Report (Báo cáo)</a:t>
            </a:r>
            <a:endParaRPr lang="en-US" sz="2800" dirty="0"/>
          </a:p>
        </p:txBody>
      </p:sp>
      <p:sp>
        <p:nvSpPr>
          <p:cNvPr id="13" name="Shape 11">
            <a:extLst>
              <a:ext uri="{FF2B5EF4-FFF2-40B4-BE49-F238E27FC236}">
                <a16:creationId xmlns:a16="http://schemas.microsoft.com/office/drawing/2014/main" id="{EC5A5EB4-090D-BF1A-9FB4-1D7F278027F6}"/>
              </a:ext>
            </a:extLst>
          </p:cNvPr>
          <p:cNvSpPr/>
          <p:nvPr/>
        </p:nvSpPr>
        <p:spPr>
          <a:xfrm>
            <a:off x="9503359" y="0"/>
            <a:ext cx="384048" cy="384048"/>
          </a:xfrm>
          <a:prstGeom prst="rect">
            <a:avLst/>
          </a:prstGeom>
          <a:solidFill>
            <a:srgbClr val="AEE0F5"/>
          </a:solidFill>
          <a:ln/>
        </p:spPr>
        <p:txBody>
          <a:bodyPr/>
          <a:lstStyle/>
          <a:p>
            <a:endParaRPr lang="en-US"/>
          </a:p>
        </p:txBody>
      </p:sp>
      <p:sp>
        <p:nvSpPr>
          <p:cNvPr id="14" name="Shape 12">
            <a:extLst>
              <a:ext uri="{FF2B5EF4-FFF2-40B4-BE49-F238E27FC236}">
                <a16:creationId xmlns:a16="http://schemas.microsoft.com/office/drawing/2014/main" id="{7FCE5E3D-8622-9E71-F547-B0F2BAD09E06}"/>
              </a:ext>
            </a:extLst>
          </p:cNvPr>
          <p:cNvSpPr/>
          <p:nvPr/>
        </p:nvSpPr>
        <p:spPr>
          <a:xfrm>
            <a:off x="9887407" y="0"/>
            <a:ext cx="384048" cy="384048"/>
          </a:xfrm>
          <a:prstGeom prst="rect">
            <a:avLst/>
          </a:prstGeom>
          <a:solidFill>
            <a:srgbClr val="3F8FD0"/>
          </a:solidFill>
          <a:ln/>
        </p:spPr>
        <p:txBody>
          <a:bodyPr/>
          <a:lstStyle/>
          <a:p>
            <a:endParaRPr lang="en-US"/>
          </a:p>
        </p:txBody>
      </p:sp>
      <p:sp>
        <p:nvSpPr>
          <p:cNvPr id="15" name="Shape 13">
            <a:extLst>
              <a:ext uri="{FF2B5EF4-FFF2-40B4-BE49-F238E27FC236}">
                <a16:creationId xmlns:a16="http://schemas.microsoft.com/office/drawing/2014/main" id="{F8DDFD34-F93E-D52A-6B1E-607A5FEA0451}"/>
              </a:ext>
            </a:extLst>
          </p:cNvPr>
          <p:cNvSpPr/>
          <p:nvPr/>
        </p:nvSpPr>
        <p:spPr>
          <a:xfrm>
            <a:off x="10655503" y="0"/>
            <a:ext cx="384048" cy="384048"/>
          </a:xfrm>
          <a:prstGeom prst="rect">
            <a:avLst/>
          </a:prstGeom>
          <a:solidFill>
            <a:srgbClr val="3F8FD0"/>
          </a:solidFill>
          <a:ln/>
        </p:spPr>
        <p:txBody>
          <a:bodyPr/>
          <a:lstStyle/>
          <a:p>
            <a:endParaRPr lang="en-US"/>
          </a:p>
        </p:txBody>
      </p:sp>
      <p:sp>
        <p:nvSpPr>
          <p:cNvPr id="16" name="Shape 14">
            <a:extLst>
              <a:ext uri="{FF2B5EF4-FFF2-40B4-BE49-F238E27FC236}">
                <a16:creationId xmlns:a16="http://schemas.microsoft.com/office/drawing/2014/main" id="{3397AFD1-D13A-B552-9064-1A5BF623130D}"/>
              </a:ext>
            </a:extLst>
          </p:cNvPr>
          <p:cNvSpPr/>
          <p:nvPr/>
        </p:nvSpPr>
        <p:spPr>
          <a:xfrm>
            <a:off x="11039551" y="0"/>
            <a:ext cx="384048" cy="384048"/>
          </a:xfrm>
          <a:prstGeom prst="rect">
            <a:avLst/>
          </a:prstGeom>
          <a:solidFill>
            <a:srgbClr val="AEE0F5"/>
          </a:solidFill>
          <a:ln/>
        </p:spPr>
        <p:txBody>
          <a:bodyPr/>
          <a:lstStyle/>
          <a:p>
            <a:endParaRPr lang="en-US"/>
          </a:p>
        </p:txBody>
      </p:sp>
      <p:sp>
        <p:nvSpPr>
          <p:cNvPr id="17" name="Shape 15">
            <a:extLst>
              <a:ext uri="{FF2B5EF4-FFF2-40B4-BE49-F238E27FC236}">
                <a16:creationId xmlns:a16="http://schemas.microsoft.com/office/drawing/2014/main" id="{B35B3992-6E5A-5225-0AE4-0B348D474ED8}"/>
              </a:ext>
            </a:extLst>
          </p:cNvPr>
          <p:cNvSpPr/>
          <p:nvPr/>
        </p:nvSpPr>
        <p:spPr>
          <a:xfrm>
            <a:off x="11423599" y="0"/>
            <a:ext cx="384048" cy="384048"/>
          </a:xfrm>
          <a:prstGeom prst="rect">
            <a:avLst/>
          </a:prstGeom>
          <a:solidFill>
            <a:srgbClr val="3F8FD0"/>
          </a:solidFill>
          <a:ln/>
        </p:spPr>
        <p:txBody>
          <a:bodyPr/>
          <a:lstStyle/>
          <a:p>
            <a:endParaRPr lang="en-US"/>
          </a:p>
        </p:txBody>
      </p:sp>
      <p:sp>
        <p:nvSpPr>
          <p:cNvPr id="18" name="Shape 16">
            <a:extLst>
              <a:ext uri="{FF2B5EF4-FFF2-40B4-BE49-F238E27FC236}">
                <a16:creationId xmlns:a16="http://schemas.microsoft.com/office/drawing/2014/main" id="{549BC8D9-7AA4-69AF-C693-5B9FC0EDC469}"/>
              </a:ext>
            </a:extLst>
          </p:cNvPr>
          <p:cNvSpPr/>
          <p:nvPr/>
        </p:nvSpPr>
        <p:spPr>
          <a:xfrm>
            <a:off x="11807647" y="0"/>
            <a:ext cx="384048" cy="384048"/>
          </a:xfrm>
          <a:prstGeom prst="rect">
            <a:avLst/>
          </a:prstGeom>
          <a:solidFill>
            <a:srgbClr val="AEE0F5"/>
          </a:solidFill>
          <a:ln/>
        </p:spPr>
        <p:txBody>
          <a:bodyPr/>
          <a:lstStyle/>
          <a:p>
            <a:endParaRPr lang="en-US"/>
          </a:p>
        </p:txBody>
      </p:sp>
      <p:sp>
        <p:nvSpPr>
          <p:cNvPr id="19" name="Shape 17">
            <a:extLst>
              <a:ext uri="{FF2B5EF4-FFF2-40B4-BE49-F238E27FC236}">
                <a16:creationId xmlns:a16="http://schemas.microsoft.com/office/drawing/2014/main" id="{3D5826C4-B046-A6CA-83CE-4E1DBCB4ADBA}"/>
              </a:ext>
            </a:extLst>
          </p:cNvPr>
          <p:cNvSpPr/>
          <p:nvPr/>
        </p:nvSpPr>
        <p:spPr>
          <a:xfrm>
            <a:off x="10271455" y="384048"/>
            <a:ext cx="384048" cy="384048"/>
          </a:xfrm>
          <a:prstGeom prst="rect">
            <a:avLst/>
          </a:prstGeom>
          <a:solidFill>
            <a:srgbClr val="3F8FD0"/>
          </a:solidFill>
          <a:ln/>
        </p:spPr>
        <p:txBody>
          <a:bodyPr/>
          <a:lstStyle/>
          <a:p>
            <a:endParaRPr lang="en-US"/>
          </a:p>
        </p:txBody>
      </p:sp>
      <p:sp>
        <p:nvSpPr>
          <p:cNvPr id="20" name="Shape 18">
            <a:extLst>
              <a:ext uri="{FF2B5EF4-FFF2-40B4-BE49-F238E27FC236}">
                <a16:creationId xmlns:a16="http://schemas.microsoft.com/office/drawing/2014/main" id="{0D6A9584-DE0E-1DBA-A0D9-D8ACDC85B407}"/>
              </a:ext>
            </a:extLst>
          </p:cNvPr>
          <p:cNvSpPr/>
          <p:nvPr/>
        </p:nvSpPr>
        <p:spPr>
          <a:xfrm>
            <a:off x="11423599" y="384048"/>
            <a:ext cx="384048" cy="384048"/>
          </a:xfrm>
          <a:prstGeom prst="rect">
            <a:avLst/>
          </a:prstGeom>
          <a:solidFill>
            <a:srgbClr val="AEE0F5"/>
          </a:solidFill>
          <a:ln/>
        </p:spPr>
        <p:txBody>
          <a:bodyPr/>
          <a:lstStyle/>
          <a:p>
            <a:endParaRPr lang="en-US"/>
          </a:p>
        </p:txBody>
      </p:sp>
      <p:sp>
        <p:nvSpPr>
          <p:cNvPr id="21" name="Shape 19">
            <a:extLst>
              <a:ext uri="{FF2B5EF4-FFF2-40B4-BE49-F238E27FC236}">
                <a16:creationId xmlns:a16="http://schemas.microsoft.com/office/drawing/2014/main" id="{93329914-A79A-425F-080D-6AD1FFAE950C}"/>
              </a:ext>
            </a:extLst>
          </p:cNvPr>
          <p:cNvSpPr/>
          <p:nvPr/>
        </p:nvSpPr>
        <p:spPr>
          <a:xfrm>
            <a:off x="11807647" y="384048"/>
            <a:ext cx="384048" cy="384048"/>
          </a:xfrm>
          <a:prstGeom prst="rect">
            <a:avLst/>
          </a:prstGeom>
          <a:solidFill>
            <a:srgbClr val="3F8FD0"/>
          </a:solidFill>
          <a:ln/>
        </p:spPr>
        <p:txBody>
          <a:bodyPr/>
          <a:lstStyle/>
          <a:p>
            <a:endParaRPr lang="en-US"/>
          </a:p>
        </p:txBody>
      </p:sp>
      <p:sp>
        <p:nvSpPr>
          <p:cNvPr id="22" name="Shape 20">
            <a:extLst>
              <a:ext uri="{FF2B5EF4-FFF2-40B4-BE49-F238E27FC236}">
                <a16:creationId xmlns:a16="http://schemas.microsoft.com/office/drawing/2014/main" id="{5F327850-2E47-2CE9-730A-5D8C104CC589}"/>
              </a:ext>
            </a:extLst>
          </p:cNvPr>
          <p:cNvSpPr/>
          <p:nvPr/>
        </p:nvSpPr>
        <p:spPr>
          <a:xfrm>
            <a:off x="11039551" y="768096"/>
            <a:ext cx="384048" cy="384048"/>
          </a:xfrm>
          <a:prstGeom prst="rect">
            <a:avLst/>
          </a:prstGeom>
          <a:solidFill>
            <a:srgbClr val="AEE0F5"/>
          </a:solidFill>
          <a:ln/>
        </p:spPr>
        <p:txBody>
          <a:bodyPr/>
          <a:lstStyle/>
          <a:p>
            <a:endParaRPr lang="en-US"/>
          </a:p>
        </p:txBody>
      </p:sp>
      <p:sp>
        <p:nvSpPr>
          <p:cNvPr id="23" name="Shape 21">
            <a:extLst>
              <a:ext uri="{FF2B5EF4-FFF2-40B4-BE49-F238E27FC236}">
                <a16:creationId xmlns:a16="http://schemas.microsoft.com/office/drawing/2014/main" id="{6CD19547-8486-CDF4-F2DC-F4389ADDF4CE}"/>
              </a:ext>
            </a:extLst>
          </p:cNvPr>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97EA0B35-E196-760A-092B-31DA095F6FDF}"/>
              </a:ext>
            </a:extLst>
          </p:cNvPr>
          <p:cNvGrpSpPr/>
          <p:nvPr/>
        </p:nvGrpSpPr>
        <p:grpSpPr>
          <a:xfrm>
            <a:off x="320040" y="1819483"/>
            <a:ext cx="7078795" cy="3492643"/>
            <a:chOff x="603504" y="2271924"/>
            <a:chExt cx="6473152" cy="3140234"/>
          </a:xfrm>
        </p:grpSpPr>
        <p:sp>
          <p:nvSpPr>
            <p:cNvPr id="25" name="Shape 23">
              <a:extLst>
                <a:ext uri="{FF2B5EF4-FFF2-40B4-BE49-F238E27FC236}">
                  <a16:creationId xmlns:a16="http://schemas.microsoft.com/office/drawing/2014/main" id="{25464096-D962-7EF8-CE6A-A35EB4E338C2}"/>
                </a:ext>
              </a:extLst>
            </p:cNvPr>
            <p:cNvSpPr/>
            <p:nvPr/>
          </p:nvSpPr>
          <p:spPr>
            <a:xfrm>
              <a:off x="603504" y="2271924"/>
              <a:ext cx="6473152" cy="3140234"/>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a:extLst>
                <a:ext uri="{FF2B5EF4-FFF2-40B4-BE49-F238E27FC236}">
                  <a16:creationId xmlns:a16="http://schemas.microsoft.com/office/drawing/2014/main" id="{49FBBCDB-6E9A-2A42-37D9-29D547D5DD76}"/>
                </a:ext>
              </a:extLst>
            </p:cNvPr>
            <p:cNvPicPr>
              <a:picLocks noChangeAspect="1"/>
            </p:cNvPicPr>
            <p:nvPr/>
          </p:nvPicPr>
          <p:blipFill>
            <a:blip r:embed="rId3"/>
            <a:stretch>
              <a:fillRect/>
            </a:stretch>
          </p:blipFill>
          <p:spPr>
            <a:xfrm>
              <a:off x="640080" y="2308500"/>
              <a:ext cx="6400000" cy="3067082"/>
            </a:xfrm>
            <a:prstGeom prst="rect">
              <a:avLst/>
            </a:prstGeom>
          </p:spPr>
        </p:pic>
        <p:sp>
          <p:nvSpPr>
            <p:cNvPr id="101" name="Box 2">
              <a:extLst>
                <a:ext uri="{FF2B5EF4-FFF2-40B4-BE49-F238E27FC236}">
                  <a16:creationId xmlns:a16="http://schemas.microsoft.com/office/drawing/2014/main" id="{69FDD281-9467-81FC-51D0-435B70C8D617}"/>
                </a:ext>
              </a:extLst>
            </p:cNvPr>
            <p:cNvSpPr/>
            <p:nvPr/>
          </p:nvSpPr>
          <p:spPr>
            <a:xfrm>
              <a:off x="1387190" y="4431966"/>
              <a:ext cx="1844237" cy="790395"/>
            </a:xfrm>
            <a:prstGeom prst="roundRect">
              <a:avLst>
                <a:gd name="adj" fmla="val 10000"/>
              </a:avLst>
            </a:prstGeom>
            <a:noFill/>
            <a:ln w="19050">
              <a:solidFill>
                <a:srgbClr val="1F3A6E"/>
              </a:solidFill>
            </a:ln>
          </p:spPr>
          <p:txBody>
            <a:bodyPr/>
            <a:lstStyle/>
            <a:p>
              <a:endParaRPr lang="en-US"/>
            </a:p>
          </p:txBody>
        </p:sp>
        <p:sp>
          <p:nvSpPr>
            <p:cNvPr id="102" name="Box 3">
              <a:extLst>
                <a:ext uri="{FF2B5EF4-FFF2-40B4-BE49-F238E27FC236}">
                  <a16:creationId xmlns:a16="http://schemas.microsoft.com/office/drawing/2014/main" id="{B9AA1F7A-E316-EE96-83A0-1B98C6942BDE}"/>
                </a:ext>
              </a:extLst>
            </p:cNvPr>
            <p:cNvSpPr/>
            <p:nvPr/>
          </p:nvSpPr>
          <p:spPr>
            <a:xfrm>
              <a:off x="3306142" y="4435187"/>
              <a:ext cx="1794393" cy="790395"/>
            </a:xfrm>
            <a:prstGeom prst="roundRect">
              <a:avLst>
                <a:gd name="adj" fmla="val 10000"/>
              </a:avLst>
            </a:prstGeom>
            <a:noFill/>
            <a:ln w="19050">
              <a:solidFill>
                <a:srgbClr val="1F3A6E"/>
              </a:solidFill>
            </a:ln>
          </p:spPr>
          <p:txBody>
            <a:bodyPr/>
            <a:lstStyle/>
            <a:p>
              <a:endParaRPr lang="en-US"/>
            </a:p>
          </p:txBody>
        </p:sp>
        <p:sp>
          <p:nvSpPr>
            <p:cNvPr id="103" name="Box 4">
              <a:extLst>
                <a:ext uri="{FF2B5EF4-FFF2-40B4-BE49-F238E27FC236}">
                  <a16:creationId xmlns:a16="http://schemas.microsoft.com/office/drawing/2014/main" id="{01A5CC42-FBC4-5F92-5EEF-B04983E90E5C}"/>
                </a:ext>
              </a:extLst>
            </p:cNvPr>
            <p:cNvSpPr/>
            <p:nvPr/>
          </p:nvSpPr>
          <p:spPr>
            <a:xfrm>
              <a:off x="5175250" y="4451802"/>
              <a:ext cx="1811663" cy="773780"/>
            </a:xfrm>
            <a:prstGeom prst="roundRect">
              <a:avLst>
                <a:gd name="adj" fmla="val 10000"/>
              </a:avLst>
            </a:prstGeom>
            <a:noFill/>
            <a:ln w="19050">
              <a:solidFill>
                <a:srgbClr val="1F3A6E"/>
              </a:solidFill>
            </a:ln>
          </p:spPr>
          <p:txBody>
            <a:bodyPr/>
            <a:lstStyle/>
            <a:p>
              <a:endParaRPr lang="en-US"/>
            </a:p>
          </p:txBody>
        </p:sp>
        <p:sp>
          <p:nvSpPr>
            <p:cNvPr id="200" name="Callout 1">
              <a:extLst>
                <a:ext uri="{FF2B5EF4-FFF2-40B4-BE49-F238E27FC236}">
                  <a16:creationId xmlns:a16="http://schemas.microsoft.com/office/drawing/2014/main" id="{1A8426DF-49FA-4F67-2CD1-17F8CA664EF2}"/>
                </a:ext>
              </a:extLst>
            </p:cNvPr>
            <p:cNvSpPr/>
            <p:nvPr/>
          </p:nvSpPr>
          <p:spPr>
            <a:xfrm>
              <a:off x="3029649" y="434180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a:extLst>
                <a:ext uri="{FF2B5EF4-FFF2-40B4-BE49-F238E27FC236}">
                  <a16:creationId xmlns:a16="http://schemas.microsoft.com/office/drawing/2014/main" id="{E23F8DCA-925F-3EF0-CE34-6D7920DE9A01}"/>
                </a:ext>
              </a:extLst>
            </p:cNvPr>
            <p:cNvSpPr/>
            <p:nvPr/>
          </p:nvSpPr>
          <p:spPr>
            <a:xfrm>
              <a:off x="4917893" y="438347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a:extLst>
                <a:ext uri="{FF2B5EF4-FFF2-40B4-BE49-F238E27FC236}">
                  <a16:creationId xmlns:a16="http://schemas.microsoft.com/office/drawing/2014/main" id="{88C46A62-9064-A46B-A1B0-BFA2BF88FE65}"/>
                </a:ext>
              </a:extLst>
            </p:cNvPr>
            <p:cNvSpPr/>
            <p:nvPr/>
          </p:nvSpPr>
          <p:spPr>
            <a:xfrm>
              <a:off x="6820212" y="441522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a:extLst>
              <a:ext uri="{FF2B5EF4-FFF2-40B4-BE49-F238E27FC236}">
                <a16:creationId xmlns:a16="http://schemas.microsoft.com/office/drawing/2014/main" id="{CC66F23E-18D4-FD59-A2BF-30849C2E4753}"/>
              </a:ext>
            </a:extLst>
          </p:cNvPr>
          <p:cNvSpPr/>
          <p:nvPr/>
        </p:nvSpPr>
        <p:spPr>
          <a:xfrm>
            <a:off x="7595807" y="1299483"/>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a:extLst>
              <a:ext uri="{FF2B5EF4-FFF2-40B4-BE49-F238E27FC236}">
                <a16:creationId xmlns:a16="http://schemas.microsoft.com/office/drawing/2014/main" id="{5E0932B8-C6FB-9556-7D64-8ED05DCCDF96}"/>
              </a:ext>
            </a:extLst>
          </p:cNvPr>
          <p:cNvSpPr/>
          <p:nvPr/>
        </p:nvSpPr>
        <p:spPr>
          <a:xfrm>
            <a:off x="7595807" y="1819483"/>
            <a:ext cx="4211840" cy="4019698"/>
          </a:xfrm>
          <a:prstGeom prst="rect">
            <a:avLst/>
          </a:prstGeom>
          <a:solidFill>
            <a:srgbClr val="F4F8FD"/>
          </a:solidFill>
          <a:ln w="9525">
            <a:solidFill>
              <a:srgbClr val="BFBFBF"/>
            </a:solidFill>
          </a:ln>
        </p:spPr>
        <p:txBody>
          <a:bodyPr/>
          <a:lstStyle/>
          <a:p>
            <a:endParaRPr lang="en-US"/>
          </a:p>
        </p:txBody>
      </p:sp>
      <p:sp>
        <p:nvSpPr>
          <p:cNvPr id="302" name="Panel Text">
            <a:extLst>
              <a:ext uri="{FF2B5EF4-FFF2-40B4-BE49-F238E27FC236}">
                <a16:creationId xmlns:a16="http://schemas.microsoft.com/office/drawing/2014/main" id="{DF0DF5B0-07AD-F40F-9A87-A7992D8357C3}"/>
              </a:ext>
            </a:extLst>
          </p:cNvPr>
          <p:cNvSpPr txBox="1"/>
          <p:nvPr/>
        </p:nvSpPr>
        <p:spPr>
          <a:xfrm>
            <a:off x="7795807" y="1969483"/>
            <a:ext cx="3811840" cy="2247082"/>
          </a:xfrm>
          <a:prstGeom prst="rect">
            <a:avLst/>
          </a:prstGeom>
          <a:noFill/>
          <a:ln/>
        </p:spPr>
        <p:txBody>
          <a:bodyPr wrap="square" lIns="0" tIns="0" rIns="0" bIns="0" rtlCol="0" anchor="t"/>
          <a:lstStyle/>
          <a:p>
            <a:pPr>
              <a:lnSpc>
                <a:spcPct val="106000"/>
              </a:lnSpc>
              <a:spcAft>
                <a:spcPts val="500"/>
              </a:spcAft>
            </a:pPr>
            <a:r>
              <a:rPr lang="en-US" sz="1100" b="1" dirty="0">
                <a:solidFill>
                  <a:srgbClr val="1F3A6E"/>
                </a:solidFill>
                <a:latin typeface="Calibri" pitchFamily="34" charset="0"/>
              </a:rPr>
              <a:t>1 Status (Trạng thái)</a:t>
            </a:r>
            <a:r>
              <a:rPr lang="en-US" sz="1100" dirty="0">
                <a:solidFill>
                  <a:srgbClr val="262626"/>
                </a:solidFill>
                <a:latin typeface="Calibri" pitchFamily="34" charset="0"/>
              </a:rPr>
              <a:t>: đèn tín hiệu Progress/Revenue/Cost (theo tháng &amp; năm). Cost (Cumulative Execution) (Chi phí thực hiện lũy kế): Direct (Trực tiếp), Indirect (Gián tiếp), Contingency (Dự phòng). </a:t>
            </a:r>
          </a:p>
          <a:p>
            <a:pPr marL="171450" indent="-171450">
              <a:lnSpc>
                <a:spcPct val="106000"/>
              </a:lnSpc>
              <a:spcAft>
                <a:spcPts val="500"/>
              </a:spcAft>
              <a:buFontTx/>
              <a:buChar char="-"/>
            </a:pPr>
            <a:r>
              <a:rPr lang="en-US" sz="1100" dirty="0">
                <a:solidFill>
                  <a:srgbClr val="262626"/>
                </a:solidFill>
                <a:latin typeface="Calibri" pitchFamily="34" charset="0"/>
              </a:rPr>
              <a:t>Progress: </a:t>
            </a:r>
            <a:r>
              <a:rPr lang="en-US" sz="1100" dirty="0"/>
              <a:t>Nhập liệu → 1. Tiến độ hàng tháng</a:t>
            </a:r>
          </a:p>
          <a:p>
            <a:pPr marL="171450" indent="-171450">
              <a:lnSpc>
                <a:spcPct val="106000"/>
              </a:lnSpc>
              <a:spcAft>
                <a:spcPts val="500"/>
              </a:spcAft>
              <a:buFontTx/>
              <a:buChar char="-"/>
            </a:pPr>
            <a:r>
              <a:rPr lang="en-US" sz="1100" dirty="0">
                <a:solidFill>
                  <a:srgbClr val="262626"/>
                </a:solidFill>
                <a:latin typeface="Calibri" pitchFamily="34" charset="0"/>
              </a:rPr>
              <a:t>Revenue (Doanh thu):</a:t>
            </a:r>
          </a:p>
          <a:p>
            <a:pPr marL="171450" indent="-171450">
              <a:lnSpc>
                <a:spcPct val="106000"/>
              </a:lnSpc>
              <a:spcAft>
                <a:spcPts val="500"/>
              </a:spcAft>
              <a:buFontTx/>
              <a:buChar char="-"/>
            </a:pPr>
            <a:r>
              <a:rPr lang="en-US" sz="1100" dirty="0">
                <a:solidFill>
                  <a:srgbClr val="262626"/>
                </a:solidFill>
                <a:latin typeface="Calibri" pitchFamily="34" charset="0"/>
              </a:rPr>
              <a:t>Cost (Chi phí): Lấy dữ liệu tỷ lệ thực hiện từ tab Cost bên dưới.</a:t>
            </a:r>
          </a:p>
          <a:p>
            <a:pPr marL="171450" indent="-171450">
              <a:lnSpc>
                <a:spcPct val="106000"/>
              </a:lnSpc>
              <a:spcAft>
                <a:spcPts val="500"/>
              </a:spcAft>
              <a:buFontTx/>
              <a:buChar char="-"/>
            </a:pPr>
            <a:r>
              <a:rPr lang="en-US" sz="1100" dirty="0">
                <a:solidFill>
                  <a:srgbClr val="262626"/>
                </a:solidFill>
                <a:latin typeface="Calibri" pitchFamily="34" charset="0"/>
              </a:rPr>
              <a:t>Cashflow (Dòng tiền):</a:t>
            </a:r>
          </a:p>
          <a:p>
            <a:pPr marL="171450" indent="-171450">
              <a:lnSpc>
                <a:spcPct val="106000"/>
              </a:lnSpc>
              <a:spcAft>
                <a:spcPts val="500"/>
              </a:spcAft>
              <a:buFontTx/>
              <a:buChar char="-"/>
            </a:pPr>
            <a:r>
              <a:rPr lang="en-US" sz="1100" dirty="0">
                <a:solidFill>
                  <a:srgbClr val="262626"/>
                </a:solidFill>
                <a:latin typeface="Calibri" pitchFamily="34" charset="0"/>
              </a:rPr>
              <a:t>Chỉ báo đèn tín hiệu hiển thị trạng thái của từng mục; di chuột vào để xem lý do.</a:t>
            </a:r>
          </a:p>
          <a:p>
            <a:pPr marL="228600" indent="-228600">
              <a:lnSpc>
                <a:spcPct val="106000"/>
              </a:lnSpc>
              <a:spcAft>
                <a:spcPts val="500"/>
              </a:spcAft>
              <a:buAutoNum type="arabicPlain" startAt="2"/>
            </a:pPr>
            <a:r>
              <a:rPr lang="en-US" sz="1100" b="1" dirty="0">
                <a:solidFill>
                  <a:srgbClr val="1F3A6E"/>
                </a:solidFill>
                <a:latin typeface="Calibri" pitchFamily="34" charset="0"/>
              </a:rPr>
              <a:t>Cost (cumulative Execution) (Chi phí thực hiện lũy kế)</a:t>
            </a:r>
            <a:r>
              <a:rPr lang="en-US" sz="1100" dirty="0">
                <a:solidFill>
                  <a:srgbClr val="262626"/>
                </a:solidFill>
                <a:latin typeface="Calibri" pitchFamily="34" charset="0"/>
              </a:rPr>
              <a:t>: </a:t>
            </a:r>
          </a:p>
          <a:p>
            <a:pPr>
              <a:lnSpc>
                <a:spcPct val="106000"/>
              </a:lnSpc>
              <a:spcAft>
                <a:spcPts val="500"/>
              </a:spcAft>
            </a:pPr>
            <a:r>
              <a:rPr lang="en-US" sz="1100" dirty="0">
                <a:solidFill>
                  <a:srgbClr val="262626"/>
                </a:solidFill>
                <a:latin typeface="Calibri" pitchFamily="34" charset="0"/>
              </a:rPr>
              <a:t>- Nguồn: </a:t>
            </a:r>
            <a:r>
              <a:rPr lang="en-US" sz="1100" dirty="0"/>
              <a:t>Nhập liệu → 6. Tình trạng thực hiện ngân sách</a:t>
            </a:r>
            <a:endParaRPr lang="en-US" sz="1100" dirty="0">
              <a:solidFill>
                <a:srgbClr val="262626"/>
              </a:solidFill>
              <a:latin typeface="Calibri" pitchFamily="34" charset="0"/>
            </a:endParaRPr>
          </a:p>
          <a:p>
            <a:pPr>
              <a:lnSpc>
                <a:spcPct val="106000"/>
              </a:lnSpc>
              <a:spcAft>
                <a:spcPts val="500"/>
              </a:spcAft>
            </a:pPr>
            <a:r>
              <a:rPr lang="en-US" sz="1100" dirty="0">
                <a:solidFill>
                  <a:srgbClr val="262626"/>
                </a:solidFill>
                <a:latin typeface="Calibri" pitchFamily="34" charset="0"/>
              </a:rPr>
              <a:t>- Execution rate (Tỷ lệ thực hiện) = Execution ÷ Plan * 100%.</a:t>
            </a:r>
          </a:p>
          <a:p>
            <a:pPr marL="228600" indent="-228600">
              <a:lnSpc>
                <a:spcPct val="106000"/>
              </a:lnSpc>
              <a:spcAft>
                <a:spcPts val="500"/>
              </a:spcAft>
              <a:buAutoNum type="arabicPlain" startAt="3"/>
            </a:pPr>
            <a:r>
              <a:rPr lang="en-US" sz="1100" b="1" dirty="0">
                <a:solidFill>
                  <a:srgbClr val="1F3A6E"/>
                </a:solidFill>
                <a:latin typeface="Calibri" pitchFamily="34" charset="0"/>
              </a:rPr>
              <a:t>Cashflow (Dòng tiền)</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Cumulative Revenue (Doanh thu lũy kế) = Actual Overall Cumulative</a:t>
            </a:r>
          </a:p>
          <a:p>
            <a:pPr marL="171450" indent="-171450">
              <a:lnSpc>
                <a:spcPct val="106000"/>
              </a:lnSpc>
              <a:spcAft>
                <a:spcPts val="500"/>
              </a:spcAft>
              <a:buFontTx/>
              <a:buChar char="-"/>
            </a:pPr>
            <a:r>
              <a:rPr lang="en-US" sz="1100" dirty="0">
                <a:solidFill>
                  <a:srgbClr val="262626"/>
                </a:solidFill>
                <a:latin typeface="Calibri" pitchFamily="34" charset="0"/>
              </a:rPr>
              <a:t>Collection (Actual) (Thu tiền thực tế):</a:t>
            </a:r>
          </a:p>
          <a:p>
            <a:pPr marL="171450" indent="-171450">
              <a:lnSpc>
                <a:spcPct val="106000"/>
              </a:lnSpc>
              <a:spcAft>
                <a:spcPts val="500"/>
              </a:spcAft>
              <a:buFontTx/>
              <a:buChar char="-"/>
            </a:pPr>
            <a:r>
              <a:rPr lang="en-US" sz="1100" dirty="0">
                <a:solidFill>
                  <a:srgbClr val="262626"/>
                </a:solidFill>
                <a:latin typeface="Calibri" pitchFamily="34" charset="0"/>
              </a:rPr>
              <a:t>Receivable (Khoản phải thu)</a:t>
            </a:r>
          </a:p>
        </p:txBody>
      </p:sp>
      <p:sp>
        <p:nvSpPr>
          <p:cNvPr id="37" name="Text 34">
            <a:extLst>
              <a:ext uri="{FF2B5EF4-FFF2-40B4-BE49-F238E27FC236}">
                <a16:creationId xmlns:a16="http://schemas.microsoft.com/office/drawing/2014/main" id="{E79A63A3-2337-3E31-412A-5E2D5E55B1DD}"/>
              </a:ext>
            </a:extLst>
          </p:cNvPr>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D86D2210-E9E7-5719-785D-5931E18AE006}"/>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1888281E-C685-BEE0-CE1D-61836D37E201}"/>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A7A9BECA-6655-E8D8-617D-BB37C8656787}"/>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DF918F4C-4046-3519-3D76-6C91FB3A9291}"/>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9A177CC4-1D2D-2F8C-9CF0-1CE29D2F7C36}"/>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8832BA35-8487-38C1-2A0E-A4A7189BDDE3}"/>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D42DE7FF-38DD-5084-7032-407F9884E303}"/>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7BA006AD-313C-97B2-BE72-5A743F72FBA1}"/>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17CC7A52-60A0-D2B6-8EB2-A803FD20DEF5}"/>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D61429A7-AA9E-B8ED-93B7-BE6FA6176328}"/>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2F1740BE-0727-F319-3472-F3EB5515EF78}"/>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AA1DBA0A-DF2F-F8BB-FE93-D40569D37AF0}"/>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D56D3ADF-6B13-6EE8-BAAE-B7B8811BAA54}"/>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D4291D5C-3276-143F-75EB-8B9AEA211997}"/>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A0E2E931-7CF0-7CB2-F391-34642A8EFFAE}"/>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FF2D2254-AD5C-68DB-FA31-0FB57F4EDBD3}"/>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7EEE58A2-BD8A-33AB-64E5-5AFE5D9FDF5C}"/>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A43C449B-34FB-23C6-7050-00A0F996666F}"/>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F1A450F5-DB14-BA7D-28F1-C2613243942F}"/>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5122101F-77BF-F0D3-8AD2-D4C41FDE65F5}"/>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9A20D006-F24B-AB96-FF15-F8A4A8D1FB53}"/>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extLst>
      <p:ext uri="{BB962C8B-B14F-4D97-AF65-F5344CB8AC3E}">
        <p14:creationId xmlns:p14="http://schemas.microsoft.com/office/powerpoint/2010/main" val="2208158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Progress (Tiến độ)</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67768D5C-187D-44DB-DD29-073859795EAE}"/>
              </a:ext>
            </a:extLst>
          </p:cNvPr>
          <p:cNvGrpSpPr/>
          <p:nvPr/>
        </p:nvGrpSpPr>
        <p:grpSpPr>
          <a:xfrm>
            <a:off x="320039" y="1891891"/>
            <a:ext cx="7081921" cy="3420823"/>
            <a:chOff x="603504" y="2271924"/>
            <a:chExt cx="6473152" cy="3141691"/>
          </a:xfrm>
        </p:grpSpPr>
        <p:sp>
          <p:nvSpPr>
            <p:cNvPr id="25" name="Shape 23"/>
            <p:cNvSpPr/>
            <p:nvPr/>
          </p:nvSpPr>
          <p:spPr>
            <a:xfrm>
              <a:off x="603504" y="2271924"/>
              <a:ext cx="6473152" cy="3141691"/>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8539"/>
            </a:xfrm>
            <a:prstGeom prst="rect">
              <a:avLst/>
            </a:prstGeom>
          </p:spPr>
        </p:pic>
        <p:sp>
          <p:nvSpPr>
            <p:cNvPr id="100" name="Box 1"/>
            <p:cNvSpPr/>
            <p:nvPr/>
          </p:nvSpPr>
          <p:spPr>
            <a:xfrm>
              <a:off x="1405551" y="3120722"/>
              <a:ext cx="2745710" cy="2146646"/>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4187837" y="3167994"/>
              <a:ext cx="2795632" cy="1481019"/>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72943" y="331709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6856656" y="331709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89463" y="1891891"/>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89463" y="2411891"/>
            <a:ext cx="4211840" cy="2900823"/>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89463" y="2561891"/>
            <a:ext cx="3811840" cy="2248539"/>
          </a:xfrm>
          <a:prstGeom prst="rect">
            <a:avLst/>
          </a:prstGeom>
          <a:noFill/>
          <a:ln/>
        </p:spPr>
        <p:txBody>
          <a:bodyPr wrap="square" lIns="0" tIns="0" rIns="0" bIns="0" rtlCol="0" anchor="t"/>
          <a:lstStyle/>
          <a:p>
            <a:pPr marL="228600" indent="-228600">
              <a:buAutoNum type="arabicPeriod"/>
            </a:pPr>
            <a:r>
              <a:rPr lang="en-US" sz="1100" b="1" dirty="0">
                <a:solidFill>
                  <a:srgbClr val="1F3A6E"/>
                </a:solidFill>
              </a:rPr>
              <a:t>Site Progress Status (Tình trạng tiến độ công trường) </a:t>
            </a:r>
          </a:p>
          <a:p>
            <a:r>
              <a:rPr lang="en-US" sz="1100" dirty="0"/>
              <a:t>Hiển thị ảnh hàng tháng được đồng bộ từ PIMSVINA, có phân trang để xem nhiều ảnh trong tháng đã chọn.</a:t>
            </a:r>
          </a:p>
          <a:p>
            <a:endParaRPr lang="en-US" sz="1100" dirty="0"/>
          </a:p>
          <a:p>
            <a:r>
              <a:rPr lang="en-US" sz="1100" b="1" dirty="0">
                <a:solidFill>
                  <a:srgbClr val="1F3A6E"/>
                </a:solidFill>
              </a:rPr>
              <a:t>2</a:t>
            </a:r>
            <a:r>
              <a:rPr lang="en-US" sz="1100" dirty="0"/>
              <a:t>. </a:t>
            </a:r>
            <a:r>
              <a:rPr lang="en-US" sz="1100" b="1" dirty="0">
                <a:solidFill>
                  <a:srgbClr val="1F3A6E"/>
                </a:solidFill>
              </a:rPr>
              <a:t>Progress (Tiến độ)</a:t>
            </a:r>
            <a:r>
              <a:rPr lang="en-US" sz="1100" dirty="0"/>
              <a:t> </a:t>
            </a:r>
          </a:p>
          <a:p>
            <a:r>
              <a:rPr lang="en-US" sz="1100" dirty="0"/>
              <a:t>- Ba biểu đồ donut hiển thị Monthly (Hàng tháng), Annual (Hàng năm) và Cumulative Progress (Tiến độ lũy kế), mỗi biểu đồ so sánh Plan và Actual kèm Achievement Rate (Tỷ lệ đạt được). - Nguồn: Nhập liệu → 1. Tiến độ hàng tháng.</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774B5B05-3F46-4B6A-F670-3FF1F2278783}"/>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C44BCFD0-4D71-15C4-B5CE-3BE92AEC0EA1}"/>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37045CB8-5CB5-1800-7AE7-9DEBF4E2BA26}"/>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5DD0BB5A-3D87-CCCB-431F-BE67DE23C3DB}"/>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442D3EB5-B68A-D6D2-B045-384BA7B8A818}"/>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867C9C19-2052-BEE6-0E76-A3E91EF58BA4}"/>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7A41DF3C-E75D-077E-64BA-DE0836357571}"/>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129A50C6-BED1-0334-FE5E-F1558826AF8E}"/>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17A76B09-8903-716B-8A7C-3C45006423E7}"/>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5D38BCA6-AECF-413C-8CD0-F1D84EF63558}"/>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50726C8A-3DC5-27B6-2FD7-9AA409BF768A}"/>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9D95D7BE-62FD-9468-325D-BBBE6005FF61}"/>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E59BD8E5-5BE5-3730-7694-5A4C373241AA}"/>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CE950926-3924-4CBA-29F7-A9F1A7BBFB11}"/>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9E50532E-9E67-1C8C-D342-8DC769EE40E9}"/>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FDCB7FD0-AE65-DCB3-6035-FA9E9C11BD81}"/>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2A9E86EC-DE35-B237-7484-1766A297D126}"/>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F1D5258A-1AB1-5917-A78B-FFFF2803C7AC}"/>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3D310F77-6A14-1CB6-AA11-FC8B05873DDA}"/>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975275A5-7B7A-1548-34F6-2B3170B86B98}"/>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B9A2168A-68B2-51D7-7499-933C63A9EC4D}"/>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Progress: Xu hướng hàng tháng &amp; Mốc tiến độ</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704D3AFE-F94F-F301-215F-57A32EAE2807}"/>
              </a:ext>
            </a:extLst>
          </p:cNvPr>
          <p:cNvGrpSpPr/>
          <p:nvPr/>
        </p:nvGrpSpPr>
        <p:grpSpPr>
          <a:xfrm>
            <a:off x="320040" y="1887185"/>
            <a:ext cx="7072293" cy="3426530"/>
            <a:chOff x="603504" y="2271924"/>
            <a:chExt cx="6473152" cy="3133733"/>
          </a:xfrm>
        </p:grpSpPr>
        <p:sp>
          <p:nvSpPr>
            <p:cNvPr id="25" name="Shape 23"/>
            <p:cNvSpPr/>
            <p:nvPr/>
          </p:nvSpPr>
          <p:spPr>
            <a:xfrm>
              <a:off x="603504" y="2271924"/>
              <a:ext cx="6473152" cy="3133733"/>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0581"/>
            </a:xfrm>
            <a:prstGeom prst="rect">
              <a:avLst/>
            </a:prstGeom>
          </p:spPr>
        </p:pic>
        <p:sp>
          <p:nvSpPr>
            <p:cNvPr id="100" name="Box 1"/>
            <p:cNvSpPr/>
            <p:nvPr/>
          </p:nvSpPr>
          <p:spPr>
            <a:xfrm>
              <a:off x="1403565" y="2358293"/>
              <a:ext cx="5576763" cy="1228216"/>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3565" y="3686093"/>
              <a:ext cx="5576763" cy="1218530"/>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403565" y="4964102"/>
              <a:ext cx="5576763" cy="381743"/>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311004" y="2467563"/>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93565" y="358452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1233813" y="486253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592333" y="1868197"/>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2333" y="2388197"/>
            <a:ext cx="4211840" cy="2925518"/>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2333" y="2538197"/>
            <a:ext cx="3811840" cy="2240581"/>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Monthly Progress Plan &amp; Actual (Kế hoạch &amp; Thực tế tiến độ hàng tháng)</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Monthly Plan/Actual hiển thị dạng cột, Cumulative Plan/Actual hiển thị dạng đường, xuyên suốt toàn bộ thời gian dự án.</a:t>
            </a:r>
          </a:p>
          <a:p>
            <a:pPr marL="171450" indent="-171450">
              <a:lnSpc>
                <a:spcPct val="106000"/>
              </a:lnSpc>
              <a:spcAft>
                <a:spcPts val="500"/>
              </a:spcAft>
              <a:buFontTx/>
              <a:buChar char="-"/>
            </a:pPr>
            <a:r>
              <a:rPr lang="en-US" sz="1100" dirty="0"/>
              <a:t>Nguồn: Nhập liệu → 1. Tiến độ hàng tháng.</a:t>
            </a:r>
            <a:endParaRPr lang="en-US" sz="1100"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Milestone (Mốc tiến độ)</a:t>
            </a:r>
            <a:r>
              <a:rPr lang="en-US" sz="1100" dirty="0">
                <a:solidFill>
                  <a:srgbClr val="262626"/>
                </a:solidFill>
                <a:latin typeface="Calibri" pitchFamily="34" charset="0"/>
              </a:rPr>
              <a:t>: </a:t>
            </a:r>
          </a:p>
          <a:p>
            <a:pPr marL="171450" indent="-171450">
              <a:lnSpc>
                <a:spcPct val="100000"/>
              </a:lnSpc>
              <a:spcAft>
                <a:spcPts val="500"/>
              </a:spcAft>
              <a:buFontTx/>
              <a:buChar char="-"/>
            </a:pPr>
            <a:r>
              <a:rPr lang="en-US" sz="1100" dirty="0"/>
              <a:t>Hiển thị khoảng thời gian Plan/Actual của từng giai đoạn trên trục thời gian, kèm đường đánh dấu thẳng đứng cho tháng tham chiếu hiện tại</a:t>
            </a:r>
            <a:r>
              <a:rPr lang="en-US" sz="1100" dirty="0">
                <a:solidFill>
                  <a:srgbClr val="262626"/>
                </a:solidFill>
                <a:latin typeface="Calibri" pitchFamily="34" charset="0"/>
              </a:rPr>
              <a:t>.</a:t>
            </a:r>
          </a:p>
          <a:p>
            <a:pPr marL="171450" indent="-171450">
              <a:lnSpc>
                <a:spcPct val="100000"/>
              </a:lnSpc>
              <a:spcAft>
                <a:spcPts val="500"/>
              </a:spcAft>
              <a:buFontTx/>
              <a:buChar char="-"/>
            </a:pPr>
            <a:r>
              <a:rPr lang="en-US" sz="1100" dirty="0"/>
              <a:t>Nguồn: Nhập liệu → 3. Mốc tiến độ</a:t>
            </a:r>
            <a:endParaRPr lang="en-US" sz="1100" dirty="0">
              <a:solidFill>
                <a:srgbClr val="262626"/>
              </a:solidFill>
              <a:latin typeface="Calibri" pitchFamily="34" charset="0"/>
            </a:endParaRPr>
          </a:p>
          <a:p>
            <a:pPr marL="0" indent="0">
              <a:lnSpc>
                <a:spcPct val="106000"/>
              </a:lnSpc>
              <a:spcAft>
                <a:spcPts val="400"/>
              </a:spcAft>
              <a:buNone/>
            </a:pPr>
            <a:r>
              <a:rPr lang="en-US" sz="1100" b="1" dirty="0">
                <a:solidFill>
                  <a:srgbClr val="1F3A6E"/>
                </a:solidFill>
                <a:latin typeface="Calibri" pitchFamily="34" charset="0"/>
              </a:rPr>
              <a:t>3  Comment (Ghi chú)</a:t>
            </a:r>
            <a:r>
              <a:rPr lang="en-US" sz="1100" dirty="0">
                <a:solidFill>
                  <a:srgbClr val="262626"/>
                </a:solidFill>
                <a:latin typeface="Calibri" pitchFamily="34" charset="0"/>
              </a:rPr>
              <a:t> (lọc theo tháng): ghi chú tiến độ cho giai đoạn.</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0A598FF0-E631-D96B-6B22-55275B5DDB6F}"/>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670B0F8D-A5F9-DB7B-09C3-ADA33D47DC1B}"/>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43FE890A-90D1-38C0-5523-76F999CB7903}"/>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67FDF91E-0757-795E-6DAB-792F0B5D3436}"/>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304C7D37-B2F2-6E2D-C517-CBC98279C8D9}"/>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0D94D7C2-42E0-98A0-C832-F957783E5321}"/>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66385467-E43D-65EC-F681-27323C3565B6}"/>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B85D9CDC-9DA7-B034-F0F0-910ED863552B}"/>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8072211A-EF60-6A97-AFB5-C352150F137D}"/>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E1761C25-EA4C-7B8B-CC6F-BF6E8DD300DD}"/>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D21B9F19-D34F-7B1D-A440-32B129B4AD78}"/>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B8159F56-33BC-F173-417A-C462123446F4}"/>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E39BCF8F-AE89-8A5F-FD13-40108CB3F7EB}"/>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AD4A8D56-6BBA-8715-7B13-580B01251B00}"/>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EE69D35E-1420-5399-262F-A4303D98D7FB}"/>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D4569DFB-6E30-A148-AAA0-387182F376EC}"/>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5BE9B5A4-D8D2-3BE8-013C-20802B2FED22}"/>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CAFEAD30-3CAC-2424-B4B0-F8ECCB87DDC5}"/>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CBCBBFFA-A108-6F42-2F8C-1ED30AF8D20C}"/>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B56E0F36-C1E2-1D4E-C30A-2CC1ED4A26F3}"/>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B4874927-EF2F-FB9F-CAAC-FD729F31EF8F}"/>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Revenue/Cost (Doanh thu/Chi phí)</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4" name="Group 3">
            <a:extLst>
              <a:ext uri="{FF2B5EF4-FFF2-40B4-BE49-F238E27FC236}">
                <a16:creationId xmlns:a16="http://schemas.microsoft.com/office/drawing/2014/main" id="{4DDC5B60-66DD-2C63-6198-91019EB88FE5}"/>
              </a:ext>
            </a:extLst>
          </p:cNvPr>
          <p:cNvGrpSpPr/>
          <p:nvPr/>
        </p:nvGrpSpPr>
        <p:grpSpPr>
          <a:xfrm>
            <a:off x="329470" y="1962220"/>
            <a:ext cx="7083820" cy="3532805"/>
            <a:chOff x="603504" y="2271924"/>
            <a:chExt cx="6473152" cy="3131706"/>
          </a:xfrm>
        </p:grpSpPr>
        <p:sp>
          <p:nvSpPr>
            <p:cNvPr id="25" name="Shape 23"/>
            <p:cNvSpPr/>
            <p:nvPr/>
          </p:nvSpPr>
          <p:spPr>
            <a:xfrm>
              <a:off x="603504" y="2271924"/>
              <a:ext cx="6473152" cy="3131706"/>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58554"/>
            </a:xfrm>
            <a:prstGeom prst="rect">
              <a:avLst/>
            </a:prstGeom>
          </p:spPr>
        </p:pic>
        <p:sp>
          <p:nvSpPr>
            <p:cNvPr id="100" name="Box 1"/>
            <p:cNvSpPr/>
            <p:nvPr/>
          </p:nvSpPr>
          <p:spPr>
            <a:xfrm>
              <a:off x="1405551" y="3158710"/>
              <a:ext cx="5591264" cy="1013546"/>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5551" y="4266179"/>
              <a:ext cx="5591264" cy="854593"/>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6647360" y="3207096"/>
              <a:ext cx="282891" cy="83203"/>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5551" y="309709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05551" y="4178739"/>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6447360" y="311317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595807" y="1962220"/>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5807" y="2482219"/>
            <a:ext cx="4211840" cy="3012805"/>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5807" y="2632220"/>
            <a:ext cx="3811840" cy="2238554"/>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Revenue (Doanh thu)</a:t>
            </a:r>
            <a:r>
              <a:rPr lang="en-US" sz="1100" dirty="0">
                <a:solidFill>
                  <a:srgbClr val="262626"/>
                </a:solidFill>
                <a:latin typeface="Calibri" pitchFamily="34" charset="0"/>
              </a:rPr>
              <a:t> (K USD): </a:t>
            </a:r>
          </a:p>
          <a:p>
            <a:pPr marL="171450" indent="-171450">
              <a:lnSpc>
                <a:spcPct val="100000"/>
              </a:lnSpc>
              <a:spcAft>
                <a:spcPts val="500"/>
              </a:spcAft>
              <a:buFontTx/>
              <a:buChar char="-"/>
            </a:pPr>
            <a:r>
              <a:rPr lang="en-US" sz="1100" dirty="0"/>
              <a:t>Hiển thị Plan so với Actual theo từng tháng cho năm đã chọn. Cột nét đứt thể hiện các tháng dự báo chưa chốt số liệu.</a:t>
            </a:r>
          </a:p>
          <a:p>
            <a:pPr marL="171450" indent="-171450">
              <a:lnSpc>
                <a:spcPct val="100000"/>
              </a:lnSpc>
              <a:spcAft>
                <a:spcPts val="500"/>
              </a:spcAft>
              <a:buFontTx/>
              <a:buChar char="-"/>
            </a:pPr>
            <a:r>
              <a:rPr lang="en-US" sz="1100" dirty="0"/>
              <a:t>Nguồn: Nhập liệu → 2. Doanh thu hàng tháng → Plan, Actual, Forecast</a:t>
            </a:r>
            <a:endParaRPr lang="en-US" sz="1100" b="1"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Cumulative Cost Ratio (Tỷ lệ chi phí lũy kế)</a:t>
            </a:r>
            <a:r>
              <a:rPr lang="en-US" sz="1100" dirty="0">
                <a:solidFill>
                  <a:srgbClr val="262626"/>
                </a:solidFill>
                <a:latin typeface="Calibri" pitchFamily="34" charset="0"/>
              </a:rPr>
              <a:t> (%) </a:t>
            </a:r>
          </a:p>
          <a:p>
            <a:pPr marL="171450" indent="-171450">
              <a:lnSpc>
                <a:spcPct val="100000"/>
              </a:lnSpc>
              <a:spcAft>
                <a:spcPts val="500"/>
              </a:spcAft>
              <a:buFontTx/>
              <a:buChar char="-"/>
            </a:pPr>
            <a:r>
              <a:rPr lang="en-US" sz="1100" dirty="0"/>
              <a:t>Hiển thị xu hướng tỷ lệ chi phí trên doanh thu trong năm, với giá trị mới nhất được tô nổi bật</a:t>
            </a:r>
          </a:p>
          <a:p>
            <a:pPr marL="171450" indent="-171450">
              <a:spcAft>
                <a:spcPts val="500"/>
              </a:spcAft>
              <a:buFontTx/>
              <a:buChar char="-"/>
            </a:pPr>
            <a:r>
              <a:rPr lang="en-US" sz="1100" dirty="0">
                <a:solidFill>
                  <a:srgbClr val="262626"/>
                </a:solidFill>
                <a:latin typeface="Calibri" pitchFamily="34" charset="0"/>
              </a:rPr>
              <a:t>Nguồn: </a:t>
            </a:r>
            <a:r>
              <a:rPr lang="en-US" sz="1100" dirty="0"/>
              <a:t>Nhập liệu → 5. Tỷ lệ chi phí → Tỷ lệ chi phí ước tính hoàn thành → Ratio</a:t>
            </a:r>
            <a:endParaRPr lang="en-US" sz="1100" dirty="0">
              <a:solidFill>
                <a:srgbClr val="262626"/>
              </a:solidFill>
              <a:latin typeface="Calibri" pitchFamily="34" charset="0"/>
            </a:endParaRPr>
          </a:p>
          <a:p>
            <a:pPr marL="0" indent="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Bộ chọn năm trên mỗi biểu đồ cho phép chuyển đổi năm tài chính.</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0336103C-0743-335A-3D02-17151030776B}"/>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2F1DA5DF-92B4-97A1-F138-049F9CD98EFF}"/>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E690E543-431B-9FEB-A040-62F14491929C}"/>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E0311FFE-8A49-4523-09FB-780D9AF3C4C2}"/>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225CB928-9451-32C0-630A-52C3E320AABF}"/>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349C164D-F07E-7277-B1B5-CD2E51237503}"/>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F74D648B-2C18-C99F-AE46-FBFABCD3AF12}"/>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669E05D6-FCBF-7A7B-6198-EA56C414D0BB}"/>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99F45B25-415B-1A3B-F46A-17C95B304D65}"/>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45372E6D-ACC4-9784-9F01-0E3937F5799A}"/>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369F3166-3E26-445A-96F6-C5A38F55F935}"/>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460BC2F1-2F08-778A-1B99-6547FC9952B1}"/>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2372E7BD-54AE-FC04-E5AF-33DA2C7F7D9E}"/>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BBCF08A8-C26E-07C6-78F2-2F13CE6C9F48}"/>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8C3FF0ED-C9E5-5636-82EA-ADF5E2D5B550}"/>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9C4D4D68-B85E-02ED-8923-9BE229D3A653}"/>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E3CADA99-6FE1-E558-74AB-183B9DE790EA}"/>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616FB08E-6753-56A8-1D03-C9EA15875A58}"/>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ABB10553-1000-7EC2-A831-A3B312A042F6}"/>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DED6B588-3D37-F3DE-56C0-A81CAC00CDA1}"/>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39F02737-0D6F-723F-C452-88848991D7FB}"/>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Revenue/Cost: Tỷ lệ chi phí &amp; Thực hiện ngân sách</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FBCCBC50-19A6-28F4-0493-D65EC83D5F9A}"/>
              </a:ext>
            </a:extLst>
          </p:cNvPr>
          <p:cNvGrpSpPr/>
          <p:nvPr/>
        </p:nvGrpSpPr>
        <p:grpSpPr>
          <a:xfrm>
            <a:off x="320040" y="1860845"/>
            <a:ext cx="7060740" cy="3401527"/>
            <a:chOff x="603504" y="2248241"/>
            <a:chExt cx="6473152" cy="3177457"/>
          </a:xfrm>
        </p:grpSpPr>
        <p:sp>
          <p:nvSpPr>
            <p:cNvPr id="25" name="Shape 23"/>
            <p:cNvSpPr/>
            <p:nvPr/>
          </p:nvSpPr>
          <p:spPr>
            <a:xfrm>
              <a:off x="603504" y="2271924"/>
              <a:ext cx="6473152" cy="3153774"/>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80622"/>
            </a:xfrm>
            <a:prstGeom prst="rect">
              <a:avLst/>
            </a:prstGeom>
          </p:spPr>
        </p:pic>
        <p:sp>
          <p:nvSpPr>
            <p:cNvPr id="100" name="Box 1"/>
            <p:cNvSpPr/>
            <p:nvPr/>
          </p:nvSpPr>
          <p:spPr>
            <a:xfrm>
              <a:off x="1402774" y="2358241"/>
              <a:ext cx="5570984" cy="911917"/>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2774" y="3336479"/>
              <a:ext cx="5570984" cy="2022798"/>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2774" y="224824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92774" y="3226479"/>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80780" y="1860845"/>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80780" y="2380845"/>
            <a:ext cx="4211840" cy="2896974"/>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80780" y="2530845"/>
            <a:ext cx="3811840" cy="2470622"/>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Cost Rate (Tỷ lệ chi phí)</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b="1" dirty="0">
                <a:solidFill>
                  <a:srgbClr val="1F3A6E"/>
                </a:solidFill>
                <a:latin typeface="Calibri" pitchFamily="34" charset="0"/>
              </a:rPr>
              <a:t>Bidding (Đấu thầu)</a:t>
            </a:r>
            <a:r>
              <a:rPr lang="en-US" sz="1100" dirty="0">
                <a:solidFill>
                  <a:srgbClr val="262626"/>
                </a:solidFill>
                <a:latin typeface="Calibri" pitchFamily="34" charset="0"/>
              </a:rPr>
              <a:t>: </a:t>
            </a:r>
            <a:r>
              <a:rPr lang="en-US" sz="1100" dirty="0"/>
              <a:t>Nhập liệu → 2. Doanh thu hàng tháng → Bidding</a:t>
            </a:r>
            <a:endParaRPr lang="en-US" sz="1100" dirty="0">
              <a:solidFill>
                <a:srgbClr val="262626"/>
              </a:solidFill>
              <a:latin typeface="Calibri" pitchFamily="34" charset="0"/>
            </a:endParaRPr>
          </a:p>
          <a:p>
            <a:pPr marL="171450" indent="-171450">
              <a:lnSpc>
                <a:spcPct val="106000"/>
              </a:lnSpc>
              <a:spcAft>
                <a:spcPts val="500"/>
              </a:spcAft>
              <a:buFontTx/>
              <a:buChar char="-"/>
            </a:pPr>
            <a:r>
              <a:rPr lang="en-US" sz="1100" b="1" dirty="0">
                <a:solidFill>
                  <a:srgbClr val="1F3A6E"/>
                </a:solidFill>
                <a:latin typeface="Calibri" pitchFamily="34" charset="0"/>
              </a:rPr>
              <a:t>Execution Budget Setup (Thiết lập ngân sách thực hiện)</a:t>
            </a:r>
            <a:r>
              <a:rPr lang="en-US" sz="1100" dirty="0">
                <a:solidFill>
                  <a:srgbClr val="262626"/>
                </a:solidFill>
                <a:latin typeface="Calibri" pitchFamily="34" charset="0"/>
              </a:rPr>
              <a:t>: </a:t>
            </a:r>
            <a:r>
              <a:rPr lang="en-US" sz="1100" dirty="0"/>
              <a:t>Nhập liệu → 2. Doanh thu hàng tháng → </a:t>
            </a:r>
            <a:r>
              <a:rPr lang="en-US" sz="1100" dirty="0">
                <a:solidFill>
                  <a:srgbClr val="262626"/>
                </a:solidFill>
                <a:latin typeface="Calibri" pitchFamily="34" charset="0"/>
              </a:rPr>
              <a:t>Execution Budget Setup (Thiết lập ngân sách thực hiện)</a:t>
            </a:r>
            <a:r>
              <a:rPr lang="en-US" sz="1100" dirty="0"/>
              <a:t> </a:t>
            </a:r>
            <a:endParaRPr lang="en-US" sz="1100" dirty="0">
              <a:solidFill>
                <a:srgbClr val="262626"/>
              </a:solidFill>
              <a:latin typeface="Calibri" pitchFamily="34" charset="0"/>
            </a:endParaRPr>
          </a:p>
          <a:p>
            <a:pPr marL="171450" indent="-171450">
              <a:lnSpc>
                <a:spcPct val="106000"/>
              </a:lnSpc>
              <a:spcAft>
                <a:spcPts val="500"/>
              </a:spcAft>
              <a:buFontTx/>
              <a:buChar char="-"/>
            </a:pPr>
            <a:r>
              <a:rPr lang="en-US" sz="1100" b="1" dirty="0">
                <a:solidFill>
                  <a:srgbClr val="1F3A6E"/>
                </a:solidFill>
                <a:latin typeface="Calibri" pitchFamily="34" charset="0"/>
              </a:rPr>
              <a:t>Standard Estimated Cost Ratio (Tỷ lệ chi phí ước tính chuẩn) </a:t>
            </a:r>
            <a:r>
              <a:rPr lang="en-US" sz="1100" dirty="0">
                <a:solidFill>
                  <a:srgbClr val="262626"/>
                </a:solidFill>
                <a:latin typeface="Calibri" pitchFamily="34" charset="0"/>
              </a:rPr>
              <a:t>= Cost ÷ Contract Amount, số liệu bên dưới.</a:t>
            </a:r>
          </a:p>
          <a:p>
            <a:pPr marL="228600" indent="-228600">
              <a:lnSpc>
                <a:spcPct val="106000"/>
              </a:lnSpc>
              <a:spcAft>
                <a:spcPts val="400"/>
              </a:spcAft>
              <a:buAutoNum type="arabicPlain" startAt="2"/>
            </a:pPr>
            <a:r>
              <a:rPr lang="en-US" sz="1100" b="1" dirty="0">
                <a:solidFill>
                  <a:srgbClr val="1F3A6E"/>
                </a:solidFill>
                <a:latin typeface="Calibri" pitchFamily="34" charset="0"/>
              </a:rPr>
              <a:t>Budget Execution Status (Tình trạng thực hiện ngân sách)</a:t>
            </a:r>
            <a:r>
              <a:rPr lang="en-US" sz="1100" dirty="0">
                <a:solidFill>
                  <a:srgbClr val="262626"/>
                </a:solidFill>
                <a:latin typeface="Calibri" pitchFamily="34" charset="0"/>
              </a:rPr>
              <a:t>: </a:t>
            </a:r>
          </a:p>
          <a:p>
            <a:pPr marL="171450" indent="-171450">
              <a:lnSpc>
                <a:spcPct val="100000"/>
              </a:lnSpc>
              <a:spcAft>
                <a:spcPts val="400"/>
              </a:spcAft>
              <a:buFontTx/>
              <a:buChar char="-"/>
            </a:pPr>
            <a:r>
              <a:rPr lang="en-US" sz="1100" dirty="0"/>
              <a:t>Hiển thị tổng ngân sách theo từng hạng mục (Direct Cost, Outsourcing, Common, Expense 1, Indirect Cost, Expense 2 và Contingency), kèm cột Exec. Plan so với Actual thể hiện Exec. Rate và số tiền còn lại của từng hạng mục.</a:t>
            </a:r>
          </a:p>
          <a:p>
            <a:pPr marL="171450" indent="-171450">
              <a:lnSpc>
                <a:spcPct val="100000"/>
              </a:lnSpc>
              <a:spcAft>
                <a:spcPts val="400"/>
              </a:spcAft>
              <a:buFontTx/>
              <a:buChar char="-"/>
            </a:pPr>
            <a:r>
              <a:rPr lang="en-US" sz="1100" dirty="0">
                <a:solidFill>
                  <a:srgbClr val="262626"/>
                </a:solidFill>
                <a:latin typeface="Calibri" pitchFamily="34" charset="0"/>
              </a:rPr>
              <a:t>Nguồn: </a:t>
            </a:r>
            <a:r>
              <a:rPr lang="en-US" sz="1100" dirty="0"/>
              <a:t>Nhập liệu → 6. Tình trạng thực hiện ngân sách</a:t>
            </a:r>
            <a:endParaRPr lang="en-US" sz="1100" dirty="0">
              <a:solidFill>
                <a:srgbClr val="262626"/>
              </a:solidFill>
              <a:latin typeface="Calibri" pitchFamily="34" charset="0"/>
            </a:endParaRP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22DFA354-C8A0-AF5D-2617-9C822AF048E3}"/>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2EB22669-B5A0-7B47-0E4D-55C5BF0CDB43}"/>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F8AF7A58-B1CA-0324-54AF-EBAD2067233C}"/>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990A88C3-B520-E323-F471-171BBA39C2C4}"/>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C795448B-00BD-3AB8-F6CF-66306F67DC3D}"/>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A4CE21FB-BCFC-BF85-3503-F346A5737069}"/>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D1C42A0D-7F2E-EBF2-66AF-D7FD497A3EF7}"/>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29531AA8-72C1-4C9B-6D60-0C8DCFDF2851}"/>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2FC8EB70-E2B7-ABA9-C202-98322F2A36AC}"/>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B4E2286C-8459-A010-16F0-9FA929B69ED2}"/>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DA90D345-9920-A665-3B95-E404A35F8AA9}"/>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3E945F78-60EF-9DA8-D374-4CEE8AA09DAF}"/>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F7A3B054-0D1A-7D31-03CF-DCD02634A211}"/>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47521552-C5BE-BAF3-767E-57727DEA9D14}"/>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ACC70AFC-1771-0690-C853-76494AF1E790}"/>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70B011F0-93C1-8A34-27A7-7341E546A6CC}"/>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26D2D495-15CF-7DFA-2B83-E7E2F090602B}"/>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948B67A0-94F1-366A-DEBC-7819C61F9EF2}"/>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2D389AA0-F0DA-A314-2DED-A8E66E6CD3FB}"/>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470E303B-7570-7AF4-F36C-F3B48EAFD8D2}"/>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AEE0AA33-64CC-11C8-F6BF-16712AC6F3FB}"/>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Outsourcing (Thầu phụ)</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E28FA279-828A-65F0-4905-A889F7F6496D}"/>
              </a:ext>
            </a:extLst>
          </p:cNvPr>
          <p:cNvGrpSpPr/>
          <p:nvPr/>
        </p:nvGrpSpPr>
        <p:grpSpPr>
          <a:xfrm>
            <a:off x="320040" y="1960492"/>
            <a:ext cx="7078970" cy="3525908"/>
            <a:chOff x="603504" y="2271924"/>
            <a:chExt cx="6473152" cy="3138222"/>
          </a:xfrm>
        </p:grpSpPr>
        <p:sp>
          <p:nvSpPr>
            <p:cNvPr id="25" name="Shape 23"/>
            <p:cNvSpPr/>
            <p:nvPr/>
          </p:nvSpPr>
          <p:spPr>
            <a:xfrm>
              <a:off x="603504" y="2271924"/>
              <a:ext cx="6473152" cy="3138222"/>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5070"/>
            </a:xfrm>
            <a:prstGeom prst="rect">
              <a:avLst/>
            </a:prstGeom>
          </p:spPr>
        </p:pic>
        <p:sp>
          <p:nvSpPr>
            <p:cNvPr id="100" name="Box 1"/>
            <p:cNvSpPr/>
            <p:nvPr/>
          </p:nvSpPr>
          <p:spPr>
            <a:xfrm>
              <a:off x="1406349" y="3318031"/>
              <a:ext cx="1934260" cy="2022223"/>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3340610" y="3318031"/>
              <a:ext cx="1797128" cy="2022223"/>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5137737" y="3318031"/>
              <a:ext cx="1865695" cy="2022223"/>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6348" y="328145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3330609" y="3197374"/>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5209971" y="3230358"/>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589463" y="1960492"/>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89463" y="2480492"/>
            <a:ext cx="4211840" cy="3005908"/>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89462" y="2630492"/>
            <a:ext cx="3798481" cy="2245070"/>
          </a:xfrm>
          <a:prstGeom prst="rect">
            <a:avLst/>
          </a:prstGeom>
          <a:noFill/>
          <a:ln/>
        </p:spPr>
        <p:txBody>
          <a:bodyPr wrap="square" lIns="0" tIns="0" rIns="0" bIns="0" rtlCol="0" anchor="t"/>
          <a:lstStyle/>
          <a:p>
            <a:pPr>
              <a:lnSpc>
                <a:spcPct val="106000"/>
              </a:lnSpc>
              <a:spcAft>
                <a:spcPts val="500"/>
              </a:spcAft>
            </a:pPr>
            <a:r>
              <a:rPr lang="en-US" sz="1100" b="1" dirty="0">
                <a:solidFill>
                  <a:srgbClr val="1F3A6E"/>
                </a:solidFill>
                <a:latin typeface="Calibri" pitchFamily="34" charset="0"/>
              </a:rPr>
              <a:t>Outsourcing &amp; Materials (Thầu phụ &amp; Vật tư)</a:t>
            </a:r>
          </a:p>
          <a:p>
            <a:pPr>
              <a:spcAft>
                <a:spcPts val="500"/>
              </a:spcAft>
            </a:pPr>
            <a:r>
              <a:rPr lang="en-US" sz="1100" b="1" dirty="0">
                <a:solidFill>
                  <a:srgbClr val="1F3A6E"/>
                </a:solidFill>
                <a:latin typeface="Calibri" pitchFamily="34" charset="0"/>
              </a:rPr>
              <a:t>1 </a:t>
            </a:r>
            <a:r>
              <a:rPr lang="en-US" sz="1100" dirty="0"/>
              <a:t>Liệt kê từng đơn hàng thầu phụ/vật tư kèm Trade (Category/Detailed Trade), Vendor Name (Tên nhà cung cấp), Initial Contract Date (Ngày hợp đồng ban đầu) và Change Contract Round (Lần thay đổi hợp đồng). </a:t>
            </a:r>
          </a:p>
          <a:p>
            <a:pPr>
              <a:spcAft>
                <a:spcPts val="500"/>
              </a:spcAft>
            </a:pPr>
            <a:r>
              <a:rPr lang="en-US" sz="1100" dirty="0"/>
              <a:t>Nguồn: Nhập liệu → 7. Thầu phụ/Vật tư</a:t>
            </a:r>
          </a:p>
          <a:p>
            <a:pPr marL="228600" indent="-228600">
              <a:spcAft>
                <a:spcPts val="500"/>
              </a:spcAft>
              <a:buAutoNum type="arabicPlain" startAt="2"/>
            </a:pPr>
            <a:r>
              <a:rPr lang="en-US" sz="1100" b="1" dirty="0">
                <a:solidFill>
                  <a:srgbClr val="1F3A6E"/>
                </a:solidFill>
                <a:latin typeface="Calibri" pitchFamily="34" charset="0"/>
              </a:rPr>
              <a:t>Budget (A) (Ngân sách), Executed Budget (Ngân sách đã thực hiện)</a:t>
            </a:r>
            <a:r>
              <a:rPr lang="en-US" sz="1100" dirty="0">
                <a:solidFill>
                  <a:srgbClr val="262626"/>
                </a:solidFill>
                <a:latin typeface="Calibri" pitchFamily="34" charset="0"/>
              </a:rPr>
              <a:t>, </a:t>
            </a:r>
            <a:r>
              <a:rPr lang="en-US" sz="1100" b="1" dirty="0">
                <a:solidFill>
                  <a:srgbClr val="1F3A6E"/>
                </a:solidFill>
                <a:latin typeface="Calibri" pitchFamily="34" charset="0"/>
              </a:rPr>
              <a:t>Resolved Amount (B) (Số tiền đã quyết toán): </a:t>
            </a:r>
          </a:p>
          <a:p>
            <a:pPr marL="171450" indent="-171450">
              <a:spcAft>
                <a:spcPts val="500"/>
              </a:spcAft>
              <a:buFontTx/>
              <a:buChar char="-"/>
            </a:pPr>
            <a:r>
              <a:rPr lang="en-US" sz="1100" dirty="0">
                <a:solidFill>
                  <a:srgbClr val="1F3A6E"/>
                </a:solidFill>
                <a:latin typeface="Calibri" pitchFamily="34" charset="0"/>
              </a:rPr>
              <a:t>Source (Nguồn)</a:t>
            </a:r>
            <a:r>
              <a:rPr lang="en-US" sz="1100" b="1" dirty="0">
                <a:solidFill>
                  <a:srgbClr val="1F3A6E"/>
                </a:solidFill>
                <a:latin typeface="Calibri" pitchFamily="34" charset="0"/>
              </a:rPr>
              <a:t>: </a:t>
            </a:r>
            <a:r>
              <a:rPr lang="en-US" sz="1100" dirty="0"/>
              <a:t>Nhập liệu → 7. Thầu phụ/Vật tư </a:t>
            </a:r>
          </a:p>
          <a:p>
            <a:pPr marL="171450" indent="-171450">
              <a:spcAft>
                <a:spcPts val="500"/>
              </a:spcAft>
              <a:buFontTx/>
              <a:buChar char="-"/>
            </a:pPr>
            <a:r>
              <a:rPr lang="en-US" sz="1100" dirty="0">
                <a:solidFill>
                  <a:srgbClr val="262626"/>
                </a:solidFill>
                <a:latin typeface="Calibri" pitchFamily="34" charset="0"/>
              </a:rPr>
              <a:t>Resolved Rate (Tỷ lệ quyết toán) = B/A, vượt 100% sẽ được đánh dấu đỏ.</a:t>
            </a:r>
          </a:p>
          <a:p>
            <a:pPr marL="228600" indent="-228600">
              <a:lnSpc>
                <a:spcPct val="106000"/>
              </a:lnSpc>
              <a:spcAft>
                <a:spcPts val="400"/>
              </a:spcAft>
              <a:buAutoNum type="arabicPlain" startAt="3"/>
            </a:pPr>
            <a:r>
              <a:rPr lang="en-US" sz="1100" b="1" dirty="0">
                <a:solidFill>
                  <a:srgbClr val="1F3A6E"/>
                </a:solidFill>
                <a:latin typeface="Calibri" pitchFamily="34" charset="0"/>
              </a:rPr>
              <a:t>Progress Billing Status (Tình trạng thanh toán theo tiến độ)</a:t>
            </a:r>
            <a:r>
              <a:rPr lang="en-US" sz="1100" dirty="0">
                <a:solidFill>
                  <a:srgbClr val="262626"/>
                </a:solidFill>
                <a:latin typeface="Calibri" pitchFamily="34" charset="0"/>
              </a:rPr>
              <a:t>: </a:t>
            </a:r>
          </a:p>
          <a:p>
            <a:pPr marL="171450" indent="-171450">
              <a:lnSpc>
                <a:spcPct val="106000"/>
              </a:lnSpc>
              <a:spcAft>
                <a:spcPts val="400"/>
              </a:spcAft>
              <a:buFontTx/>
              <a:buChar char="-"/>
            </a:pPr>
            <a:r>
              <a:rPr lang="en-US" sz="1100" dirty="0">
                <a:solidFill>
                  <a:srgbClr val="262626"/>
                </a:solidFill>
                <a:latin typeface="Calibri" pitchFamily="34" charset="0"/>
              </a:rPr>
              <a:t>This Month (Tháng này), Cumulative (C) (Lũy kế): </a:t>
            </a:r>
            <a:r>
              <a:rPr lang="en-US" sz="1100" dirty="0"/>
              <a:t>Nhập liệu → 7. Thầu phụ/Vật tư </a:t>
            </a:r>
            <a:r>
              <a:rPr lang="en-US" sz="1100" dirty="0">
                <a:solidFill>
                  <a:srgbClr val="262626"/>
                </a:solidFill>
                <a:latin typeface="Calibri" pitchFamily="34" charset="0"/>
              </a:rPr>
              <a:t> </a:t>
            </a:r>
          </a:p>
          <a:p>
            <a:pPr marL="171450" indent="-171450">
              <a:lnSpc>
                <a:spcPct val="106000"/>
              </a:lnSpc>
              <a:spcAft>
                <a:spcPts val="400"/>
              </a:spcAft>
              <a:buFontTx/>
              <a:buChar char="-"/>
            </a:pPr>
            <a:r>
              <a:rPr lang="en-US" sz="1100" dirty="0">
                <a:solidFill>
                  <a:srgbClr val="262626"/>
                </a:solidFill>
                <a:latin typeface="Calibri" pitchFamily="34" charset="0"/>
              </a:rPr>
              <a:t>Ratio (Tỷ lệ) = C/B, Remaining Billing (Số tiền còn phải thanh toán) = B−C theo từng nhà cung cấp</a:t>
            </a:r>
          </a:p>
          <a:p>
            <a:pPr marL="171450" indent="-171450">
              <a:lnSpc>
                <a:spcPct val="106000"/>
              </a:lnSpc>
              <a:spcAft>
                <a:spcPts val="400"/>
              </a:spcAft>
              <a:buFontTx/>
              <a:buChar char="-"/>
            </a:pPr>
            <a:r>
              <a:rPr lang="en-US" sz="1100" dirty="0">
                <a:solidFill>
                  <a:srgbClr val="262626"/>
                </a:solidFill>
                <a:latin typeface="Calibri" pitchFamily="34" charset="0"/>
              </a:rPr>
              <a:t>Có thể chọn Base month ở góc trên bên phải.</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31EFB461-48C5-212C-36F9-4E410E2E5E2E}"/>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E87577AA-869A-3438-8ACE-E7BCB165E85F}"/>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9BFD8363-2C5D-88F0-7BD5-1E226D411A90}"/>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C6D58A01-E187-E5BD-422A-905A1915985D}"/>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780098DC-E7C5-9586-B463-F037ED1EC2D2}"/>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95886EF8-5655-452C-A67D-9A6687CBE241}"/>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D511357D-2778-5009-09B5-D03BFBD6AEF3}"/>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5DC35C56-F06D-4508-3E0A-9DE34A91F23F}"/>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DB636776-2EE2-525E-B5FC-E0EB88F4DF15}"/>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8ECFA68A-E701-FA1B-A3F9-2D7417888268}"/>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1B14D09E-824B-9D31-F7C2-A20C12238715}"/>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73F359F7-D8FD-98E2-D4DC-6E1CA01F64D7}"/>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777D415C-E329-D7FA-445D-7288D03E6182}"/>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6C36552E-62A8-342C-68A1-3519127489FD}"/>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886EC726-F6B0-7158-16F8-90637DF307F3}"/>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087D9CD8-3A1E-BCEC-A41A-5ECEB831C578}"/>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E43AA2AE-444B-8F6C-200A-C4B6603B4658}"/>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170DED84-06E4-1ACF-6C1C-BA311259FA4A}"/>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F128399D-A812-2A32-F43F-B0CD432146F7}"/>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CA517D5F-F06D-7C33-E4F2-175483C723B1}"/>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0AE4499A-F228-7009-152E-3ABDAC1CACF7}"/>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Cashflow (Dòng tiền)</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52E289C6-291F-D823-0B03-006CE1AF59AC}"/>
              </a:ext>
            </a:extLst>
          </p:cNvPr>
          <p:cNvGrpSpPr/>
          <p:nvPr/>
        </p:nvGrpSpPr>
        <p:grpSpPr>
          <a:xfrm>
            <a:off x="320040" y="1757922"/>
            <a:ext cx="7075767" cy="3521444"/>
            <a:chOff x="603504" y="2271924"/>
            <a:chExt cx="6473152" cy="3153152"/>
          </a:xfrm>
        </p:grpSpPr>
        <p:sp>
          <p:nvSpPr>
            <p:cNvPr id="25" name="Shape 23"/>
            <p:cNvSpPr/>
            <p:nvPr/>
          </p:nvSpPr>
          <p:spPr>
            <a:xfrm>
              <a:off x="603504" y="2271924"/>
              <a:ext cx="6473152" cy="3153152"/>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80000"/>
            </a:xfrm>
            <a:prstGeom prst="rect">
              <a:avLst/>
            </a:prstGeom>
          </p:spPr>
        </p:pic>
        <p:sp>
          <p:nvSpPr>
            <p:cNvPr id="100" name="Box 1"/>
            <p:cNvSpPr/>
            <p:nvPr/>
          </p:nvSpPr>
          <p:spPr>
            <a:xfrm>
              <a:off x="1406747" y="3163824"/>
              <a:ext cx="5530501" cy="1878009"/>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6440080" y="3208500"/>
              <a:ext cx="566667" cy="100000"/>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6747" y="3098500"/>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6240080" y="313755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95807" y="1757922"/>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5807" y="2277922"/>
            <a:ext cx="4211840" cy="3001444"/>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5807" y="2427922"/>
            <a:ext cx="3811840" cy="2260000"/>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Cash Flow (Dòng tiền)</a:t>
            </a:r>
            <a:r>
              <a:rPr lang="en-US" sz="1100" dirty="0">
                <a:solidFill>
                  <a:srgbClr val="262626"/>
                </a:solidFill>
                <a:latin typeface="Calibri" pitchFamily="34" charset="0"/>
              </a:rPr>
              <a:t>: </a:t>
            </a:r>
          </a:p>
          <a:p>
            <a:pPr marL="171450" indent="-171450">
              <a:lnSpc>
                <a:spcPct val="100000"/>
              </a:lnSpc>
              <a:spcAft>
                <a:spcPts val="500"/>
              </a:spcAft>
              <a:buFontTx/>
              <a:buChar char="-"/>
            </a:pPr>
            <a:r>
              <a:rPr lang="en-US" sz="1100" dirty="0"/>
              <a:t>Hiển thị thu/chi tiền thực tế dạng cột và số dư (Balance) dạng đường xuyên suốt toàn bộ thời gian. Đường đánh dấu nét đứt Reference Month phân tách số liệu thực tế với dự báo.</a:t>
            </a:r>
          </a:p>
          <a:p>
            <a:pPr marL="171450" indent="-171450">
              <a:lnSpc>
                <a:spcPct val="100000"/>
              </a:lnSpc>
              <a:spcAft>
                <a:spcPts val="500"/>
              </a:spcAft>
              <a:buFontTx/>
              <a:buChar char="-"/>
            </a:pPr>
            <a:r>
              <a:rPr lang="en-US" sz="1100" dirty="0">
                <a:solidFill>
                  <a:srgbClr val="262626"/>
                </a:solidFill>
                <a:latin typeface="Calibri" pitchFamily="34" charset="0"/>
              </a:rPr>
              <a:t>Nguồn: </a:t>
            </a:r>
            <a:r>
              <a:rPr lang="en-US" sz="1100" dirty="0"/>
              <a:t>Nhập liệu → 8. Dòng tiền hàng tháng</a:t>
            </a:r>
            <a:r>
              <a:rPr lang="en-US" sz="1100" dirty="0">
                <a:solidFill>
                  <a:srgbClr val="262626"/>
                </a:solidFill>
                <a:latin typeface="Calibri" pitchFamily="34" charset="0"/>
              </a:rPr>
              <a:t>.</a:t>
            </a:r>
          </a:p>
          <a:p>
            <a:pPr marL="0" indent="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Bộ chọn năm (góc trên bên phải) giúp tập trung vào một năm; di chuột để xem số liệu chính xác theo tháng.</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76073087-FA02-948A-54D4-B6AB06F4AD22}"/>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7DC4B1FD-578F-62A7-D0D4-BA0551815DC5}"/>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FADC95A4-2053-3077-2E56-5F10695A2A2A}"/>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51E8F3D8-658B-C96C-F618-D71AA368CB7A}"/>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CE915422-0955-4C30-FC1F-44629B107524}"/>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950ACF91-160D-359D-0825-FCCD0CBCB4EA}"/>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8AED591A-12B4-A8F0-C858-E1908E518908}"/>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6354E187-8CE8-D74B-6732-3F00B98B0CA2}"/>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188FFCEF-6C53-7E93-D6B1-9337C5581445}"/>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3146DB1E-03DA-8CA0-D7ED-0D677AB0CE84}"/>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46DF8EF9-FAA6-04A7-4758-BB995E6FBEC4}"/>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22BB2E8E-A7F7-13EA-1E95-0755F58D2775}"/>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BE31C014-6FBC-481E-A2E7-00F455EDDC19}"/>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A519BA4A-04CB-4AB2-2F58-AF915DAA9C62}"/>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94B513D0-F174-529B-8317-B585F3F8DE3C}"/>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780C782A-8FF0-7646-697F-D3461BB89B17}"/>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B8F81B4E-40D1-90A3-1FA7-D7CE32C196E9}"/>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A2B3E1E0-8973-4B2F-AF8F-3E349727A80D}"/>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D2B03E62-F1E6-AE9F-7FB0-4F6D15D8949A}"/>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EF8B8604-3617-6F16-FDBB-F5F84ACC661C}"/>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98FF979A-AF30-73C2-0C96-3F3D9D5CEA59}"/>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txBody>
          <a:bodyPr/>
          <a:lstStyle/>
          <a:p>
            <a:endParaRPr lang="en-US"/>
          </a:p>
        </p:txBody>
      </p:sp>
      <p:sp>
        <p:nvSpPr>
          <p:cNvPr id="3" name="Shape 1"/>
          <p:cNvSpPr/>
          <p:nvPr/>
        </p:nvSpPr>
        <p:spPr>
          <a:xfrm>
            <a:off x="9887407" y="0"/>
            <a:ext cx="384048" cy="384048"/>
          </a:xfrm>
          <a:prstGeom prst="rect">
            <a:avLst/>
          </a:prstGeom>
          <a:solidFill>
            <a:srgbClr val="3F8FD0"/>
          </a:solidFill>
          <a:ln/>
        </p:spPr>
        <p:txBody>
          <a:bodyPr/>
          <a:lstStyle/>
          <a:p>
            <a:endParaRPr lang="en-US"/>
          </a:p>
        </p:txBody>
      </p:sp>
      <p:sp>
        <p:nvSpPr>
          <p:cNvPr id="4" name="Shape 2"/>
          <p:cNvSpPr/>
          <p:nvPr/>
        </p:nvSpPr>
        <p:spPr>
          <a:xfrm>
            <a:off x="10655503" y="0"/>
            <a:ext cx="384048" cy="384048"/>
          </a:xfrm>
          <a:prstGeom prst="rect">
            <a:avLst/>
          </a:prstGeom>
          <a:solidFill>
            <a:srgbClr val="3F8FD0"/>
          </a:solidFill>
          <a:ln/>
        </p:spPr>
        <p:txBody>
          <a:bodyPr/>
          <a:lstStyle/>
          <a:p>
            <a:endParaRPr lang="en-US"/>
          </a:p>
        </p:txBody>
      </p:sp>
      <p:sp>
        <p:nvSpPr>
          <p:cNvPr id="5" name="Shape 3"/>
          <p:cNvSpPr/>
          <p:nvPr/>
        </p:nvSpPr>
        <p:spPr>
          <a:xfrm>
            <a:off x="11039551" y="0"/>
            <a:ext cx="384048" cy="384048"/>
          </a:xfrm>
          <a:prstGeom prst="rect">
            <a:avLst/>
          </a:prstGeom>
          <a:solidFill>
            <a:srgbClr val="AEE0F5"/>
          </a:solidFill>
          <a:ln/>
        </p:spPr>
        <p:txBody>
          <a:bodyPr/>
          <a:lstStyle/>
          <a:p>
            <a:endParaRPr lang="en-US"/>
          </a:p>
        </p:txBody>
      </p:sp>
      <p:sp>
        <p:nvSpPr>
          <p:cNvPr id="6" name="Shape 4"/>
          <p:cNvSpPr/>
          <p:nvPr/>
        </p:nvSpPr>
        <p:spPr>
          <a:xfrm>
            <a:off x="11423599" y="0"/>
            <a:ext cx="384048" cy="384048"/>
          </a:xfrm>
          <a:prstGeom prst="rect">
            <a:avLst/>
          </a:prstGeom>
          <a:solidFill>
            <a:srgbClr val="3F8FD0"/>
          </a:solidFill>
          <a:ln/>
        </p:spPr>
        <p:txBody>
          <a:bodyPr/>
          <a:lstStyle/>
          <a:p>
            <a:endParaRPr lang="en-US"/>
          </a:p>
        </p:txBody>
      </p:sp>
      <p:sp>
        <p:nvSpPr>
          <p:cNvPr id="7" name="Shape 5"/>
          <p:cNvSpPr/>
          <p:nvPr/>
        </p:nvSpPr>
        <p:spPr>
          <a:xfrm>
            <a:off x="11807647" y="0"/>
            <a:ext cx="384048" cy="384048"/>
          </a:xfrm>
          <a:prstGeom prst="rect">
            <a:avLst/>
          </a:prstGeom>
          <a:solidFill>
            <a:srgbClr val="AEE0F5"/>
          </a:solidFill>
          <a:ln/>
        </p:spPr>
        <p:txBody>
          <a:bodyPr/>
          <a:lstStyle/>
          <a:p>
            <a:endParaRPr lang="en-US"/>
          </a:p>
        </p:txBody>
      </p:sp>
      <p:sp>
        <p:nvSpPr>
          <p:cNvPr id="8" name="Shape 6"/>
          <p:cNvSpPr/>
          <p:nvPr/>
        </p:nvSpPr>
        <p:spPr>
          <a:xfrm>
            <a:off x="10271455" y="384048"/>
            <a:ext cx="384048" cy="384048"/>
          </a:xfrm>
          <a:prstGeom prst="rect">
            <a:avLst/>
          </a:prstGeom>
          <a:solidFill>
            <a:srgbClr val="3F8FD0"/>
          </a:solidFill>
          <a:ln/>
        </p:spPr>
        <p:txBody>
          <a:bodyPr/>
          <a:lstStyle/>
          <a:p>
            <a:endParaRPr lang="en-US"/>
          </a:p>
        </p:txBody>
      </p:sp>
      <p:sp>
        <p:nvSpPr>
          <p:cNvPr id="9" name="Shape 7"/>
          <p:cNvSpPr/>
          <p:nvPr/>
        </p:nvSpPr>
        <p:spPr>
          <a:xfrm>
            <a:off x="11423599" y="384048"/>
            <a:ext cx="384048" cy="384048"/>
          </a:xfrm>
          <a:prstGeom prst="rect">
            <a:avLst/>
          </a:prstGeom>
          <a:solidFill>
            <a:srgbClr val="AEE0F5"/>
          </a:solidFill>
          <a:ln/>
        </p:spPr>
        <p:txBody>
          <a:bodyPr/>
          <a:lstStyle/>
          <a:p>
            <a:endParaRPr lang="en-US"/>
          </a:p>
        </p:txBody>
      </p:sp>
      <p:sp>
        <p:nvSpPr>
          <p:cNvPr id="10" name="Shape 8"/>
          <p:cNvSpPr/>
          <p:nvPr/>
        </p:nvSpPr>
        <p:spPr>
          <a:xfrm>
            <a:off x="11807647" y="384048"/>
            <a:ext cx="384048" cy="384048"/>
          </a:xfrm>
          <a:prstGeom prst="rect">
            <a:avLst/>
          </a:prstGeom>
          <a:solidFill>
            <a:srgbClr val="3F8FD0"/>
          </a:solidFill>
          <a:ln/>
        </p:spPr>
        <p:txBody>
          <a:bodyPr/>
          <a:lstStyle/>
          <a:p>
            <a:endParaRPr lang="en-US"/>
          </a:p>
        </p:txBody>
      </p:sp>
      <p:sp>
        <p:nvSpPr>
          <p:cNvPr id="11" name="Shape 9"/>
          <p:cNvSpPr/>
          <p:nvPr/>
        </p:nvSpPr>
        <p:spPr>
          <a:xfrm>
            <a:off x="11039551" y="768096"/>
            <a:ext cx="384048" cy="384048"/>
          </a:xfrm>
          <a:prstGeom prst="rect">
            <a:avLst/>
          </a:prstGeom>
          <a:solidFill>
            <a:srgbClr val="AEE0F5"/>
          </a:solidFill>
          <a:ln/>
        </p:spPr>
        <p:txBody>
          <a:bodyPr/>
          <a:lstStyle/>
          <a:p>
            <a:endParaRPr lang="en-US"/>
          </a:p>
        </p:txBody>
      </p:sp>
      <p:sp>
        <p:nvSpPr>
          <p:cNvPr id="12" name="Shape 10"/>
          <p:cNvSpPr/>
          <p:nvPr/>
        </p:nvSpPr>
        <p:spPr>
          <a:xfrm>
            <a:off x="11807647" y="768096"/>
            <a:ext cx="384048" cy="384048"/>
          </a:xfrm>
          <a:prstGeom prst="rect">
            <a:avLst/>
          </a:prstGeom>
          <a:solidFill>
            <a:srgbClr val="AEE0F5"/>
          </a:solidFill>
          <a:ln/>
        </p:spPr>
        <p:txBody>
          <a:bodyPr/>
          <a:lstStyle/>
          <a:p>
            <a:endParaRPr lang="en-US"/>
          </a:p>
        </p:txBody>
      </p:sp>
      <p:sp>
        <p:nvSpPr>
          <p:cNvPr id="13" name="Shape 11"/>
          <p:cNvSpPr/>
          <p:nvPr/>
        </p:nvSpPr>
        <p:spPr>
          <a:xfrm>
            <a:off x="548640" y="457200"/>
            <a:ext cx="64008" cy="64008"/>
          </a:xfrm>
          <a:prstGeom prst="rect">
            <a:avLst/>
          </a:prstGeom>
          <a:solidFill>
            <a:srgbClr val="1F3A6E"/>
          </a:solidFill>
          <a:ln/>
        </p:spPr>
        <p:txBody>
          <a:bodyPr/>
          <a:lstStyle/>
          <a:p>
            <a:endParaRPr lang="en-US"/>
          </a:p>
        </p:txBody>
      </p:sp>
      <p:sp>
        <p:nvSpPr>
          <p:cNvPr id="14" name="Shape 12"/>
          <p:cNvSpPr/>
          <p:nvPr/>
        </p:nvSpPr>
        <p:spPr>
          <a:xfrm>
            <a:off x="630936" y="457200"/>
            <a:ext cx="64008" cy="64008"/>
          </a:xfrm>
          <a:prstGeom prst="rect">
            <a:avLst/>
          </a:prstGeom>
          <a:solidFill>
            <a:srgbClr val="3F8FD0"/>
          </a:solidFill>
          <a:ln/>
        </p:spPr>
        <p:txBody>
          <a:bodyPr/>
          <a:lstStyle/>
          <a:p>
            <a:endParaRPr lang="en-US"/>
          </a:p>
        </p:txBody>
      </p:sp>
      <p:sp>
        <p:nvSpPr>
          <p:cNvPr id="15" name="Shape 13"/>
          <p:cNvSpPr/>
          <p:nvPr/>
        </p:nvSpPr>
        <p:spPr>
          <a:xfrm>
            <a:off x="713232" y="457200"/>
            <a:ext cx="64008" cy="64008"/>
          </a:xfrm>
          <a:prstGeom prst="rect">
            <a:avLst/>
          </a:prstGeom>
          <a:solidFill>
            <a:srgbClr val="1F3A6E"/>
          </a:solidFill>
          <a:ln/>
        </p:spPr>
        <p:txBody>
          <a:bodyPr/>
          <a:lstStyle/>
          <a:p>
            <a:endParaRPr lang="en-US"/>
          </a:p>
        </p:txBody>
      </p:sp>
      <p:sp>
        <p:nvSpPr>
          <p:cNvPr id="16" name="Shape 14"/>
          <p:cNvSpPr/>
          <p:nvPr/>
        </p:nvSpPr>
        <p:spPr>
          <a:xfrm>
            <a:off x="548640" y="539496"/>
            <a:ext cx="64008" cy="64008"/>
          </a:xfrm>
          <a:prstGeom prst="rect">
            <a:avLst/>
          </a:prstGeom>
          <a:solidFill>
            <a:srgbClr val="3F8FD0"/>
          </a:solidFill>
          <a:ln/>
        </p:spPr>
        <p:txBody>
          <a:bodyPr/>
          <a:lstStyle/>
          <a:p>
            <a:endParaRPr lang="en-US"/>
          </a:p>
        </p:txBody>
      </p:sp>
      <p:sp>
        <p:nvSpPr>
          <p:cNvPr id="17" name="Shape 15"/>
          <p:cNvSpPr/>
          <p:nvPr/>
        </p:nvSpPr>
        <p:spPr>
          <a:xfrm>
            <a:off x="630936" y="539496"/>
            <a:ext cx="64008" cy="64008"/>
          </a:xfrm>
          <a:prstGeom prst="rect">
            <a:avLst/>
          </a:prstGeom>
          <a:solidFill>
            <a:srgbClr val="1F3A6E"/>
          </a:solidFill>
          <a:ln/>
        </p:spPr>
        <p:txBody>
          <a:bodyPr/>
          <a:lstStyle/>
          <a:p>
            <a:endParaRPr lang="en-US"/>
          </a:p>
        </p:txBody>
      </p:sp>
      <p:sp>
        <p:nvSpPr>
          <p:cNvPr id="18" name="Shape 16"/>
          <p:cNvSpPr/>
          <p:nvPr/>
        </p:nvSpPr>
        <p:spPr>
          <a:xfrm>
            <a:off x="713232" y="539496"/>
            <a:ext cx="64008" cy="64008"/>
          </a:xfrm>
          <a:prstGeom prst="rect">
            <a:avLst/>
          </a:prstGeom>
          <a:solidFill>
            <a:srgbClr val="3F8FD0"/>
          </a:solidFill>
          <a:ln/>
        </p:spPr>
        <p:txBody>
          <a:bodyPr/>
          <a:lstStyle/>
          <a:p>
            <a:endParaRPr lang="en-US"/>
          </a:p>
        </p:txBody>
      </p:sp>
      <p:sp>
        <p:nvSpPr>
          <p:cNvPr id="19" name="Shape 17"/>
          <p:cNvSpPr/>
          <p:nvPr/>
        </p:nvSpPr>
        <p:spPr>
          <a:xfrm>
            <a:off x="548640" y="621792"/>
            <a:ext cx="64008" cy="64008"/>
          </a:xfrm>
          <a:prstGeom prst="rect">
            <a:avLst/>
          </a:prstGeom>
          <a:solidFill>
            <a:srgbClr val="1F3A6E"/>
          </a:solidFill>
          <a:ln/>
        </p:spPr>
        <p:txBody>
          <a:bodyPr/>
          <a:lstStyle/>
          <a:p>
            <a:endParaRPr lang="en-US"/>
          </a:p>
        </p:txBody>
      </p:sp>
      <p:sp>
        <p:nvSpPr>
          <p:cNvPr id="20" name="Shape 18"/>
          <p:cNvSpPr/>
          <p:nvPr/>
        </p:nvSpPr>
        <p:spPr>
          <a:xfrm>
            <a:off x="630936" y="621792"/>
            <a:ext cx="64008" cy="64008"/>
          </a:xfrm>
          <a:prstGeom prst="rect">
            <a:avLst/>
          </a:prstGeom>
          <a:solidFill>
            <a:srgbClr val="3F8FD0"/>
          </a:solidFill>
          <a:ln/>
        </p:spPr>
        <p:txBody>
          <a:bodyPr/>
          <a:lstStyle/>
          <a:p>
            <a:endParaRPr lang="en-US"/>
          </a:p>
        </p:txBody>
      </p:sp>
      <p:sp>
        <p:nvSpPr>
          <p:cNvPr id="21" name="Shape 19"/>
          <p:cNvSpPr/>
          <p:nvPr/>
        </p:nvSpPr>
        <p:spPr>
          <a:xfrm>
            <a:off x="713232" y="621792"/>
            <a:ext cx="64008" cy="64008"/>
          </a:xfrm>
          <a:prstGeom prst="rect">
            <a:avLst/>
          </a:prstGeom>
          <a:solidFill>
            <a:srgbClr val="1F3A6E"/>
          </a:solidFill>
          <a:ln/>
        </p:spPr>
        <p:txBody>
          <a:bodyPr/>
          <a:lstStyle/>
          <a:p>
            <a:endParaRPr lang="en-US"/>
          </a:p>
        </p:txBody>
      </p:sp>
      <p:sp>
        <p:nvSpPr>
          <p:cNvPr id="22" name="Shape 20"/>
          <p:cNvSpPr/>
          <p:nvPr/>
        </p:nvSpPr>
        <p:spPr>
          <a:xfrm>
            <a:off x="914400" y="2743200"/>
            <a:ext cx="1417320" cy="1417320"/>
          </a:xfrm>
          <a:prstGeom prst="rect">
            <a:avLst/>
          </a:prstGeom>
          <a:solidFill>
            <a:srgbClr val="1F3A6E"/>
          </a:solidFill>
          <a:ln/>
          <a:effectLst>
            <a:outerShdw blurRad="76200" dist="38100" dir="2700000" algn="bl" rotWithShape="0">
              <a:srgbClr val="000000">
                <a:alpha val="35000"/>
              </a:srgbClr>
            </a:outerShdw>
          </a:effectLst>
        </p:spPr>
        <p:txBody>
          <a:bodyPr/>
          <a:lstStyle/>
          <a:p>
            <a:endParaRPr lang="en-US"/>
          </a:p>
        </p:txBody>
      </p:sp>
      <p:sp>
        <p:nvSpPr>
          <p:cNvPr id="23" name="Text 21"/>
          <p:cNvSpPr/>
          <p:nvPr/>
        </p:nvSpPr>
        <p:spPr>
          <a:xfrm>
            <a:off x="914400" y="2743200"/>
            <a:ext cx="1417320" cy="14173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3</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marL="0" indent="0">
              <a:buNone/>
            </a:pPr>
            <a:r>
              <a:rPr lang="en-US" sz="3000" b="1" dirty="0">
                <a:solidFill>
                  <a:srgbClr val="1F3A6E"/>
                </a:solidFill>
                <a:latin typeface="Calibri" pitchFamily="34" charset="0"/>
                <a:ea typeface="Calibri" pitchFamily="34" charset="-122"/>
                <a:cs typeface="Calibri" pitchFamily="34" charset="-120"/>
              </a:rPr>
              <a:t>Người quản lý dữ liệu – Main Dashboard</a:t>
            </a:r>
            <a:endParaRPr lang="en-US" sz="3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5" name="Panel Body">
            <a:extLst>
              <a:ext uri="{FF2B5EF4-FFF2-40B4-BE49-F238E27FC236}">
                <a16:creationId xmlns:a16="http://schemas.microsoft.com/office/drawing/2014/main" id="{67804371-B959-234F-83E7-98C62D254485}"/>
              </a:ext>
            </a:extLst>
          </p:cNvPr>
          <p:cNvSpPr/>
          <p:nvPr/>
        </p:nvSpPr>
        <p:spPr>
          <a:xfrm>
            <a:off x="7630696" y="2617242"/>
            <a:ext cx="4211840" cy="2624253"/>
          </a:xfrm>
          <a:prstGeom prst="rect">
            <a:avLst/>
          </a:prstGeom>
          <a:solidFill>
            <a:srgbClr val="F4F8FD"/>
          </a:solidFill>
          <a:ln w="9525">
            <a:solidFill>
              <a:srgbClr val="BFBFBF"/>
            </a:solidFill>
          </a:ln>
        </p:spPr>
        <p:txBody>
          <a:bodyPr/>
          <a:lstStyle/>
          <a:p>
            <a:endParaRPr lang="en-US"/>
          </a:p>
        </p:txBody>
      </p:sp>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Đăng nhập &amp; Quyền truy cập của Người quản lý dữ liệu</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24" name="Text 22"/>
          <p:cNvSpPr/>
          <p:nvPr/>
        </p:nvSpPr>
        <p:spPr>
          <a:xfrm>
            <a:off x="7790960" y="2747960"/>
            <a:ext cx="3890513" cy="2263988"/>
          </a:xfrm>
          <a:prstGeom prst="rect">
            <a:avLst/>
          </a:prstGeom>
          <a:noFill/>
          <a:ln/>
        </p:spPr>
        <p:txBody>
          <a:bodyPr wrap="square" lIns="0" tIns="0" rIns="0" bIns="0" rtlCol="0" anchor="t"/>
          <a:lstStyle/>
          <a:p>
            <a:pPr>
              <a:lnSpc>
                <a:spcPct val="115000"/>
              </a:lnSpc>
              <a:spcAft>
                <a:spcPts val="1400"/>
              </a:spcAft>
              <a:buSzPct val="100000"/>
            </a:pPr>
            <a:r>
              <a:rPr lang="en-US" sz="1500" b="1" dirty="0">
                <a:solidFill>
                  <a:srgbClr val="1F3A6E"/>
                </a:solidFill>
                <a:latin typeface="Calibri" pitchFamily="34" charset="0"/>
                <a:ea typeface="Calibri" pitchFamily="34" charset="-122"/>
                <a:cs typeface="Calibri" pitchFamily="34" charset="-120"/>
              </a:rPr>
              <a:t>1 Login (Đăng nhập): </a:t>
            </a:r>
          </a:p>
          <a:p>
            <a:pPr>
              <a:lnSpc>
                <a:spcPct val="115000"/>
              </a:lnSpc>
              <a:spcAft>
                <a:spcPts val="1400"/>
              </a:spcAft>
              <a:buSzPct val="100000"/>
            </a:pPr>
            <a:r>
              <a:rPr lang="en-US" sz="1500" dirty="0">
                <a:solidFill>
                  <a:srgbClr val="262626"/>
                </a:solidFill>
                <a:latin typeface="Calibri" pitchFamily="34" charset="0"/>
                <a:ea typeface="Calibri" pitchFamily="34" charset="-122"/>
                <a:cs typeface="Calibri" pitchFamily="34" charset="-120"/>
              </a:rPr>
              <a:t>Yêu cầu tài khoản Data Manager/Site Manager; đăng nhập vào PIMS để mở khóa cây công trường và tab Nhập liệu.</a:t>
            </a:r>
            <a:endParaRPr lang="en-US" sz="1500" dirty="0"/>
          </a:p>
        </p:txBody>
      </p:sp>
      <p:sp>
        <p:nvSpPr>
          <p:cNvPr id="35" name="Text 33"/>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36" name="Group 35">
            <a:extLst>
              <a:ext uri="{FF2B5EF4-FFF2-40B4-BE49-F238E27FC236}">
                <a16:creationId xmlns:a16="http://schemas.microsoft.com/office/drawing/2014/main" id="{69E0A34B-89F6-EBE4-8B1F-4DA701D8198D}"/>
              </a:ext>
            </a:extLst>
          </p:cNvPr>
          <p:cNvGrpSpPr/>
          <p:nvPr/>
        </p:nvGrpSpPr>
        <p:grpSpPr>
          <a:xfrm>
            <a:off x="320040" y="498348"/>
            <a:ext cx="228600" cy="228600"/>
            <a:chOff x="457200" y="384048"/>
            <a:chExt cx="228600" cy="228600"/>
          </a:xfrm>
        </p:grpSpPr>
        <p:sp>
          <p:nvSpPr>
            <p:cNvPr id="37" name="Shape 1">
              <a:extLst>
                <a:ext uri="{FF2B5EF4-FFF2-40B4-BE49-F238E27FC236}">
                  <a16:creationId xmlns:a16="http://schemas.microsoft.com/office/drawing/2014/main" id="{6276418B-518F-6716-04D8-504305614FFA}"/>
                </a:ext>
              </a:extLst>
            </p:cNvPr>
            <p:cNvSpPr/>
            <p:nvPr/>
          </p:nvSpPr>
          <p:spPr>
            <a:xfrm>
              <a:off x="457200" y="384048"/>
              <a:ext cx="64008" cy="64008"/>
            </a:xfrm>
            <a:prstGeom prst="rect">
              <a:avLst/>
            </a:prstGeom>
            <a:solidFill>
              <a:srgbClr val="1F3A6E"/>
            </a:solidFill>
            <a:ln/>
          </p:spPr>
          <p:txBody>
            <a:bodyPr/>
            <a:lstStyle/>
            <a:p>
              <a:endParaRPr lang="en-US"/>
            </a:p>
          </p:txBody>
        </p:sp>
        <p:sp>
          <p:nvSpPr>
            <p:cNvPr id="38" name="Shape 2">
              <a:extLst>
                <a:ext uri="{FF2B5EF4-FFF2-40B4-BE49-F238E27FC236}">
                  <a16:creationId xmlns:a16="http://schemas.microsoft.com/office/drawing/2014/main" id="{C903DA9F-068B-23AC-61AA-DFBDD1063853}"/>
                </a:ext>
              </a:extLst>
            </p:cNvPr>
            <p:cNvSpPr/>
            <p:nvPr/>
          </p:nvSpPr>
          <p:spPr>
            <a:xfrm>
              <a:off x="539496" y="384048"/>
              <a:ext cx="64008" cy="64008"/>
            </a:xfrm>
            <a:prstGeom prst="rect">
              <a:avLst/>
            </a:prstGeom>
            <a:solidFill>
              <a:srgbClr val="3F8FD0"/>
            </a:solidFill>
            <a:ln/>
          </p:spPr>
          <p:txBody>
            <a:bodyPr/>
            <a:lstStyle/>
            <a:p>
              <a:endParaRPr lang="en-US"/>
            </a:p>
          </p:txBody>
        </p:sp>
        <p:sp>
          <p:nvSpPr>
            <p:cNvPr id="39" name="Shape 3">
              <a:extLst>
                <a:ext uri="{FF2B5EF4-FFF2-40B4-BE49-F238E27FC236}">
                  <a16:creationId xmlns:a16="http://schemas.microsoft.com/office/drawing/2014/main" id="{03C732BE-E562-E708-F619-0CA5E5C263A2}"/>
                </a:ext>
              </a:extLst>
            </p:cNvPr>
            <p:cNvSpPr/>
            <p:nvPr/>
          </p:nvSpPr>
          <p:spPr>
            <a:xfrm>
              <a:off x="621792" y="384048"/>
              <a:ext cx="64008" cy="64008"/>
            </a:xfrm>
            <a:prstGeom prst="rect">
              <a:avLst/>
            </a:prstGeom>
            <a:solidFill>
              <a:srgbClr val="1F3A6E"/>
            </a:solidFill>
            <a:ln/>
          </p:spPr>
          <p:txBody>
            <a:bodyPr/>
            <a:lstStyle/>
            <a:p>
              <a:endParaRPr lang="en-US"/>
            </a:p>
          </p:txBody>
        </p:sp>
        <p:sp>
          <p:nvSpPr>
            <p:cNvPr id="40" name="Shape 4">
              <a:extLst>
                <a:ext uri="{FF2B5EF4-FFF2-40B4-BE49-F238E27FC236}">
                  <a16:creationId xmlns:a16="http://schemas.microsoft.com/office/drawing/2014/main" id="{64F3BCD5-30FE-4316-BC2D-3429CB4924DB}"/>
                </a:ext>
              </a:extLst>
            </p:cNvPr>
            <p:cNvSpPr/>
            <p:nvPr/>
          </p:nvSpPr>
          <p:spPr>
            <a:xfrm>
              <a:off x="457200" y="466344"/>
              <a:ext cx="64008" cy="64008"/>
            </a:xfrm>
            <a:prstGeom prst="rect">
              <a:avLst/>
            </a:prstGeom>
            <a:solidFill>
              <a:srgbClr val="3F8FD0"/>
            </a:solidFill>
            <a:ln/>
          </p:spPr>
          <p:txBody>
            <a:bodyPr/>
            <a:lstStyle/>
            <a:p>
              <a:endParaRPr lang="en-US"/>
            </a:p>
          </p:txBody>
        </p:sp>
        <p:sp>
          <p:nvSpPr>
            <p:cNvPr id="41" name="Shape 5">
              <a:extLst>
                <a:ext uri="{FF2B5EF4-FFF2-40B4-BE49-F238E27FC236}">
                  <a16:creationId xmlns:a16="http://schemas.microsoft.com/office/drawing/2014/main" id="{C8E132D7-A3B4-5103-69BF-EEF477CCAC18}"/>
                </a:ext>
              </a:extLst>
            </p:cNvPr>
            <p:cNvSpPr/>
            <p:nvPr/>
          </p:nvSpPr>
          <p:spPr>
            <a:xfrm>
              <a:off x="539496" y="466344"/>
              <a:ext cx="64008" cy="64008"/>
            </a:xfrm>
            <a:prstGeom prst="rect">
              <a:avLst/>
            </a:prstGeom>
            <a:solidFill>
              <a:srgbClr val="1F3A6E"/>
            </a:solidFill>
            <a:ln/>
          </p:spPr>
          <p:txBody>
            <a:bodyPr/>
            <a:lstStyle/>
            <a:p>
              <a:endParaRPr lang="en-US"/>
            </a:p>
          </p:txBody>
        </p:sp>
        <p:sp>
          <p:nvSpPr>
            <p:cNvPr id="42" name="Shape 6">
              <a:extLst>
                <a:ext uri="{FF2B5EF4-FFF2-40B4-BE49-F238E27FC236}">
                  <a16:creationId xmlns:a16="http://schemas.microsoft.com/office/drawing/2014/main" id="{BD5452AE-BB37-3355-4369-1D674FD63651}"/>
                </a:ext>
              </a:extLst>
            </p:cNvPr>
            <p:cNvSpPr/>
            <p:nvPr/>
          </p:nvSpPr>
          <p:spPr>
            <a:xfrm>
              <a:off x="621792" y="466344"/>
              <a:ext cx="64008" cy="64008"/>
            </a:xfrm>
            <a:prstGeom prst="rect">
              <a:avLst/>
            </a:prstGeom>
            <a:solidFill>
              <a:srgbClr val="3F8FD0"/>
            </a:solidFill>
            <a:ln/>
          </p:spPr>
          <p:txBody>
            <a:bodyPr/>
            <a:lstStyle/>
            <a:p>
              <a:endParaRPr lang="en-US"/>
            </a:p>
          </p:txBody>
        </p:sp>
        <p:sp>
          <p:nvSpPr>
            <p:cNvPr id="43" name="Shape 7">
              <a:extLst>
                <a:ext uri="{FF2B5EF4-FFF2-40B4-BE49-F238E27FC236}">
                  <a16:creationId xmlns:a16="http://schemas.microsoft.com/office/drawing/2014/main" id="{400A13F9-8319-95B0-2F6B-55DFCF581DD9}"/>
                </a:ext>
              </a:extLst>
            </p:cNvPr>
            <p:cNvSpPr/>
            <p:nvPr/>
          </p:nvSpPr>
          <p:spPr>
            <a:xfrm>
              <a:off x="457200" y="548640"/>
              <a:ext cx="64008" cy="64008"/>
            </a:xfrm>
            <a:prstGeom prst="rect">
              <a:avLst/>
            </a:prstGeom>
            <a:solidFill>
              <a:srgbClr val="1F3A6E"/>
            </a:solidFill>
            <a:ln/>
          </p:spPr>
          <p:txBody>
            <a:bodyPr/>
            <a:lstStyle/>
            <a:p>
              <a:endParaRPr lang="en-US"/>
            </a:p>
          </p:txBody>
        </p:sp>
        <p:sp>
          <p:nvSpPr>
            <p:cNvPr id="44" name="Shape 8">
              <a:extLst>
                <a:ext uri="{FF2B5EF4-FFF2-40B4-BE49-F238E27FC236}">
                  <a16:creationId xmlns:a16="http://schemas.microsoft.com/office/drawing/2014/main" id="{7FB9D239-4FFD-887E-E77E-623EA1A12927}"/>
                </a:ext>
              </a:extLst>
            </p:cNvPr>
            <p:cNvSpPr/>
            <p:nvPr/>
          </p:nvSpPr>
          <p:spPr>
            <a:xfrm>
              <a:off x="539496" y="548640"/>
              <a:ext cx="64008" cy="64008"/>
            </a:xfrm>
            <a:prstGeom prst="rect">
              <a:avLst/>
            </a:prstGeom>
            <a:solidFill>
              <a:srgbClr val="3F8FD0"/>
            </a:solidFill>
            <a:ln/>
          </p:spPr>
          <p:txBody>
            <a:bodyPr/>
            <a:lstStyle/>
            <a:p>
              <a:endParaRPr lang="en-US"/>
            </a:p>
          </p:txBody>
        </p:sp>
        <p:sp>
          <p:nvSpPr>
            <p:cNvPr id="45" name="Shape 9">
              <a:extLst>
                <a:ext uri="{FF2B5EF4-FFF2-40B4-BE49-F238E27FC236}">
                  <a16:creationId xmlns:a16="http://schemas.microsoft.com/office/drawing/2014/main" id="{3504FF32-4CD7-9F6D-CBE8-F3B234F6B380}"/>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6" name="Group 45">
            <a:extLst>
              <a:ext uri="{FF2B5EF4-FFF2-40B4-BE49-F238E27FC236}">
                <a16:creationId xmlns:a16="http://schemas.microsoft.com/office/drawing/2014/main" id="{51B4B10C-C218-FB97-CC9B-ECDADA69A392}"/>
              </a:ext>
            </a:extLst>
          </p:cNvPr>
          <p:cNvGrpSpPr/>
          <p:nvPr/>
        </p:nvGrpSpPr>
        <p:grpSpPr>
          <a:xfrm>
            <a:off x="320040" y="6473952"/>
            <a:ext cx="228600" cy="228600"/>
            <a:chOff x="320040" y="6473952"/>
            <a:chExt cx="228600" cy="228600"/>
          </a:xfrm>
        </p:grpSpPr>
        <p:sp>
          <p:nvSpPr>
            <p:cNvPr id="47" name="Shape 24">
              <a:extLst>
                <a:ext uri="{FF2B5EF4-FFF2-40B4-BE49-F238E27FC236}">
                  <a16:creationId xmlns:a16="http://schemas.microsoft.com/office/drawing/2014/main" id="{C112EB1D-8177-0F2B-78F8-E8BD34D66D47}"/>
                </a:ext>
              </a:extLst>
            </p:cNvPr>
            <p:cNvSpPr/>
            <p:nvPr/>
          </p:nvSpPr>
          <p:spPr>
            <a:xfrm>
              <a:off x="320040" y="6473952"/>
              <a:ext cx="64008" cy="64008"/>
            </a:xfrm>
            <a:prstGeom prst="rect">
              <a:avLst/>
            </a:prstGeom>
            <a:solidFill>
              <a:srgbClr val="1F3A6E"/>
            </a:solidFill>
            <a:ln/>
          </p:spPr>
          <p:txBody>
            <a:bodyPr/>
            <a:lstStyle/>
            <a:p>
              <a:endParaRPr lang="en-US"/>
            </a:p>
          </p:txBody>
        </p:sp>
        <p:sp>
          <p:nvSpPr>
            <p:cNvPr id="48" name="Shape 25">
              <a:extLst>
                <a:ext uri="{FF2B5EF4-FFF2-40B4-BE49-F238E27FC236}">
                  <a16:creationId xmlns:a16="http://schemas.microsoft.com/office/drawing/2014/main" id="{DDAB3A51-C80F-8827-7B4D-B378851208E4}"/>
                </a:ext>
              </a:extLst>
            </p:cNvPr>
            <p:cNvSpPr/>
            <p:nvPr/>
          </p:nvSpPr>
          <p:spPr>
            <a:xfrm>
              <a:off x="402336" y="6473952"/>
              <a:ext cx="64008" cy="64008"/>
            </a:xfrm>
            <a:prstGeom prst="rect">
              <a:avLst/>
            </a:prstGeom>
            <a:solidFill>
              <a:srgbClr val="3F8FD0"/>
            </a:solidFill>
            <a:ln/>
          </p:spPr>
          <p:txBody>
            <a:bodyPr/>
            <a:lstStyle/>
            <a:p>
              <a:endParaRPr lang="en-US"/>
            </a:p>
          </p:txBody>
        </p:sp>
        <p:sp>
          <p:nvSpPr>
            <p:cNvPr id="49" name="Shape 26">
              <a:extLst>
                <a:ext uri="{FF2B5EF4-FFF2-40B4-BE49-F238E27FC236}">
                  <a16:creationId xmlns:a16="http://schemas.microsoft.com/office/drawing/2014/main" id="{3926DC03-1E5E-A9F8-C116-DECC3F1E400A}"/>
                </a:ext>
              </a:extLst>
            </p:cNvPr>
            <p:cNvSpPr/>
            <p:nvPr/>
          </p:nvSpPr>
          <p:spPr>
            <a:xfrm>
              <a:off x="484632" y="6473952"/>
              <a:ext cx="64008" cy="64008"/>
            </a:xfrm>
            <a:prstGeom prst="rect">
              <a:avLst/>
            </a:prstGeom>
            <a:solidFill>
              <a:srgbClr val="1F3A6E"/>
            </a:solidFill>
            <a:ln/>
          </p:spPr>
          <p:txBody>
            <a:bodyPr/>
            <a:lstStyle/>
            <a:p>
              <a:endParaRPr lang="en-US"/>
            </a:p>
          </p:txBody>
        </p:sp>
        <p:sp>
          <p:nvSpPr>
            <p:cNvPr id="50" name="Shape 27">
              <a:extLst>
                <a:ext uri="{FF2B5EF4-FFF2-40B4-BE49-F238E27FC236}">
                  <a16:creationId xmlns:a16="http://schemas.microsoft.com/office/drawing/2014/main" id="{16E6014C-E8E8-136A-5260-17F816002D13}"/>
                </a:ext>
              </a:extLst>
            </p:cNvPr>
            <p:cNvSpPr/>
            <p:nvPr/>
          </p:nvSpPr>
          <p:spPr>
            <a:xfrm>
              <a:off x="320040" y="6556248"/>
              <a:ext cx="64008" cy="64008"/>
            </a:xfrm>
            <a:prstGeom prst="rect">
              <a:avLst/>
            </a:prstGeom>
            <a:solidFill>
              <a:srgbClr val="3F8FD0"/>
            </a:solidFill>
            <a:ln/>
          </p:spPr>
          <p:txBody>
            <a:bodyPr/>
            <a:lstStyle/>
            <a:p>
              <a:endParaRPr lang="en-US"/>
            </a:p>
          </p:txBody>
        </p:sp>
        <p:sp>
          <p:nvSpPr>
            <p:cNvPr id="51" name="Shape 28">
              <a:extLst>
                <a:ext uri="{FF2B5EF4-FFF2-40B4-BE49-F238E27FC236}">
                  <a16:creationId xmlns:a16="http://schemas.microsoft.com/office/drawing/2014/main" id="{96CDFC95-101F-BA0B-ED9F-97E21674DC69}"/>
                </a:ext>
              </a:extLst>
            </p:cNvPr>
            <p:cNvSpPr/>
            <p:nvPr/>
          </p:nvSpPr>
          <p:spPr>
            <a:xfrm>
              <a:off x="402336" y="6556248"/>
              <a:ext cx="64008" cy="64008"/>
            </a:xfrm>
            <a:prstGeom prst="rect">
              <a:avLst/>
            </a:prstGeom>
            <a:solidFill>
              <a:srgbClr val="1F3A6E"/>
            </a:solidFill>
            <a:ln/>
          </p:spPr>
          <p:txBody>
            <a:bodyPr/>
            <a:lstStyle/>
            <a:p>
              <a:endParaRPr lang="en-US"/>
            </a:p>
          </p:txBody>
        </p:sp>
        <p:sp>
          <p:nvSpPr>
            <p:cNvPr id="52" name="Shape 29">
              <a:extLst>
                <a:ext uri="{FF2B5EF4-FFF2-40B4-BE49-F238E27FC236}">
                  <a16:creationId xmlns:a16="http://schemas.microsoft.com/office/drawing/2014/main" id="{37933BAB-59C9-B362-5C48-B7796401D7BD}"/>
                </a:ext>
              </a:extLst>
            </p:cNvPr>
            <p:cNvSpPr/>
            <p:nvPr/>
          </p:nvSpPr>
          <p:spPr>
            <a:xfrm>
              <a:off x="484632" y="6556248"/>
              <a:ext cx="64008" cy="64008"/>
            </a:xfrm>
            <a:prstGeom prst="rect">
              <a:avLst/>
            </a:prstGeom>
            <a:solidFill>
              <a:srgbClr val="3F8FD0"/>
            </a:solidFill>
            <a:ln/>
          </p:spPr>
          <p:txBody>
            <a:bodyPr/>
            <a:lstStyle/>
            <a:p>
              <a:endParaRPr lang="en-US"/>
            </a:p>
          </p:txBody>
        </p:sp>
        <p:sp>
          <p:nvSpPr>
            <p:cNvPr id="53" name="Shape 30">
              <a:extLst>
                <a:ext uri="{FF2B5EF4-FFF2-40B4-BE49-F238E27FC236}">
                  <a16:creationId xmlns:a16="http://schemas.microsoft.com/office/drawing/2014/main" id="{60342010-63F3-F3EE-CB1C-A20EF657B550}"/>
                </a:ext>
              </a:extLst>
            </p:cNvPr>
            <p:cNvSpPr/>
            <p:nvPr/>
          </p:nvSpPr>
          <p:spPr>
            <a:xfrm>
              <a:off x="320040" y="6638544"/>
              <a:ext cx="64008" cy="64008"/>
            </a:xfrm>
            <a:prstGeom prst="rect">
              <a:avLst/>
            </a:prstGeom>
            <a:solidFill>
              <a:srgbClr val="1F3A6E"/>
            </a:solidFill>
            <a:ln/>
          </p:spPr>
          <p:txBody>
            <a:bodyPr/>
            <a:lstStyle/>
            <a:p>
              <a:endParaRPr lang="en-US"/>
            </a:p>
          </p:txBody>
        </p:sp>
        <p:sp>
          <p:nvSpPr>
            <p:cNvPr id="54" name="Shape 31">
              <a:extLst>
                <a:ext uri="{FF2B5EF4-FFF2-40B4-BE49-F238E27FC236}">
                  <a16:creationId xmlns:a16="http://schemas.microsoft.com/office/drawing/2014/main" id="{97027E91-4F0E-55DD-DB14-980AFACC77DE}"/>
                </a:ext>
              </a:extLst>
            </p:cNvPr>
            <p:cNvSpPr/>
            <p:nvPr/>
          </p:nvSpPr>
          <p:spPr>
            <a:xfrm>
              <a:off x="402336" y="6638544"/>
              <a:ext cx="64008" cy="64008"/>
            </a:xfrm>
            <a:prstGeom prst="rect">
              <a:avLst/>
            </a:prstGeom>
            <a:solidFill>
              <a:srgbClr val="3F8FD0"/>
            </a:solidFill>
            <a:ln/>
          </p:spPr>
          <p:txBody>
            <a:bodyPr/>
            <a:lstStyle/>
            <a:p>
              <a:endParaRPr lang="en-US"/>
            </a:p>
          </p:txBody>
        </p:sp>
        <p:sp>
          <p:nvSpPr>
            <p:cNvPr id="55" name="Shape 32">
              <a:extLst>
                <a:ext uri="{FF2B5EF4-FFF2-40B4-BE49-F238E27FC236}">
                  <a16:creationId xmlns:a16="http://schemas.microsoft.com/office/drawing/2014/main" id="{A5FC689E-1C45-F4CA-11F3-E8F1A3F947C6}"/>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6" name="Text 33">
            <a:extLst>
              <a:ext uri="{FF2B5EF4-FFF2-40B4-BE49-F238E27FC236}">
                <a16:creationId xmlns:a16="http://schemas.microsoft.com/office/drawing/2014/main" id="{CCD67955-CFD0-2CAF-6AB7-46595852615B}"/>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pic>
        <p:nvPicPr>
          <p:cNvPr id="4" name="Picture 3">
            <a:extLst>
              <a:ext uri="{FF2B5EF4-FFF2-40B4-BE49-F238E27FC236}">
                <a16:creationId xmlns:a16="http://schemas.microsoft.com/office/drawing/2014/main" id="{C63A1FE3-6D67-9FA4-E5EB-4CD153F2E823}"/>
              </a:ext>
            </a:extLst>
          </p:cNvPr>
          <p:cNvPicPr>
            <a:picLocks noChangeAspect="1"/>
          </p:cNvPicPr>
          <p:nvPr/>
        </p:nvPicPr>
        <p:blipFill>
          <a:blip r:embed="rId3"/>
          <a:stretch>
            <a:fillRect/>
          </a:stretch>
        </p:blipFill>
        <p:spPr>
          <a:xfrm>
            <a:off x="349464" y="1984116"/>
            <a:ext cx="7040382" cy="3257379"/>
          </a:xfrm>
          <a:prstGeom prst="rect">
            <a:avLst/>
          </a:prstGeom>
        </p:spPr>
      </p:pic>
      <p:sp>
        <p:nvSpPr>
          <p:cNvPr id="6" name="Panel Header">
            <a:extLst>
              <a:ext uri="{FF2B5EF4-FFF2-40B4-BE49-F238E27FC236}">
                <a16:creationId xmlns:a16="http://schemas.microsoft.com/office/drawing/2014/main" id="{26400651-D579-52AD-C75C-078A0831E616}"/>
              </a:ext>
            </a:extLst>
          </p:cNvPr>
          <p:cNvSpPr/>
          <p:nvPr/>
        </p:nvSpPr>
        <p:spPr>
          <a:xfrm>
            <a:off x="7630296" y="2012052"/>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8" name="Box 1">
            <a:extLst>
              <a:ext uri="{FF2B5EF4-FFF2-40B4-BE49-F238E27FC236}">
                <a16:creationId xmlns:a16="http://schemas.microsoft.com/office/drawing/2014/main" id="{1D8DFF97-3FA7-E99F-E188-0EDC91425F33}"/>
              </a:ext>
            </a:extLst>
          </p:cNvPr>
          <p:cNvSpPr/>
          <p:nvPr/>
        </p:nvSpPr>
        <p:spPr>
          <a:xfrm>
            <a:off x="384049" y="4659976"/>
            <a:ext cx="779272" cy="516544"/>
          </a:xfrm>
          <a:prstGeom prst="roundRect">
            <a:avLst>
              <a:gd name="adj" fmla="val 10000"/>
            </a:avLst>
          </a:prstGeom>
          <a:noFill/>
          <a:ln w="19050">
            <a:solidFill>
              <a:srgbClr val="1F3A6E"/>
            </a:solidFill>
          </a:ln>
        </p:spPr>
        <p:txBody>
          <a:bodyPr/>
          <a:lstStyle/>
          <a:p>
            <a:endParaRPr lang="en-US"/>
          </a:p>
        </p:txBody>
      </p:sp>
      <p:sp>
        <p:nvSpPr>
          <p:cNvPr id="10" name="Callout 1">
            <a:extLst>
              <a:ext uri="{FF2B5EF4-FFF2-40B4-BE49-F238E27FC236}">
                <a16:creationId xmlns:a16="http://schemas.microsoft.com/office/drawing/2014/main" id="{1449D7A0-C962-BA39-2C04-AEF2024CB7C6}"/>
              </a:ext>
            </a:extLst>
          </p:cNvPr>
          <p:cNvSpPr/>
          <p:nvPr/>
        </p:nvSpPr>
        <p:spPr>
          <a:xfrm>
            <a:off x="239464" y="459500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172F054-6B45-9B63-CF06-4884758D561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30BCA4-2B13-0149-3123-6C5B441F50B7}"/>
              </a:ext>
            </a:extLst>
          </p:cNvPr>
          <p:cNvSpPr/>
          <p:nvPr/>
        </p:nvSpPr>
        <p:spPr>
          <a:xfrm>
            <a:off x="0" y="0"/>
            <a:ext cx="12191695" cy="54864"/>
          </a:xfrm>
          <a:prstGeom prst="rect">
            <a:avLst/>
          </a:prstGeom>
          <a:solidFill>
            <a:srgbClr val="3F8FD0"/>
          </a:solidFill>
          <a:ln/>
        </p:spPr>
        <p:txBody>
          <a:bodyPr/>
          <a:lstStyle/>
          <a:p>
            <a:endParaRPr lang="en-US"/>
          </a:p>
        </p:txBody>
      </p:sp>
      <p:grpSp>
        <p:nvGrpSpPr>
          <p:cNvPr id="38" name="Group 37">
            <a:extLst>
              <a:ext uri="{FF2B5EF4-FFF2-40B4-BE49-F238E27FC236}">
                <a16:creationId xmlns:a16="http://schemas.microsoft.com/office/drawing/2014/main" id="{40338E46-E041-427F-A201-DBFF5EB40199}"/>
              </a:ext>
            </a:extLst>
          </p:cNvPr>
          <p:cNvGrpSpPr/>
          <p:nvPr/>
        </p:nvGrpSpPr>
        <p:grpSpPr>
          <a:xfrm>
            <a:off x="320040" y="491129"/>
            <a:ext cx="228600" cy="228600"/>
            <a:chOff x="457200" y="384048"/>
            <a:chExt cx="228600" cy="228600"/>
          </a:xfrm>
        </p:grpSpPr>
        <p:sp>
          <p:nvSpPr>
            <p:cNvPr id="3" name="Shape 1">
              <a:extLst>
                <a:ext uri="{FF2B5EF4-FFF2-40B4-BE49-F238E27FC236}">
                  <a16:creationId xmlns:a16="http://schemas.microsoft.com/office/drawing/2014/main" id="{7553210F-D478-0F6B-F49E-CF6C525479E3}"/>
                </a:ext>
              </a:extLst>
            </p:cNvPr>
            <p:cNvSpPr/>
            <p:nvPr/>
          </p:nvSpPr>
          <p:spPr>
            <a:xfrm>
              <a:off x="457200" y="384048"/>
              <a:ext cx="64008" cy="64008"/>
            </a:xfrm>
            <a:prstGeom prst="rect">
              <a:avLst/>
            </a:prstGeom>
            <a:solidFill>
              <a:srgbClr val="1F3A6E"/>
            </a:solidFill>
            <a:ln/>
          </p:spPr>
          <p:txBody>
            <a:bodyPr/>
            <a:lstStyle/>
            <a:p>
              <a:endParaRPr lang="en-US"/>
            </a:p>
          </p:txBody>
        </p:sp>
        <p:sp>
          <p:nvSpPr>
            <p:cNvPr id="4" name="Shape 2">
              <a:extLst>
                <a:ext uri="{FF2B5EF4-FFF2-40B4-BE49-F238E27FC236}">
                  <a16:creationId xmlns:a16="http://schemas.microsoft.com/office/drawing/2014/main" id="{3DB2FE46-7860-7C50-DD8C-95D1866C69AD}"/>
                </a:ext>
              </a:extLst>
            </p:cNvPr>
            <p:cNvSpPr/>
            <p:nvPr/>
          </p:nvSpPr>
          <p:spPr>
            <a:xfrm>
              <a:off x="539496" y="384048"/>
              <a:ext cx="64008" cy="64008"/>
            </a:xfrm>
            <a:prstGeom prst="rect">
              <a:avLst/>
            </a:prstGeom>
            <a:solidFill>
              <a:srgbClr val="3F8FD0"/>
            </a:solidFill>
            <a:ln/>
          </p:spPr>
          <p:txBody>
            <a:bodyPr/>
            <a:lstStyle/>
            <a:p>
              <a:endParaRPr lang="en-US"/>
            </a:p>
          </p:txBody>
        </p:sp>
        <p:sp>
          <p:nvSpPr>
            <p:cNvPr id="5" name="Shape 3">
              <a:extLst>
                <a:ext uri="{FF2B5EF4-FFF2-40B4-BE49-F238E27FC236}">
                  <a16:creationId xmlns:a16="http://schemas.microsoft.com/office/drawing/2014/main" id="{B3CDD0A3-1CFA-C930-A34A-5CD346C69C02}"/>
                </a:ext>
              </a:extLst>
            </p:cNvPr>
            <p:cNvSpPr/>
            <p:nvPr/>
          </p:nvSpPr>
          <p:spPr>
            <a:xfrm>
              <a:off x="621792" y="384048"/>
              <a:ext cx="64008" cy="64008"/>
            </a:xfrm>
            <a:prstGeom prst="rect">
              <a:avLst/>
            </a:prstGeom>
            <a:solidFill>
              <a:srgbClr val="1F3A6E"/>
            </a:solidFill>
            <a:ln/>
          </p:spPr>
          <p:txBody>
            <a:bodyPr/>
            <a:lstStyle/>
            <a:p>
              <a:endParaRPr lang="en-US"/>
            </a:p>
          </p:txBody>
        </p:sp>
        <p:sp>
          <p:nvSpPr>
            <p:cNvPr id="6" name="Shape 4">
              <a:extLst>
                <a:ext uri="{FF2B5EF4-FFF2-40B4-BE49-F238E27FC236}">
                  <a16:creationId xmlns:a16="http://schemas.microsoft.com/office/drawing/2014/main" id="{36FAEDFF-CFB9-3E17-73C8-188516D3AF08}"/>
                </a:ext>
              </a:extLst>
            </p:cNvPr>
            <p:cNvSpPr/>
            <p:nvPr/>
          </p:nvSpPr>
          <p:spPr>
            <a:xfrm>
              <a:off x="457200" y="466344"/>
              <a:ext cx="64008" cy="64008"/>
            </a:xfrm>
            <a:prstGeom prst="rect">
              <a:avLst/>
            </a:prstGeom>
            <a:solidFill>
              <a:srgbClr val="3F8FD0"/>
            </a:solidFill>
            <a:ln/>
          </p:spPr>
          <p:txBody>
            <a:bodyPr/>
            <a:lstStyle/>
            <a:p>
              <a:endParaRPr lang="en-US"/>
            </a:p>
          </p:txBody>
        </p:sp>
        <p:sp>
          <p:nvSpPr>
            <p:cNvPr id="7" name="Shape 5">
              <a:extLst>
                <a:ext uri="{FF2B5EF4-FFF2-40B4-BE49-F238E27FC236}">
                  <a16:creationId xmlns:a16="http://schemas.microsoft.com/office/drawing/2014/main" id="{2028ADEC-57CE-CFE2-1E13-2E56A7EB7BF7}"/>
                </a:ext>
              </a:extLst>
            </p:cNvPr>
            <p:cNvSpPr/>
            <p:nvPr/>
          </p:nvSpPr>
          <p:spPr>
            <a:xfrm>
              <a:off x="539496" y="466344"/>
              <a:ext cx="64008" cy="64008"/>
            </a:xfrm>
            <a:prstGeom prst="rect">
              <a:avLst/>
            </a:prstGeom>
            <a:solidFill>
              <a:srgbClr val="1F3A6E"/>
            </a:solidFill>
            <a:ln/>
          </p:spPr>
          <p:txBody>
            <a:bodyPr/>
            <a:lstStyle/>
            <a:p>
              <a:endParaRPr lang="en-US"/>
            </a:p>
          </p:txBody>
        </p:sp>
        <p:sp>
          <p:nvSpPr>
            <p:cNvPr id="8" name="Shape 6">
              <a:extLst>
                <a:ext uri="{FF2B5EF4-FFF2-40B4-BE49-F238E27FC236}">
                  <a16:creationId xmlns:a16="http://schemas.microsoft.com/office/drawing/2014/main" id="{5784C67C-F496-0202-C074-7F42BC2BEBEC}"/>
                </a:ext>
              </a:extLst>
            </p:cNvPr>
            <p:cNvSpPr/>
            <p:nvPr/>
          </p:nvSpPr>
          <p:spPr>
            <a:xfrm>
              <a:off x="621792" y="466344"/>
              <a:ext cx="64008" cy="64008"/>
            </a:xfrm>
            <a:prstGeom prst="rect">
              <a:avLst/>
            </a:prstGeom>
            <a:solidFill>
              <a:srgbClr val="3F8FD0"/>
            </a:solidFill>
            <a:ln/>
          </p:spPr>
          <p:txBody>
            <a:bodyPr/>
            <a:lstStyle/>
            <a:p>
              <a:endParaRPr lang="en-US"/>
            </a:p>
          </p:txBody>
        </p:sp>
        <p:sp>
          <p:nvSpPr>
            <p:cNvPr id="9" name="Shape 7">
              <a:extLst>
                <a:ext uri="{FF2B5EF4-FFF2-40B4-BE49-F238E27FC236}">
                  <a16:creationId xmlns:a16="http://schemas.microsoft.com/office/drawing/2014/main" id="{23A52148-7B70-3A3E-E866-A2A619847B45}"/>
                </a:ext>
              </a:extLst>
            </p:cNvPr>
            <p:cNvSpPr/>
            <p:nvPr/>
          </p:nvSpPr>
          <p:spPr>
            <a:xfrm>
              <a:off x="457200" y="548640"/>
              <a:ext cx="64008" cy="64008"/>
            </a:xfrm>
            <a:prstGeom prst="rect">
              <a:avLst/>
            </a:prstGeom>
            <a:solidFill>
              <a:srgbClr val="1F3A6E"/>
            </a:solidFill>
            <a:ln/>
          </p:spPr>
          <p:txBody>
            <a:bodyPr/>
            <a:lstStyle/>
            <a:p>
              <a:endParaRPr lang="en-US"/>
            </a:p>
          </p:txBody>
        </p:sp>
        <p:sp>
          <p:nvSpPr>
            <p:cNvPr id="10" name="Shape 8">
              <a:extLst>
                <a:ext uri="{FF2B5EF4-FFF2-40B4-BE49-F238E27FC236}">
                  <a16:creationId xmlns:a16="http://schemas.microsoft.com/office/drawing/2014/main" id="{13F4F68A-F93C-7A9B-9299-76188B2A2914}"/>
                </a:ext>
              </a:extLst>
            </p:cNvPr>
            <p:cNvSpPr/>
            <p:nvPr/>
          </p:nvSpPr>
          <p:spPr>
            <a:xfrm>
              <a:off x="539496" y="548640"/>
              <a:ext cx="64008" cy="64008"/>
            </a:xfrm>
            <a:prstGeom prst="rect">
              <a:avLst/>
            </a:prstGeom>
            <a:solidFill>
              <a:srgbClr val="3F8FD0"/>
            </a:solidFill>
            <a:ln/>
          </p:spPr>
          <p:txBody>
            <a:bodyPr/>
            <a:lstStyle/>
            <a:p>
              <a:endParaRPr lang="en-US"/>
            </a:p>
          </p:txBody>
        </p:sp>
        <p:sp>
          <p:nvSpPr>
            <p:cNvPr id="11" name="Shape 9">
              <a:extLst>
                <a:ext uri="{FF2B5EF4-FFF2-40B4-BE49-F238E27FC236}">
                  <a16:creationId xmlns:a16="http://schemas.microsoft.com/office/drawing/2014/main" id="{4E28FA0E-3316-0FF5-726E-470C8DC3A716}"/>
                </a:ext>
              </a:extLst>
            </p:cNvPr>
            <p:cNvSpPr/>
            <p:nvPr/>
          </p:nvSpPr>
          <p:spPr>
            <a:xfrm>
              <a:off x="621792" y="548640"/>
              <a:ext cx="64008" cy="64008"/>
            </a:xfrm>
            <a:prstGeom prst="rect">
              <a:avLst/>
            </a:prstGeom>
            <a:solidFill>
              <a:srgbClr val="1F3A6E"/>
            </a:solidFill>
            <a:ln/>
          </p:spPr>
          <p:txBody>
            <a:bodyPr/>
            <a:lstStyle/>
            <a:p>
              <a:endParaRPr lang="en-US"/>
            </a:p>
          </p:txBody>
        </p:sp>
      </p:grpSp>
      <p:sp>
        <p:nvSpPr>
          <p:cNvPr id="12" name="Text 10">
            <a:extLst>
              <a:ext uri="{FF2B5EF4-FFF2-40B4-BE49-F238E27FC236}">
                <a16:creationId xmlns:a16="http://schemas.microsoft.com/office/drawing/2014/main" id="{02372D53-8DD3-6057-F077-C9514680FC0E}"/>
              </a:ext>
            </a:extLst>
          </p:cNvPr>
          <p:cNvSpPr/>
          <p:nvPr/>
        </p:nvSpPr>
        <p:spPr>
          <a:xfrm>
            <a:off x="770839" y="274320"/>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Main Dashboard: Bộ lọc &amp; KPI tổng hợp</a:t>
            </a:r>
            <a:endParaRPr lang="en-US" sz="2800" dirty="0"/>
          </a:p>
        </p:txBody>
      </p:sp>
      <p:sp>
        <p:nvSpPr>
          <p:cNvPr id="13" name="Shape 11">
            <a:extLst>
              <a:ext uri="{FF2B5EF4-FFF2-40B4-BE49-F238E27FC236}">
                <a16:creationId xmlns:a16="http://schemas.microsoft.com/office/drawing/2014/main" id="{195531B2-10C7-D846-AB78-76ADE950C3EE}"/>
              </a:ext>
            </a:extLst>
          </p:cNvPr>
          <p:cNvSpPr/>
          <p:nvPr/>
        </p:nvSpPr>
        <p:spPr>
          <a:xfrm>
            <a:off x="9503359" y="0"/>
            <a:ext cx="384048" cy="384048"/>
          </a:xfrm>
          <a:prstGeom prst="rect">
            <a:avLst/>
          </a:prstGeom>
          <a:solidFill>
            <a:srgbClr val="AEE0F5"/>
          </a:solidFill>
          <a:ln/>
        </p:spPr>
        <p:txBody>
          <a:bodyPr/>
          <a:lstStyle/>
          <a:p>
            <a:endParaRPr lang="en-US"/>
          </a:p>
        </p:txBody>
      </p:sp>
      <p:sp>
        <p:nvSpPr>
          <p:cNvPr id="14" name="Shape 12">
            <a:extLst>
              <a:ext uri="{FF2B5EF4-FFF2-40B4-BE49-F238E27FC236}">
                <a16:creationId xmlns:a16="http://schemas.microsoft.com/office/drawing/2014/main" id="{1AD6B378-C417-7CE4-41E8-36DB700A5A0A}"/>
              </a:ext>
            </a:extLst>
          </p:cNvPr>
          <p:cNvSpPr/>
          <p:nvPr/>
        </p:nvSpPr>
        <p:spPr>
          <a:xfrm>
            <a:off x="9887407" y="0"/>
            <a:ext cx="384048" cy="384048"/>
          </a:xfrm>
          <a:prstGeom prst="rect">
            <a:avLst/>
          </a:prstGeom>
          <a:solidFill>
            <a:srgbClr val="3F8FD0"/>
          </a:solidFill>
          <a:ln/>
        </p:spPr>
        <p:txBody>
          <a:bodyPr/>
          <a:lstStyle/>
          <a:p>
            <a:endParaRPr lang="en-US"/>
          </a:p>
        </p:txBody>
      </p:sp>
      <p:sp>
        <p:nvSpPr>
          <p:cNvPr id="15" name="Shape 13">
            <a:extLst>
              <a:ext uri="{FF2B5EF4-FFF2-40B4-BE49-F238E27FC236}">
                <a16:creationId xmlns:a16="http://schemas.microsoft.com/office/drawing/2014/main" id="{3D4F21AA-E912-F739-C41F-E68983CF22DA}"/>
              </a:ext>
            </a:extLst>
          </p:cNvPr>
          <p:cNvSpPr/>
          <p:nvPr/>
        </p:nvSpPr>
        <p:spPr>
          <a:xfrm>
            <a:off x="10655503" y="0"/>
            <a:ext cx="384048" cy="384048"/>
          </a:xfrm>
          <a:prstGeom prst="rect">
            <a:avLst/>
          </a:prstGeom>
          <a:solidFill>
            <a:srgbClr val="3F8FD0"/>
          </a:solidFill>
          <a:ln/>
        </p:spPr>
        <p:txBody>
          <a:bodyPr/>
          <a:lstStyle/>
          <a:p>
            <a:endParaRPr lang="en-US"/>
          </a:p>
        </p:txBody>
      </p:sp>
      <p:sp>
        <p:nvSpPr>
          <p:cNvPr id="16" name="Shape 14">
            <a:extLst>
              <a:ext uri="{FF2B5EF4-FFF2-40B4-BE49-F238E27FC236}">
                <a16:creationId xmlns:a16="http://schemas.microsoft.com/office/drawing/2014/main" id="{39CC8673-74FC-4ED3-0A64-E11643D1C7F1}"/>
              </a:ext>
            </a:extLst>
          </p:cNvPr>
          <p:cNvSpPr/>
          <p:nvPr/>
        </p:nvSpPr>
        <p:spPr>
          <a:xfrm>
            <a:off x="11039551" y="0"/>
            <a:ext cx="384048" cy="384048"/>
          </a:xfrm>
          <a:prstGeom prst="rect">
            <a:avLst/>
          </a:prstGeom>
          <a:solidFill>
            <a:srgbClr val="AEE0F5"/>
          </a:solidFill>
          <a:ln/>
        </p:spPr>
        <p:txBody>
          <a:bodyPr/>
          <a:lstStyle/>
          <a:p>
            <a:endParaRPr lang="en-US"/>
          </a:p>
        </p:txBody>
      </p:sp>
      <p:sp>
        <p:nvSpPr>
          <p:cNvPr id="17" name="Shape 15">
            <a:extLst>
              <a:ext uri="{FF2B5EF4-FFF2-40B4-BE49-F238E27FC236}">
                <a16:creationId xmlns:a16="http://schemas.microsoft.com/office/drawing/2014/main" id="{E3630ACB-B094-7F54-A45D-C863F976B0F3}"/>
              </a:ext>
            </a:extLst>
          </p:cNvPr>
          <p:cNvSpPr/>
          <p:nvPr/>
        </p:nvSpPr>
        <p:spPr>
          <a:xfrm>
            <a:off x="11423599" y="0"/>
            <a:ext cx="384048" cy="384048"/>
          </a:xfrm>
          <a:prstGeom prst="rect">
            <a:avLst/>
          </a:prstGeom>
          <a:solidFill>
            <a:srgbClr val="3F8FD0"/>
          </a:solidFill>
          <a:ln/>
        </p:spPr>
        <p:txBody>
          <a:bodyPr/>
          <a:lstStyle/>
          <a:p>
            <a:endParaRPr lang="en-US"/>
          </a:p>
        </p:txBody>
      </p:sp>
      <p:sp>
        <p:nvSpPr>
          <p:cNvPr id="18" name="Shape 16">
            <a:extLst>
              <a:ext uri="{FF2B5EF4-FFF2-40B4-BE49-F238E27FC236}">
                <a16:creationId xmlns:a16="http://schemas.microsoft.com/office/drawing/2014/main" id="{B9E835A3-5958-6F49-CDFC-B2A892A98A61}"/>
              </a:ext>
            </a:extLst>
          </p:cNvPr>
          <p:cNvSpPr/>
          <p:nvPr/>
        </p:nvSpPr>
        <p:spPr>
          <a:xfrm>
            <a:off x="11807647" y="0"/>
            <a:ext cx="384048" cy="384048"/>
          </a:xfrm>
          <a:prstGeom prst="rect">
            <a:avLst/>
          </a:prstGeom>
          <a:solidFill>
            <a:srgbClr val="AEE0F5"/>
          </a:solidFill>
          <a:ln/>
        </p:spPr>
        <p:txBody>
          <a:bodyPr/>
          <a:lstStyle/>
          <a:p>
            <a:endParaRPr lang="en-US"/>
          </a:p>
        </p:txBody>
      </p:sp>
      <p:sp>
        <p:nvSpPr>
          <p:cNvPr id="19" name="Shape 17">
            <a:extLst>
              <a:ext uri="{FF2B5EF4-FFF2-40B4-BE49-F238E27FC236}">
                <a16:creationId xmlns:a16="http://schemas.microsoft.com/office/drawing/2014/main" id="{99DBEA0D-5FA4-82CF-2B38-012B45E9DD29}"/>
              </a:ext>
            </a:extLst>
          </p:cNvPr>
          <p:cNvSpPr/>
          <p:nvPr/>
        </p:nvSpPr>
        <p:spPr>
          <a:xfrm>
            <a:off x="10271455" y="384048"/>
            <a:ext cx="384048" cy="384048"/>
          </a:xfrm>
          <a:prstGeom prst="rect">
            <a:avLst/>
          </a:prstGeom>
          <a:solidFill>
            <a:srgbClr val="3F8FD0"/>
          </a:solidFill>
          <a:ln/>
        </p:spPr>
        <p:txBody>
          <a:bodyPr/>
          <a:lstStyle/>
          <a:p>
            <a:endParaRPr lang="en-US"/>
          </a:p>
        </p:txBody>
      </p:sp>
      <p:sp>
        <p:nvSpPr>
          <p:cNvPr id="20" name="Shape 18">
            <a:extLst>
              <a:ext uri="{FF2B5EF4-FFF2-40B4-BE49-F238E27FC236}">
                <a16:creationId xmlns:a16="http://schemas.microsoft.com/office/drawing/2014/main" id="{8B6A240B-A458-E5F6-5D3E-B398D4EE3717}"/>
              </a:ext>
            </a:extLst>
          </p:cNvPr>
          <p:cNvSpPr/>
          <p:nvPr/>
        </p:nvSpPr>
        <p:spPr>
          <a:xfrm>
            <a:off x="11423599" y="384048"/>
            <a:ext cx="384048" cy="384048"/>
          </a:xfrm>
          <a:prstGeom prst="rect">
            <a:avLst/>
          </a:prstGeom>
          <a:solidFill>
            <a:srgbClr val="AEE0F5"/>
          </a:solidFill>
          <a:ln/>
        </p:spPr>
        <p:txBody>
          <a:bodyPr/>
          <a:lstStyle/>
          <a:p>
            <a:endParaRPr lang="en-US"/>
          </a:p>
        </p:txBody>
      </p:sp>
      <p:sp>
        <p:nvSpPr>
          <p:cNvPr id="21" name="Shape 19">
            <a:extLst>
              <a:ext uri="{FF2B5EF4-FFF2-40B4-BE49-F238E27FC236}">
                <a16:creationId xmlns:a16="http://schemas.microsoft.com/office/drawing/2014/main" id="{ECB637E5-A3A8-259A-A9F5-C51DED6EFB2E}"/>
              </a:ext>
            </a:extLst>
          </p:cNvPr>
          <p:cNvSpPr/>
          <p:nvPr/>
        </p:nvSpPr>
        <p:spPr>
          <a:xfrm>
            <a:off x="11807647" y="384048"/>
            <a:ext cx="384048" cy="384048"/>
          </a:xfrm>
          <a:prstGeom prst="rect">
            <a:avLst/>
          </a:prstGeom>
          <a:solidFill>
            <a:srgbClr val="3F8FD0"/>
          </a:solidFill>
          <a:ln/>
        </p:spPr>
        <p:txBody>
          <a:bodyPr/>
          <a:lstStyle/>
          <a:p>
            <a:endParaRPr lang="en-US"/>
          </a:p>
        </p:txBody>
      </p:sp>
      <p:sp>
        <p:nvSpPr>
          <p:cNvPr id="22" name="Shape 20">
            <a:extLst>
              <a:ext uri="{FF2B5EF4-FFF2-40B4-BE49-F238E27FC236}">
                <a16:creationId xmlns:a16="http://schemas.microsoft.com/office/drawing/2014/main" id="{EACBF69D-9DEF-279F-F58B-EB084BF88027}"/>
              </a:ext>
            </a:extLst>
          </p:cNvPr>
          <p:cNvSpPr/>
          <p:nvPr/>
        </p:nvSpPr>
        <p:spPr>
          <a:xfrm>
            <a:off x="11039551" y="768096"/>
            <a:ext cx="384048" cy="384048"/>
          </a:xfrm>
          <a:prstGeom prst="rect">
            <a:avLst/>
          </a:prstGeom>
          <a:solidFill>
            <a:srgbClr val="AEE0F5"/>
          </a:solidFill>
          <a:ln/>
        </p:spPr>
        <p:txBody>
          <a:bodyPr/>
          <a:lstStyle/>
          <a:p>
            <a:endParaRPr lang="en-US"/>
          </a:p>
        </p:txBody>
      </p:sp>
      <p:sp>
        <p:nvSpPr>
          <p:cNvPr id="23" name="Shape 21">
            <a:extLst>
              <a:ext uri="{FF2B5EF4-FFF2-40B4-BE49-F238E27FC236}">
                <a16:creationId xmlns:a16="http://schemas.microsoft.com/office/drawing/2014/main" id="{37508B13-7C7C-0B83-DAF6-12F15EC2BD18}"/>
              </a:ext>
            </a:extLst>
          </p:cNvPr>
          <p:cNvSpPr/>
          <p:nvPr/>
        </p:nvSpPr>
        <p:spPr>
          <a:xfrm>
            <a:off x="11807647" y="768096"/>
            <a:ext cx="384048" cy="384048"/>
          </a:xfrm>
          <a:prstGeom prst="rect">
            <a:avLst/>
          </a:prstGeom>
          <a:solidFill>
            <a:srgbClr val="AEE0F5"/>
          </a:solidFill>
          <a:ln/>
        </p:spPr>
        <p:txBody>
          <a:bodyPr/>
          <a:lstStyle/>
          <a:p>
            <a:endParaRPr lang="en-US"/>
          </a:p>
        </p:txBody>
      </p:sp>
      <p:grpSp>
        <p:nvGrpSpPr>
          <p:cNvPr id="24" name="Group 23">
            <a:extLst>
              <a:ext uri="{FF2B5EF4-FFF2-40B4-BE49-F238E27FC236}">
                <a16:creationId xmlns:a16="http://schemas.microsoft.com/office/drawing/2014/main" id="{8D8605EA-6B85-1020-D0C0-888D548704F3}"/>
              </a:ext>
            </a:extLst>
          </p:cNvPr>
          <p:cNvGrpSpPr/>
          <p:nvPr/>
        </p:nvGrpSpPr>
        <p:grpSpPr>
          <a:xfrm>
            <a:off x="320040" y="1814109"/>
            <a:ext cx="6933474" cy="3705270"/>
            <a:chOff x="603504" y="2271924"/>
            <a:chExt cx="6473152" cy="3151152"/>
          </a:xfrm>
        </p:grpSpPr>
        <p:sp>
          <p:nvSpPr>
            <p:cNvPr id="25" name="Shape 23">
              <a:extLst>
                <a:ext uri="{FF2B5EF4-FFF2-40B4-BE49-F238E27FC236}">
                  <a16:creationId xmlns:a16="http://schemas.microsoft.com/office/drawing/2014/main" id="{928F9F8E-A1FE-330F-EE60-F326A45297DA}"/>
                </a:ext>
              </a:extLst>
            </p:cNvPr>
            <p:cNvSpPr/>
            <p:nvPr/>
          </p:nvSpPr>
          <p:spPr>
            <a:xfrm>
              <a:off x="603504" y="2271924"/>
              <a:ext cx="6473152" cy="3151152"/>
            </a:xfrm>
            <a:prstGeom prst="rect">
              <a:avLst/>
            </a:prstGeom>
            <a:solidFill>
              <a:srgbClr val="F2F2F2"/>
            </a:solidFill>
            <a:ln w="9525">
              <a:solidFill>
                <a:srgbClr val="BFBFBF"/>
              </a:solidFill>
              <a:prstDash val="solid"/>
            </a:ln>
          </p:spPr>
          <p:txBody>
            <a:bodyPr/>
            <a:lstStyle/>
            <a:p>
              <a:endParaRPr lang="en-US"/>
            </a:p>
          </p:txBody>
        </p:sp>
        <p:pic>
          <p:nvPicPr>
            <p:cNvPr id="26" name="Image 0" descr="PIMS Dashboard main screen">
              <a:extLst>
                <a:ext uri="{FF2B5EF4-FFF2-40B4-BE49-F238E27FC236}">
                  <a16:creationId xmlns:a16="http://schemas.microsoft.com/office/drawing/2014/main" id="{4D478246-7952-5AB9-1EA3-8EDFD659C26F}"/>
                </a:ext>
              </a:extLst>
            </p:cNvPr>
            <p:cNvPicPr>
              <a:picLocks noChangeAspect="1"/>
            </p:cNvPicPr>
            <p:nvPr/>
          </p:nvPicPr>
          <p:blipFill>
            <a:blip r:embed="rId3"/>
            <a:stretch>
              <a:fillRect/>
            </a:stretch>
          </p:blipFill>
          <p:spPr>
            <a:xfrm>
              <a:off x="640080" y="2308500"/>
              <a:ext cx="6400000" cy="3078000"/>
            </a:xfrm>
            <a:prstGeom prst="rect">
              <a:avLst/>
            </a:prstGeom>
          </p:spPr>
        </p:pic>
        <p:sp>
          <p:nvSpPr>
            <p:cNvPr id="50" name="Box 1">
              <a:extLst>
                <a:ext uri="{FF2B5EF4-FFF2-40B4-BE49-F238E27FC236}">
                  <a16:creationId xmlns:a16="http://schemas.microsoft.com/office/drawing/2014/main" id="{4BBDB9DF-6D20-9D43-518D-32F4F7E1517F}"/>
                </a:ext>
              </a:extLst>
            </p:cNvPr>
            <p:cNvSpPr/>
            <p:nvPr/>
          </p:nvSpPr>
          <p:spPr>
            <a:xfrm>
              <a:off x="1405543" y="2568053"/>
              <a:ext cx="4293249" cy="153070"/>
            </a:xfrm>
            <a:prstGeom prst="roundRect">
              <a:avLst>
                <a:gd name="adj" fmla="val 16667"/>
              </a:avLst>
            </a:prstGeom>
            <a:noFill/>
            <a:ln w="19050">
              <a:solidFill>
                <a:srgbClr val="1F3A6E"/>
              </a:solidFill>
            </a:ln>
          </p:spPr>
          <p:txBody>
            <a:bodyPr/>
            <a:lstStyle/>
            <a:p>
              <a:endParaRPr lang="en-US"/>
            </a:p>
          </p:txBody>
        </p:sp>
        <p:sp>
          <p:nvSpPr>
            <p:cNvPr id="51" name="Box 2">
              <a:extLst>
                <a:ext uri="{FF2B5EF4-FFF2-40B4-BE49-F238E27FC236}">
                  <a16:creationId xmlns:a16="http://schemas.microsoft.com/office/drawing/2014/main" id="{2A70D940-3EEE-AF30-D523-DD684046486A}"/>
                </a:ext>
              </a:extLst>
            </p:cNvPr>
            <p:cNvSpPr/>
            <p:nvPr/>
          </p:nvSpPr>
          <p:spPr>
            <a:xfrm>
              <a:off x="6424126" y="2568053"/>
              <a:ext cx="555793" cy="153070"/>
            </a:xfrm>
            <a:prstGeom prst="roundRect">
              <a:avLst>
                <a:gd name="adj" fmla="val 16667"/>
              </a:avLst>
            </a:prstGeom>
            <a:noFill/>
            <a:ln w="19050">
              <a:solidFill>
                <a:srgbClr val="1F3A6E"/>
              </a:solidFill>
            </a:ln>
          </p:spPr>
          <p:txBody>
            <a:bodyPr/>
            <a:lstStyle/>
            <a:p>
              <a:endParaRPr lang="en-US"/>
            </a:p>
          </p:txBody>
        </p:sp>
        <p:sp>
          <p:nvSpPr>
            <p:cNvPr id="52" name="Box 3">
              <a:extLst>
                <a:ext uri="{FF2B5EF4-FFF2-40B4-BE49-F238E27FC236}">
                  <a16:creationId xmlns:a16="http://schemas.microsoft.com/office/drawing/2014/main" id="{EDF230DA-A83A-F355-67EA-204296418B6B}"/>
                </a:ext>
              </a:extLst>
            </p:cNvPr>
            <p:cNvSpPr/>
            <p:nvPr/>
          </p:nvSpPr>
          <p:spPr>
            <a:xfrm>
              <a:off x="1478961" y="2721123"/>
              <a:ext cx="453101" cy="119294"/>
            </a:xfrm>
            <a:prstGeom prst="roundRect">
              <a:avLst>
                <a:gd name="adj" fmla="val 16667"/>
              </a:avLst>
            </a:prstGeom>
            <a:noFill/>
            <a:ln w="19050">
              <a:solidFill>
                <a:srgbClr val="1F3A6E"/>
              </a:solidFill>
            </a:ln>
          </p:spPr>
          <p:txBody>
            <a:bodyPr/>
            <a:lstStyle/>
            <a:p>
              <a:endParaRPr lang="en-US"/>
            </a:p>
          </p:txBody>
        </p:sp>
        <p:sp>
          <p:nvSpPr>
            <p:cNvPr id="53" name="Box 4">
              <a:extLst>
                <a:ext uri="{FF2B5EF4-FFF2-40B4-BE49-F238E27FC236}">
                  <a16:creationId xmlns:a16="http://schemas.microsoft.com/office/drawing/2014/main" id="{CF68FD16-D9AD-EDB5-381B-214436B42F4F}"/>
                </a:ext>
              </a:extLst>
            </p:cNvPr>
            <p:cNvSpPr/>
            <p:nvPr/>
          </p:nvSpPr>
          <p:spPr>
            <a:xfrm>
              <a:off x="5774122" y="2568053"/>
              <a:ext cx="615699" cy="153070"/>
            </a:xfrm>
            <a:prstGeom prst="roundRect">
              <a:avLst>
                <a:gd name="adj" fmla="val 16667"/>
              </a:avLst>
            </a:prstGeom>
            <a:noFill/>
            <a:ln w="19050">
              <a:solidFill>
                <a:srgbClr val="1F3A6E"/>
              </a:solidFill>
            </a:ln>
          </p:spPr>
          <p:txBody>
            <a:bodyPr/>
            <a:lstStyle/>
            <a:p>
              <a:endParaRPr lang="en-US"/>
            </a:p>
          </p:txBody>
        </p:sp>
        <p:sp>
          <p:nvSpPr>
            <p:cNvPr id="54" name="Box 5">
              <a:extLst>
                <a:ext uri="{FF2B5EF4-FFF2-40B4-BE49-F238E27FC236}">
                  <a16:creationId xmlns:a16="http://schemas.microsoft.com/office/drawing/2014/main" id="{3D098445-6565-0347-A0C4-F25C9228ACC0}"/>
                </a:ext>
              </a:extLst>
            </p:cNvPr>
            <p:cNvSpPr/>
            <p:nvPr/>
          </p:nvSpPr>
          <p:spPr>
            <a:xfrm>
              <a:off x="1405543" y="2957382"/>
              <a:ext cx="5556927" cy="482502"/>
            </a:xfrm>
            <a:prstGeom prst="roundRect">
              <a:avLst>
                <a:gd name="adj" fmla="val 8333"/>
              </a:avLst>
            </a:prstGeom>
            <a:noFill/>
            <a:ln w="19050">
              <a:solidFill>
                <a:srgbClr val="1F3A6E"/>
              </a:solidFill>
            </a:ln>
          </p:spPr>
          <p:txBody>
            <a:bodyPr/>
            <a:lstStyle/>
            <a:p>
              <a:endParaRPr lang="en-US"/>
            </a:p>
          </p:txBody>
        </p:sp>
        <p:sp>
          <p:nvSpPr>
            <p:cNvPr id="40" name="Callout 1">
              <a:extLst>
                <a:ext uri="{FF2B5EF4-FFF2-40B4-BE49-F238E27FC236}">
                  <a16:creationId xmlns:a16="http://schemas.microsoft.com/office/drawing/2014/main" id="{CBD067AF-B020-915A-B09B-FEF779E7828F}"/>
                </a:ext>
              </a:extLst>
            </p:cNvPr>
            <p:cNvSpPr/>
            <p:nvPr/>
          </p:nvSpPr>
          <p:spPr>
            <a:xfrm>
              <a:off x="1274718" y="243748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41" name="Callout 2">
              <a:extLst>
                <a:ext uri="{FF2B5EF4-FFF2-40B4-BE49-F238E27FC236}">
                  <a16:creationId xmlns:a16="http://schemas.microsoft.com/office/drawing/2014/main" id="{D679CF4D-2B26-D74A-EBA8-D0BC8247F798}"/>
                </a:ext>
              </a:extLst>
            </p:cNvPr>
            <p:cNvSpPr/>
            <p:nvPr/>
          </p:nvSpPr>
          <p:spPr>
            <a:xfrm>
              <a:off x="6807828" y="247911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42" name="Callout 3">
              <a:extLst>
                <a:ext uri="{FF2B5EF4-FFF2-40B4-BE49-F238E27FC236}">
                  <a16:creationId xmlns:a16="http://schemas.microsoft.com/office/drawing/2014/main" id="{EE2BD2B8-D047-74FC-16E3-ADBB132EA87F}"/>
                </a:ext>
              </a:extLst>
            </p:cNvPr>
            <p:cNvSpPr/>
            <p:nvPr/>
          </p:nvSpPr>
          <p:spPr>
            <a:xfrm>
              <a:off x="1283188" y="271869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43" name="Callout 4">
              <a:extLst>
                <a:ext uri="{FF2B5EF4-FFF2-40B4-BE49-F238E27FC236}">
                  <a16:creationId xmlns:a16="http://schemas.microsoft.com/office/drawing/2014/main" id="{AD0511FD-2BA8-50A4-B079-EF5DB9B11606}"/>
                </a:ext>
              </a:extLst>
            </p:cNvPr>
            <p:cNvSpPr/>
            <p:nvPr/>
          </p:nvSpPr>
          <p:spPr>
            <a:xfrm>
              <a:off x="5733097" y="241294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4</a:t>
              </a:r>
            </a:p>
          </p:txBody>
        </p:sp>
        <p:sp>
          <p:nvSpPr>
            <p:cNvPr id="44" name="Callout 5">
              <a:extLst>
                <a:ext uri="{FF2B5EF4-FFF2-40B4-BE49-F238E27FC236}">
                  <a16:creationId xmlns:a16="http://schemas.microsoft.com/office/drawing/2014/main" id="{500C4F49-586E-51FF-7D61-CE50E8C3D53E}"/>
                </a:ext>
              </a:extLst>
            </p:cNvPr>
            <p:cNvSpPr/>
            <p:nvPr/>
          </p:nvSpPr>
          <p:spPr>
            <a:xfrm>
              <a:off x="6763401" y="287067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5</a:t>
              </a:r>
            </a:p>
          </p:txBody>
        </p:sp>
      </p:grpSp>
      <p:sp>
        <p:nvSpPr>
          <p:cNvPr id="60" name="Panel Header">
            <a:extLst>
              <a:ext uri="{FF2B5EF4-FFF2-40B4-BE49-F238E27FC236}">
                <a16:creationId xmlns:a16="http://schemas.microsoft.com/office/drawing/2014/main" id="{961EA862-B82F-A137-ED56-41EB89171B3B}"/>
              </a:ext>
            </a:extLst>
          </p:cNvPr>
          <p:cNvSpPr/>
          <p:nvPr/>
        </p:nvSpPr>
        <p:spPr>
          <a:xfrm>
            <a:off x="7591791" y="1804050"/>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61" name="Panel Body">
            <a:extLst>
              <a:ext uri="{FF2B5EF4-FFF2-40B4-BE49-F238E27FC236}">
                <a16:creationId xmlns:a16="http://schemas.microsoft.com/office/drawing/2014/main" id="{0697A4F1-35B6-4B36-753E-2A0FC60E46B5}"/>
              </a:ext>
            </a:extLst>
          </p:cNvPr>
          <p:cNvSpPr/>
          <p:nvPr/>
        </p:nvSpPr>
        <p:spPr>
          <a:xfrm>
            <a:off x="7591791" y="2332570"/>
            <a:ext cx="4211840" cy="3176750"/>
          </a:xfrm>
          <a:prstGeom prst="rect">
            <a:avLst/>
          </a:prstGeom>
          <a:solidFill>
            <a:srgbClr val="F4F8FD"/>
          </a:solidFill>
          <a:ln w="9525">
            <a:solidFill>
              <a:srgbClr val="BFBFBF"/>
            </a:solidFill>
          </a:ln>
        </p:spPr>
        <p:txBody>
          <a:bodyPr/>
          <a:lstStyle/>
          <a:p>
            <a:endParaRPr lang="en-US"/>
          </a:p>
        </p:txBody>
      </p:sp>
      <p:sp>
        <p:nvSpPr>
          <p:cNvPr id="62" name="Panel Text">
            <a:extLst>
              <a:ext uri="{FF2B5EF4-FFF2-40B4-BE49-F238E27FC236}">
                <a16:creationId xmlns:a16="http://schemas.microsoft.com/office/drawing/2014/main" id="{49E1E3E9-6542-1343-07B1-42FF0A756983}"/>
              </a:ext>
            </a:extLst>
          </p:cNvPr>
          <p:cNvSpPr txBox="1"/>
          <p:nvPr/>
        </p:nvSpPr>
        <p:spPr>
          <a:xfrm>
            <a:off x="7791791" y="2482569"/>
            <a:ext cx="3811840" cy="2753573"/>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Thiết lập: </a:t>
            </a:r>
          </a:p>
          <a:p>
            <a:pPr>
              <a:lnSpc>
                <a:spcPct val="100000"/>
              </a:lnSpc>
              <a:spcAft>
                <a:spcPts val="500"/>
              </a:spcAft>
            </a:pPr>
            <a:r>
              <a:rPr lang="en-US" sz="1100" dirty="0"/>
              <a:t>Chọn </a:t>
            </a:r>
            <a:r>
              <a:rPr lang="en-US" sz="1100" b="1" dirty="0">
                <a:solidFill>
                  <a:srgbClr val="1F3A6E"/>
                </a:solidFill>
                <a:latin typeface="Calibri" pitchFamily="34" charset="0"/>
              </a:rPr>
              <a:t>Project</a:t>
            </a:r>
            <a:r>
              <a:rPr lang="en-US" sz="1100" dirty="0">
                <a:solidFill>
                  <a:srgbClr val="262626"/>
                </a:solidFill>
                <a:latin typeface="Calibri" pitchFamily="34" charset="0"/>
              </a:rPr>
              <a:t>, </a:t>
            </a:r>
            <a:r>
              <a:rPr lang="en-US" sz="1100" b="1" dirty="0">
                <a:solidFill>
                  <a:srgbClr val="1F3A6E"/>
                </a:solidFill>
                <a:latin typeface="Calibri" pitchFamily="34" charset="0"/>
              </a:rPr>
              <a:t>Period / Base Month (Kỳ / Tháng gốc)</a:t>
            </a:r>
            <a:r>
              <a:rPr lang="en-US" sz="1100" dirty="0">
                <a:solidFill>
                  <a:srgbClr val="262626"/>
                </a:solidFill>
                <a:latin typeface="Calibri" pitchFamily="34" charset="0"/>
              </a:rPr>
              <a:t>, </a:t>
            </a:r>
            <a:r>
              <a:rPr lang="en-US" sz="1100" b="1" dirty="0">
                <a:solidFill>
                  <a:srgbClr val="1F3A6E"/>
                </a:solidFill>
                <a:latin typeface="Calibri" pitchFamily="34" charset="0"/>
              </a:rPr>
              <a:t>View by </a:t>
            </a:r>
            <a:r>
              <a:rPr lang="en-US" sz="1100" dirty="0">
                <a:solidFill>
                  <a:srgbClr val="262626"/>
                </a:solidFill>
                <a:latin typeface="Calibri" pitchFamily="34" charset="0"/>
              </a:rPr>
              <a:t>(Month), </a:t>
            </a:r>
            <a:r>
              <a:rPr lang="en-US" sz="1100" b="1" dirty="0">
                <a:solidFill>
                  <a:srgbClr val="1F3A6E"/>
                </a:solidFill>
                <a:latin typeface="Calibri" pitchFamily="34" charset="0"/>
              </a:rPr>
              <a:t>Exchange Rate </a:t>
            </a:r>
            <a:r>
              <a:rPr lang="en-US" sz="1100" dirty="0">
                <a:solidFill>
                  <a:srgbClr val="262626"/>
                </a:solidFill>
                <a:latin typeface="Calibri" pitchFamily="34" charset="0"/>
              </a:rPr>
              <a:t>và </a:t>
            </a:r>
            <a:r>
              <a:rPr lang="en-US" sz="1100" b="1" dirty="0">
                <a:solidFill>
                  <a:srgbClr val="1F3A6E"/>
                </a:solidFill>
                <a:latin typeface="Calibri" pitchFamily="34" charset="0"/>
              </a:rPr>
              <a:t>Unit</a:t>
            </a:r>
            <a:r>
              <a:rPr lang="en-US" sz="1100" dirty="0">
                <a:solidFill>
                  <a:srgbClr val="262626"/>
                </a:solidFill>
                <a:latin typeface="Calibri" pitchFamily="34" charset="0"/>
              </a:rPr>
              <a:t> (USD hoặc K USD </a:t>
            </a:r>
            <a:r>
              <a:rPr lang="en-US" sz="1100" dirty="0"/>
              <a:t>để làm mới toàn bộ thẻ và biểu đồ.</a:t>
            </a:r>
          </a:p>
          <a:p>
            <a:pPr>
              <a:lnSpc>
                <a:spcPct val="100000"/>
              </a:lnSpc>
              <a:spcAft>
                <a:spcPts val="500"/>
              </a:spcAft>
            </a:pPr>
            <a:r>
              <a:rPr lang="en-US" sz="1100" b="1" dirty="0">
                <a:solidFill>
                  <a:srgbClr val="1F3A6E"/>
                </a:solidFill>
                <a:latin typeface="Calibri" pitchFamily="34" charset="0"/>
              </a:rPr>
              <a:t>2  Excel Upload: </a:t>
            </a:r>
            <a:r>
              <a:rPr lang="en-US" sz="1100" dirty="0">
                <a:solidFill>
                  <a:srgbClr val="262626"/>
                </a:solidFill>
                <a:latin typeface="Calibri" pitchFamily="34" charset="0"/>
              </a:rPr>
              <a:t>nhập báo cáo hàng tháng mới.</a:t>
            </a:r>
          </a:p>
          <a:p>
            <a:pPr marL="0" indent="0">
              <a:lnSpc>
                <a:spcPct val="106000"/>
              </a:lnSpc>
              <a:spcAft>
                <a:spcPts val="500"/>
              </a:spcAft>
              <a:buNone/>
            </a:pPr>
            <a:r>
              <a:rPr lang="en-US" sz="1100" b="1" dirty="0">
                <a:solidFill>
                  <a:srgbClr val="1F3A6E"/>
                </a:solidFill>
                <a:latin typeface="Calibri" pitchFamily="34" charset="0"/>
              </a:rPr>
              <a:t>3  Download: </a:t>
            </a:r>
            <a:r>
              <a:rPr lang="en-US" sz="1100" dirty="0">
                <a:solidFill>
                  <a:srgbClr val="262626"/>
                </a:solidFill>
                <a:latin typeface="Calibri" pitchFamily="34" charset="0"/>
              </a:rPr>
              <a:t>xuất dữ liệu dashboard hiện tại.</a:t>
            </a:r>
          </a:p>
          <a:p>
            <a:pPr marL="0" indent="0">
              <a:lnSpc>
                <a:spcPct val="106000"/>
              </a:lnSpc>
              <a:spcAft>
                <a:spcPts val="500"/>
              </a:spcAft>
              <a:buNone/>
            </a:pPr>
            <a:r>
              <a:rPr lang="en-US" sz="1100" b="1" dirty="0">
                <a:solidFill>
                  <a:srgbClr val="1F3A6E"/>
                </a:solidFill>
                <a:latin typeface="Calibri" pitchFamily="34" charset="0"/>
              </a:rPr>
              <a:t>4  FX Rate Settings: </a:t>
            </a:r>
            <a:r>
              <a:rPr lang="en-US" sz="1100" dirty="0">
                <a:solidFill>
                  <a:srgbClr val="262626"/>
                </a:solidFill>
                <a:latin typeface="Calibri" pitchFamily="34" charset="0"/>
              </a:rPr>
              <a:t>xem hoặc chỉnh sửa tỷ giá dùng để quy đổi.</a:t>
            </a:r>
          </a:p>
          <a:p>
            <a:pPr>
              <a:spcAft>
                <a:spcPts val="400"/>
              </a:spcAft>
            </a:pPr>
            <a:r>
              <a:rPr lang="en-US" sz="1100" b="1" dirty="0">
                <a:solidFill>
                  <a:srgbClr val="1F3A6E"/>
                </a:solidFill>
                <a:latin typeface="Calibri" pitchFamily="34" charset="0"/>
              </a:rPr>
              <a:t>5 </a:t>
            </a:r>
            <a:r>
              <a:rPr lang="en-US" sz="1100" dirty="0"/>
              <a:t>KPI Summary (Tổng hợp KPI)</a:t>
            </a:r>
            <a:r>
              <a:rPr lang="en-US" sz="1100" dirty="0">
                <a:solidFill>
                  <a:srgbClr val="262626"/>
                </a:solidFill>
                <a:latin typeface="Calibri" pitchFamily="34" charset="0"/>
              </a:rPr>
              <a:t>:</a:t>
            </a:r>
          </a:p>
          <a:p>
            <a:pPr marL="228600" indent="-228600">
              <a:lnSpc>
                <a:spcPct val="106000"/>
              </a:lnSpc>
              <a:spcAft>
                <a:spcPts val="400"/>
              </a:spcAft>
              <a:buChar char="•"/>
            </a:pPr>
            <a:r>
              <a:rPr lang="en-US" sz="1050" b="1" dirty="0">
                <a:solidFill>
                  <a:srgbClr val="1F3A6E"/>
                </a:solidFill>
                <a:latin typeface="Calibri" pitchFamily="34" charset="0"/>
              </a:rPr>
              <a:t>YTD Revenue (Doanh thu lũy kế năm), YTD Operating Profit (Lợi nhuận hoạt động lũy kế năm) </a:t>
            </a:r>
            <a:r>
              <a:rPr lang="en-US" sz="1050" dirty="0">
                <a:solidFill>
                  <a:srgbClr val="262626"/>
                </a:solidFill>
                <a:latin typeface="Calibri" pitchFamily="34" charset="0"/>
              </a:rPr>
              <a:t>(từ Tháng 1 đến Tháng gốc)</a:t>
            </a:r>
          </a:p>
          <a:p>
            <a:pPr marL="228600" indent="-228600">
              <a:lnSpc>
                <a:spcPct val="106000"/>
              </a:lnSpc>
              <a:spcAft>
                <a:spcPts val="400"/>
              </a:spcAft>
              <a:buChar char="•"/>
            </a:pPr>
            <a:r>
              <a:rPr lang="en-US" sz="1050" b="1" dirty="0">
                <a:solidFill>
                  <a:srgbClr val="1F3A6E"/>
                </a:solidFill>
                <a:latin typeface="Calibri" pitchFamily="34" charset="0"/>
              </a:rPr>
              <a:t>Full Year Revenue (Doanh thu cả năm) và Full Year Operating Profit (Lợi nhuận hoạt động cả năm) </a:t>
            </a:r>
            <a:r>
              <a:rPr lang="en-US" sz="1050" dirty="0">
                <a:solidFill>
                  <a:srgbClr val="262626"/>
                </a:solidFill>
                <a:latin typeface="Calibri" pitchFamily="34" charset="0"/>
              </a:rPr>
              <a:t>(Tháng 1 – 12)</a:t>
            </a:r>
          </a:p>
          <a:p>
            <a:pPr marL="228600" indent="-228600">
              <a:lnSpc>
                <a:spcPct val="100000"/>
              </a:lnSpc>
              <a:buChar char="•"/>
            </a:pPr>
            <a:r>
              <a:rPr lang="en-US" sz="1050" dirty="0"/>
              <a:t>Nguồn: Dữ liệu nhập từ Excel</a:t>
            </a:r>
          </a:p>
        </p:txBody>
      </p:sp>
      <p:sp>
        <p:nvSpPr>
          <p:cNvPr id="27" name="Shape 24">
            <a:extLst>
              <a:ext uri="{FF2B5EF4-FFF2-40B4-BE49-F238E27FC236}">
                <a16:creationId xmlns:a16="http://schemas.microsoft.com/office/drawing/2014/main" id="{B0DAA920-4AEC-E2AD-D87D-DD4643C1CB4E}"/>
              </a:ext>
            </a:extLst>
          </p:cNvPr>
          <p:cNvSpPr/>
          <p:nvPr/>
        </p:nvSpPr>
        <p:spPr>
          <a:xfrm>
            <a:off x="320040" y="6473952"/>
            <a:ext cx="64008" cy="64008"/>
          </a:xfrm>
          <a:prstGeom prst="rect">
            <a:avLst/>
          </a:prstGeom>
          <a:solidFill>
            <a:srgbClr val="1F3A6E"/>
          </a:solidFill>
          <a:ln/>
        </p:spPr>
        <p:txBody>
          <a:bodyPr/>
          <a:lstStyle/>
          <a:p>
            <a:endParaRPr lang="en-US"/>
          </a:p>
        </p:txBody>
      </p:sp>
      <p:sp>
        <p:nvSpPr>
          <p:cNvPr id="28" name="Shape 25">
            <a:extLst>
              <a:ext uri="{FF2B5EF4-FFF2-40B4-BE49-F238E27FC236}">
                <a16:creationId xmlns:a16="http://schemas.microsoft.com/office/drawing/2014/main" id="{4280C0E0-BFC3-0BF0-B945-1ABF6F026725}"/>
              </a:ext>
            </a:extLst>
          </p:cNvPr>
          <p:cNvSpPr/>
          <p:nvPr/>
        </p:nvSpPr>
        <p:spPr>
          <a:xfrm>
            <a:off x="402336" y="6473952"/>
            <a:ext cx="64008" cy="64008"/>
          </a:xfrm>
          <a:prstGeom prst="rect">
            <a:avLst/>
          </a:prstGeom>
          <a:solidFill>
            <a:srgbClr val="3F8FD0"/>
          </a:solidFill>
          <a:ln/>
        </p:spPr>
        <p:txBody>
          <a:bodyPr/>
          <a:lstStyle/>
          <a:p>
            <a:endParaRPr lang="en-US"/>
          </a:p>
        </p:txBody>
      </p:sp>
      <p:sp>
        <p:nvSpPr>
          <p:cNvPr id="29" name="Shape 26">
            <a:extLst>
              <a:ext uri="{FF2B5EF4-FFF2-40B4-BE49-F238E27FC236}">
                <a16:creationId xmlns:a16="http://schemas.microsoft.com/office/drawing/2014/main" id="{3782A6EE-3152-A310-788F-5B7B40AD6281}"/>
              </a:ext>
            </a:extLst>
          </p:cNvPr>
          <p:cNvSpPr/>
          <p:nvPr/>
        </p:nvSpPr>
        <p:spPr>
          <a:xfrm>
            <a:off x="484632" y="6473952"/>
            <a:ext cx="64008" cy="64008"/>
          </a:xfrm>
          <a:prstGeom prst="rect">
            <a:avLst/>
          </a:prstGeom>
          <a:solidFill>
            <a:srgbClr val="1F3A6E"/>
          </a:solidFill>
          <a:ln/>
        </p:spPr>
        <p:txBody>
          <a:bodyPr/>
          <a:lstStyle/>
          <a:p>
            <a:endParaRPr lang="en-US"/>
          </a:p>
        </p:txBody>
      </p:sp>
      <p:sp>
        <p:nvSpPr>
          <p:cNvPr id="30" name="Shape 27">
            <a:extLst>
              <a:ext uri="{FF2B5EF4-FFF2-40B4-BE49-F238E27FC236}">
                <a16:creationId xmlns:a16="http://schemas.microsoft.com/office/drawing/2014/main" id="{9C452588-5517-8599-A38C-F9E905A9FACB}"/>
              </a:ext>
            </a:extLst>
          </p:cNvPr>
          <p:cNvSpPr/>
          <p:nvPr/>
        </p:nvSpPr>
        <p:spPr>
          <a:xfrm>
            <a:off x="320040" y="6556248"/>
            <a:ext cx="64008" cy="64008"/>
          </a:xfrm>
          <a:prstGeom prst="rect">
            <a:avLst/>
          </a:prstGeom>
          <a:solidFill>
            <a:srgbClr val="3F8FD0"/>
          </a:solidFill>
          <a:ln/>
        </p:spPr>
        <p:txBody>
          <a:bodyPr/>
          <a:lstStyle/>
          <a:p>
            <a:endParaRPr lang="en-US"/>
          </a:p>
        </p:txBody>
      </p:sp>
      <p:sp>
        <p:nvSpPr>
          <p:cNvPr id="31" name="Shape 28">
            <a:extLst>
              <a:ext uri="{FF2B5EF4-FFF2-40B4-BE49-F238E27FC236}">
                <a16:creationId xmlns:a16="http://schemas.microsoft.com/office/drawing/2014/main" id="{239FF850-B144-DC46-1F63-EC85F29A635A}"/>
              </a:ext>
            </a:extLst>
          </p:cNvPr>
          <p:cNvSpPr/>
          <p:nvPr/>
        </p:nvSpPr>
        <p:spPr>
          <a:xfrm>
            <a:off x="402336" y="6556248"/>
            <a:ext cx="64008" cy="64008"/>
          </a:xfrm>
          <a:prstGeom prst="rect">
            <a:avLst/>
          </a:prstGeom>
          <a:solidFill>
            <a:srgbClr val="1F3A6E"/>
          </a:solidFill>
          <a:ln/>
        </p:spPr>
        <p:txBody>
          <a:bodyPr/>
          <a:lstStyle/>
          <a:p>
            <a:endParaRPr lang="en-US"/>
          </a:p>
        </p:txBody>
      </p:sp>
      <p:sp>
        <p:nvSpPr>
          <p:cNvPr id="32" name="Shape 29">
            <a:extLst>
              <a:ext uri="{FF2B5EF4-FFF2-40B4-BE49-F238E27FC236}">
                <a16:creationId xmlns:a16="http://schemas.microsoft.com/office/drawing/2014/main" id="{B592C9F0-2965-BD04-A1AB-34E571BC8FCD}"/>
              </a:ext>
            </a:extLst>
          </p:cNvPr>
          <p:cNvSpPr/>
          <p:nvPr/>
        </p:nvSpPr>
        <p:spPr>
          <a:xfrm>
            <a:off x="484632" y="6556248"/>
            <a:ext cx="64008" cy="64008"/>
          </a:xfrm>
          <a:prstGeom prst="rect">
            <a:avLst/>
          </a:prstGeom>
          <a:solidFill>
            <a:srgbClr val="3F8FD0"/>
          </a:solidFill>
          <a:ln/>
        </p:spPr>
        <p:txBody>
          <a:bodyPr/>
          <a:lstStyle/>
          <a:p>
            <a:endParaRPr lang="en-US"/>
          </a:p>
        </p:txBody>
      </p:sp>
      <p:sp>
        <p:nvSpPr>
          <p:cNvPr id="33" name="Shape 30">
            <a:extLst>
              <a:ext uri="{FF2B5EF4-FFF2-40B4-BE49-F238E27FC236}">
                <a16:creationId xmlns:a16="http://schemas.microsoft.com/office/drawing/2014/main" id="{0906A63A-5CF2-5772-F734-849F370693C1}"/>
              </a:ext>
            </a:extLst>
          </p:cNvPr>
          <p:cNvSpPr/>
          <p:nvPr/>
        </p:nvSpPr>
        <p:spPr>
          <a:xfrm>
            <a:off x="320040" y="6638544"/>
            <a:ext cx="64008" cy="64008"/>
          </a:xfrm>
          <a:prstGeom prst="rect">
            <a:avLst/>
          </a:prstGeom>
          <a:solidFill>
            <a:srgbClr val="1F3A6E"/>
          </a:solidFill>
          <a:ln/>
        </p:spPr>
        <p:txBody>
          <a:bodyPr/>
          <a:lstStyle/>
          <a:p>
            <a:endParaRPr lang="en-US"/>
          </a:p>
        </p:txBody>
      </p:sp>
      <p:sp>
        <p:nvSpPr>
          <p:cNvPr id="34" name="Shape 31">
            <a:extLst>
              <a:ext uri="{FF2B5EF4-FFF2-40B4-BE49-F238E27FC236}">
                <a16:creationId xmlns:a16="http://schemas.microsoft.com/office/drawing/2014/main" id="{058C52A0-D751-BF64-38C8-78DCE136C16C}"/>
              </a:ext>
            </a:extLst>
          </p:cNvPr>
          <p:cNvSpPr/>
          <p:nvPr/>
        </p:nvSpPr>
        <p:spPr>
          <a:xfrm>
            <a:off x="402336" y="6638544"/>
            <a:ext cx="64008" cy="64008"/>
          </a:xfrm>
          <a:prstGeom prst="rect">
            <a:avLst/>
          </a:prstGeom>
          <a:solidFill>
            <a:srgbClr val="3F8FD0"/>
          </a:solidFill>
          <a:ln/>
        </p:spPr>
        <p:txBody>
          <a:bodyPr/>
          <a:lstStyle/>
          <a:p>
            <a:endParaRPr lang="en-US"/>
          </a:p>
        </p:txBody>
      </p:sp>
      <p:sp>
        <p:nvSpPr>
          <p:cNvPr id="35" name="Shape 32">
            <a:extLst>
              <a:ext uri="{FF2B5EF4-FFF2-40B4-BE49-F238E27FC236}">
                <a16:creationId xmlns:a16="http://schemas.microsoft.com/office/drawing/2014/main" id="{8591CE2D-D23B-D8EB-5FD0-DBAE817A4898}"/>
              </a:ext>
            </a:extLst>
          </p:cNvPr>
          <p:cNvSpPr/>
          <p:nvPr/>
        </p:nvSpPr>
        <p:spPr>
          <a:xfrm>
            <a:off x="484632" y="6638544"/>
            <a:ext cx="64008" cy="64008"/>
          </a:xfrm>
          <a:prstGeom prst="rect">
            <a:avLst/>
          </a:prstGeom>
          <a:solidFill>
            <a:srgbClr val="1F3A6E"/>
          </a:solidFill>
          <a:ln/>
        </p:spPr>
        <p:txBody>
          <a:bodyPr/>
          <a:lstStyle/>
          <a:p>
            <a:endParaRPr lang="en-US"/>
          </a:p>
        </p:txBody>
      </p:sp>
      <p:sp>
        <p:nvSpPr>
          <p:cNvPr id="36" name="Text 33">
            <a:extLst>
              <a:ext uri="{FF2B5EF4-FFF2-40B4-BE49-F238E27FC236}">
                <a16:creationId xmlns:a16="http://schemas.microsoft.com/office/drawing/2014/main" id="{2AF3787E-01F6-B899-2785-06CCE2E8BE0D}"/>
              </a:ext>
            </a:extLst>
          </p:cNvPr>
          <p:cNvSpPr/>
          <p:nvPr/>
        </p:nvSpPr>
        <p:spPr>
          <a:xfrm>
            <a:off x="567933" y="6419088"/>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a:extLst>
              <a:ext uri="{FF2B5EF4-FFF2-40B4-BE49-F238E27FC236}">
                <a16:creationId xmlns:a16="http://schemas.microsoft.com/office/drawing/2014/main" id="{AC49CA51-8E17-BE4F-84D5-114A9458ACD3}"/>
              </a:ext>
            </a:extLst>
          </p:cNvPr>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39" name="Group 38">
            <a:extLst>
              <a:ext uri="{FF2B5EF4-FFF2-40B4-BE49-F238E27FC236}">
                <a16:creationId xmlns:a16="http://schemas.microsoft.com/office/drawing/2014/main" id="{8F3DC3FB-EDD0-1BD0-7C74-C8AF79D7A701}"/>
              </a:ext>
            </a:extLst>
          </p:cNvPr>
          <p:cNvGrpSpPr/>
          <p:nvPr/>
        </p:nvGrpSpPr>
        <p:grpSpPr>
          <a:xfrm>
            <a:off x="320040" y="498348"/>
            <a:ext cx="228600" cy="228600"/>
            <a:chOff x="457200" y="384048"/>
            <a:chExt cx="228600" cy="228600"/>
          </a:xfrm>
        </p:grpSpPr>
        <p:sp>
          <p:nvSpPr>
            <p:cNvPr id="45" name="Shape 1">
              <a:extLst>
                <a:ext uri="{FF2B5EF4-FFF2-40B4-BE49-F238E27FC236}">
                  <a16:creationId xmlns:a16="http://schemas.microsoft.com/office/drawing/2014/main" id="{68F64A48-BD3F-20A0-63E3-5A9EB76CD707}"/>
                </a:ext>
              </a:extLst>
            </p:cNvPr>
            <p:cNvSpPr/>
            <p:nvPr/>
          </p:nvSpPr>
          <p:spPr>
            <a:xfrm>
              <a:off x="457200" y="384048"/>
              <a:ext cx="64008" cy="64008"/>
            </a:xfrm>
            <a:prstGeom prst="rect">
              <a:avLst/>
            </a:prstGeom>
            <a:solidFill>
              <a:srgbClr val="1F3A6E"/>
            </a:solidFill>
            <a:ln/>
          </p:spPr>
          <p:txBody>
            <a:bodyPr/>
            <a:lstStyle/>
            <a:p>
              <a:endParaRPr lang="en-US"/>
            </a:p>
          </p:txBody>
        </p:sp>
        <p:sp>
          <p:nvSpPr>
            <p:cNvPr id="46" name="Shape 2">
              <a:extLst>
                <a:ext uri="{FF2B5EF4-FFF2-40B4-BE49-F238E27FC236}">
                  <a16:creationId xmlns:a16="http://schemas.microsoft.com/office/drawing/2014/main" id="{9C1A1E79-F5F7-4C26-C199-C535AE70DF1A}"/>
                </a:ext>
              </a:extLst>
            </p:cNvPr>
            <p:cNvSpPr/>
            <p:nvPr/>
          </p:nvSpPr>
          <p:spPr>
            <a:xfrm>
              <a:off x="539496" y="384048"/>
              <a:ext cx="64008" cy="64008"/>
            </a:xfrm>
            <a:prstGeom prst="rect">
              <a:avLst/>
            </a:prstGeom>
            <a:solidFill>
              <a:srgbClr val="3F8FD0"/>
            </a:solidFill>
            <a:ln/>
          </p:spPr>
          <p:txBody>
            <a:bodyPr/>
            <a:lstStyle/>
            <a:p>
              <a:endParaRPr lang="en-US"/>
            </a:p>
          </p:txBody>
        </p:sp>
        <p:sp>
          <p:nvSpPr>
            <p:cNvPr id="47" name="Shape 3">
              <a:extLst>
                <a:ext uri="{FF2B5EF4-FFF2-40B4-BE49-F238E27FC236}">
                  <a16:creationId xmlns:a16="http://schemas.microsoft.com/office/drawing/2014/main" id="{1568CB24-4F77-1AD3-F498-7A2E6A48E543}"/>
                </a:ext>
              </a:extLst>
            </p:cNvPr>
            <p:cNvSpPr/>
            <p:nvPr/>
          </p:nvSpPr>
          <p:spPr>
            <a:xfrm>
              <a:off x="621792" y="384048"/>
              <a:ext cx="64008" cy="64008"/>
            </a:xfrm>
            <a:prstGeom prst="rect">
              <a:avLst/>
            </a:prstGeom>
            <a:solidFill>
              <a:srgbClr val="1F3A6E"/>
            </a:solidFill>
            <a:ln/>
          </p:spPr>
          <p:txBody>
            <a:bodyPr/>
            <a:lstStyle/>
            <a:p>
              <a:endParaRPr lang="en-US"/>
            </a:p>
          </p:txBody>
        </p:sp>
        <p:sp>
          <p:nvSpPr>
            <p:cNvPr id="48" name="Shape 4">
              <a:extLst>
                <a:ext uri="{FF2B5EF4-FFF2-40B4-BE49-F238E27FC236}">
                  <a16:creationId xmlns:a16="http://schemas.microsoft.com/office/drawing/2014/main" id="{6933AD37-FD98-326C-A6C5-2CCA8B4EBA84}"/>
                </a:ext>
              </a:extLst>
            </p:cNvPr>
            <p:cNvSpPr/>
            <p:nvPr/>
          </p:nvSpPr>
          <p:spPr>
            <a:xfrm>
              <a:off x="457200" y="466344"/>
              <a:ext cx="64008" cy="64008"/>
            </a:xfrm>
            <a:prstGeom prst="rect">
              <a:avLst/>
            </a:prstGeom>
            <a:solidFill>
              <a:srgbClr val="3F8FD0"/>
            </a:solidFill>
            <a:ln/>
          </p:spPr>
          <p:txBody>
            <a:bodyPr/>
            <a:lstStyle/>
            <a:p>
              <a:endParaRPr lang="en-US"/>
            </a:p>
          </p:txBody>
        </p:sp>
        <p:sp>
          <p:nvSpPr>
            <p:cNvPr id="49" name="Shape 5">
              <a:extLst>
                <a:ext uri="{FF2B5EF4-FFF2-40B4-BE49-F238E27FC236}">
                  <a16:creationId xmlns:a16="http://schemas.microsoft.com/office/drawing/2014/main" id="{DC2F3CC8-007A-0B4C-3A33-97C6331450F1}"/>
                </a:ext>
              </a:extLst>
            </p:cNvPr>
            <p:cNvSpPr/>
            <p:nvPr/>
          </p:nvSpPr>
          <p:spPr>
            <a:xfrm>
              <a:off x="539496" y="466344"/>
              <a:ext cx="64008" cy="64008"/>
            </a:xfrm>
            <a:prstGeom prst="rect">
              <a:avLst/>
            </a:prstGeom>
            <a:solidFill>
              <a:srgbClr val="1F3A6E"/>
            </a:solidFill>
            <a:ln/>
          </p:spPr>
          <p:txBody>
            <a:bodyPr/>
            <a:lstStyle/>
            <a:p>
              <a:endParaRPr lang="en-US"/>
            </a:p>
          </p:txBody>
        </p:sp>
        <p:sp>
          <p:nvSpPr>
            <p:cNvPr id="55" name="Shape 6">
              <a:extLst>
                <a:ext uri="{FF2B5EF4-FFF2-40B4-BE49-F238E27FC236}">
                  <a16:creationId xmlns:a16="http://schemas.microsoft.com/office/drawing/2014/main" id="{A7E7A14F-922D-BFB7-AA06-8CD72E1CBA15}"/>
                </a:ext>
              </a:extLst>
            </p:cNvPr>
            <p:cNvSpPr/>
            <p:nvPr/>
          </p:nvSpPr>
          <p:spPr>
            <a:xfrm>
              <a:off x="621792" y="466344"/>
              <a:ext cx="64008" cy="64008"/>
            </a:xfrm>
            <a:prstGeom prst="rect">
              <a:avLst/>
            </a:prstGeom>
            <a:solidFill>
              <a:srgbClr val="3F8FD0"/>
            </a:solidFill>
            <a:ln/>
          </p:spPr>
          <p:txBody>
            <a:bodyPr/>
            <a:lstStyle/>
            <a:p>
              <a:endParaRPr lang="en-US"/>
            </a:p>
          </p:txBody>
        </p:sp>
        <p:sp>
          <p:nvSpPr>
            <p:cNvPr id="56" name="Shape 7">
              <a:extLst>
                <a:ext uri="{FF2B5EF4-FFF2-40B4-BE49-F238E27FC236}">
                  <a16:creationId xmlns:a16="http://schemas.microsoft.com/office/drawing/2014/main" id="{0328FBF2-A824-F1C2-8F07-F653E3D208DB}"/>
                </a:ext>
              </a:extLst>
            </p:cNvPr>
            <p:cNvSpPr/>
            <p:nvPr/>
          </p:nvSpPr>
          <p:spPr>
            <a:xfrm>
              <a:off x="457200" y="548640"/>
              <a:ext cx="64008" cy="64008"/>
            </a:xfrm>
            <a:prstGeom prst="rect">
              <a:avLst/>
            </a:prstGeom>
            <a:solidFill>
              <a:srgbClr val="1F3A6E"/>
            </a:solidFill>
            <a:ln/>
          </p:spPr>
          <p:txBody>
            <a:bodyPr/>
            <a:lstStyle/>
            <a:p>
              <a:endParaRPr lang="en-US"/>
            </a:p>
          </p:txBody>
        </p:sp>
        <p:sp>
          <p:nvSpPr>
            <p:cNvPr id="57" name="Shape 8">
              <a:extLst>
                <a:ext uri="{FF2B5EF4-FFF2-40B4-BE49-F238E27FC236}">
                  <a16:creationId xmlns:a16="http://schemas.microsoft.com/office/drawing/2014/main" id="{9D6D451A-C948-B8EE-3477-1BA3C58D4844}"/>
                </a:ext>
              </a:extLst>
            </p:cNvPr>
            <p:cNvSpPr/>
            <p:nvPr/>
          </p:nvSpPr>
          <p:spPr>
            <a:xfrm>
              <a:off x="539496" y="548640"/>
              <a:ext cx="64008" cy="64008"/>
            </a:xfrm>
            <a:prstGeom prst="rect">
              <a:avLst/>
            </a:prstGeom>
            <a:solidFill>
              <a:srgbClr val="3F8FD0"/>
            </a:solidFill>
            <a:ln/>
          </p:spPr>
          <p:txBody>
            <a:bodyPr/>
            <a:lstStyle/>
            <a:p>
              <a:endParaRPr lang="en-US"/>
            </a:p>
          </p:txBody>
        </p:sp>
        <p:sp>
          <p:nvSpPr>
            <p:cNvPr id="58" name="Shape 9">
              <a:extLst>
                <a:ext uri="{FF2B5EF4-FFF2-40B4-BE49-F238E27FC236}">
                  <a16:creationId xmlns:a16="http://schemas.microsoft.com/office/drawing/2014/main" id="{952AF950-1C3B-76AF-B0B9-8393720CE347}"/>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59" name="Group 58">
            <a:extLst>
              <a:ext uri="{FF2B5EF4-FFF2-40B4-BE49-F238E27FC236}">
                <a16:creationId xmlns:a16="http://schemas.microsoft.com/office/drawing/2014/main" id="{08700876-CB90-258C-605C-466FB0F34C9C}"/>
              </a:ext>
            </a:extLst>
          </p:cNvPr>
          <p:cNvGrpSpPr/>
          <p:nvPr/>
        </p:nvGrpSpPr>
        <p:grpSpPr>
          <a:xfrm>
            <a:off x="320040" y="6473952"/>
            <a:ext cx="228600" cy="228600"/>
            <a:chOff x="320040" y="6473952"/>
            <a:chExt cx="228600" cy="228600"/>
          </a:xfrm>
        </p:grpSpPr>
        <p:sp>
          <p:nvSpPr>
            <p:cNvPr id="63" name="Shape 24">
              <a:extLst>
                <a:ext uri="{FF2B5EF4-FFF2-40B4-BE49-F238E27FC236}">
                  <a16:creationId xmlns:a16="http://schemas.microsoft.com/office/drawing/2014/main" id="{594DF085-4870-8DE4-9ABA-2DF574059AF1}"/>
                </a:ext>
              </a:extLst>
            </p:cNvPr>
            <p:cNvSpPr/>
            <p:nvPr/>
          </p:nvSpPr>
          <p:spPr>
            <a:xfrm>
              <a:off x="320040" y="6473952"/>
              <a:ext cx="64008" cy="64008"/>
            </a:xfrm>
            <a:prstGeom prst="rect">
              <a:avLst/>
            </a:prstGeom>
            <a:solidFill>
              <a:srgbClr val="1F3A6E"/>
            </a:solidFill>
            <a:ln/>
          </p:spPr>
          <p:txBody>
            <a:bodyPr/>
            <a:lstStyle/>
            <a:p>
              <a:endParaRPr lang="en-US"/>
            </a:p>
          </p:txBody>
        </p:sp>
        <p:sp>
          <p:nvSpPr>
            <p:cNvPr id="64" name="Shape 25">
              <a:extLst>
                <a:ext uri="{FF2B5EF4-FFF2-40B4-BE49-F238E27FC236}">
                  <a16:creationId xmlns:a16="http://schemas.microsoft.com/office/drawing/2014/main" id="{49FD9D5F-6C49-CF84-D99C-FD78D58FCB1F}"/>
                </a:ext>
              </a:extLst>
            </p:cNvPr>
            <p:cNvSpPr/>
            <p:nvPr/>
          </p:nvSpPr>
          <p:spPr>
            <a:xfrm>
              <a:off x="402336" y="6473952"/>
              <a:ext cx="64008" cy="64008"/>
            </a:xfrm>
            <a:prstGeom prst="rect">
              <a:avLst/>
            </a:prstGeom>
            <a:solidFill>
              <a:srgbClr val="3F8FD0"/>
            </a:solidFill>
            <a:ln/>
          </p:spPr>
          <p:txBody>
            <a:bodyPr/>
            <a:lstStyle/>
            <a:p>
              <a:endParaRPr lang="en-US"/>
            </a:p>
          </p:txBody>
        </p:sp>
        <p:sp>
          <p:nvSpPr>
            <p:cNvPr id="65" name="Shape 26">
              <a:extLst>
                <a:ext uri="{FF2B5EF4-FFF2-40B4-BE49-F238E27FC236}">
                  <a16:creationId xmlns:a16="http://schemas.microsoft.com/office/drawing/2014/main" id="{93B586F0-2AD0-B94A-F594-6604830A7C53}"/>
                </a:ext>
              </a:extLst>
            </p:cNvPr>
            <p:cNvSpPr/>
            <p:nvPr/>
          </p:nvSpPr>
          <p:spPr>
            <a:xfrm>
              <a:off x="484632" y="6473952"/>
              <a:ext cx="64008" cy="64008"/>
            </a:xfrm>
            <a:prstGeom prst="rect">
              <a:avLst/>
            </a:prstGeom>
            <a:solidFill>
              <a:srgbClr val="1F3A6E"/>
            </a:solidFill>
            <a:ln/>
          </p:spPr>
          <p:txBody>
            <a:bodyPr/>
            <a:lstStyle/>
            <a:p>
              <a:endParaRPr lang="en-US"/>
            </a:p>
          </p:txBody>
        </p:sp>
        <p:sp>
          <p:nvSpPr>
            <p:cNvPr id="66" name="Shape 27">
              <a:extLst>
                <a:ext uri="{FF2B5EF4-FFF2-40B4-BE49-F238E27FC236}">
                  <a16:creationId xmlns:a16="http://schemas.microsoft.com/office/drawing/2014/main" id="{67BB06D0-DCB8-6CE4-1393-EB4DB17CD263}"/>
                </a:ext>
              </a:extLst>
            </p:cNvPr>
            <p:cNvSpPr/>
            <p:nvPr/>
          </p:nvSpPr>
          <p:spPr>
            <a:xfrm>
              <a:off x="320040" y="6556248"/>
              <a:ext cx="64008" cy="64008"/>
            </a:xfrm>
            <a:prstGeom prst="rect">
              <a:avLst/>
            </a:prstGeom>
            <a:solidFill>
              <a:srgbClr val="3F8FD0"/>
            </a:solidFill>
            <a:ln/>
          </p:spPr>
          <p:txBody>
            <a:bodyPr/>
            <a:lstStyle/>
            <a:p>
              <a:endParaRPr lang="en-US"/>
            </a:p>
          </p:txBody>
        </p:sp>
        <p:sp>
          <p:nvSpPr>
            <p:cNvPr id="67" name="Shape 28">
              <a:extLst>
                <a:ext uri="{FF2B5EF4-FFF2-40B4-BE49-F238E27FC236}">
                  <a16:creationId xmlns:a16="http://schemas.microsoft.com/office/drawing/2014/main" id="{30B826F3-3E9A-F5D7-4D14-286F8C7E262E}"/>
                </a:ext>
              </a:extLst>
            </p:cNvPr>
            <p:cNvSpPr/>
            <p:nvPr/>
          </p:nvSpPr>
          <p:spPr>
            <a:xfrm>
              <a:off x="402336" y="6556248"/>
              <a:ext cx="64008" cy="64008"/>
            </a:xfrm>
            <a:prstGeom prst="rect">
              <a:avLst/>
            </a:prstGeom>
            <a:solidFill>
              <a:srgbClr val="1F3A6E"/>
            </a:solidFill>
            <a:ln/>
          </p:spPr>
          <p:txBody>
            <a:bodyPr/>
            <a:lstStyle/>
            <a:p>
              <a:endParaRPr lang="en-US"/>
            </a:p>
          </p:txBody>
        </p:sp>
        <p:sp>
          <p:nvSpPr>
            <p:cNvPr id="68" name="Shape 29">
              <a:extLst>
                <a:ext uri="{FF2B5EF4-FFF2-40B4-BE49-F238E27FC236}">
                  <a16:creationId xmlns:a16="http://schemas.microsoft.com/office/drawing/2014/main" id="{1AF331A2-DF4D-6791-A232-D84D89D79B53}"/>
                </a:ext>
              </a:extLst>
            </p:cNvPr>
            <p:cNvSpPr/>
            <p:nvPr/>
          </p:nvSpPr>
          <p:spPr>
            <a:xfrm>
              <a:off x="484632" y="6556248"/>
              <a:ext cx="64008" cy="64008"/>
            </a:xfrm>
            <a:prstGeom prst="rect">
              <a:avLst/>
            </a:prstGeom>
            <a:solidFill>
              <a:srgbClr val="3F8FD0"/>
            </a:solidFill>
            <a:ln/>
          </p:spPr>
          <p:txBody>
            <a:bodyPr/>
            <a:lstStyle/>
            <a:p>
              <a:endParaRPr lang="en-US"/>
            </a:p>
          </p:txBody>
        </p:sp>
        <p:sp>
          <p:nvSpPr>
            <p:cNvPr id="69" name="Shape 30">
              <a:extLst>
                <a:ext uri="{FF2B5EF4-FFF2-40B4-BE49-F238E27FC236}">
                  <a16:creationId xmlns:a16="http://schemas.microsoft.com/office/drawing/2014/main" id="{7FB05598-2123-AFF5-8317-EA2673A4CACE}"/>
                </a:ext>
              </a:extLst>
            </p:cNvPr>
            <p:cNvSpPr/>
            <p:nvPr/>
          </p:nvSpPr>
          <p:spPr>
            <a:xfrm>
              <a:off x="320040" y="6638544"/>
              <a:ext cx="64008" cy="64008"/>
            </a:xfrm>
            <a:prstGeom prst="rect">
              <a:avLst/>
            </a:prstGeom>
            <a:solidFill>
              <a:srgbClr val="1F3A6E"/>
            </a:solidFill>
            <a:ln/>
          </p:spPr>
          <p:txBody>
            <a:bodyPr/>
            <a:lstStyle/>
            <a:p>
              <a:endParaRPr lang="en-US"/>
            </a:p>
          </p:txBody>
        </p:sp>
        <p:sp>
          <p:nvSpPr>
            <p:cNvPr id="70" name="Shape 31">
              <a:extLst>
                <a:ext uri="{FF2B5EF4-FFF2-40B4-BE49-F238E27FC236}">
                  <a16:creationId xmlns:a16="http://schemas.microsoft.com/office/drawing/2014/main" id="{17B17768-B52A-BA0C-83AE-58911B8BAA29}"/>
                </a:ext>
              </a:extLst>
            </p:cNvPr>
            <p:cNvSpPr/>
            <p:nvPr/>
          </p:nvSpPr>
          <p:spPr>
            <a:xfrm>
              <a:off x="402336" y="6638544"/>
              <a:ext cx="64008" cy="64008"/>
            </a:xfrm>
            <a:prstGeom prst="rect">
              <a:avLst/>
            </a:prstGeom>
            <a:solidFill>
              <a:srgbClr val="3F8FD0"/>
            </a:solidFill>
            <a:ln/>
          </p:spPr>
          <p:txBody>
            <a:bodyPr/>
            <a:lstStyle/>
            <a:p>
              <a:endParaRPr lang="en-US"/>
            </a:p>
          </p:txBody>
        </p:sp>
        <p:sp>
          <p:nvSpPr>
            <p:cNvPr id="71" name="Shape 32">
              <a:extLst>
                <a:ext uri="{FF2B5EF4-FFF2-40B4-BE49-F238E27FC236}">
                  <a16:creationId xmlns:a16="http://schemas.microsoft.com/office/drawing/2014/main" id="{6A1D8776-66F2-9D54-FC41-EEF6BDCE5A06}"/>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72" name="Text 33">
            <a:extLst>
              <a:ext uri="{FF2B5EF4-FFF2-40B4-BE49-F238E27FC236}">
                <a16:creationId xmlns:a16="http://schemas.microsoft.com/office/drawing/2014/main" id="{83E8B4CD-5108-6607-FFA4-BF5D4F888D41}"/>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extLst>
      <p:ext uri="{BB962C8B-B14F-4D97-AF65-F5344CB8AC3E}">
        <p14:creationId xmlns:p14="http://schemas.microsoft.com/office/powerpoint/2010/main" val="1004654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8BF5164-D495-21B8-51DC-18FF459301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9AEE72-D7DF-6C52-5D19-CB34C26FFE47}"/>
              </a:ext>
            </a:extLst>
          </p:cNvPr>
          <p:cNvSpPr/>
          <p:nvPr/>
        </p:nvSpPr>
        <p:spPr>
          <a:xfrm>
            <a:off x="9503359" y="0"/>
            <a:ext cx="384048" cy="384048"/>
          </a:xfrm>
          <a:prstGeom prst="rect">
            <a:avLst/>
          </a:prstGeom>
          <a:solidFill>
            <a:srgbClr val="AEE0F5"/>
          </a:solidFill>
          <a:ln/>
        </p:spPr>
        <p:txBody>
          <a:bodyPr/>
          <a:lstStyle/>
          <a:p>
            <a:endParaRPr lang="en-US"/>
          </a:p>
        </p:txBody>
      </p:sp>
      <p:sp>
        <p:nvSpPr>
          <p:cNvPr id="3" name="Shape 1">
            <a:extLst>
              <a:ext uri="{FF2B5EF4-FFF2-40B4-BE49-F238E27FC236}">
                <a16:creationId xmlns:a16="http://schemas.microsoft.com/office/drawing/2014/main" id="{2B9D67E6-1960-E1B6-BD6B-2D286CB3783D}"/>
              </a:ext>
            </a:extLst>
          </p:cNvPr>
          <p:cNvSpPr/>
          <p:nvPr/>
        </p:nvSpPr>
        <p:spPr>
          <a:xfrm>
            <a:off x="9887407" y="0"/>
            <a:ext cx="384048" cy="384048"/>
          </a:xfrm>
          <a:prstGeom prst="rect">
            <a:avLst/>
          </a:prstGeom>
          <a:solidFill>
            <a:srgbClr val="3F8FD0"/>
          </a:solidFill>
          <a:ln/>
        </p:spPr>
        <p:txBody>
          <a:bodyPr/>
          <a:lstStyle/>
          <a:p>
            <a:endParaRPr lang="en-US"/>
          </a:p>
        </p:txBody>
      </p:sp>
      <p:sp>
        <p:nvSpPr>
          <p:cNvPr id="4" name="Shape 2">
            <a:extLst>
              <a:ext uri="{FF2B5EF4-FFF2-40B4-BE49-F238E27FC236}">
                <a16:creationId xmlns:a16="http://schemas.microsoft.com/office/drawing/2014/main" id="{5354A8B1-A5ED-02F1-BFFB-60848FCD5129}"/>
              </a:ext>
            </a:extLst>
          </p:cNvPr>
          <p:cNvSpPr/>
          <p:nvPr/>
        </p:nvSpPr>
        <p:spPr>
          <a:xfrm>
            <a:off x="10655503" y="0"/>
            <a:ext cx="384048" cy="384048"/>
          </a:xfrm>
          <a:prstGeom prst="rect">
            <a:avLst/>
          </a:prstGeom>
          <a:solidFill>
            <a:srgbClr val="3F8FD0"/>
          </a:solidFill>
          <a:ln/>
        </p:spPr>
        <p:txBody>
          <a:bodyPr/>
          <a:lstStyle/>
          <a:p>
            <a:endParaRPr lang="en-US"/>
          </a:p>
        </p:txBody>
      </p:sp>
      <p:sp>
        <p:nvSpPr>
          <p:cNvPr id="5" name="Shape 3">
            <a:extLst>
              <a:ext uri="{FF2B5EF4-FFF2-40B4-BE49-F238E27FC236}">
                <a16:creationId xmlns:a16="http://schemas.microsoft.com/office/drawing/2014/main" id="{59F9C202-4E0F-D75B-F658-2E833390E55D}"/>
              </a:ext>
            </a:extLst>
          </p:cNvPr>
          <p:cNvSpPr/>
          <p:nvPr/>
        </p:nvSpPr>
        <p:spPr>
          <a:xfrm>
            <a:off x="11039551" y="0"/>
            <a:ext cx="384048" cy="384048"/>
          </a:xfrm>
          <a:prstGeom prst="rect">
            <a:avLst/>
          </a:prstGeom>
          <a:solidFill>
            <a:srgbClr val="AEE0F5"/>
          </a:solidFill>
          <a:ln/>
        </p:spPr>
        <p:txBody>
          <a:bodyPr/>
          <a:lstStyle/>
          <a:p>
            <a:endParaRPr lang="en-US"/>
          </a:p>
        </p:txBody>
      </p:sp>
      <p:sp>
        <p:nvSpPr>
          <p:cNvPr id="6" name="Shape 4">
            <a:extLst>
              <a:ext uri="{FF2B5EF4-FFF2-40B4-BE49-F238E27FC236}">
                <a16:creationId xmlns:a16="http://schemas.microsoft.com/office/drawing/2014/main" id="{0D352B19-7988-B729-485F-8740C00B3C66}"/>
              </a:ext>
            </a:extLst>
          </p:cNvPr>
          <p:cNvSpPr/>
          <p:nvPr/>
        </p:nvSpPr>
        <p:spPr>
          <a:xfrm>
            <a:off x="11423599" y="0"/>
            <a:ext cx="384048" cy="384048"/>
          </a:xfrm>
          <a:prstGeom prst="rect">
            <a:avLst/>
          </a:prstGeom>
          <a:solidFill>
            <a:srgbClr val="3F8FD0"/>
          </a:solidFill>
          <a:ln/>
        </p:spPr>
        <p:txBody>
          <a:bodyPr/>
          <a:lstStyle/>
          <a:p>
            <a:endParaRPr lang="en-US"/>
          </a:p>
        </p:txBody>
      </p:sp>
      <p:sp>
        <p:nvSpPr>
          <p:cNvPr id="7" name="Shape 5">
            <a:extLst>
              <a:ext uri="{FF2B5EF4-FFF2-40B4-BE49-F238E27FC236}">
                <a16:creationId xmlns:a16="http://schemas.microsoft.com/office/drawing/2014/main" id="{55E962B1-C45E-B3C9-74CE-C1D133F7CBAA}"/>
              </a:ext>
            </a:extLst>
          </p:cNvPr>
          <p:cNvSpPr/>
          <p:nvPr/>
        </p:nvSpPr>
        <p:spPr>
          <a:xfrm>
            <a:off x="11807647" y="0"/>
            <a:ext cx="384048" cy="384048"/>
          </a:xfrm>
          <a:prstGeom prst="rect">
            <a:avLst/>
          </a:prstGeom>
          <a:solidFill>
            <a:srgbClr val="AEE0F5"/>
          </a:solidFill>
          <a:ln/>
        </p:spPr>
        <p:txBody>
          <a:bodyPr/>
          <a:lstStyle/>
          <a:p>
            <a:endParaRPr lang="en-US"/>
          </a:p>
        </p:txBody>
      </p:sp>
      <p:sp>
        <p:nvSpPr>
          <p:cNvPr id="8" name="Shape 6">
            <a:extLst>
              <a:ext uri="{FF2B5EF4-FFF2-40B4-BE49-F238E27FC236}">
                <a16:creationId xmlns:a16="http://schemas.microsoft.com/office/drawing/2014/main" id="{254A6BB7-16DF-02EC-EDE2-29021A470E00}"/>
              </a:ext>
            </a:extLst>
          </p:cNvPr>
          <p:cNvSpPr/>
          <p:nvPr/>
        </p:nvSpPr>
        <p:spPr>
          <a:xfrm>
            <a:off x="10271455" y="384048"/>
            <a:ext cx="384048" cy="384048"/>
          </a:xfrm>
          <a:prstGeom prst="rect">
            <a:avLst/>
          </a:prstGeom>
          <a:solidFill>
            <a:srgbClr val="3F8FD0"/>
          </a:solidFill>
          <a:ln/>
        </p:spPr>
        <p:txBody>
          <a:bodyPr/>
          <a:lstStyle/>
          <a:p>
            <a:endParaRPr lang="en-US"/>
          </a:p>
        </p:txBody>
      </p:sp>
      <p:sp>
        <p:nvSpPr>
          <p:cNvPr id="9" name="Shape 7">
            <a:extLst>
              <a:ext uri="{FF2B5EF4-FFF2-40B4-BE49-F238E27FC236}">
                <a16:creationId xmlns:a16="http://schemas.microsoft.com/office/drawing/2014/main" id="{F4D9BE6B-5ECB-8C48-F81F-E8DF283E38B1}"/>
              </a:ext>
            </a:extLst>
          </p:cNvPr>
          <p:cNvSpPr/>
          <p:nvPr/>
        </p:nvSpPr>
        <p:spPr>
          <a:xfrm>
            <a:off x="11423599" y="384048"/>
            <a:ext cx="384048" cy="384048"/>
          </a:xfrm>
          <a:prstGeom prst="rect">
            <a:avLst/>
          </a:prstGeom>
          <a:solidFill>
            <a:srgbClr val="AEE0F5"/>
          </a:solidFill>
          <a:ln/>
        </p:spPr>
        <p:txBody>
          <a:bodyPr/>
          <a:lstStyle/>
          <a:p>
            <a:endParaRPr lang="en-US"/>
          </a:p>
        </p:txBody>
      </p:sp>
      <p:sp>
        <p:nvSpPr>
          <p:cNvPr id="10" name="Shape 8">
            <a:extLst>
              <a:ext uri="{FF2B5EF4-FFF2-40B4-BE49-F238E27FC236}">
                <a16:creationId xmlns:a16="http://schemas.microsoft.com/office/drawing/2014/main" id="{6059C229-F1AB-8F6F-FB0D-166FBB669F6D}"/>
              </a:ext>
            </a:extLst>
          </p:cNvPr>
          <p:cNvSpPr/>
          <p:nvPr/>
        </p:nvSpPr>
        <p:spPr>
          <a:xfrm>
            <a:off x="11807647" y="384048"/>
            <a:ext cx="384048" cy="384048"/>
          </a:xfrm>
          <a:prstGeom prst="rect">
            <a:avLst/>
          </a:prstGeom>
          <a:solidFill>
            <a:srgbClr val="3F8FD0"/>
          </a:solidFill>
          <a:ln/>
        </p:spPr>
        <p:txBody>
          <a:bodyPr/>
          <a:lstStyle/>
          <a:p>
            <a:endParaRPr lang="en-US"/>
          </a:p>
        </p:txBody>
      </p:sp>
      <p:sp>
        <p:nvSpPr>
          <p:cNvPr id="11" name="Shape 9">
            <a:extLst>
              <a:ext uri="{FF2B5EF4-FFF2-40B4-BE49-F238E27FC236}">
                <a16:creationId xmlns:a16="http://schemas.microsoft.com/office/drawing/2014/main" id="{4275A2E6-C67D-0F73-4C4C-2EEA63A4BDA6}"/>
              </a:ext>
            </a:extLst>
          </p:cNvPr>
          <p:cNvSpPr/>
          <p:nvPr/>
        </p:nvSpPr>
        <p:spPr>
          <a:xfrm>
            <a:off x="11039551" y="768096"/>
            <a:ext cx="384048" cy="384048"/>
          </a:xfrm>
          <a:prstGeom prst="rect">
            <a:avLst/>
          </a:prstGeom>
          <a:solidFill>
            <a:srgbClr val="AEE0F5"/>
          </a:solidFill>
          <a:ln/>
        </p:spPr>
        <p:txBody>
          <a:bodyPr/>
          <a:lstStyle/>
          <a:p>
            <a:endParaRPr lang="en-US"/>
          </a:p>
        </p:txBody>
      </p:sp>
      <p:sp>
        <p:nvSpPr>
          <p:cNvPr id="12" name="Shape 10">
            <a:extLst>
              <a:ext uri="{FF2B5EF4-FFF2-40B4-BE49-F238E27FC236}">
                <a16:creationId xmlns:a16="http://schemas.microsoft.com/office/drawing/2014/main" id="{7AB40385-9C67-5DF0-BCAF-EDB66F60F3B0}"/>
              </a:ext>
            </a:extLst>
          </p:cNvPr>
          <p:cNvSpPr/>
          <p:nvPr/>
        </p:nvSpPr>
        <p:spPr>
          <a:xfrm>
            <a:off x="11807647" y="768096"/>
            <a:ext cx="384048" cy="384048"/>
          </a:xfrm>
          <a:prstGeom prst="rect">
            <a:avLst/>
          </a:prstGeom>
          <a:solidFill>
            <a:srgbClr val="AEE0F5"/>
          </a:solidFill>
          <a:ln/>
        </p:spPr>
        <p:txBody>
          <a:bodyPr/>
          <a:lstStyle/>
          <a:p>
            <a:endParaRPr lang="en-US"/>
          </a:p>
        </p:txBody>
      </p:sp>
      <p:sp>
        <p:nvSpPr>
          <p:cNvPr id="13" name="Shape 11">
            <a:extLst>
              <a:ext uri="{FF2B5EF4-FFF2-40B4-BE49-F238E27FC236}">
                <a16:creationId xmlns:a16="http://schemas.microsoft.com/office/drawing/2014/main" id="{ED92A7DD-6FDA-49E2-31BD-404CB13C6BD8}"/>
              </a:ext>
            </a:extLst>
          </p:cNvPr>
          <p:cNvSpPr/>
          <p:nvPr/>
        </p:nvSpPr>
        <p:spPr>
          <a:xfrm>
            <a:off x="548640" y="457200"/>
            <a:ext cx="64008" cy="64008"/>
          </a:xfrm>
          <a:prstGeom prst="rect">
            <a:avLst/>
          </a:prstGeom>
          <a:solidFill>
            <a:srgbClr val="1F3A6E"/>
          </a:solidFill>
          <a:ln/>
        </p:spPr>
        <p:txBody>
          <a:bodyPr/>
          <a:lstStyle/>
          <a:p>
            <a:endParaRPr lang="en-US"/>
          </a:p>
        </p:txBody>
      </p:sp>
      <p:sp>
        <p:nvSpPr>
          <p:cNvPr id="14" name="Shape 12">
            <a:extLst>
              <a:ext uri="{FF2B5EF4-FFF2-40B4-BE49-F238E27FC236}">
                <a16:creationId xmlns:a16="http://schemas.microsoft.com/office/drawing/2014/main" id="{E9D45D36-8159-BE47-B502-7025253BBC11}"/>
              </a:ext>
            </a:extLst>
          </p:cNvPr>
          <p:cNvSpPr/>
          <p:nvPr/>
        </p:nvSpPr>
        <p:spPr>
          <a:xfrm>
            <a:off x="630936" y="457200"/>
            <a:ext cx="64008" cy="64008"/>
          </a:xfrm>
          <a:prstGeom prst="rect">
            <a:avLst/>
          </a:prstGeom>
          <a:solidFill>
            <a:srgbClr val="3F8FD0"/>
          </a:solidFill>
          <a:ln/>
        </p:spPr>
        <p:txBody>
          <a:bodyPr/>
          <a:lstStyle/>
          <a:p>
            <a:endParaRPr lang="en-US"/>
          </a:p>
        </p:txBody>
      </p:sp>
      <p:sp>
        <p:nvSpPr>
          <p:cNvPr id="15" name="Shape 13">
            <a:extLst>
              <a:ext uri="{FF2B5EF4-FFF2-40B4-BE49-F238E27FC236}">
                <a16:creationId xmlns:a16="http://schemas.microsoft.com/office/drawing/2014/main" id="{AD3D11F7-86CC-9729-CDCF-A94903A68314}"/>
              </a:ext>
            </a:extLst>
          </p:cNvPr>
          <p:cNvSpPr/>
          <p:nvPr/>
        </p:nvSpPr>
        <p:spPr>
          <a:xfrm>
            <a:off x="713232" y="457200"/>
            <a:ext cx="64008" cy="64008"/>
          </a:xfrm>
          <a:prstGeom prst="rect">
            <a:avLst/>
          </a:prstGeom>
          <a:solidFill>
            <a:srgbClr val="1F3A6E"/>
          </a:solidFill>
          <a:ln/>
        </p:spPr>
        <p:txBody>
          <a:bodyPr/>
          <a:lstStyle/>
          <a:p>
            <a:endParaRPr lang="en-US"/>
          </a:p>
        </p:txBody>
      </p:sp>
      <p:sp>
        <p:nvSpPr>
          <p:cNvPr id="16" name="Shape 14">
            <a:extLst>
              <a:ext uri="{FF2B5EF4-FFF2-40B4-BE49-F238E27FC236}">
                <a16:creationId xmlns:a16="http://schemas.microsoft.com/office/drawing/2014/main" id="{302D01A3-89DE-CB1B-6B6C-E08313E88C85}"/>
              </a:ext>
            </a:extLst>
          </p:cNvPr>
          <p:cNvSpPr/>
          <p:nvPr/>
        </p:nvSpPr>
        <p:spPr>
          <a:xfrm>
            <a:off x="548640" y="539496"/>
            <a:ext cx="64008" cy="64008"/>
          </a:xfrm>
          <a:prstGeom prst="rect">
            <a:avLst/>
          </a:prstGeom>
          <a:solidFill>
            <a:srgbClr val="3F8FD0"/>
          </a:solidFill>
          <a:ln/>
        </p:spPr>
        <p:txBody>
          <a:bodyPr/>
          <a:lstStyle/>
          <a:p>
            <a:endParaRPr lang="en-US"/>
          </a:p>
        </p:txBody>
      </p:sp>
      <p:sp>
        <p:nvSpPr>
          <p:cNvPr id="17" name="Shape 15">
            <a:extLst>
              <a:ext uri="{FF2B5EF4-FFF2-40B4-BE49-F238E27FC236}">
                <a16:creationId xmlns:a16="http://schemas.microsoft.com/office/drawing/2014/main" id="{82910DD9-7905-6108-B97A-BA37B7DDE7EE}"/>
              </a:ext>
            </a:extLst>
          </p:cNvPr>
          <p:cNvSpPr/>
          <p:nvPr/>
        </p:nvSpPr>
        <p:spPr>
          <a:xfrm>
            <a:off x="630936" y="539496"/>
            <a:ext cx="64008" cy="64008"/>
          </a:xfrm>
          <a:prstGeom prst="rect">
            <a:avLst/>
          </a:prstGeom>
          <a:solidFill>
            <a:srgbClr val="1F3A6E"/>
          </a:solidFill>
          <a:ln/>
        </p:spPr>
        <p:txBody>
          <a:bodyPr/>
          <a:lstStyle/>
          <a:p>
            <a:endParaRPr lang="en-US"/>
          </a:p>
        </p:txBody>
      </p:sp>
      <p:sp>
        <p:nvSpPr>
          <p:cNvPr id="18" name="Shape 16">
            <a:extLst>
              <a:ext uri="{FF2B5EF4-FFF2-40B4-BE49-F238E27FC236}">
                <a16:creationId xmlns:a16="http://schemas.microsoft.com/office/drawing/2014/main" id="{53641226-9A03-9CBB-FAF7-C0071EA537DB}"/>
              </a:ext>
            </a:extLst>
          </p:cNvPr>
          <p:cNvSpPr/>
          <p:nvPr/>
        </p:nvSpPr>
        <p:spPr>
          <a:xfrm>
            <a:off x="713232" y="539496"/>
            <a:ext cx="64008" cy="64008"/>
          </a:xfrm>
          <a:prstGeom prst="rect">
            <a:avLst/>
          </a:prstGeom>
          <a:solidFill>
            <a:srgbClr val="3F8FD0"/>
          </a:solidFill>
          <a:ln/>
        </p:spPr>
        <p:txBody>
          <a:bodyPr/>
          <a:lstStyle/>
          <a:p>
            <a:endParaRPr lang="en-US"/>
          </a:p>
        </p:txBody>
      </p:sp>
      <p:sp>
        <p:nvSpPr>
          <p:cNvPr id="19" name="Shape 17">
            <a:extLst>
              <a:ext uri="{FF2B5EF4-FFF2-40B4-BE49-F238E27FC236}">
                <a16:creationId xmlns:a16="http://schemas.microsoft.com/office/drawing/2014/main" id="{435ED975-1B7C-40D9-7C43-DFCF2C368AB0}"/>
              </a:ext>
            </a:extLst>
          </p:cNvPr>
          <p:cNvSpPr/>
          <p:nvPr/>
        </p:nvSpPr>
        <p:spPr>
          <a:xfrm>
            <a:off x="548640" y="621792"/>
            <a:ext cx="64008" cy="64008"/>
          </a:xfrm>
          <a:prstGeom prst="rect">
            <a:avLst/>
          </a:prstGeom>
          <a:solidFill>
            <a:srgbClr val="1F3A6E"/>
          </a:solidFill>
          <a:ln/>
        </p:spPr>
        <p:txBody>
          <a:bodyPr/>
          <a:lstStyle/>
          <a:p>
            <a:endParaRPr lang="en-US"/>
          </a:p>
        </p:txBody>
      </p:sp>
      <p:sp>
        <p:nvSpPr>
          <p:cNvPr id="20" name="Shape 18">
            <a:extLst>
              <a:ext uri="{FF2B5EF4-FFF2-40B4-BE49-F238E27FC236}">
                <a16:creationId xmlns:a16="http://schemas.microsoft.com/office/drawing/2014/main" id="{AE01CB19-A0FE-5D7E-4834-60AC68E96B3F}"/>
              </a:ext>
            </a:extLst>
          </p:cNvPr>
          <p:cNvSpPr/>
          <p:nvPr/>
        </p:nvSpPr>
        <p:spPr>
          <a:xfrm>
            <a:off x="630936" y="621792"/>
            <a:ext cx="64008" cy="64008"/>
          </a:xfrm>
          <a:prstGeom prst="rect">
            <a:avLst/>
          </a:prstGeom>
          <a:solidFill>
            <a:srgbClr val="3F8FD0"/>
          </a:solidFill>
          <a:ln/>
        </p:spPr>
        <p:txBody>
          <a:bodyPr/>
          <a:lstStyle/>
          <a:p>
            <a:endParaRPr lang="en-US"/>
          </a:p>
        </p:txBody>
      </p:sp>
      <p:sp>
        <p:nvSpPr>
          <p:cNvPr id="21" name="Shape 19">
            <a:extLst>
              <a:ext uri="{FF2B5EF4-FFF2-40B4-BE49-F238E27FC236}">
                <a16:creationId xmlns:a16="http://schemas.microsoft.com/office/drawing/2014/main" id="{4085CA26-5E09-5CCA-C05C-F2DB8B41251F}"/>
              </a:ext>
            </a:extLst>
          </p:cNvPr>
          <p:cNvSpPr/>
          <p:nvPr/>
        </p:nvSpPr>
        <p:spPr>
          <a:xfrm>
            <a:off x="713232" y="621792"/>
            <a:ext cx="64008" cy="64008"/>
          </a:xfrm>
          <a:prstGeom prst="rect">
            <a:avLst/>
          </a:prstGeom>
          <a:solidFill>
            <a:srgbClr val="1F3A6E"/>
          </a:solidFill>
          <a:ln/>
        </p:spPr>
        <p:txBody>
          <a:bodyPr/>
          <a:lstStyle/>
          <a:p>
            <a:endParaRPr lang="en-US"/>
          </a:p>
        </p:txBody>
      </p:sp>
      <p:sp>
        <p:nvSpPr>
          <p:cNvPr id="22" name="Shape 20">
            <a:extLst>
              <a:ext uri="{FF2B5EF4-FFF2-40B4-BE49-F238E27FC236}">
                <a16:creationId xmlns:a16="http://schemas.microsoft.com/office/drawing/2014/main" id="{41B2295E-4280-A99D-2AC1-622FCD5DAC49}"/>
              </a:ext>
            </a:extLst>
          </p:cNvPr>
          <p:cNvSpPr/>
          <p:nvPr/>
        </p:nvSpPr>
        <p:spPr>
          <a:xfrm>
            <a:off x="914400" y="2743200"/>
            <a:ext cx="1417320" cy="1417320"/>
          </a:xfrm>
          <a:prstGeom prst="rect">
            <a:avLst/>
          </a:prstGeom>
          <a:solidFill>
            <a:srgbClr val="1F3A6E"/>
          </a:solidFill>
          <a:ln/>
          <a:effectLst>
            <a:outerShdw blurRad="76200" dist="38100" dir="2700000" algn="bl" rotWithShape="0">
              <a:srgbClr val="000000">
                <a:alpha val="35000"/>
              </a:srgbClr>
            </a:outerShdw>
          </a:effectLst>
        </p:spPr>
        <p:txBody>
          <a:bodyPr/>
          <a:lstStyle/>
          <a:p>
            <a:endParaRPr lang="en-US"/>
          </a:p>
        </p:txBody>
      </p:sp>
      <p:sp>
        <p:nvSpPr>
          <p:cNvPr id="23" name="Text 21">
            <a:extLst>
              <a:ext uri="{FF2B5EF4-FFF2-40B4-BE49-F238E27FC236}">
                <a16:creationId xmlns:a16="http://schemas.microsoft.com/office/drawing/2014/main" id="{CB344762-90DF-F618-A0C3-17C665EB28BC}"/>
              </a:ext>
            </a:extLst>
          </p:cNvPr>
          <p:cNvSpPr/>
          <p:nvPr/>
        </p:nvSpPr>
        <p:spPr>
          <a:xfrm>
            <a:off x="914400" y="2743200"/>
            <a:ext cx="1417320" cy="14173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4</a:t>
            </a:r>
            <a:endParaRPr lang="en-US" sz="5400" dirty="0"/>
          </a:p>
        </p:txBody>
      </p:sp>
      <p:sp>
        <p:nvSpPr>
          <p:cNvPr id="24" name="Text 22">
            <a:extLst>
              <a:ext uri="{FF2B5EF4-FFF2-40B4-BE49-F238E27FC236}">
                <a16:creationId xmlns:a16="http://schemas.microsoft.com/office/drawing/2014/main" id="{3B7F5050-7BBE-50EA-F05D-97C1445E06D3}"/>
              </a:ext>
            </a:extLst>
          </p:cNvPr>
          <p:cNvSpPr/>
          <p:nvPr/>
        </p:nvSpPr>
        <p:spPr>
          <a:xfrm>
            <a:off x="914400" y="4343400"/>
            <a:ext cx="9601200" cy="822960"/>
          </a:xfrm>
          <a:prstGeom prst="rect">
            <a:avLst/>
          </a:prstGeom>
          <a:noFill/>
          <a:ln/>
        </p:spPr>
        <p:txBody>
          <a:bodyPr wrap="square" lIns="0" tIns="0" rIns="0" bIns="0" rtlCol="0" anchor="ctr"/>
          <a:lstStyle/>
          <a:p>
            <a:pPr marL="0" indent="0">
              <a:buNone/>
            </a:pPr>
            <a:r>
              <a:rPr lang="en-US" sz="3000" b="1" dirty="0">
                <a:solidFill>
                  <a:srgbClr val="1F3A6E"/>
                </a:solidFill>
                <a:latin typeface="Calibri" pitchFamily="34" charset="0"/>
                <a:ea typeface="Calibri" pitchFamily="34" charset="-122"/>
                <a:cs typeface="Calibri" pitchFamily="34" charset="-120"/>
              </a:rPr>
              <a:t>Người quản lý dữ liệu – Nhập liệu – Xây dựng</a:t>
            </a:r>
            <a:endParaRPr lang="en-US" sz="3000" dirty="0"/>
          </a:p>
        </p:txBody>
      </p:sp>
    </p:spTree>
    <p:extLst>
      <p:ext uri="{BB962C8B-B14F-4D97-AF65-F5344CB8AC3E}">
        <p14:creationId xmlns:p14="http://schemas.microsoft.com/office/powerpoint/2010/main" val="2382716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Tổng quan &amp; Tiến độ hàng tháng</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300" name="Panel Header"/>
          <p:cNvSpPr/>
          <p:nvPr/>
        </p:nvSpPr>
        <p:spPr>
          <a:xfrm>
            <a:off x="7589463" y="1770459"/>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89463" y="2290459"/>
            <a:ext cx="4211840" cy="3068356"/>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89463" y="2440459"/>
            <a:ext cx="3811840" cy="2275164"/>
          </a:xfrm>
          <a:prstGeom prst="rect">
            <a:avLst/>
          </a:prstGeom>
          <a:noFill/>
          <a:ln/>
        </p:spPr>
        <p:txBody>
          <a:bodyPr wrap="square" lIns="0" tIns="0" rIns="0" bIns="0" rtlCol="0" anchor="t"/>
          <a:lstStyle/>
          <a:p>
            <a:pPr marL="228600" indent="-228600">
              <a:lnSpc>
                <a:spcPct val="115000"/>
              </a:lnSpc>
              <a:spcAft>
                <a:spcPts val="1400"/>
              </a:spcAft>
              <a:buSzPct val="100000"/>
              <a:buAutoNum type="arabicPlain"/>
            </a:pPr>
            <a:r>
              <a:rPr lang="en-US" sz="1100" b="1" dirty="0">
                <a:solidFill>
                  <a:srgbClr val="1F3A6E"/>
                </a:solidFill>
                <a:latin typeface="Calibri" pitchFamily="34" charset="0"/>
                <a:ea typeface="Calibri" pitchFamily="34" charset="-122"/>
                <a:cs typeface="Calibri" pitchFamily="34" charset="-120"/>
              </a:rPr>
              <a:t>Chọn phạm vi: </a:t>
            </a:r>
            <a:r>
              <a:rPr lang="en-US" sz="1100" dirty="0">
                <a:solidFill>
                  <a:srgbClr val="262626"/>
                </a:solidFill>
                <a:latin typeface="Calibri" pitchFamily="34" charset="0"/>
                <a:ea typeface="Calibri" pitchFamily="34" charset="-122"/>
                <a:cs typeface="Calibri" pitchFamily="34" charset="-120"/>
              </a:rPr>
              <a:t>Chọn công trường từ cây bên trái, sau đó chọn </a:t>
            </a:r>
            <a:r>
              <a:rPr lang="en-US" sz="1100" dirty="0" err="1">
                <a:solidFill>
                  <a:srgbClr val="262626"/>
                </a:solidFill>
                <a:latin typeface="Calibri" pitchFamily="34" charset="0"/>
                <a:ea typeface="Calibri" pitchFamily="34" charset="-122"/>
                <a:cs typeface="Calibri" pitchFamily="34" charset="-120"/>
              </a:rPr>
              <a:t>시공</a:t>
            </a:r>
            <a:r>
              <a:rPr lang="en-US" sz="1100" dirty="0">
                <a:solidFill>
                  <a:srgbClr val="262626"/>
                </a:solidFill>
                <a:latin typeface="Calibri" pitchFamily="34" charset="0"/>
                <a:ea typeface="Calibri" pitchFamily="34" charset="-122"/>
                <a:cs typeface="Calibri" pitchFamily="34" charset="-120"/>
              </a:rPr>
              <a:t> (Xây dựng) hoặc </a:t>
            </a:r>
            <a:r>
              <a:rPr lang="en-US" sz="1100" dirty="0" err="1">
                <a:solidFill>
                  <a:srgbClr val="262626"/>
                </a:solidFill>
                <a:latin typeface="Calibri" pitchFamily="34" charset="0"/>
                <a:ea typeface="Calibri" pitchFamily="34" charset="-122"/>
                <a:cs typeface="Calibri" pitchFamily="34" charset="-120"/>
              </a:rPr>
              <a:t>용역</a:t>
            </a:r>
            <a:r>
              <a:rPr lang="en-US" sz="1100" dirty="0">
                <a:solidFill>
                  <a:srgbClr val="262626"/>
                </a:solidFill>
                <a:latin typeface="Calibri" pitchFamily="34" charset="0"/>
                <a:ea typeface="Calibri" pitchFamily="34" charset="-122"/>
                <a:cs typeface="Calibri" pitchFamily="34" charset="-120"/>
              </a:rPr>
              <a:t> (Dịch vụ) để chuyển đổi các thẻ Nhập liệu hiển thị.</a:t>
            </a:r>
          </a:p>
          <a:p>
            <a:pPr marL="228600" indent="-228600">
              <a:lnSpc>
                <a:spcPct val="115000"/>
              </a:lnSpc>
              <a:spcAft>
                <a:spcPts val="1400"/>
              </a:spcAft>
              <a:buSzPct val="100000"/>
              <a:buAutoNum type="arabicPlain"/>
            </a:pPr>
            <a:r>
              <a:rPr lang="en-US" sz="1100" b="1" dirty="0">
                <a:solidFill>
                  <a:srgbClr val="1F3A6E"/>
                </a:solidFill>
                <a:latin typeface="Calibri" pitchFamily="34" charset="0"/>
                <a:ea typeface="Calibri" pitchFamily="34" charset="-122"/>
                <a:cs typeface="Calibri" pitchFamily="34" charset="-120"/>
              </a:rPr>
              <a:t>Điều khiển trạng thái: </a:t>
            </a:r>
            <a:r>
              <a:rPr lang="en-US" sz="1100" dirty="0">
                <a:solidFill>
                  <a:srgbClr val="262626"/>
                </a:solidFill>
                <a:latin typeface="Calibri" pitchFamily="34" charset="0"/>
                <a:ea typeface="Calibri" pitchFamily="34" charset="-122"/>
                <a:cs typeface="Calibri" pitchFamily="34" charset="-120"/>
              </a:rPr>
              <a:t>Điều khiển In Progress / Change to closed đánh dấu một công trường đã hoàn tất là closed, chuyển công trường giữa danh sách In Progress/Closed trong cây.</a:t>
            </a:r>
            <a:endParaRPr lang="en-US" sz="1100" dirty="0"/>
          </a:p>
          <a:p>
            <a:pPr marL="228600" indent="-228600">
              <a:lnSpc>
                <a:spcPct val="115000"/>
              </a:lnSpc>
              <a:spcAft>
                <a:spcPts val="1400"/>
              </a:spcAft>
              <a:buSzPct val="100000"/>
              <a:buAutoNum type="arabicPlain"/>
            </a:pPr>
            <a:r>
              <a:rPr lang="en-US" sz="1100" b="1" dirty="0">
                <a:solidFill>
                  <a:srgbClr val="1F3A6E"/>
                </a:solidFill>
                <a:latin typeface="Calibri" pitchFamily="34" charset="0"/>
                <a:ea typeface="Calibri" pitchFamily="34" charset="-122"/>
                <a:cs typeface="Calibri" pitchFamily="34" charset="-120"/>
              </a:rPr>
              <a:t>Cơ chế lưu: </a:t>
            </a:r>
            <a:r>
              <a:rPr lang="en-US" sz="1100" dirty="0">
                <a:solidFill>
                  <a:srgbClr val="262626"/>
                </a:solidFill>
                <a:latin typeface="Calibri" pitchFamily="34" charset="0"/>
                <a:ea typeface="Calibri" pitchFamily="34" charset="-122"/>
                <a:cs typeface="Calibri" pitchFamily="34" charset="-120"/>
              </a:rPr>
              <a:t>Mỗi thẻ có nút Save riêng, cùng với Save all ở phía trên; công tắc Lock sẽ khóa một thẻ khi kế hoạch đã được chốt.</a:t>
            </a:r>
            <a:endParaRPr lang="en-US" sz="1100" dirty="0"/>
          </a:p>
          <a:p>
            <a:pPr marL="228600" indent="-228600">
              <a:lnSpc>
                <a:spcPct val="106000"/>
              </a:lnSpc>
              <a:spcAft>
                <a:spcPts val="500"/>
              </a:spcAft>
              <a:buAutoNum type="arabicPlain"/>
            </a:pPr>
            <a:endParaRPr lang="en-US" sz="1100" dirty="0">
              <a:solidFill>
                <a:srgbClr val="262626"/>
              </a:solidFill>
              <a:latin typeface="Calibri" pitchFamily="34" charset="0"/>
            </a:endParaRP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850399AF-46F7-D3EC-7487-9B11CC70D843}"/>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4C727300-C9CF-2A33-7D60-8B1FB4263019}"/>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51B55EB9-2752-92A6-23B4-13D0DFD1CB5D}"/>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55106152-5626-2560-2C8C-212F77CBBBCF}"/>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6742394D-22DF-9C61-712B-708DD3873E7A}"/>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7D13766B-CF33-BF12-4EDC-ABAF6564F46C}"/>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56346481-8760-0FBC-079A-0B64F69265F5}"/>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CA52F9E8-0742-1A9B-09D2-872AD7BF8C59}"/>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AD22235F-D958-2043-2F4B-7055B6636576}"/>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7929ED8C-D38D-D269-DBB3-27D9FF901D79}"/>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A0B98A64-FB0F-2C20-2B6F-E16D57290939}"/>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86C7DA21-95F6-0E52-33EC-EE7BE7855792}"/>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546FD496-EC4B-ECDF-54D2-72B5C78AE1FE}"/>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C4AFA158-9FC1-90CC-D3D8-47D1FEE2C143}"/>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08188CD8-8141-390C-0F9A-D7716F2843E5}"/>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7C815C15-48DA-2AA4-C58C-3D23098721F7}"/>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AB3C4181-A7A7-43F6-EA14-0800A7758ABB}"/>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7C98CC63-0F5E-00B4-D534-CF81BC42F618}"/>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A600BB3C-13EA-E498-DF93-006F5E8BEF1B}"/>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7B100BFE-1831-FBF7-792C-12BCFCF9E2D6}"/>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4CE98D4D-A7F3-51E1-8D80-6324D11E2A9F}"/>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grpSp>
        <p:nvGrpSpPr>
          <p:cNvPr id="6" name="Group 5">
            <a:extLst>
              <a:ext uri="{FF2B5EF4-FFF2-40B4-BE49-F238E27FC236}">
                <a16:creationId xmlns:a16="http://schemas.microsoft.com/office/drawing/2014/main" id="{4989A36C-E0D0-6B78-453B-4DD54E62D512}"/>
              </a:ext>
            </a:extLst>
          </p:cNvPr>
          <p:cNvGrpSpPr/>
          <p:nvPr/>
        </p:nvGrpSpPr>
        <p:grpSpPr>
          <a:xfrm>
            <a:off x="281525" y="1797267"/>
            <a:ext cx="7165290" cy="3561548"/>
            <a:chOff x="603504" y="2271924"/>
            <a:chExt cx="6498280" cy="3168316"/>
          </a:xfrm>
        </p:grpSpPr>
        <p:sp>
          <p:nvSpPr>
            <p:cNvPr id="25" name="Shape 23"/>
            <p:cNvSpPr/>
            <p:nvPr/>
          </p:nvSpPr>
          <p:spPr>
            <a:xfrm>
              <a:off x="603504" y="2271924"/>
              <a:ext cx="6473152" cy="3168316"/>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95164"/>
            </a:xfrm>
            <a:prstGeom prst="rect">
              <a:avLst/>
            </a:prstGeom>
          </p:spPr>
        </p:pic>
        <p:sp>
          <p:nvSpPr>
            <p:cNvPr id="100" name="Box 1"/>
            <p:cNvSpPr/>
            <p:nvPr/>
          </p:nvSpPr>
          <p:spPr>
            <a:xfrm>
              <a:off x="5352748" y="3155790"/>
              <a:ext cx="367716" cy="187052"/>
            </a:xfrm>
            <a:prstGeom prst="roundRect">
              <a:avLst>
                <a:gd name="adj" fmla="val 10000"/>
              </a:avLst>
            </a:prstGeom>
            <a:noFill/>
            <a:ln w="19050">
              <a:solidFill>
                <a:srgbClr val="1F3A6E"/>
              </a:solidFill>
            </a:ln>
          </p:spPr>
          <p:txBody>
            <a:bodyPr/>
            <a:lstStyle/>
            <a:p>
              <a:endParaRPr lang="en-US"/>
            </a:p>
          </p:txBody>
        </p:sp>
        <p:sp>
          <p:nvSpPr>
            <p:cNvPr id="103" name="Box 4"/>
            <p:cNvSpPr/>
            <p:nvPr/>
          </p:nvSpPr>
          <p:spPr>
            <a:xfrm>
              <a:off x="6591300" y="3156058"/>
              <a:ext cx="352425" cy="184077"/>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5197707" y="297555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3" name="Box 4">
              <a:extLst>
                <a:ext uri="{FF2B5EF4-FFF2-40B4-BE49-F238E27FC236}">
                  <a16:creationId xmlns:a16="http://schemas.microsoft.com/office/drawing/2014/main" id="{58034494-6909-CB39-7657-0D5284211F75}"/>
                </a:ext>
              </a:extLst>
            </p:cNvPr>
            <p:cNvSpPr/>
            <p:nvPr/>
          </p:nvSpPr>
          <p:spPr>
            <a:xfrm>
              <a:off x="5745440" y="3153083"/>
              <a:ext cx="845860" cy="187052"/>
            </a:xfrm>
            <a:prstGeom prst="roundRect">
              <a:avLst>
                <a:gd name="adj" fmla="val 10000"/>
              </a:avLst>
            </a:prstGeom>
            <a:noFill/>
            <a:ln w="19050">
              <a:solidFill>
                <a:srgbClr val="1F3A6E"/>
              </a:solidFill>
            </a:ln>
          </p:spPr>
          <p:txBody>
            <a:bodyPr/>
            <a:lstStyle/>
            <a:p>
              <a:endParaRPr lang="en-US"/>
            </a:p>
          </p:txBody>
        </p:sp>
        <p:sp>
          <p:nvSpPr>
            <p:cNvPr id="4" name="Callout 1">
              <a:extLst>
                <a:ext uri="{FF2B5EF4-FFF2-40B4-BE49-F238E27FC236}">
                  <a16:creationId xmlns:a16="http://schemas.microsoft.com/office/drawing/2014/main" id="{104DD8B1-33D3-8A5C-8281-EAFF4067ED00}"/>
                </a:ext>
              </a:extLst>
            </p:cNvPr>
            <p:cNvSpPr/>
            <p:nvPr/>
          </p:nvSpPr>
          <p:spPr>
            <a:xfrm>
              <a:off x="5757040" y="297555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5" name="Callout 1">
              <a:extLst>
                <a:ext uri="{FF2B5EF4-FFF2-40B4-BE49-F238E27FC236}">
                  <a16:creationId xmlns:a16="http://schemas.microsoft.com/office/drawing/2014/main" id="{7CDBC127-87D1-0ADC-60BD-442693FF73CC}"/>
                </a:ext>
              </a:extLst>
            </p:cNvPr>
            <p:cNvSpPr/>
            <p:nvPr/>
          </p:nvSpPr>
          <p:spPr>
            <a:xfrm>
              <a:off x="6881784" y="297555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3A628E-6234-79F1-A38F-498FE6516F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23FC83-39AB-3BDB-320D-0E663C5976A0}"/>
              </a:ext>
            </a:extLst>
          </p:cNvPr>
          <p:cNvSpPr/>
          <p:nvPr/>
        </p:nvSpPr>
        <p:spPr>
          <a:xfrm>
            <a:off x="0" y="0"/>
            <a:ext cx="12191695" cy="54864"/>
          </a:xfrm>
          <a:prstGeom prst="rect">
            <a:avLst/>
          </a:prstGeom>
          <a:solidFill>
            <a:srgbClr val="3F8FD0"/>
          </a:solidFill>
          <a:ln/>
        </p:spPr>
        <p:txBody>
          <a:bodyPr/>
          <a:lstStyle/>
          <a:p>
            <a:endParaRPr lang="en-US"/>
          </a:p>
        </p:txBody>
      </p:sp>
      <p:sp>
        <p:nvSpPr>
          <p:cNvPr id="12" name="Text 10">
            <a:extLst>
              <a:ext uri="{FF2B5EF4-FFF2-40B4-BE49-F238E27FC236}">
                <a16:creationId xmlns:a16="http://schemas.microsoft.com/office/drawing/2014/main" id="{B28ABE0A-EEE2-F050-D655-B3E187081104}"/>
              </a:ext>
            </a:extLst>
          </p:cNvPr>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Tổng quan &amp; Tiến độ hàng tháng</a:t>
            </a:r>
            <a:endParaRPr lang="en-US" sz="2800" dirty="0"/>
          </a:p>
        </p:txBody>
      </p:sp>
      <p:sp>
        <p:nvSpPr>
          <p:cNvPr id="13" name="Shape 11">
            <a:extLst>
              <a:ext uri="{FF2B5EF4-FFF2-40B4-BE49-F238E27FC236}">
                <a16:creationId xmlns:a16="http://schemas.microsoft.com/office/drawing/2014/main" id="{0641F194-5BC1-CDB6-74A8-129E2415B6B8}"/>
              </a:ext>
            </a:extLst>
          </p:cNvPr>
          <p:cNvSpPr/>
          <p:nvPr/>
        </p:nvSpPr>
        <p:spPr>
          <a:xfrm>
            <a:off x="9503359" y="0"/>
            <a:ext cx="384048" cy="384048"/>
          </a:xfrm>
          <a:prstGeom prst="rect">
            <a:avLst/>
          </a:prstGeom>
          <a:solidFill>
            <a:srgbClr val="AEE0F5"/>
          </a:solidFill>
          <a:ln/>
        </p:spPr>
        <p:txBody>
          <a:bodyPr/>
          <a:lstStyle/>
          <a:p>
            <a:endParaRPr lang="en-US"/>
          </a:p>
        </p:txBody>
      </p:sp>
      <p:sp>
        <p:nvSpPr>
          <p:cNvPr id="14" name="Shape 12">
            <a:extLst>
              <a:ext uri="{FF2B5EF4-FFF2-40B4-BE49-F238E27FC236}">
                <a16:creationId xmlns:a16="http://schemas.microsoft.com/office/drawing/2014/main" id="{8F86DB83-E346-C923-06DB-F3D9C4A1F86A}"/>
              </a:ext>
            </a:extLst>
          </p:cNvPr>
          <p:cNvSpPr/>
          <p:nvPr/>
        </p:nvSpPr>
        <p:spPr>
          <a:xfrm>
            <a:off x="9887407" y="0"/>
            <a:ext cx="384048" cy="384048"/>
          </a:xfrm>
          <a:prstGeom prst="rect">
            <a:avLst/>
          </a:prstGeom>
          <a:solidFill>
            <a:srgbClr val="3F8FD0"/>
          </a:solidFill>
          <a:ln/>
        </p:spPr>
        <p:txBody>
          <a:bodyPr/>
          <a:lstStyle/>
          <a:p>
            <a:endParaRPr lang="en-US"/>
          </a:p>
        </p:txBody>
      </p:sp>
      <p:sp>
        <p:nvSpPr>
          <p:cNvPr id="15" name="Shape 13">
            <a:extLst>
              <a:ext uri="{FF2B5EF4-FFF2-40B4-BE49-F238E27FC236}">
                <a16:creationId xmlns:a16="http://schemas.microsoft.com/office/drawing/2014/main" id="{D84A271A-0405-83D2-0C1E-5DF236589A65}"/>
              </a:ext>
            </a:extLst>
          </p:cNvPr>
          <p:cNvSpPr/>
          <p:nvPr/>
        </p:nvSpPr>
        <p:spPr>
          <a:xfrm>
            <a:off x="10655503" y="0"/>
            <a:ext cx="384048" cy="384048"/>
          </a:xfrm>
          <a:prstGeom prst="rect">
            <a:avLst/>
          </a:prstGeom>
          <a:solidFill>
            <a:srgbClr val="3F8FD0"/>
          </a:solidFill>
          <a:ln/>
        </p:spPr>
        <p:txBody>
          <a:bodyPr/>
          <a:lstStyle/>
          <a:p>
            <a:endParaRPr lang="en-US"/>
          </a:p>
        </p:txBody>
      </p:sp>
      <p:sp>
        <p:nvSpPr>
          <p:cNvPr id="16" name="Shape 14">
            <a:extLst>
              <a:ext uri="{FF2B5EF4-FFF2-40B4-BE49-F238E27FC236}">
                <a16:creationId xmlns:a16="http://schemas.microsoft.com/office/drawing/2014/main" id="{32E7B4CB-581B-423F-ED5C-262FC9A59BAB}"/>
              </a:ext>
            </a:extLst>
          </p:cNvPr>
          <p:cNvSpPr/>
          <p:nvPr/>
        </p:nvSpPr>
        <p:spPr>
          <a:xfrm>
            <a:off x="11039551" y="0"/>
            <a:ext cx="384048" cy="384048"/>
          </a:xfrm>
          <a:prstGeom prst="rect">
            <a:avLst/>
          </a:prstGeom>
          <a:solidFill>
            <a:srgbClr val="AEE0F5"/>
          </a:solidFill>
          <a:ln/>
        </p:spPr>
        <p:txBody>
          <a:bodyPr/>
          <a:lstStyle/>
          <a:p>
            <a:endParaRPr lang="en-US"/>
          </a:p>
        </p:txBody>
      </p:sp>
      <p:sp>
        <p:nvSpPr>
          <p:cNvPr id="17" name="Shape 15">
            <a:extLst>
              <a:ext uri="{FF2B5EF4-FFF2-40B4-BE49-F238E27FC236}">
                <a16:creationId xmlns:a16="http://schemas.microsoft.com/office/drawing/2014/main" id="{8E260F4A-1B1A-381F-D039-75444F4B34E6}"/>
              </a:ext>
            </a:extLst>
          </p:cNvPr>
          <p:cNvSpPr/>
          <p:nvPr/>
        </p:nvSpPr>
        <p:spPr>
          <a:xfrm>
            <a:off x="11423599" y="0"/>
            <a:ext cx="384048" cy="384048"/>
          </a:xfrm>
          <a:prstGeom prst="rect">
            <a:avLst/>
          </a:prstGeom>
          <a:solidFill>
            <a:srgbClr val="3F8FD0"/>
          </a:solidFill>
          <a:ln/>
        </p:spPr>
        <p:txBody>
          <a:bodyPr/>
          <a:lstStyle/>
          <a:p>
            <a:endParaRPr lang="en-US"/>
          </a:p>
        </p:txBody>
      </p:sp>
      <p:sp>
        <p:nvSpPr>
          <p:cNvPr id="18" name="Shape 16">
            <a:extLst>
              <a:ext uri="{FF2B5EF4-FFF2-40B4-BE49-F238E27FC236}">
                <a16:creationId xmlns:a16="http://schemas.microsoft.com/office/drawing/2014/main" id="{44A8CBC8-739B-ED09-A6C6-96048D87E7E5}"/>
              </a:ext>
            </a:extLst>
          </p:cNvPr>
          <p:cNvSpPr/>
          <p:nvPr/>
        </p:nvSpPr>
        <p:spPr>
          <a:xfrm>
            <a:off x="11807647" y="0"/>
            <a:ext cx="384048" cy="384048"/>
          </a:xfrm>
          <a:prstGeom prst="rect">
            <a:avLst/>
          </a:prstGeom>
          <a:solidFill>
            <a:srgbClr val="AEE0F5"/>
          </a:solidFill>
          <a:ln/>
        </p:spPr>
        <p:txBody>
          <a:bodyPr/>
          <a:lstStyle/>
          <a:p>
            <a:endParaRPr lang="en-US"/>
          </a:p>
        </p:txBody>
      </p:sp>
      <p:sp>
        <p:nvSpPr>
          <p:cNvPr id="19" name="Shape 17">
            <a:extLst>
              <a:ext uri="{FF2B5EF4-FFF2-40B4-BE49-F238E27FC236}">
                <a16:creationId xmlns:a16="http://schemas.microsoft.com/office/drawing/2014/main" id="{10948B05-DF33-EA14-48CE-4C55161E59B0}"/>
              </a:ext>
            </a:extLst>
          </p:cNvPr>
          <p:cNvSpPr/>
          <p:nvPr/>
        </p:nvSpPr>
        <p:spPr>
          <a:xfrm>
            <a:off x="10271455" y="384048"/>
            <a:ext cx="384048" cy="384048"/>
          </a:xfrm>
          <a:prstGeom prst="rect">
            <a:avLst/>
          </a:prstGeom>
          <a:solidFill>
            <a:srgbClr val="3F8FD0"/>
          </a:solidFill>
          <a:ln/>
        </p:spPr>
        <p:txBody>
          <a:bodyPr/>
          <a:lstStyle/>
          <a:p>
            <a:endParaRPr lang="en-US"/>
          </a:p>
        </p:txBody>
      </p:sp>
      <p:sp>
        <p:nvSpPr>
          <p:cNvPr id="20" name="Shape 18">
            <a:extLst>
              <a:ext uri="{FF2B5EF4-FFF2-40B4-BE49-F238E27FC236}">
                <a16:creationId xmlns:a16="http://schemas.microsoft.com/office/drawing/2014/main" id="{5B8EAB78-3D36-FE78-106A-3FA9946DB0C5}"/>
              </a:ext>
            </a:extLst>
          </p:cNvPr>
          <p:cNvSpPr/>
          <p:nvPr/>
        </p:nvSpPr>
        <p:spPr>
          <a:xfrm>
            <a:off x="11423599" y="384048"/>
            <a:ext cx="384048" cy="384048"/>
          </a:xfrm>
          <a:prstGeom prst="rect">
            <a:avLst/>
          </a:prstGeom>
          <a:solidFill>
            <a:srgbClr val="AEE0F5"/>
          </a:solidFill>
          <a:ln/>
        </p:spPr>
        <p:txBody>
          <a:bodyPr/>
          <a:lstStyle/>
          <a:p>
            <a:endParaRPr lang="en-US"/>
          </a:p>
        </p:txBody>
      </p:sp>
      <p:sp>
        <p:nvSpPr>
          <p:cNvPr id="21" name="Shape 19">
            <a:extLst>
              <a:ext uri="{FF2B5EF4-FFF2-40B4-BE49-F238E27FC236}">
                <a16:creationId xmlns:a16="http://schemas.microsoft.com/office/drawing/2014/main" id="{071D088D-1E8B-8664-BA94-AC3D6E79483A}"/>
              </a:ext>
            </a:extLst>
          </p:cNvPr>
          <p:cNvSpPr/>
          <p:nvPr/>
        </p:nvSpPr>
        <p:spPr>
          <a:xfrm>
            <a:off x="11807647" y="384048"/>
            <a:ext cx="384048" cy="384048"/>
          </a:xfrm>
          <a:prstGeom prst="rect">
            <a:avLst/>
          </a:prstGeom>
          <a:solidFill>
            <a:srgbClr val="3F8FD0"/>
          </a:solidFill>
          <a:ln/>
        </p:spPr>
        <p:txBody>
          <a:bodyPr/>
          <a:lstStyle/>
          <a:p>
            <a:endParaRPr lang="en-US"/>
          </a:p>
        </p:txBody>
      </p:sp>
      <p:sp>
        <p:nvSpPr>
          <p:cNvPr id="22" name="Shape 20">
            <a:extLst>
              <a:ext uri="{FF2B5EF4-FFF2-40B4-BE49-F238E27FC236}">
                <a16:creationId xmlns:a16="http://schemas.microsoft.com/office/drawing/2014/main" id="{9FA7383C-A003-C1F3-3ADA-FA38203C1223}"/>
              </a:ext>
            </a:extLst>
          </p:cNvPr>
          <p:cNvSpPr/>
          <p:nvPr/>
        </p:nvSpPr>
        <p:spPr>
          <a:xfrm>
            <a:off x="11039551" y="768096"/>
            <a:ext cx="384048" cy="384048"/>
          </a:xfrm>
          <a:prstGeom prst="rect">
            <a:avLst/>
          </a:prstGeom>
          <a:solidFill>
            <a:srgbClr val="AEE0F5"/>
          </a:solidFill>
          <a:ln/>
        </p:spPr>
        <p:txBody>
          <a:bodyPr/>
          <a:lstStyle/>
          <a:p>
            <a:endParaRPr lang="en-US"/>
          </a:p>
        </p:txBody>
      </p:sp>
      <p:sp>
        <p:nvSpPr>
          <p:cNvPr id="23" name="Shape 21">
            <a:extLst>
              <a:ext uri="{FF2B5EF4-FFF2-40B4-BE49-F238E27FC236}">
                <a16:creationId xmlns:a16="http://schemas.microsoft.com/office/drawing/2014/main" id="{8A191DA8-7F12-75C1-EDC1-D5CAEC7DB855}"/>
              </a:ext>
            </a:extLst>
          </p:cNvPr>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B2890E22-CB18-43EB-D063-CA55320CA929}"/>
              </a:ext>
            </a:extLst>
          </p:cNvPr>
          <p:cNvGrpSpPr/>
          <p:nvPr/>
        </p:nvGrpSpPr>
        <p:grpSpPr>
          <a:xfrm>
            <a:off x="320039" y="1775348"/>
            <a:ext cx="7075767" cy="3548985"/>
            <a:chOff x="603504" y="2271924"/>
            <a:chExt cx="6473152" cy="3168316"/>
          </a:xfrm>
        </p:grpSpPr>
        <p:sp>
          <p:nvSpPr>
            <p:cNvPr id="25" name="Shape 23">
              <a:extLst>
                <a:ext uri="{FF2B5EF4-FFF2-40B4-BE49-F238E27FC236}">
                  <a16:creationId xmlns:a16="http://schemas.microsoft.com/office/drawing/2014/main" id="{B9528C94-78E9-CB22-37E3-B3162181EBFA}"/>
                </a:ext>
              </a:extLst>
            </p:cNvPr>
            <p:cNvSpPr/>
            <p:nvPr/>
          </p:nvSpPr>
          <p:spPr>
            <a:xfrm>
              <a:off x="603504" y="2271924"/>
              <a:ext cx="6473152" cy="3168316"/>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a:extLst>
                <a:ext uri="{FF2B5EF4-FFF2-40B4-BE49-F238E27FC236}">
                  <a16:creationId xmlns:a16="http://schemas.microsoft.com/office/drawing/2014/main" id="{52585BB7-85AB-701D-4AB9-517E716AD040}"/>
                </a:ext>
              </a:extLst>
            </p:cNvPr>
            <p:cNvPicPr>
              <a:picLocks noChangeAspect="1"/>
            </p:cNvPicPr>
            <p:nvPr/>
          </p:nvPicPr>
          <p:blipFill>
            <a:blip r:embed="rId3"/>
            <a:stretch>
              <a:fillRect/>
            </a:stretch>
          </p:blipFill>
          <p:spPr>
            <a:xfrm>
              <a:off x="640080" y="2308500"/>
              <a:ext cx="6400000" cy="3095164"/>
            </a:xfrm>
            <a:prstGeom prst="rect">
              <a:avLst/>
            </a:prstGeom>
          </p:spPr>
        </p:pic>
        <p:sp>
          <p:nvSpPr>
            <p:cNvPr id="101" name="Box 2">
              <a:extLst>
                <a:ext uri="{FF2B5EF4-FFF2-40B4-BE49-F238E27FC236}">
                  <a16:creationId xmlns:a16="http://schemas.microsoft.com/office/drawing/2014/main" id="{6EC86761-A506-7EC3-DFEC-D262FAA67B22}"/>
                </a:ext>
              </a:extLst>
            </p:cNvPr>
            <p:cNvSpPr/>
            <p:nvPr/>
          </p:nvSpPr>
          <p:spPr>
            <a:xfrm>
              <a:off x="1405551" y="3373890"/>
              <a:ext cx="5591264" cy="931490"/>
            </a:xfrm>
            <a:prstGeom prst="roundRect">
              <a:avLst>
                <a:gd name="adj" fmla="val 10000"/>
              </a:avLst>
            </a:prstGeom>
            <a:noFill/>
            <a:ln w="19050">
              <a:solidFill>
                <a:srgbClr val="1F3A6E"/>
              </a:solidFill>
            </a:ln>
          </p:spPr>
          <p:txBody>
            <a:bodyPr/>
            <a:lstStyle/>
            <a:p>
              <a:endParaRPr lang="en-US"/>
            </a:p>
          </p:txBody>
        </p:sp>
        <p:sp>
          <p:nvSpPr>
            <p:cNvPr id="102" name="Box 3">
              <a:extLst>
                <a:ext uri="{FF2B5EF4-FFF2-40B4-BE49-F238E27FC236}">
                  <a16:creationId xmlns:a16="http://schemas.microsoft.com/office/drawing/2014/main" id="{C2A6931F-07D4-EE24-7FD6-99F7E617BE32}"/>
                </a:ext>
              </a:extLst>
            </p:cNvPr>
            <p:cNvSpPr/>
            <p:nvPr/>
          </p:nvSpPr>
          <p:spPr>
            <a:xfrm>
              <a:off x="1405551" y="4355302"/>
              <a:ext cx="5591264" cy="1015081"/>
            </a:xfrm>
            <a:prstGeom prst="roundRect">
              <a:avLst>
                <a:gd name="adj" fmla="val 10000"/>
              </a:avLst>
            </a:prstGeom>
            <a:noFill/>
            <a:ln w="19050">
              <a:solidFill>
                <a:srgbClr val="1F3A6E"/>
              </a:solidFill>
            </a:ln>
          </p:spPr>
          <p:txBody>
            <a:bodyPr/>
            <a:lstStyle/>
            <a:p>
              <a:endParaRPr lang="en-US"/>
            </a:p>
          </p:txBody>
        </p:sp>
        <p:sp>
          <p:nvSpPr>
            <p:cNvPr id="103" name="Box 4">
              <a:extLst>
                <a:ext uri="{FF2B5EF4-FFF2-40B4-BE49-F238E27FC236}">
                  <a16:creationId xmlns:a16="http://schemas.microsoft.com/office/drawing/2014/main" id="{FD98DF7D-6C55-CEC3-61A6-AADD88A0D1B7}"/>
                </a:ext>
              </a:extLst>
            </p:cNvPr>
            <p:cNvSpPr/>
            <p:nvPr/>
          </p:nvSpPr>
          <p:spPr>
            <a:xfrm>
              <a:off x="6447672" y="3416768"/>
              <a:ext cx="549142" cy="83203"/>
            </a:xfrm>
            <a:prstGeom prst="roundRect">
              <a:avLst>
                <a:gd name="adj" fmla="val 10000"/>
              </a:avLst>
            </a:prstGeom>
            <a:noFill/>
            <a:ln w="19050">
              <a:solidFill>
                <a:srgbClr val="1F3A6E"/>
              </a:solidFill>
            </a:ln>
          </p:spPr>
          <p:txBody>
            <a:bodyPr/>
            <a:lstStyle/>
            <a:p>
              <a:endParaRPr lang="en-US"/>
            </a:p>
          </p:txBody>
        </p:sp>
        <p:sp>
          <p:nvSpPr>
            <p:cNvPr id="201" name="Callout 2">
              <a:extLst>
                <a:ext uri="{FF2B5EF4-FFF2-40B4-BE49-F238E27FC236}">
                  <a16:creationId xmlns:a16="http://schemas.microsoft.com/office/drawing/2014/main" id="{E4B45E9D-F421-7342-59DA-05F3F8BC4ACA}"/>
                </a:ext>
              </a:extLst>
            </p:cNvPr>
            <p:cNvSpPr/>
            <p:nvPr/>
          </p:nvSpPr>
          <p:spPr>
            <a:xfrm>
              <a:off x="1252285" y="322769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2" name="Callout 3">
              <a:extLst>
                <a:ext uri="{FF2B5EF4-FFF2-40B4-BE49-F238E27FC236}">
                  <a16:creationId xmlns:a16="http://schemas.microsoft.com/office/drawing/2014/main" id="{9EBA3645-AB41-835F-2CB3-FB49C371FC43}"/>
                </a:ext>
              </a:extLst>
            </p:cNvPr>
            <p:cNvSpPr/>
            <p:nvPr/>
          </p:nvSpPr>
          <p:spPr>
            <a:xfrm>
              <a:off x="1218918" y="424530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3" name="Callout 4">
              <a:extLst>
                <a:ext uri="{FF2B5EF4-FFF2-40B4-BE49-F238E27FC236}">
                  <a16:creationId xmlns:a16="http://schemas.microsoft.com/office/drawing/2014/main" id="{9042C8F4-5D4F-F0ED-5662-6F9AFEFC6C18}"/>
                </a:ext>
              </a:extLst>
            </p:cNvPr>
            <p:cNvSpPr/>
            <p:nvPr/>
          </p:nvSpPr>
          <p:spPr>
            <a:xfrm>
              <a:off x="6242444" y="3344733"/>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a:extLst>
              <a:ext uri="{FF2B5EF4-FFF2-40B4-BE49-F238E27FC236}">
                <a16:creationId xmlns:a16="http://schemas.microsoft.com/office/drawing/2014/main" id="{7C5E272A-7D1C-5427-8FDA-EF5E659C3B04}"/>
              </a:ext>
            </a:extLst>
          </p:cNvPr>
          <p:cNvSpPr/>
          <p:nvPr/>
        </p:nvSpPr>
        <p:spPr>
          <a:xfrm>
            <a:off x="7620140" y="1255348"/>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a:extLst>
              <a:ext uri="{FF2B5EF4-FFF2-40B4-BE49-F238E27FC236}">
                <a16:creationId xmlns:a16="http://schemas.microsoft.com/office/drawing/2014/main" id="{4C2A6099-F2A6-1B3F-9CC2-9D57A2D0B252}"/>
              </a:ext>
            </a:extLst>
          </p:cNvPr>
          <p:cNvSpPr/>
          <p:nvPr/>
        </p:nvSpPr>
        <p:spPr>
          <a:xfrm>
            <a:off x="7620140" y="1775348"/>
            <a:ext cx="4211840" cy="4287124"/>
          </a:xfrm>
          <a:prstGeom prst="rect">
            <a:avLst/>
          </a:prstGeom>
          <a:solidFill>
            <a:srgbClr val="F4F8FD"/>
          </a:solidFill>
          <a:ln w="9525">
            <a:solidFill>
              <a:srgbClr val="BFBFBF"/>
            </a:solidFill>
          </a:ln>
        </p:spPr>
        <p:txBody>
          <a:bodyPr/>
          <a:lstStyle/>
          <a:p>
            <a:endParaRPr lang="en-US"/>
          </a:p>
        </p:txBody>
      </p:sp>
      <p:sp>
        <p:nvSpPr>
          <p:cNvPr id="302" name="Panel Text">
            <a:extLst>
              <a:ext uri="{FF2B5EF4-FFF2-40B4-BE49-F238E27FC236}">
                <a16:creationId xmlns:a16="http://schemas.microsoft.com/office/drawing/2014/main" id="{9D0A9E92-5322-253C-3D45-F6CB94B31054}"/>
              </a:ext>
            </a:extLst>
          </p:cNvPr>
          <p:cNvSpPr txBox="1"/>
          <p:nvPr/>
        </p:nvSpPr>
        <p:spPr>
          <a:xfrm>
            <a:off x="7820140" y="1925348"/>
            <a:ext cx="3811840" cy="2275164"/>
          </a:xfrm>
          <a:prstGeom prst="rect">
            <a:avLst/>
          </a:prstGeom>
          <a:noFill/>
          <a:ln/>
        </p:spPr>
        <p:txBody>
          <a:bodyPr wrap="square" lIns="0" tIns="0" rIns="0" bIns="0" rtlCol="0" anchor="t"/>
          <a:lstStyle/>
          <a:p>
            <a:pPr marL="0" indent="0">
              <a:lnSpc>
                <a:spcPct val="106000"/>
              </a:lnSpc>
              <a:spcAft>
                <a:spcPts val="500"/>
              </a:spcAft>
              <a:buNone/>
            </a:pPr>
            <a:r>
              <a:rPr lang="en-US" sz="1100" b="1" dirty="0">
                <a:solidFill>
                  <a:srgbClr val="1F3A6E"/>
                </a:solidFill>
                <a:latin typeface="Calibri" pitchFamily="34" charset="0"/>
              </a:rPr>
              <a:t>1  0. Overview (tab Overview): </a:t>
            </a:r>
          </a:p>
          <a:p>
            <a:pPr marL="171450" indent="-171450">
              <a:lnSpc>
                <a:spcPct val="106000"/>
              </a:lnSpc>
              <a:spcAft>
                <a:spcPts val="500"/>
              </a:spcAft>
              <a:buFontTx/>
              <a:buChar char="-"/>
            </a:pPr>
            <a:r>
              <a:rPr lang="en-US" sz="1100" dirty="0">
                <a:solidFill>
                  <a:srgbClr val="262626"/>
                </a:solidFill>
                <a:latin typeface="Calibri" pitchFamily="34" charset="0"/>
              </a:rPr>
              <a:t>Contract Amount (Giá trị hợp đồng), Construction Start/End Date (Ngày bắt đầu/kết thúc thi công): Đồng bộ từ PIMSVINA</a:t>
            </a:r>
          </a:p>
          <a:p>
            <a:pPr>
              <a:lnSpc>
                <a:spcPct val="100000"/>
              </a:lnSpc>
              <a:spcAft>
                <a:spcPts val="500"/>
              </a:spcAft>
            </a:pPr>
            <a:r>
              <a:rPr lang="en-US" sz="1100" dirty="0">
                <a:solidFill>
                  <a:srgbClr val="262626"/>
                </a:solidFill>
                <a:latin typeface="Calibri" pitchFamily="34" charset="0"/>
              </a:rPr>
              <a:t>Nguồn: Common &gt; Construction Overview &gt; Register Construction Overview &gt; Tab Construction Period &gt; Contract Amount, Actual Start Date - Actual Final Completion / Expected Final Completion Date</a:t>
            </a:r>
          </a:p>
          <a:p>
            <a:pPr marL="171450" indent="-171450">
              <a:lnSpc>
                <a:spcPct val="106000"/>
              </a:lnSpc>
              <a:spcAft>
                <a:spcPts val="500"/>
              </a:spcAft>
              <a:buFontTx/>
              <a:buChar char="-"/>
            </a:pPr>
            <a:r>
              <a:rPr lang="en-US" sz="1100" dirty="0">
                <a:solidFill>
                  <a:srgbClr val="262626"/>
                </a:solidFill>
                <a:latin typeface="Calibri" pitchFamily="34" charset="0"/>
              </a:rPr>
              <a:t>Các trường còn lại: Nhập thủ công</a:t>
            </a:r>
          </a:p>
          <a:p>
            <a:pPr>
              <a:lnSpc>
                <a:spcPct val="106000"/>
              </a:lnSpc>
              <a:spcAft>
                <a:spcPts val="500"/>
              </a:spcAft>
            </a:pPr>
            <a:r>
              <a:rPr lang="en-US" sz="1100" b="1" dirty="0">
                <a:solidFill>
                  <a:srgbClr val="1F3A6E"/>
                </a:solidFill>
                <a:latin typeface="Calibri" pitchFamily="34" charset="0"/>
              </a:rPr>
              <a:t>2    1. Monthly Progress (tab Progress): </a:t>
            </a:r>
          </a:p>
          <a:p>
            <a:pPr marL="171450" indent="-171450">
              <a:lnSpc>
                <a:spcPct val="106000"/>
              </a:lnSpc>
              <a:spcAft>
                <a:spcPts val="500"/>
              </a:spcAft>
              <a:buFontTx/>
              <a:buChar char="-"/>
            </a:pPr>
            <a:r>
              <a:rPr lang="en-US" sz="1100" b="1" dirty="0">
                <a:solidFill>
                  <a:srgbClr val="1F3A6E"/>
                </a:solidFill>
                <a:latin typeface="Calibri" pitchFamily="34" charset="0"/>
              </a:rPr>
              <a:t>Monthly Plan (Kế hoạch hàng tháng) </a:t>
            </a:r>
            <a:r>
              <a:rPr lang="en-US" sz="1100" dirty="0">
                <a:solidFill>
                  <a:srgbClr val="262626"/>
                </a:solidFill>
                <a:latin typeface="Calibri" pitchFamily="34" charset="0"/>
              </a:rPr>
              <a:t>(%): Nhập thủ công </a:t>
            </a:r>
          </a:p>
          <a:p>
            <a:pPr marL="171450" indent="-171450">
              <a:lnSpc>
                <a:spcPct val="106000"/>
              </a:lnSpc>
              <a:spcAft>
                <a:spcPts val="500"/>
              </a:spcAft>
              <a:buFontTx/>
              <a:buChar char="-"/>
            </a:pPr>
            <a:r>
              <a:rPr lang="en-US" sz="1100" b="1" dirty="0">
                <a:solidFill>
                  <a:srgbClr val="1F3A6E"/>
                </a:solidFill>
                <a:latin typeface="Calibri" pitchFamily="34" charset="0"/>
              </a:rPr>
              <a:t>Monthly Actual (Thực tế hàng tháng) </a:t>
            </a:r>
            <a:r>
              <a:rPr lang="en-US" sz="1100" dirty="0">
                <a:solidFill>
                  <a:srgbClr val="262626"/>
                </a:solidFill>
                <a:latin typeface="Calibri" pitchFamily="34" charset="0"/>
              </a:rPr>
              <a:t>(%) = (1(mỗi tháng)/(2-3))*100%</a:t>
            </a:r>
          </a:p>
          <a:p>
            <a:pPr>
              <a:lnSpc>
                <a:spcPct val="106000"/>
              </a:lnSpc>
              <a:spcAft>
                <a:spcPts val="500"/>
              </a:spcAft>
            </a:pPr>
            <a:r>
              <a:rPr lang="en-US" sz="1100" dirty="0">
                <a:solidFill>
                  <a:srgbClr val="262626"/>
                </a:solidFill>
                <a:latin typeface="Calibri" pitchFamily="34" charset="0"/>
              </a:rPr>
              <a:t>Nguồn: 1. Tổng cột nhập liệu theo tháng (1-12)</a:t>
            </a:r>
          </a:p>
          <a:p>
            <a:pPr>
              <a:lnSpc>
                <a:spcPct val="106000"/>
              </a:lnSpc>
              <a:spcAft>
                <a:spcPts val="500"/>
              </a:spcAft>
            </a:pPr>
            <a:r>
              <a:rPr lang="en-US" sz="1100" dirty="0">
                <a:solidFill>
                  <a:srgbClr val="262626"/>
                </a:solidFill>
                <a:latin typeface="Calibri" pitchFamily="34" charset="0"/>
              </a:rPr>
              <a:t>2. Tổng cột Execution Budget &gt; Amount</a:t>
            </a:r>
          </a:p>
          <a:p>
            <a:pPr>
              <a:lnSpc>
                <a:spcPct val="106000"/>
              </a:lnSpc>
              <a:spcAft>
                <a:spcPts val="500"/>
              </a:spcAft>
            </a:pPr>
            <a:r>
              <a:rPr lang="en-US" sz="1100" dirty="0">
                <a:solidFill>
                  <a:srgbClr val="262626"/>
                </a:solidFill>
                <a:latin typeface="Calibri" pitchFamily="34" charset="0"/>
              </a:rPr>
              <a:t>3. Request Execution Resolution(Site) tổng cột Execution Budget trừ tổng cột Implementation </a:t>
            </a:r>
          </a:p>
          <a:p>
            <a:pPr marL="171450" indent="-171450">
              <a:lnSpc>
                <a:spcPct val="106000"/>
              </a:lnSpc>
              <a:spcAft>
                <a:spcPts val="500"/>
              </a:spcAft>
              <a:buFontTx/>
              <a:buChar char="-"/>
            </a:pPr>
            <a:r>
              <a:rPr lang="en-US" sz="1100" b="1" dirty="0">
                <a:solidFill>
                  <a:srgbClr val="1F3A6E"/>
                </a:solidFill>
                <a:latin typeface="Calibri" pitchFamily="34" charset="0"/>
              </a:rPr>
              <a:t>Cumulative Plan (%) (Kế hoạch lũy kế), Cumulative Actual (%) (Thực tế lũy kế): </a:t>
            </a:r>
            <a:r>
              <a:rPr lang="en-US" sz="1100" dirty="0">
                <a:solidFill>
                  <a:srgbClr val="262626"/>
                </a:solidFill>
                <a:latin typeface="Calibri" pitchFamily="34" charset="0"/>
              </a:rPr>
              <a:t>tính toán lũy kế theo tháng</a:t>
            </a:r>
          </a:p>
          <a:p>
            <a:pPr marL="0" indent="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Mỗi thẻ hiển thị phiên bản Plan nguồn và công tắc Lock khi đã được chốt.</a:t>
            </a:r>
          </a:p>
        </p:txBody>
      </p:sp>
      <p:sp>
        <p:nvSpPr>
          <p:cNvPr id="37" name="Text 34">
            <a:extLst>
              <a:ext uri="{FF2B5EF4-FFF2-40B4-BE49-F238E27FC236}">
                <a16:creationId xmlns:a16="http://schemas.microsoft.com/office/drawing/2014/main" id="{DC53DE39-1801-6587-CC70-90C1E3C37713}"/>
              </a:ext>
            </a:extLst>
          </p:cNvPr>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2CD9E69F-4C3F-A9DF-5202-DAA91452903B}"/>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A5977464-AED2-3576-DA1D-529B2A382985}"/>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CC268C4F-8E7B-5199-159B-F7C0E7D96E86}"/>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C24EAC4F-1AB5-70AB-73D6-BB2B5F8A9481}"/>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02E9C8A7-A140-01CA-AF9C-F0D40BC9F015}"/>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2AA8CFCA-BF96-EDFF-EEAB-E2D0A09E5C65}"/>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0D949BC4-7467-D7E0-B235-EBD39782CF90}"/>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B4E22C93-2016-5289-281F-98A68CB03010}"/>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0E0816A1-D659-FF69-F479-3A01B626509B}"/>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C5A40F95-C9BE-D605-CF2B-B840C1FBF4B3}"/>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BA685FE5-C97F-F139-9928-D00113C19BD7}"/>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BED265EA-08B2-0665-2AA5-BDB52639D61B}"/>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E2055A51-2791-E75B-15C6-0F3B57AEEF17}"/>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0FF5D209-CB74-799B-3E98-699BC87B3C09}"/>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1E29809E-F049-422A-B5B0-594EDDA79176}"/>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B1F77272-FD5A-4979-ED6D-0BEF0C2533D0}"/>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DD570FF0-7CC9-955A-8817-D62F5ED9885A}"/>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7BE4D838-E1D3-6ABD-B499-06DE80A6B650}"/>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7F873042-7852-3D83-B9B6-FE586BF916D4}"/>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FAE8F097-D117-FB7F-AB16-62CA5AD1535D}"/>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A828182E-8CE5-2884-C014-E609A6BC2C13}"/>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extLst>
      <p:ext uri="{BB962C8B-B14F-4D97-AF65-F5344CB8AC3E}">
        <p14:creationId xmlns:p14="http://schemas.microsoft.com/office/powerpoint/2010/main" val="1502146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Doanh thu hàng tháng &amp; Mốc tiến độ</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300" name="Panel Header"/>
          <p:cNvSpPr/>
          <p:nvPr/>
        </p:nvSpPr>
        <p:spPr>
          <a:xfrm>
            <a:off x="7629175" y="1888707"/>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629175" y="2408706"/>
            <a:ext cx="4211840" cy="3063977"/>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829175" y="2558706"/>
            <a:ext cx="3811840" cy="2387113"/>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2. Monthly Revenue (tab Revenue, K USD): </a:t>
            </a:r>
          </a:p>
          <a:p>
            <a:pPr marL="171450" indent="-171450">
              <a:lnSpc>
                <a:spcPct val="106000"/>
              </a:lnSpc>
              <a:spcAft>
                <a:spcPts val="500"/>
              </a:spcAft>
              <a:buFontTx/>
              <a:buChar char="-"/>
            </a:pPr>
            <a:r>
              <a:rPr lang="en-US" sz="1100" dirty="0">
                <a:solidFill>
                  <a:srgbClr val="262626"/>
                </a:solidFill>
                <a:latin typeface="Calibri" pitchFamily="34" charset="0"/>
              </a:rPr>
              <a:t>Sales Plan và Actual/Forecast theo Năm/Tháng: Dữ liệu nhập từ Excel</a:t>
            </a:r>
          </a:p>
          <a:p>
            <a:pPr marL="171450" indent="-171450">
              <a:lnSpc>
                <a:spcPct val="106000"/>
              </a:lnSpc>
              <a:spcAft>
                <a:spcPts val="500"/>
              </a:spcAft>
              <a:buFontTx/>
              <a:buChar char="-"/>
            </a:pPr>
            <a:r>
              <a:rPr lang="en-US" sz="1100" dirty="0">
                <a:solidFill>
                  <a:srgbClr val="262626"/>
                </a:solidFill>
                <a:latin typeface="Calibri" pitchFamily="34" charset="0"/>
              </a:rPr>
              <a:t>Add Prior-Year Cumulative thêm một dòng tự do để nhập doanh thu lũy kế trước năm hiện tại (Month = 0).</a:t>
            </a:r>
          </a:p>
          <a:p>
            <a:pPr marL="0" indent="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Là nguồn cho biểu đồ Revenue Actual &amp; Forecast của tab Report; các điều chỉnh thực hiện qua tải lên Excel, không chỉnh sửa trực tiếp tại đây.</a:t>
            </a:r>
          </a:p>
          <a:p>
            <a:pPr marL="228600" indent="-228600">
              <a:lnSpc>
                <a:spcPct val="106000"/>
              </a:lnSpc>
              <a:spcAft>
                <a:spcPts val="400"/>
              </a:spcAft>
              <a:buAutoNum type="arabicPlain" startAt="3"/>
            </a:pPr>
            <a:r>
              <a:rPr lang="en-US" sz="1100" b="1" dirty="0">
                <a:solidFill>
                  <a:srgbClr val="1F3A6E"/>
                </a:solidFill>
                <a:latin typeface="Calibri" pitchFamily="34" charset="0"/>
              </a:rPr>
              <a:t>3. Milestones (tab Progress): </a:t>
            </a:r>
          </a:p>
          <a:p>
            <a:pPr marL="171450" indent="-171450">
              <a:lnSpc>
                <a:spcPct val="106000"/>
              </a:lnSpc>
              <a:spcAft>
                <a:spcPts val="400"/>
              </a:spcAft>
              <a:buFontTx/>
              <a:buChar char="-"/>
            </a:pPr>
            <a:r>
              <a:rPr lang="en-US" sz="1100" dirty="0">
                <a:solidFill>
                  <a:srgbClr val="262626"/>
                </a:solidFill>
                <a:latin typeface="Calibri" pitchFamily="34" charset="0"/>
              </a:rPr>
              <a:t>Ngày bắt đầu/kết thúc Plan/Actual theo từng hạng mục</a:t>
            </a:r>
          </a:p>
          <a:p>
            <a:pPr marL="171450" indent="-171450">
              <a:lnSpc>
                <a:spcPct val="106000"/>
              </a:lnSpc>
              <a:spcAft>
                <a:spcPts val="400"/>
              </a:spcAft>
              <a:buFontTx/>
              <a:buChar char="-"/>
            </a:pPr>
            <a:r>
              <a:rPr lang="en-US" sz="1100" dirty="0">
                <a:solidFill>
                  <a:srgbClr val="262626"/>
                </a:solidFill>
                <a:latin typeface="Calibri" pitchFamily="34" charset="0"/>
              </a:rPr>
              <a:t>Nguồn: Nhập thủ công</a:t>
            </a:r>
          </a:p>
          <a:p>
            <a:pPr marL="171450" indent="-171450">
              <a:lnSpc>
                <a:spcPct val="106000"/>
              </a:lnSpc>
              <a:spcAft>
                <a:spcPts val="400"/>
              </a:spcAft>
              <a:buFontTx/>
              <a:buChar char="-"/>
            </a:pPr>
            <a:r>
              <a:rPr lang="en-US" sz="1100" dirty="0">
                <a:solidFill>
                  <a:srgbClr val="262626"/>
                </a:solidFill>
                <a:latin typeface="Calibri" pitchFamily="34" charset="0"/>
              </a:rPr>
              <a:t>Excel Download/Upload để chỉnh sửa hàng loạt, </a:t>
            </a:r>
          </a:p>
          <a:p>
            <a:pPr marL="171450" indent="-171450">
              <a:lnSpc>
                <a:spcPct val="106000"/>
              </a:lnSpc>
              <a:spcAft>
                <a:spcPts val="400"/>
              </a:spcAft>
              <a:buFontTx/>
              <a:buChar char="-"/>
            </a:pPr>
            <a:r>
              <a:rPr lang="en-US" sz="1100" dirty="0">
                <a:solidFill>
                  <a:srgbClr val="262626"/>
                </a:solidFill>
                <a:latin typeface="Calibri" pitchFamily="34" charset="0"/>
              </a:rPr>
              <a:t>Add: Thêm mốc tiến độ.</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124725A3-DDB6-DAC9-CAED-DCF78D592BBA}"/>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C44BCB0C-722B-2478-D19A-218DE2743E15}"/>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FED26A84-A764-6CB8-9B96-6FEB3C7AB9D6}"/>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8DEE724D-BFCB-C046-59AC-ABDC7B3937DC}"/>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8F46886D-AC3E-928C-C26E-739830CB4929}"/>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BCA5398F-7FBB-B17D-579C-2D033E9C4C6D}"/>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527B8F84-ABA7-6397-6476-18DB97AC2C36}"/>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DC88465A-9524-26A3-29D6-08E80A9B5897}"/>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889E3D6C-3CC7-18EA-D680-7A5A9BCA971A}"/>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BB21D9DD-C6B8-875D-2E9B-8DCD01933DEA}"/>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C807E8FC-87AD-99DB-E428-3B4F78D13065}"/>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2A3E09D5-F4E8-7313-7CA1-DCE32522497B}"/>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2A578427-2B45-ABC5-0707-FAD261CD788E}"/>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FC447691-01BD-44BA-CBD4-0C2E54F2B5C4}"/>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4202364A-70BF-A3DC-C10C-531F29D4219E}"/>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DD0BA5BC-A2BD-CF6E-3230-44AC36235B69}"/>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52C5B62F-A227-FBE0-4BF2-B97C2E562DB1}"/>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16E5ACA4-72B0-46D5-8CAA-50F2D1F46B3D}"/>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F60C4C66-F0A0-4F72-070C-7B8EE58681DD}"/>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036ABE29-4938-1338-2D3D-D718C617A5DA}"/>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A6FF8318-E603-AEB5-AD70-BE106578E1F3}"/>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pic>
        <p:nvPicPr>
          <p:cNvPr id="5" name="Picture 4">
            <a:extLst>
              <a:ext uri="{FF2B5EF4-FFF2-40B4-BE49-F238E27FC236}">
                <a16:creationId xmlns:a16="http://schemas.microsoft.com/office/drawing/2014/main" id="{389AFFCF-A029-D66F-28B7-447B3FAA0886}"/>
              </a:ext>
            </a:extLst>
          </p:cNvPr>
          <p:cNvPicPr>
            <a:picLocks noChangeAspect="1"/>
          </p:cNvPicPr>
          <p:nvPr/>
        </p:nvPicPr>
        <p:blipFill>
          <a:blip r:embed="rId3"/>
          <a:stretch>
            <a:fillRect/>
          </a:stretch>
        </p:blipFill>
        <p:spPr>
          <a:xfrm>
            <a:off x="350985" y="1888707"/>
            <a:ext cx="7144183" cy="3385091"/>
          </a:xfrm>
          <a:prstGeom prst="rect">
            <a:avLst/>
          </a:prstGeom>
        </p:spPr>
      </p:pic>
      <p:sp>
        <p:nvSpPr>
          <p:cNvPr id="7" name="Box 2">
            <a:extLst>
              <a:ext uri="{FF2B5EF4-FFF2-40B4-BE49-F238E27FC236}">
                <a16:creationId xmlns:a16="http://schemas.microsoft.com/office/drawing/2014/main" id="{DB2C7C92-D680-BB03-7938-0C1FED1A6871}"/>
              </a:ext>
            </a:extLst>
          </p:cNvPr>
          <p:cNvSpPr/>
          <p:nvPr/>
        </p:nvSpPr>
        <p:spPr>
          <a:xfrm>
            <a:off x="1076512" y="2222463"/>
            <a:ext cx="6418656" cy="1555908"/>
          </a:xfrm>
          <a:prstGeom prst="roundRect">
            <a:avLst>
              <a:gd name="adj" fmla="val 10000"/>
            </a:avLst>
          </a:prstGeom>
          <a:noFill/>
          <a:ln w="19050">
            <a:solidFill>
              <a:srgbClr val="1F3A6E"/>
            </a:solidFill>
          </a:ln>
        </p:spPr>
        <p:txBody>
          <a:bodyPr/>
          <a:lstStyle/>
          <a:p>
            <a:endParaRPr lang="en-US"/>
          </a:p>
        </p:txBody>
      </p:sp>
      <p:sp>
        <p:nvSpPr>
          <p:cNvPr id="9" name="Box 3">
            <a:extLst>
              <a:ext uri="{FF2B5EF4-FFF2-40B4-BE49-F238E27FC236}">
                <a16:creationId xmlns:a16="http://schemas.microsoft.com/office/drawing/2014/main" id="{6A8CB71E-5C3A-FE5C-D7A1-559727AD1AFC}"/>
              </a:ext>
            </a:extLst>
          </p:cNvPr>
          <p:cNvSpPr/>
          <p:nvPr/>
        </p:nvSpPr>
        <p:spPr>
          <a:xfrm>
            <a:off x="1076512" y="3802761"/>
            <a:ext cx="5954016" cy="222043"/>
          </a:xfrm>
          <a:prstGeom prst="roundRect">
            <a:avLst>
              <a:gd name="adj" fmla="val 10000"/>
            </a:avLst>
          </a:prstGeom>
          <a:noFill/>
          <a:ln w="19050">
            <a:solidFill>
              <a:srgbClr val="1F3A6E"/>
            </a:solidFill>
          </a:ln>
        </p:spPr>
        <p:txBody>
          <a:bodyPr/>
          <a:lstStyle/>
          <a:p>
            <a:endParaRPr lang="en-US"/>
          </a:p>
        </p:txBody>
      </p:sp>
      <p:sp>
        <p:nvSpPr>
          <p:cNvPr id="11" name="Callout 2">
            <a:extLst>
              <a:ext uri="{FF2B5EF4-FFF2-40B4-BE49-F238E27FC236}">
                <a16:creationId xmlns:a16="http://schemas.microsoft.com/office/drawing/2014/main" id="{6D851760-5C01-4C55-375F-E9150E6506A0}"/>
              </a:ext>
            </a:extLst>
          </p:cNvPr>
          <p:cNvSpPr/>
          <p:nvPr/>
        </p:nvSpPr>
        <p:spPr>
          <a:xfrm>
            <a:off x="955986" y="2054758"/>
            <a:ext cx="240481" cy="246433"/>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8" name="Callout 3">
            <a:extLst>
              <a:ext uri="{FF2B5EF4-FFF2-40B4-BE49-F238E27FC236}">
                <a16:creationId xmlns:a16="http://schemas.microsoft.com/office/drawing/2014/main" id="{D8141370-7A6C-200D-328B-1BA437081E59}"/>
              </a:ext>
            </a:extLst>
          </p:cNvPr>
          <p:cNvSpPr/>
          <p:nvPr/>
        </p:nvSpPr>
        <p:spPr>
          <a:xfrm>
            <a:off x="868680" y="3661979"/>
            <a:ext cx="240481" cy="246433"/>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30" name="Callout 4">
            <a:extLst>
              <a:ext uri="{FF2B5EF4-FFF2-40B4-BE49-F238E27FC236}">
                <a16:creationId xmlns:a16="http://schemas.microsoft.com/office/drawing/2014/main" id="{0FEBAABF-DB78-DD08-2100-08E812E07421}"/>
              </a:ext>
            </a:extLst>
          </p:cNvPr>
          <p:cNvSpPr/>
          <p:nvPr/>
        </p:nvSpPr>
        <p:spPr>
          <a:xfrm>
            <a:off x="868680" y="3984026"/>
            <a:ext cx="240481" cy="246433"/>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31" name="Box 3">
            <a:extLst>
              <a:ext uri="{FF2B5EF4-FFF2-40B4-BE49-F238E27FC236}">
                <a16:creationId xmlns:a16="http://schemas.microsoft.com/office/drawing/2014/main" id="{B68BCDF4-CEFB-51D0-7363-C517A395FA61}"/>
              </a:ext>
            </a:extLst>
          </p:cNvPr>
          <p:cNvSpPr/>
          <p:nvPr/>
        </p:nvSpPr>
        <p:spPr>
          <a:xfrm>
            <a:off x="1076510" y="4080780"/>
            <a:ext cx="6418657" cy="1217408"/>
          </a:xfrm>
          <a:prstGeom prst="roundRect">
            <a:avLst>
              <a:gd name="adj" fmla="val 10000"/>
            </a:avLst>
          </a:prstGeom>
          <a:noFill/>
          <a:ln w="19050">
            <a:solidFill>
              <a:srgbClr val="1F3A6E"/>
            </a:solid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Kế hoạch/Thực tế chi phí theo loại công việc</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8A831A07-9E73-735B-18CF-AFFBD86109CB}"/>
              </a:ext>
            </a:extLst>
          </p:cNvPr>
          <p:cNvGrpSpPr/>
          <p:nvPr/>
        </p:nvGrpSpPr>
        <p:grpSpPr>
          <a:xfrm>
            <a:off x="320040" y="1967652"/>
            <a:ext cx="7081398" cy="3459484"/>
            <a:chOff x="603504" y="2271924"/>
            <a:chExt cx="6473152" cy="3141554"/>
          </a:xfrm>
        </p:grpSpPr>
        <p:sp>
          <p:nvSpPr>
            <p:cNvPr id="25" name="Shape 23"/>
            <p:cNvSpPr/>
            <p:nvPr/>
          </p:nvSpPr>
          <p:spPr>
            <a:xfrm>
              <a:off x="603504" y="2271924"/>
              <a:ext cx="6473152" cy="3141554"/>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8402"/>
            </a:xfrm>
            <a:prstGeom prst="rect">
              <a:avLst/>
            </a:prstGeom>
          </p:spPr>
        </p:pic>
        <p:sp>
          <p:nvSpPr>
            <p:cNvPr id="100" name="Box 1"/>
            <p:cNvSpPr/>
            <p:nvPr/>
          </p:nvSpPr>
          <p:spPr>
            <a:xfrm>
              <a:off x="1361582" y="3940983"/>
              <a:ext cx="5641852" cy="1432587"/>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6187191" y="3974299"/>
              <a:ext cx="816242" cy="83290"/>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23527" y="3837589"/>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6077191" y="392214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620107" y="1971144"/>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620107" y="2491144"/>
            <a:ext cx="4211840" cy="2935992"/>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820107" y="2641144"/>
            <a:ext cx="3811840" cy="2248402"/>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4. Cost Plan/Actual by Work Type (Kế hoạch/Thực tế chi phí theo loại công việc)</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Chi phí Plan/Actual hàng tháng theo từng loại công việc (Major work, Architecture, Mechanical, Electrical, Civil, Landscaping, Expense 1/2, v.v.) cho năm đã chọn.</a:t>
            </a:r>
          </a:p>
          <a:p>
            <a:pPr marL="171450" indent="-171450">
              <a:lnSpc>
                <a:spcPct val="106000"/>
              </a:lnSpc>
              <a:spcAft>
                <a:spcPts val="500"/>
              </a:spcAft>
              <a:buFontTx/>
              <a:buChar char="-"/>
            </a:pPr>
            <a:r>
              <a:rPr lang="en-US" sz="1100" dirty="0">
                <a:solidFill>
                  <a:srgbClr val="262626"/>
                </a:solidFill>
                <a:latin typeface="Calibri" pitchFamily="34" charset="0"/>
              </a:rPr>
              <a:t>Nguồn: tính từ 7: Outsourcing/Materials (tab Outsourcing), dựa trên </a:t>
            </a:r>
            <a:r>
              <a:rPr lang="en-US" sz="1100" b="1" dirty="0">
                <a:solidFill>
                  <a:srgbClr val="1F3A6E"/>
                </a:solidFill>
                <a:latin typeface="Calibri" pitchFamily="34" charset="0"/>
              </a:rPr>
              <a:t>Trade Group </a:t>
            </a:r>
            <a:r>
              <a:rPr lang="en-US" sz="1100" dirty="0">
                <a:solidFill>
                  <a:srgbClr val="262626"/>
                </a:solidFill>
                <a:latin typeface="Calibri" pitchFamily="34" charset="0"/>
              </a:rPr>
              <a:t>nhóm phân loại.</a:t>
            </a:r>
          </a:p>
          <a:p>
            <a:pPr marL="0" indent="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Tổng số được tổng hợp vào các số liệu chi phí tại Report và Revenue/Cost; bộ chọn năm (góc trên bên phải) dùng để chuyển năm tài chính.</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5786C5D9-2B57-0587-7E34-D325805939A1}"/>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925CD88F-F87F-8EAF-E427-3D257E5855B6}"/>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72E90891-8FD9-4105-6E4D-205D6D22798C}"/>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BB046CDA-F136-6D0F-F654-7BF16FD7F3C9}"/>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8270E77B-A943-DC7A-E3DE-F990A070F912}"/>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8F1E6FC7-D544-4C81-4A7A-565392BC57B9}"/>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8A53CB03-B149-47B6-C51C-4EDCD419F3AA}"/>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762EB227-D6A8-9AC7-5115-A89AB9CD6013}"/>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B04C041D-CDAB-D572-3CF5-F1A62D9AF565}"/>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B2759D5B-9301-C0EF-28D2-3D100EB8F313}"/>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A1B1D9A9-4B6B-8989-F3C5-572B4B90299B}"/>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4698FADF-C74F-076A-33FF-31CE76EB0AF2}"/>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777699B2-4169-9E17-7426-13BBFA33855A}"/>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FE8B1536-E5B6-612D-055E-CC8556DEC179}"/>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74BD515F-43B1-EC8C-B6BB-05169F0F96A3}"/>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B83AB58F-97E1-B232-A0AB-142EAD53C7D0}"/>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8FDCF80D-1536-B4BE-2B34-F9064DCF045C}"/>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E373662A-4F95-BE55-04A4-7C0EA4F484FE}"/>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5C2E454B-E270-57E2-8039-113D1EE8E41F}"/>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D95CAE05-A953-0919-C781-9BFC5C2EBDE0}"/>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7BFAB2A4-6344-0C78-5ECC-6BB20CE43A58}"/>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Tỷ lệ chi phí &amp; Tình trạng thực hiện ngân sách</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943DEB28-8C09-51E9-5EC2-7239FB5C8641}"/>
              </a:ext>
            </a:extLst>
          </p:cNvPr>
          <p:cNvGrpSpPr/>
          <p:nvPr/>
        </p:nvGrpSpPr>
        <p:grpSpPr>
          <a:xfrm>
            <a:off x="320040" y="1932948"/>
            <a:ext cx="7087578" cy="3497064"/>
            <a:chOff x="603504" y="2271924"/>
            <a:chExt cx="6473152" cy="3143557"/>
          </a:xfrm>
        </p:grpSpPr>
        <p:sp>
          <p:nvSpPr>
            <p:cNvPr id="25" name="Shape 23"/>
            <p:cNvSpPr/>
            <p:nvPr/>
          </p:nvSpPr>
          <p:spPr>
            <a:xfrm>
              <a:off x="603504" y="2271924"/>
              <a:ext cx="6473152" cy="3143557"/>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70405"/>
            </a:xfrm>
            <a:prstGeom prst="rect">
              <a:avLst/>
            </a:prstGeom>
          </p:spPr>
        </p:pic>
        <p:sp>
          <p:nvSpPr>
            <p:cNvPr id="100" name="Box 1"/>
            <p:cNvSpPr/>
            <p:nvPr/>
          </p:nvSpPr>
          <p:spPr>
            <a:xfrm>
              <a:off x="1404358" y="2358344"/>
              <a:ext cx="5582555" cy="714434"/>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404358" y="3121281"/>
              <a:ext cx="5582555" cy="2257624"/>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07128" y="227796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41190" y="3103313"/>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95807" y="1212844"/>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5807" y="1732844"/>
            <a:ext cx="4211840" cy="4616198"/>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5807" y="1882844"/>
            <a:ext cx="3811840" cy="2250405"/>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5. Cost Rate (tab Cost): </a:t>
            </a:r>
          </a:p>
          <a:p>
            <a:pPr marL="171450" indent="-171450">
              <a:lnSpc>
                <a:spcPct val="106000"/>
              </a:lnSpc>
              <a:spcAft>
                <a:spcPts val="500"/>
              </a:spcAft>
              <a:buFontTx/>
              <a:buChar char="-"/>
            </a:pPr>
            <a:r>
              <a:rPr lang="en-US" sz="1100" b="1" dirty="0">
                <a:solidFill>
                  <a:srgbClr val="1F3A6E"/>
                </a:solidFill>
                <a:latin typeface="Calibri" pitchFamily="34" charset="0"/>
              </a:rPr>
              <a:t>Bidding: </a:t>
            </a:r>
            <a:r>
              <a:rPr lang="en-US" sz="1100" dirty="0">
                <a:solidFill>
                  <a:srgbClr val="262626"/>
                </a:solidFill>
                <a:latin typeface="Calibri" pitchFamily="34" charset="0"/>
              </a:rPr>
              <a:t>Nhập thủ công </a:t>
            </a:r>
          </a:p>
          <a:p>
            <a:pPr marL="171450" indent="-171450">
              <a:lnSpc>
                <a:spcPct val="106000"/>
              </a:lnSpc>
              <a:spcAft>
                <a:spcPts val="500"/>
              </a:spcAft>
              <a:buFontTx/>
              <a:buChar char="-"/>
            </a:pPr>
            <a:r>
              <a:rPr lang="en-US" sz="1100" b="1" dirty="0">
                <a:solidFill>
                  <a:srgbClr val="1F3A6E"/>
                </a:solidFill>
                <a:latin typeface="Calibri" pitchFamily="34" charset="0"/>
              </a:rPr>
              <a:t>Execution Budget Setup, Estimated Completion Cost Rate</a:t>
            </a:r>
            <a:r>
              <a:rPr lang="en-US" sz="1100" dirty="0">
                <a:solidFill>
                  <a:srgbClr val="262626"/>
                </a:solidFill>
                <a:latin typeface="Calibri" pitchFamily="34" charset="0"/>
              </a:rPr>
              <a:t>:</a:t>
            </a:r>
          </a:p>
          <a:p>
            <a:pPr>
              <a:lnSpc>
                <a:spcPct val="100000"/>
              </a:lnSpc>
              <a:spcAft>
                <a:spcPts val="500"/>
              </a:spcAft>
            </a:pPr>
            <a:r>
              <a:rPr lang="en-US" sz="1100" dirty="0">
                <a:solidFill>
                  <a:srgbClr val="262626"/>
                </a:solidFill>
                <a:latin typeface="Calibri" pitchFamily="34" charset="0"/>
              </a:rPr>
              <a:t>Nguồn: Cost &gt; Settlement ratio cost &gt; Settlement Cost Ratio &gt; Row in column month &gt; Business Budget, Contract Amount, Gross Profit Ratio</a:t>
            </a:r>
          </a:p>
          <a:p>
            <a:pPr marL="171450" indent="-171450">
              <a:lnSpc>
                <a:spcPct val="106000"/>
              </a:lnSpc>
              <a:spcAft>
                <a:spcPts val="500"/>
              </a:spcAft>
              <a:buFontTx/>
              <a:buChar char="-"/>
            </a:pPr>
            <a:r>
              <a:rPr lang="en-US" sz="1100" b="1" dirty="0">
                <a:solidFill>
                  <a:srgbClr val="1F3A6E"/>
                </a:solidFill>
                <a:latin typeface="Calibri" pitchFamily="34" charset="0"/>
              </a:rPr>
              <a:t>Ratio (Tỷ lệ)</a:t>
            </a:r>
            <a:r>
              <a:rPr lang="en-US" sz="1100" dirty="0">
                <a:solidFill>
                  <a:srgbClr val="262626"/>
                </a:solidFill>
                <a:latin typeface="Calibri" pitchFamily="34" charset="0"/>
              </a:rPr>
              <a:t> (%) = Cost ÷ Contract Amount. </a:t>
            </a:r>
          </a:p>
          <a:p>
            <a:pPr marL="228600" indent="-228600">
              <a:lnSpc>
                <a:spcPct val="106000"/>
              </a:lnSpc>
              <a:spcAft>
                <a:spcPts val="500"/>
              </a:spcAft>
              <a:buAutoNum type="arabicPlain" startAt="2"/>
            </a:pPr>
            <a:r>
              <a:rPr lang="en-US" sz="1100" b="1" dirty="0">
                <a:solidFill>
                  <a:srgbClr val="1F3A6E"/>
                </a:solidFill>
                <a:latin typeface="Calibri" pitchFamily="34" charset="0"/>
              </a:rPr>
              <a:t>6. Budget Execution Status (tab Cost): </a:t>
            </a:r>
            <a:endParaRPr lang="en-US" sz="1100" b="1" dirty="0">
              <a:solidFill>
                <a:srgbClr val="262626"/>
              </a:solidFill>
              <a:latin typeface="Calibri" pitchFamily="34" charset="0"/>
            </a:endParaRPr>
          </a:p>
          <a:p>
            <a:pPr marL="171450" indent="-171450">
              <a:lnSpc>
                <a:spcPct val="106000"/>
              </a:lnSpc>
              <a:spcAft>
                <a:spcPts val="500"/>
              </a:spcAft>
              <a:buFontTx/>
              <a:buChar char="-"/>
            </a:pPr>
            <a:r>
              <a:rPr lang="en-US" sz="1100" b="1" dirty="0">
                <a:solidFill>
                  <a:srgbClr val="1F3A6E"/>
                </a:solidFill>
                <a:latin typeface="Calibri" pitchFamily="34" charset="0"/>
              </a:rPr>
              <a:t>Execution Plan (Kế hoạch thực hiện)</a:t>
            </a:r>
            <a:r>
              <a:rPr lang="en-US" sz="1100" dirty="0">
                <a:solidFill>
                  <a:srgbClr val="262626"/>
                </a:solidFill>
                <a:latin typeface="Calibri" pitchFamily="34" charset="0"/>
              </a:rPr>
              <a:t>: </a:t>
            </a:r>
          </a:p>
          <a:p>
            <a:pPr>
              <a:lnSpc>
                <a:spcPct val="106000"/>
              </a:lnSpc>
              <a:spcAft>
                <a:spcPts val="500"/>
              </a:spcAft>
            </a:pPr>
            <a:r>
              <a:rPr lang="en-US" sz="1100" dirty="0">
                <a:solidFill>
                  <a:srgbClr val="262626"/>
                </a:solidFill>
                <a:latin typeface="Calibri" pitchFamily="34" charset="0"/>
              </a:rPr>
              <a:t>Budget: PIMSVINA - Cost &gt; Cost Performance &gt; Cost Input Status by Execution Details &gt; Budget </a:t>
            </a:r>
          </a:p>
          <a:p>
            <a:pPr>
              <a:lnSpc>
                <a:spcPct val="106000"/>
              </a:lnSpc>
              <a:spcAft>
                <a:spcPts val="500"/>
              </a:spcAft>
            </a:pPr>
            <a:r>
              <a:rPr lang="en-US" sz="1100" dirty="0">
                <a:solidFill>
                  <a:srgbClr val="262626"/>
                </a:solidFill>
                <a:latin typeface="Calibri" pitchFamily="34" charset="0"/>
              </a:rPr>
              <a:t>Monthly: Nhập thủ công</a:t>
            </a:r>
          </a:p>
          <a:p>
            <a:pPr marL="171450" indent="-171450">
              <a:lnSpc>
                <a:spcPct val="106000"/>
              </a:lnSpc>
              <a:spcAft>
                <a:spcPts val="500"/>
              </a:spcAft>
              <a:buFontTx/>
              <a:buChar char="-"/>
            </a:pPr>
            <a:r>
              <a:rPr lang="en-US" sz="1100" b="1" dirty="0">
                <a:solidFill>
                  <a:srgbClr val="1F3A6E"/>
                </a:solidFill>
                <a:latin typeface="Calibri" pitchFamily="34" charset="0"/>
              </a:rPr>
              <a:t>Execution Actual (Thực hiện thực tế)</a:t>
            </a:r>
            <a:r>
              <a:rPr lang="en-US" sz="1100" dirty="0">
                <a:solidFill>
                  <a:srgbClr val="262626"/>
                </a:solidFill>
                <a:latin typeface="Calibri" pitchFamily="34" charset="0"/>
              </a:rPr>
              <a:t>: </a:t>
            </a:r>
          </a:p>
          <a:p>
            <a:pPr>
              <a:lnSpc>
                <a:spcPct val="106000"/>
              </a:lnSpc>
              <a:spcAft>
                <a:spcPts val="500"/>
              </a:spcAft>
            </a:pPr>
            <a:r>
              <a:rPr lang="en-US" sz="1100" dirty="0">
                <a:solidFill>
                  <a:srgbClr val="262626"/>
                </a:solidFill>
                <a:latin typeface="Calibri" pitchFamily="34" charset="0"/>
              </a:rPr>
              <a:t>Budget: PIMSVINA - Cost &gt; Cost Performance &gt; Cost Input Status by Execution Details &gt; Budget </a:t>
            </a:r>
          </a:p>
          <a:p>
            <a:pPr>
              <a:lnSpc>
                <a:spcPct val="106000"/>
              </a:lnSpc>
              <a:spcAft>
                <a:spcPts val="500"/>
              </a:spcAft>
            </a:pPr>
            <a:r>
              <a:rPr lang="en-US" sz="1100" dirty="0">
                <a:solidFill>
                  <a:srgbClr val="262626"/>
                </a:solidFill>
                <a:latin typeface="Calibri" pitchFamily="34" charset="0"/>
              </a:rPr>
              <a:t>Monthly: PIMSVINA - Cost &gt; Cost Performance &gt; Cost Input Status by Execution Details </a:t>
            </a:r>
          </a:p>
          <a:p>
            <a:pPr>
              <a:lnSpc>
                <a:spcPct val="106000"/>
              </a:lnSpc>
              <a:spcAft>
                <a:spcPts val="500"/>
              </a:spcAft>
            </a:pPr>
            <a:r>
              <a:rPr lang="en-US" sz="1100" dirty="0">
                <a:solidFill>
                  <a:srgbClr val="262626"/>
                </a:solidFill>
                <a:latin typeface="Calibri" pitchFamily="34" charset="0"/>
              </a:rPr>
              <a:t>-Row Direct Cost &gt; Common Work, Expense I, </a:t>
            </a:r>
            <a:r>
              <a:rPr lang="en-US" sz="1100" dirty="0" err="1">
                <a:solidFill>
                  <a:srgbClr val="262626"/>
                </a:solidFill>
                <a:latin typeface="Calibri" pitchFamily="34" charset="0"/>
              </a:rPr>
              <a:t>Outsoucre</a:t>
            </a:r>
            <a:r>
              <a:rPr lang="en-US" sz="1100" dirty="0">
                <a:solidFill>
                  <a:srgbClr val="262626"/>
                </a:solidFill>
                <a:latin typeface="Calibri" pitchFamily="34" charset="0"/>
              </a:rPr>
              <a:t> (dữ liệu không nằm trong Common Work, Expense I)</a:t>
            </a:r>
          </a:p>
          <a:p>
            <a:pPr>
              <a:lnSpc>
                <a:spcPct val="106000"/>
              </a:lnSpc>
              <a:spcAft>
                <a:spcPts val="500"/>
              </a:spcAft>
            </a:pPr>
            <a:r>
              <a:rPr lang="en-US" sz="1100" dirty="0">
                <a:solidFill>
                  <a:srgbClr val="262626"/>
                </a:solidFill>
                <a:latin typeface="Calibri" pitchFamily="34" charset="0"/>
              </a:rPr>
              <a:t>- Row Indirect Cost &gt; Expense II- Row Contingency &gt; Contingency</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D112FDB2-0B05-DFC6-BDE9-44F8B3EA9034}"/>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0A101812-8C94-68B2-34BD-40887FCAF2C8}"/>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2A881A9A-7C46-C4CE-3A80-75503D087F3D}"/>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590387FA-C896-77B8-1456-BE953231DB20}"/>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98B6A395-096B-5351-1015-3032A6AE7E03}"/>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6966339D-8C74-60FF-4FB8-D2A0FFC9E7D9}"/>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53E2DF68-E72D-E8D3-1706-7E8DBF8B2FDF}"/>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651011EF-9D21-2C8A-06A1-FA5C1959FC6E}"/>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0550EAE4-7F6A-348A-2171-D1D55ED25255}"/>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DE105A71-2C32-11D3-AFE2-6B77A60D4BAB}"/>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1B19C7E6-4E30-B5E7-D9EB-17A99A694B6D}"/>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CD3D2829-1B2A-D6CA-8B8F-5A8AB3FA78C0}"/>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B9498A2E-07ED-2634-AF33-BA1D1E508F34}"/>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633F052A-F2A1-64FE-4FFE-A4E81D706088}"/>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C449B3A9-ECBA-78DE-7CD7-14BFFC3C789E}"/>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32E761B8-402E-034F-1B97-160F7442D047}"/>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2EFE27BB-4211-2975-7448-F3DD7DECE864}"/>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CE1C644E-E1B0-87DF-F378-F2412AE1DA5F}"/>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3AEC60CD-83B7-574B-38D9-18B1294D1D47}"/>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0215A133-91F6-13C1-D178-ABAAD2BAB059}"/>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10BA1662-A28E-1D29-6FD2-DC956A8E7739}"/>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Kế hoạch/Thực tế hàng tháng &amp; Thầu phụ</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26976AA7-25B6-A933-08AA-3A0C4CA9EA31}"/>
              </a:ext>
            </a:extLst>
          </p:cNvPr>
          <p:cNvGrpSpPr/>
          <p:nvPr/>
        </p:nvGrpSpPr>
        <p:grpSpPr>
          <a:xfrm>
            <a:off x="320040" y="1726301"/>
            <a:ext cx="7075767" cy="3710919"/>
            <a:chOff x="603504" y="2265412"/>
            <a:chExt cx="6473152" cy="3176331"/>
          </a:xfrm>
        </p:grpSpPr>
        <p:sp>
          <p:nvSpPr>
            <p:cNvPr id="25" name="Shape 23"/>
            <p:cNvSpPr/>
            <p:nvPr/>
          </p:nvSpPr>
          <p:spPr>
            <a:xfrm>
              <a:off x="603504" y="2271924"/>
              <a:ext cx="6473152" cy="3169819"/>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96667"/>
            </a:xfrm>
            <a:prstGeom prst="rect">
              <a:avLst/>
            </a:prstGeom>
          </p:spPr>
        </p:pic>
        <p:sp>
          <p:nvSpPr>
            <p:cNvPr id="100" name="Box 1"/>
            <p:cNvSpPr/>
            <p:nvPr/>
          </p:nvSpPr>
          <p:spPr>
            <a:xfrm>
              <a:off x="1406747" y="2308500"/>
              <a:ext cx="5600000" cy="2300000"/>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388459" y="4719499"/>
              <a:ext cx="5600000" cy="685668"/>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5929315" y="4758500"/>
              <a:ext cx="1050000" cy="83333"/>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60171" y="226541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23460" y="458016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5735782" y="469016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595807" y="1240411"/>
            <a:ext cx="4211840" cy="433498"/>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5807" y="1733909"/>
            <a:ext cx="4211840" cy="4355995"/>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5807" y="1883909"/>
            <a:ext cx="3811840" cy="2276667"/>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Monthly Plan/Actual (năm): </a:t>
            </a:r>
            <a:endParaRPr lang="en-US" sz="1100" dirty="0">
              <a:solidFill>
                <a:srgbClr val="262626"/>
              </a:solidFill>
              <a:latin typeface="Calibri" pitchFamily="34" charset="0"/>
            </a:endParaRPr>
          </a:p>
          <a:p>
            <a:pPr>
              <a:lnSpc>
                <a:spcPct val="100000"/>
              </a:lnSpc>
              <a:spcAft>
                <a:spcPts val="500"/>
              </a:spcAft>
            </a:pPr>
            <a:r>
              <a:rPr lang="en-US" sz="1100" b="1" dirty="0">
                <a:solidFill>
                  <a:srgbClr val="262626"/>
                </a:solidFill>
                <a:latin typeface="Calibri" pitchFamily="34" charset="0"/>
              </a:rPr>
              <a:t>- </a:t>
            </a:r>
            <a:r>
              <a:rPr lang="en-US" sz="1100" dirty="0">
                <a:solidFill>
                  <a:srgbClr val="262626"/>
                </a:solidFill>
                <a:latin typeface="Calibri" pitchFamily="34" charset="0"/>
              </a:rPr>
              <a:t>Dữ liệu lấy từ 6: Budget Execution Status (tab Cost), dựa trên bộ lọc.</a:t>
            </a:r>
          </a:p>
          <a:p>
            <a:pPr marL="228600" indent="-228600">
              <a:lnSpc>
                <a:spcPct val="106000"/>
              </a:lnSpc>
              <a:spcAft>
                <a:spcPts val="500"/>
              </a:spcAft>
              <a:buAutoNum type="arabicPlain" startAt="2"/>
            </a:pPr>
            <a:r>
              <a:rPr lang="en-US" sz="1100" b="1" dirty="0">
                <a:solidFill>
                  <a:srgbClr val="1F3A6E"/>
                </a:solidFill>
                <a:latin typeface="Calibri" pitchFamily="34" charset="0"/>
              </a:rPr>
              <a:t>7. Outsourcing/Materials (tab Outsourcing):</a:t>
            </a:r>
          </a:p>
          <a:p>
            <a:pPr marL="171450" indent="-171450">
              <a:lnSpc>
                <a:spcPct val="106000"/>
              </a:lnSpc>
              <a:spcAft>
                <a:spcPts val="500"/>
              </a:spcAft>
              <a:buFontTx/>
              <a:buChar char="-"/>
            </a:pPr>
            <a:r>
              <a:rPr lang="en-US" sz="1100" b="1" dirty="0">
                <a:solidFill>
                  <a:srgbClr val="1F3A6E"/>
                </a:solidFill>
                <a:latin typeface="Calibri" pitchFamily="34" charset="0"/>
              </a:rPr>
              <a:t>Budget (A), Executed Budget, Resolved Amount (B):</a:t>
            </a:r>
          </a:p>
          <a:p>
            <a:pPr>
              <a:lnSpc>
                <a:spcPct val="106000"/>
              </a:lnSpc>
              <a:spcAft>
                <a:spcPts val="500"/>
              </a:spcAft>
            </a:pPr>
            <a:r>
              <a:rPr lang="en-US" sz="1100" dirty="0">
                <a:solidFill>
                  <a:srgbClr val="262626"/>
                </a:solidFill>
                <a:latin typeface="Calibri" pitchFamily="34" charset="0"/>
              </a:rPr>
              <a:t>Sub-Contracting &gt; Request Execution Resolution (Site) &gt; Request Execution Resolution(Site) &gt; Execution Budget, Operational Budget, Implementation Amount</a:t>
            </a:r>
          </a:p>
          <a:p>
            <a:pPr marL="171450" indent="-171450">
              <a:lnSpc>
                <a:spcPct val="106000"/>
              </a:lnSpc>
              <a:spcAft>
                <a:spcPts val="500"/>
              </a:spcAft>
              <a:buFontTx/>
              <a:buChar char="-"/>
            </a:pPr>
            <a:r>
              <a:rPr lang="en-US" sz="1100" b="1" dirty="0">
                <a:solidFill>
                  <a:srgbClr val="1F3A6E"/>
                </a:solidFill>
                <a:latin typeface="Calibri" pitchFamily="34" charset="0"/>
              </a:rPr>
              <a:t>This Month's Progress Payment, Cumulative Progress Payment (C)):</a:t>
            </a:r>
          </a:p>
          <a:p>
            <a:pPr>
              <a:lnSpc>
                <a:spcPct val="106000"/>
              </a:lnSpc>
              <a:spcAft>
                <a:spcPts val="500"/>
              </a:spcAft>
            </a:pPr>
            <a:r>
              <a:rPr lang="en-US" sz="1100" dirty="0">
                <a:solidFill>
                  <a:srgbClr val="262626"/>
                </a:solidFill>
                <a:latin typeface="Calibri" pitchFamily="34" charset="0"/>
              </a:rPr>
              <a:t>Sub-Contracting &gt; Implementation Progress Payment(Site) &gt; Interim Payment Status </a:t>
            </a:r>
          </a:p>
          <a:p>
            <a:pPr>
              <a:lnSpc>
                <a:spcPct val="100000"/>
              </a:lnSpc>
              <a:spcAft>
                <a:spcPts val="500"/>
              </a:spcAft>
            </a:pPr>
            <a:r>
              <a:rPr lang="en-US" sz="1100" dirty="0">
                <a:solidFill>
                  <a:srgbClr val="262626"/>
                </a:solidFill>
                <a:latin typeface="Calibri" pitchFamily="34" charset="0"/>
              </a:rPr>
              <a:t>Tab This Month column </a:t>
            </a:r>
            <a:r>
              <a:rPr lang="ko-KR" altLang="en-US" sz="1100" dirty="0">
                <a:solidFill>
                  <a:srgbClr val="262626"/>
                </a:solidFill>
                <a:latin typeface="Calibri" pitchFamily="34" charset="0"/>
              </a:rPr>
              <a:t>당월기성금액 </a:t>
            </a:r>
            <a:r>
              <a:rPr lang="en-US" altLang="ko-KR" sz="1100" dirty="0">
                <a:solidFill>
                  <a:srgbClr val="262626"/>
                </a:solidFill>
                <a:latin typeface="Calibri" pitchFamily="34" charset="0"/>
              </a:rPr>
              <a:t>(</a:t>
            </a:r>
            <a:r>
              <a:rPr lang="en-US" sz="1100" dirty="0">
                <a:solidFill>
                  <a:srgbClr val="262626"/>
                </a:solidFill>
                <a:latin typeface="Calibri" pitchFamily="34" charset="0"/>
              </a:rPr>
              <a:t>B)</a:t>
            </a:r>
          </a:p>
          <a:p>
            <a:pPr>
              <a:lnSpc>
                <a:spcPct val="100000"/>
              </a:lnSpc>
              <a:spcAft>
                <a:spcPts val="500"/>
              </a:spcAft>
            </a:pPr>
            <a:r>
              <a:rPr lang="en-US" sz="1100" dirty="0">
                <a:solidFill>
                  <a:srgbClr val="262626"/>
                </a:solidFill>
                <a:latin typeface="Calibri" pitchFamily="34" charset="0"/>
              </a:rPr>
              <a:t>Tab All column Progress Payment &gt; Amount (B)</a:t>
            </a:r>
          </a:p>
          <a:p>
            <a:pPr marL="0" indent="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Chọn Month/Year (góc trên bên phải) trước khi nhập số tiền thanh toán theo tiến độ, sau đó nhấn Save. </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36ADEC63-3B33-C202-35E5-CF009863D965}"/>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D618B777-DD37-2546-5357-063B6DA7AE58}"/>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EC5DABD3-3CB5-F629-D661-2A73E3433F2A}"/>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2E8C0AF7-5B3D-3DA4-141A-2675AF7AB219}"/>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FB4965A3-D1E9-7BFF-D856-5FBF78B81948}"/>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FEF0EC2F-EDD9-5F57-1BF9-DA96ED0353D5}"/>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1A055A8B-AD4C-359B-1B5F-D1B046A04A0C}"/>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A5B3DD2E-11D8-3DF7-C4DF-6C1CD954F12E}"/>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3AD0CFCE-9B62-8426-2A3D-4225B22D1EDF}"/>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9FA4ADB1-0BBB-2FD5-03DF-848EE2AA8C69}"/>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5ADB287D-D8A7-1A03-6700-F1525F7FC832}"/>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92659585-EE1D-394B-47F8-B857935842FE}"/>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A832F171-56E5-E692-2E5E-85D37C40AFFC}"/>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0387ADAE-12B7-DEC7-2D36-961002B7FC28}"/>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F61A24AF-4FC4-D605-939E-6B5202A69171}"/>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C5F813A5-C219-EB37-BE3F-6838FC7F9D96}"/>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B4BC94FA-D340-BB33-4079-8C25F7E60BE5}"/>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90D58DAF-72A0-F303-08AF-1128B7AB8C1A}"/>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E93BCDC3-B824-D4EE-8DD4-1CC7AF859C57}"/>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C77106B6-22ED-1C40-D697-9AC6E4289452}"/>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42261342-B3C7-68AD-55D0-DA7090F55971}"/>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Thầu phụ, Dòng tiền &amp; Ảnh công trường</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6717059D-1E14-14D7-AB59-36880B83AE50}"/>
              </a:ext>
            </a:extLst>
          </p:cNvPr>
          <p:cNvGrpSpPr/>
          <p:nvPr/>
        </p:nvGrpSpPr>
        <p:grpSpPr>
          <a:xfrm>
            <a:off x="320040" y="1874072"/>
            <a:ext cx="7069423" cy="3529944"/>
            <a:chOff x="603504" y="2271924"/>
            <a:chExt cx="6473152" cy="3153027"/>
          </a:xfrm>
        </p:grpSpPr>
        <p:sp>
          <p:nvSpPr>
            <p:cNvPr id="25" name="Shape 23"/>
            <p:cNvSpPr/>
            <p:nvPr/>
          </p:nvSpPr>
          <p:spPr>
            <a:xfrm>
              <a:off x="603504" y="2271924"/>
              <a:ext cx="6473152" cy="3153027"/>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79875"/>
            </a:xfrm>
            <a:prstGeom prst="rect">
              <a:avLst/>
            </a:prstGeom>
          </p:spPr>
        </p:pic>
        <p:sp>
          <p:nvSpPr>
            <p:cNvPr id="101" name="Box 2"/>
            <p:cNvSpPr/>
            <p:nvPr/>
          </p:nvSpPr>
          <p:spPr>
            <a:xfrm>
              <a:off x="1407546" y="3433516"/>
              <a:ext cx="5605839" cy="1310855"/>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407546" y="4961263"/>
              <a:ext cx="5605839" cy="350365"/>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42418" y="331911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49598" y="4769734"/>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89463" y="1874072"/>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89463" y="2394072"/>
            <a:ext cx="4211840" cy="3009944"/>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89463" y="2544072"/>
            <a:ext cx="3811840" cy="2259875"/>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8. Monthly Cash Flow (tab Cash Flow):</a:t>
            </a:r>
          </a:p>
          <a:p>
            <a:pPr marL="171450" indent="-171450">
              <a:lnSpc>
                <a:spcPct val="106000"/>
              </a:lnSpc>
              <a:spcAft>
                <a:spcPts val="500"/>
              </a:spcAft>
              <a:buFontTx/>
              <a:buChar char="-"/>
            </a:pPr>
            <a:r>
              <a:rPr lang="en-US" sz="1100" b="1" dirty="0">
                <a:solidFill>
                  <a:srgbClr val="1F3A6E"/>
                </a:solidFill>
                <a:latin typeface="Calibri" pitchFamily="34" charset="0"/>
              </a:rPr>
              <a:t>Cash In/Out (Thu/Chi tiền): </a:t>
            </a:r>
            <a:r>
              <a:rPr lang="en-US" sz="1100" dirty="0">
                <a:solidFill>
                  <a:srgbClr val="262626"/>
                </a:solidFill>
                <a:latin typeface="Calibri" pitchFamily="34" charset="0"/>
              </a:rPr>
              <a:t>Đồng bộ từ PIMSVINA</a:t>
            </a:r>
          </a:p>
          <a:p>
            <a:pPr>
              <a:lnSpc>
                <a:spcPct val="106000"/>
              </a:lnSpc>
              <a:spcAft>
                <a:spcPts val="500"/>
              </a:spcAft>
            </a:pPr>
            <a:r>
              <a:rPr lang="en-US" sz="1100" dirty="0">
                <a:solidFill>
                  <a:srgbClr val="262626"/>
                </a:solidFill>
                <a:latin typeface="Calibri" pitchFamily="34" charset="0"/>
              </a:rPr>
              <a:t>Cash Flow &gt; Report &gt; Cash Flow Report &gt; Income &gt; month (1-12)Outcome &gt; month (1-12)</a:t>
            </a:r>
          </a:p>
          <a:p>
            <a:pPr marL="171450" indent="-171450">
              <a:lnSpc>
                <a:spcPct val="106000"/>
              </a:lnSpc>
              <a:spcAft>
                <a:spcPts val="500"/>
              </a:spcAft>
              <a:buFontTx/>
              <a:buChar char="-"/>
            </a:pPr>
            <a:r>
              <a:rPr lang="en-US" sz="1100" b="1" dirty="0">
                <a:solidFill>
                  <a:srgbClr val="1F3A6E"/>
                </a:solidFill>
                <a:latin typeface="Calibri" pitchFamily="34" charset="0"/>
              </a:rPr>
              <a:t>Cash Balance (Số dư tiền mặt) </a:t>
            </a:r>
            <a:r>
              <a:rPr lang="en-US" sz="1100" dirty="0">
                <a:solidFill>
                  <a:srgbClr val="262626"/>
                </a:solidFill>
                <a:latin typeface="Calibri" pitchFamily="34" charset="0"/>
              </a:rPr>
              <a:t>= Cash In – Cash Out</a:t>
            </a:r>
          </a:p>
          <a:p>
            <a:pPr marL="171450" indent="-171450">
              <a:lnSpc>
                <a:spcPct val="106000"/>
              </a:lnSpc>
              <a:spcAft>
                <a:spcPts val="500"/>
              </a:spcAft>
              <a:buFontTx/>
              <a:buChar char="-"/>
            </a:pPr>
            <a:r>
              <a:rPr lang="en-US" sz="1100" b="1" dirty="0">
                <a:solidFill>
                  <a:srgbClr val="1F3A6E"/>
                </a:solidFill>
                <a:latin typeface="Calibri" pitchFamily="34" charset="0"/>
              </a:rPr>
              <a:t>Confirmed Progress (Tiến độ đã xác nhận)</a:t>
            </a:r>
            <a:r>
              <a:rPr lang="en-US" sz="1100" dirty="0">
                <a:solidFill>
                  <a:srgbClr val="262626"/>
                </a:solidFill>
                <a:latin typeface="Calibri" pitchFamily="34" charset="0"/>
              </a:rPr>
              <a:t>: Nhập thủ công</a:t>
            </a:r>
          </a:p>
          <a:p>
            <a:pPr>
              <a:lnSpc>
                <a:spcPct val="106000"/>
              </a:lnSpc>
              <a:spcAft>
                <a:spcPts val="500"/>
              </a:spcAft>
            </a:pPr>
            <a:endParaRPr lang="en-US" sz="1100"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Site Photos (Ảnh công trường)</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Chọn ảnh để tải lên</a:t>
            </a:r>
          </a:p>
          <a:p>
            <a:pPr marL="171450" indent="-171450">
              <a:lnSpc>
                <a:spcPct val="106000"/>
              </a:lnSpc>
              <a:spcAft>
                <a:spcPts val="500"/>
              </a:spcAft>
              <a:buFontTx/>
              <a:buChar char="-"/>
            </a:pPr>
            <a:r>
              <a:rPr lang="en-US" sz="1100" dirty="0">
                <a:solidFill>
                  <a:srgbClr val="262626"/>
                </a:solidFill>
                <a:latin typeface="Calibri" pitchFamily="34" charset="0"/>
              </a:rPr>
              <a:t>Slideshow interval (giây) tự động xoay vòng ảnh, đặt 0 để tắt. </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DABFDEFB-20BC-5E3B-BED7-BEBA38F57434}"/>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61405A18-9F58-791B-41A6-789DD8669BA5}"/>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C83A0E8E-E843-7E56-30CD-AC9618A7A4EA}"/>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5B45F25B-C8D9-D162-379B-59A270EBCC41}"/>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F66DC221-0C5C-F0DC-DB49-13E7FFACD032}"/>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6B3B8263-22BD-E9CD-C612-92D6B2CDB348}"/>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B79A7FB2-6C40-9EF3-8AB7-BDFC1BFBF6F6}"/>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787F8AA8-39C1-9DE0-3B84-C206216CB51A}"/>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5C1BC321-D246-1744-C242-F52B10573892}"/>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1666BCAD-B478-F68D-3CC0-488CE7D155F7}"/>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FFF4471A-D77F-4D22-DC34-CED7932A7A54}"/>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7F0AEB06-0228-76A7-B8F9-D27DA3B601F5}"/>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CC2020FB-4FE0-4803-59DD-3D8132816123}"/>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7913EA25-4FA0-38A8-0176-BCE358B8566F}"/>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3B378F35-C108-8181-C14B-EDEA6EBEFF10}"/>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8463C881-F230-A098-6EA9-31A733642A67}"/>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94A1277F-2B8D-EC4B-02DE-AB9D5E6EF1B9}"/>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408C94DD-F3E9-6AF1-AF80-0EEE08EBF2DE}"/>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9B46D535-08B4-F56E-3C67-CC2DC4F54180}"/>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E88C1271-5A39-A5F3-B31C-43A08815E376}"/>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64F34831-46D6-D5DB-A6BD-A868F7496DB3}"/>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txBody>
          <a:bodyPr/>
          <a:lstStyle/>
          <a:p>
            <a:endParaRPr lang="en-US"/>
          </a:p>
        </p:txBody>
      </p:sp>
      <p:sp>
        <p:nvSpPr>
          <p:cNvPr id="3" name="Shape 1"/>
          <p:cNvSpPr/>
          <p:nvPr/>
        </p:nvSpPr>
        <p:spPr>
          <a:xfrm>
            <a:off x="9887407" y="0"/>
            <a:ext cx="384048" cy="384048"/>
          </a:xfrm>
          <a:prstGeom prst="rect">
            <a:avLst/>
          </a:prstGeom>
          <a:solidFill>
            <a:srgbClr val="3F8FD0"/>
          </a:solidFill>
          <a:ln/>
        </p:spPr>
        <p:txBody>
          <a:bodyPr/>
          <a:lstStyle/>
          <a:p>
            <a:endParaRPr lang="en-US"/>
          </a:p>
        </p:txBody>
      </p:sp>
      <p:sp>
        <p:nvSpPr>
          <p:cNvPr id="4" name="Shape 2"/>
          <p:cNvSpPr/>
          <p:nvPr/>
        </p:nvSpPr>
        <p:spPr>
          <a:xfrm>
            <a:off x="10655503" y="0"/>
            <a:ext cx="384048" cy="384048"/>
          </a:xfrm>
          <a:prstGeom prst="rect">
            <a:avLst/>
          </a:prstGeom>
          <a:solidFill>
            <a:srgbClr val="3F8FD0"/>
          </a:solidFill>
          <a:ln/>
        </p:spPr>
        <p:txBody>
          <a:bodyPr/>
          <a:lstStyle/>
          <a:p>
            <a:endParaRPr lang="en-US"/>
          </a:p>
        </p:txBody>
      </p:sp>
      <p:sp>
        <p:nvSpPr>
          <p:cNvPr id="5" name="Shape 3"/>
          <p:cNvSpPr/>
          <p:nvPr/>
        </p:nvSpPr>
        <p:spPr>
          <a:xfrm>
            <a:off x="11039551" y="0"/>
            <a:ext cx="384048" cy="384048"/>
          </a:xfrm>
          <a:prstGeom prst="rect">
            <a:avLst/>
          </a:prstGeom>
          <a:solidFill>
            <a:srgbClr val="AEE0F5"/>
          </a:solidFill>
          <a:ln/>
        </p:spPr>
        <p:txBody>
          <a:bodyPr/>
          <a:lstStyle/>
          <a:p>
            <a:endParaRPr lang="en-US"/>
          </a:p>
        </p:txBody>
      </p:sp>
      <p:sp>
        <p:nvSpPr>
          <p:cNvPr id="6" name="Shape 4"/>
          <p:cNvSpPr/>
          <p:nvPr/>
        </p:nvSpPr>
        <p:spPr>
          <a:xfrm>
            <a:off x="11423599" y="0"/>
            <a:ext cx="384048" cy="384048"/>
          </a:xfrm>
          <a:prstGeom prst="rect">
            <a:avLst/>
          </a:prstGeom>
          <a:solidFill>
            <a:srgbClr val="3F8FD0"/>
          </a:solidFill>
          <a:ln/>
        </p:spPr>
        <p:txBody>
          <a:bodyPr/>
          <a:lstStyle/>
          <a:p>
            <a:endParaRPr lang="en-US"/>
          </a:p>
        </p:txBody>
      </p:sp>
      <p:sp>
        <p:nvSpPr>
          <p:cNvPr id="7" name="Shape 5"/>
          <p:cNvSpPr/>
          <p:nvPr/>
        </p:nvSpPr>
        <p:spPr>
          <a:xfrm>
            <a:off x="11807647" y="0"/>
            <a:ext cx="384048" cy="384048"/>
          </a:xfrm>
          <a:prstGeom prst="rect">
            <a:avLst/>
          </a:prstGeom>
          <a:solidFill>
            <a:srgbClr val="AEE0F5"/>
          </a:solidFill>
          <a:ln/>
        </p:spPr>
        <p:txBody>
          <a:bodyPr/>
          <a:lstStyle/>
          <a:p>
            <a:endParaRPr lang="en-US"/>
          </a:p>
        </p:txBody>
      </p:sp>
      <p:sp>
        <p:nvSpPr>
          <p:cNvPr id="8" name="Shape 6"/>
          <p:cNvSpPr/>
          <p:nvPr/>
        </p:nvSpPr>
        <p:spPr>
          <a:xfrm>
            <a:off x="10271455" y="384048"/>
            <a:ext cx="384048" cy="384048"/>
          </a:xfrm>
          <a:prstGeom prst="rect">
            <a:avLst/>
          </a:prstGeom>
          <a:solidFill>
            <a:srgbClr val="3F8FD0"/>
          </a:solidFill>
          <a:ln/>
        </p:spPr>
        <p:txBody>
          <a:bodyPr/>
          <a:lstStyle/>
          <a:p>
            <a:endParaRPr lang="en-US"/>
          </a:p>
        </p:txBody>
      </p:sp>
      <p:sp>
        <p:nvSpPr>
          <p:cNvPr id="9" name="Shape 7"/>
          <p:cNvSpPr/>
          <p:nvPr/>
        </p:nvSpPr>
        <p:spPr>
          <a:xfrm>
            <a:off x="11423599" y="384048"/>
            <a:ext cx="384048" cy="384048"/>
          </a:xfrm>
          <a:prstGeom prst="rect">
            <a:avLst/>
          </a:prstGeom>
          <a:solidFill>
            <a:srgbClr val="AEE0F5"/>
          </a:solidFill>
          <a:ln/>
        </p:spPr>
        <p:txBody>
          <a:bodyPr/>
          <a:lstStyle/>
          <a:p>
            <a:endParaRPr lang="en-US"/>
          </a:p>
        </p:txBody>
      </p:sp>
      <p:sp>
        <p:nvSpPr>
          <p:cNvPr id="10" name="Shape 8"/>
          <p:cNvSpPr/>
          <p:nvPr/>
        </p:nvSpPr>
        <p:spPr>
          <a:xfrm>
            <a:off x="11807647" y="384048"/>
            <a:ext cx="384048" cy="384048"/>
          </a:xfrm>
          <a:prstGeom prst="rect">
            <a:avLst/>
          </a:prstGeom>
          <a:solidFill>
            <a:srgbClr val="3F8FD0"/>
          </a:solidFill>
          <a:ln/>
        </p:spPr>
        <p:txBody>
          <a:bodyPr/>
          <a:lstStyle/>
          <a:p>
            <a:endParaRPr lang="en-US"/>
          </a:p>
        </p:txBody>
      </p:sp>
      <p:sp>
        <p:nvSpPr>
          <p:cNvPr id="11" name="Shape 9"/>
          <p:cNvSpPr/>
          <p:nvPr/>
        </p:nvSpPr>
        <p:spPr>
          <a:xfrm>
            <a:off x="11039551" y="768096"/>
            <a:ext cx="384048" cy="384048"/>
          </a:xfrm>
          <a:prstGeom prst="rect">
            <a:avLst/>
          </a:prstGeom>
          <a:solidFill>
            <a:srgbClr val="AEE0F5"/>
          </a:solidFill>
          <a:ln/>
        </p:spPr>
        <p:txBody>
          <a:bodyPr/>
          <a:lstStyle/>
          <a:p>
            <a:endParaRPr lang="en-US"/>
          </a:p>
        </p:txBody>
      </p:sp>
      <p:sp>
        <p:nvSpPr>
          <p:cNvPr id="12" name="Shape 10"/>
          <p:cNvSpPr/>
          <p:nvPr/>
        </p:nvSpPr>
        <p:spPr>
          <a:xfrm>
            <a:off x="11807647" y="768096"/>
            <a:ext cx="384048" cy="384048"/>
          </a:xfrm>
          <a:prstGeom prst="rect">
            <a:avLst/>
          </a:prstGeom>
          <a:solidFill>
            <a:srgbClr val="AEE0F5"/>
          </a:solidFill>
          <a:ln/>
        </p:spPr>
        <p:txBody>
          <a:bodyPr/>
          <a:lstStyle/>
          <a:p>
            <a:endParaRPr lang="en-US"/>
          </a:p>
        </p:txBody>
      </p:sp>
      <p:sp>
        <p:nvSpPr>
          <p:cNvPr id="13" name="Shape 11"/>
          <p:cNvSpPr/>
          <p:nvPr/>
        </p:nvSpPr>
        <p:spPr>
          <a:xfrm>
            <a:off x="548640" y="457200"/>
            <a:ext cx="64008" cy="64008"/>
          </a:xfrm>
          <a:prstGeom prst="rect">
            <a:avLst/>
          </a:prstGeom>
          <a:solidFill>
            <a:srgbClr val="1F3A6E"/>
          </a:solidFill>
          <a:ln/>
        </p:spPr>
        <p:txBody>
          <a:bodyPr/>
          <a:lstStyle/>
          <a:p>
            <a:endParaRPr lang="en-US"/>
          </a:p>
        </p:txBody>
      </p:sp>
      <p:sp>
        <p:nvSpPr>
          <p:cNvPr id="14" name="Shape 12"/>
          <p:cNvSpPr/>
          <p:nvPr/>
        </p:nvSpPr>
        <p:spPr>
          <a:xfrm>
            <a:off x="630936" y="457200"/>
            <a:ext cx="64008" cy="64008"/>
          </a:xfrm>
          <a:prstGeom prst="rect">
            <a:avLst/>
          </a:prstGeom>
          <a:solidFill>
            <a:srgbClr val="3F8FD0"/>
          </a:solidFill>
          <a:ln/>
        </p:spPr>
        <p:txBody>
          <a:bodyPr/>
          <a:lstStyle/>
          <a:p>
            <a:endParaRPr lang="en-US"/>
          </a:p>
        </p:txBody>
      </p:sp>
      <p:sp>
        <p:nvSpPr>
          <p:cNvPr id="15" name="Shape 13"/>
          <p:cNvSpPr/>
          <p:nvPr/>
        </p:nvSpPr>
        <p:spPr>
          <a:xfrm>
            <a:off x="713232" y="457200"/>
            <a:ext cx="64008" cy="64008"/>
          </a:xfrm>
          <a:prstGeom prst="rect">
            <a:avLst/>
          </a:prstGeom>
          <a:solidFill>
            <a:srgbClr val="1F3A6E"/>
          </a:solidFill>
          <a:ln/>
        </p:spPr>
        <p:txBody>
          <a:bodyPr/>
          <a:lstStyle/>
          <a:p>
            <a:endParaRPr lang="en-US"/>
          </a:p>
        </p:txBody>
      </p:sp>
      <p:sp>
        <p:nvSpPr>
          <p:cNvPr id="16" name="Shape 14"/>
          <p:cNvSpPr/>
          <p:nvPr/>
        </p:nvSpPr>
        <p:spPr>
          <a:xfrm>
            <a:off x="548640" y="539496"/>
            <a:ext cx="64008" cy="64008"/>
          </a:xfrm>
          <a:prstGeom prst="rect">
            <a:avLst/>
          </a:prstGeom>
          <a:solidFill>
            <a:srgbClr val="3F8FD0"/>
          </a:solidFill>
          <a:ln/>
        </p:spPr>
        <p:txBody>
          <a:bodyPr/>
          <a:lstStyle/>
          <a:p>
            <a:endParaRPr lang="en-US"/>
          </a:p>
        </p:txBody>
      </p:sp>
      <p:sp>
        <p:nvSpPr>
          <p:cNvPr id="17" name="Shape 15"/>
          <p:cNvSpPr/>
          <p:nvPr/>
        </p:nvSpPr>
        <p:spPr>
          <a:xfrm>
            <a:off x="630936" y="539496"/>
            <a:ext cx="64008" cy="64008"/>
          </a:xfrm>
          <a:prstGeom prst="rect">
            <a:avLst/>
          </a:prstGeom>
          <a:solidFill>
            <a:srgbClr val="1F3A6E"/>
          </a:solidFill>
          <a:ln/>
        </p:spPr>
        <p:txBody>
          <a:bodyPr/>
          <a:lstStyle/>
          <a:p>
            <a:endParaRPr lang="en-US"/>
          </a:p>
        </p:txBody>
      </p:sp>
      <p:sp>
        <p:nvSpPr>
          <p:cNvPr id="18" name="Shape 16"/>
          <p:cNvSpPr/>
          <p:nvPr/>
        </p:nvSpPr>
        <p:spPr>
          <a:xfrm>
            <a:off x="713232" y="539496"/>
            <a:ext cx="64008" cy="64008"/>
          </a:xfrm>
          <a:prstGeom prst="rect">
            <a:avLst/>
          </a:prstGeom>
          <a:solidFill>
            <a:srgbClr val="3F8FD0"/>
          </a:solidFill>
          <a:ln/>
        </p:spPr>
        <p:txBody>
          <a:bodyPr/>
          <a:lstStyle/>
          <a:p>
            <a:endParaRPr lang="en-US"/>
          </a:p>
        </p:txBody>
      </p:sp>
      <p:sp>
        <p:nvSpPr>
          <p:cNvPr id="19" name="Shape 17"/>
          <p:cNvSpPr/>
          <p:nvPr/>
        </p:nvSpPr>
        <p:spPr>
          <a:xfrm>
            <a:off x="548640" y="621792"/>
            <a:ext cx="64008" cy="64008"/>
          </a:xfrm>
          <a:prstGeom prst="rect">
            <a:avLst/>
          </a:prstGeom>
          <a:solidFill>
            <a:srgbClr val="1F3A6E"/>
          </a:solidFill>
          <a:ln/>
        </p:spPr>
        <p:txBody>
          <a:bodyPr/>
          <a:lstStyle/>
          <a:p>
            <a:endParaRPr lang="en-US"/>
          </a:p>
        </p:txBody>
      </p:sp>
      <p:sp>
        <p:nvSpPr>
          <p:cNvPr id="20" name="Shape 18"/>
          <p:cNvSpPr/>
          <p:nvPr/>
        </p:nvSpPr>
        <p:spPr>
          <a:xfrm>
            <a:off x="630936" y="621792"/>
            <a:ext cx="64008" cy="64008"/>
          </a:xfrm>
          <a:prstGeom prst="rect">
            <a:avLst/>
          </a:prstGeom>
          <a:solidFill>
            <a:srgbClr val="3F8FD0"/>
          </a:solidFill>
          <a:ln/>
        </p:spPr>
        <p:txBody>
          <a:bodyPr/>
          <a:lstStyle/>
          <a:p>
            <a:endParaRPr lang="en-US"/>
          </a:p>
        </p:txBody>
      </p:sp>
      <p:sp>
        <p:nvSpPr>
          <p:cNvPr id="21" name="Shape 19"/>
          <p:cNvSpPr/>
          <p:nvPr/>
        </p:nvSpPr>
        <p:spPr>
          <a:xfrm>
            <a:off x="713232" y="621792"/>
            <a:ext cx="64008" cy="64008"/>
          </a:xfrm>
          <a:prstGeom prst="rect">
            <a:avLst/>
          </a:prstGeom>
          <a:solidFill>
            <a:srgbClr val="1F3A6E"/>
          </a:solidFill>
          <a:ln/>
        </p:spPr>
        <p:txBody>
          <a:bodyPr/>
          <a:lstStyle/>
          <a:p>
            <a:endParaRPr lang="en-US"/>
          </a:p>
        </p:txBody>
      </p:sp>
      <p:sp>
        <p:nvSpPr>
          <p:cNvPr id="22" name="Shape 20"/>
          <p:cNvSpPr/>
          <p:nvPr/>
        </p:nvSpPr>
        <p:spPr>
          <a:xfrm>
            <a:off x="914400" y="2743200"/>
            <a:ext cx="1417320" cy="1417320"/>
          </a:xfrm>
          <a:prstGeom prst="rect">
            <a:avLst/>
          </a:prstGeom>
          <a:solidFill>
            <a:srgbClr val="1F3A6E"/>
          </a:solidFill>
          <a:ln/>
          <a:effectLst>
            <a:outerShdw blurRad="76200" dist="38100" dir="2700000" algn="bl" rotWithShape="0">
              <a:srgbClr val="000000">
                <a:alpha val="35000"/>
              </a:srgbClr>
            </a:outerShdw>
          </a:effectLst>
        </p:spPr>
        <p:txBody>
          <a:bodyPr/>
          <a:lstStyle/>
          <a:p>
            <a:endParaRPr lang="en-US"/>
          </a:p>
        </p:txBody>
      </p:sp>
      <p:sp>
        <p:nvSpPr>
          <p:cNvPr id="23" name="Text 21"/>
          <p:cNvSpPr/>
          <p:nvPr/>
        </p:nvSpPr>
        <p:spPr>
          <a:xfrm>
            <a:off x="914400" y="2743200"/>
            <a:ext cx="1417320" cy="14173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5</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r>
              <a:rPr lang="en-US" sz="3000" b="1" dirty="0">
                <a:solidFill>
                  <a:srgbClr val="1F3A6E"/>
                </a:solidFill>
                <a:latin typeface="Calibri" pitchFamily="34" charset="0"/>
                <a:ea typeface="Calibri" pitchFamily="34" charset="-122"/>
                <a:cs typeface="Calibri" pitchFamily="34" charset="-120"/>
              </a:rPr>
              <a:t>Người quản lý dữ liệu – Project Dashboard – Dịch vụ</a:t>
            </a:r>
            <a:endParaRPr lang="en-US" sz="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Report (Báo cáo)</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300" name="Panel Header"/>
          <p:cNvSpPr/>
          <p:nvPr/>
        </p:nvSpPr>
        <p:spPr>
          <a:xfrm>
            <a:off x="7559307" y="1798091"/>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59307" y="2318091"/>
            <a:ext cx="4211840" cy="3149283"/>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693818" y="2438035"/>
            <a:ext cx="3949008" cy="3029339"/>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chemeClr val="accent1">
                    <a:lumMod val="75000"/>
                  </a:schemeClr>
                </a:solidFill>
                <a:latin typeface="Calibri" pitchFamily="34" charset="0"/>
              </a:rPr>
              <a:t>Chọn một công trường dịch vụ từ cây bên trái</a:t>
            </a:r>
            <a:br>
              <a:rPr lang="en-US" sz="1100" b="1" dirty="0">
                <a:solidFill>
                  <a:srgbClr val="262626"/>
                </a:solidFill>
                <a:latin typeface="Calibri" pitchFamily="34" charset="0"/>
              </a:rPr>
            </a:br>
            <a:r>
              <a:rPr lang="en-US" sz="1100" b="1" dirty="0">
                <a:solidFill>
                  <a:srgbClr val="262626"/>
                </a:solidFill>
                <a:latin typeface="Calibri" pitchFamily="34" charset="0"/>
              </a:rPr>
              <a:t> - </a:t>
            </a:r>
            <a:r>
              <a:rPr lang="en-US" sz="1100" dirty="0">
                <a:solidFill>
                  <a:srgbClr val="262626"/>
                </a:solidFill>
                <a:latin typeface="Calibri" pitchFamily="34" charset="0"/>
              </a:rPr>
              <a:t>phần đầu trang hiển thị Client (Chủ đầu tư), Scope of work (Phạm vi công việc): nhập từ tab </a:t>
            </a:r>
            <a:r>
              <a:rPr lang="en-US" sz="1100" dirty="0" err="1">
                <a:solidFill>
                  <a:srgbClr val="262626"/>
                </a:solidFill>
                <a:latin typeface="Calibri" pitchFamily="34" charset="0"/>
              </a:rPr>
              <a:t>DataEntry</a:t>
            </a:r>
            <a:br>
              <a:rPr lang="en-US" sz="1100" dirty="0">
                <a:solidFill>
                  <a:srgbClr val="262626"/>
                </a:solidFill>
                <a:latin typeface="Calibri" pitchFamily="34" charset="0"/>
              </a:rPr>
            </a:br>
            <a:r>
              <a:rPr lang="en-US" sz="1100" dirty="0">
                <a:solidFill>
                  <a:srgbClr val="262626"/>
                </a:solidFill>
                <a:latin typeface="Calibri" pitchFamily="34" charset="0"/>
              </a:rPr>
              <a:t> - Project period (Thời gian dự án), Contract Amount (Giá trị hợp đồng): đồng bộ từ </a:t>
            </a:r>
            <a:r>
              <a:rPr lang="en-US" sz="1100" b="1" dirty="0" err="1">
                <a:solidFill>
                  <a:schemeClr val="accent1">
                    <a:lumMod val="75000"/>
                  </a:schemeClr>
                </a:solidFill>
                <a:latin typeface="Calibri" pitchFamily="34" charset="0"/>
              </a:rPr>
              <a:t>Pimsvina</a:t>
            </a:r>
            <a:r>
              <a:rPr lang="en-US" sz="1100" b="1" dirty="0">
                <a:solidFill>
                  <a:schemeClr val="accent1">
                    <a:lumMod val="75000"/>
                  </a:schemeClr>
                </a:solidFill>
                <a:latin typeface="Calibri" pitchFamily="34" charset="0"/>
              </a:rPr>
              <a:t> Sync</a:t>
            </a:r>
          </a:p>
          <a:p>
            <a:pPr marL="228600" indent="-228600">
              <a:lnSpc>
                <a:spcPct val="106000"/>
              </a:lnSpc>
              <a:spcAft>
                <a:spcPts val="500"/>
              </a:spcAft>
              <a:buAutoNum type="arabicPlain"/>
            </a:pPr>
            <a:r>
              <a:rPr lang="en-US" sz="1100" b="1" dirty="0">
                <a:solidFill>
                  <a:schemeClr val="accent1">
                    <a:lumMod val="75000"/>
                  </a:schemeClr>
                </a:solidFill>
                <a:latin typeface="Calibri" pitchFamily="34" charset="0"/>
              </a:rPr>
              <a:t>Report có bố cục tương tự Xây dựng nhưng không có Progress: </a:t>
            </a:r>
          </a:p>
          <a:p>
            <a:pPr>
              <a:lnSpc>
                <a:spcPct val="106000"/>
              </a:lnSpc>
              <a:spcAft>
                <a:spcPts val="500"/>
              </a:spcAft>
            </a:pPr>
            <a:r>
              <a:rPr lang="en-US" sz="1100" b="1" dirty="0">
                <a:solidFill>
                  <a:schemeClr val="accent1">
                    <a:lumMod val="75000"/>
                  </a:schemeClr>
                </a:solidFill>
                <a:latin typeface="Calibri" pitchFamily="34" charset="0"/>
              </a:rPr>
              <a:t>       - </a:t>
            </a:r>
            <a:r>
              <a:rPr lang="en-US" sz="1100" dirty="0">
                <a:solidFill>
                  <a:srgbClr val="262626"/>
                </a:solidFill>
                <a:latin typeface="Calibri" pitchFamily="34" charset="0"/>
              </a:rPr>
              <a:t>Overview: Nhập liệu → 0. Tổng quan</a:t>
            </a:r>
            <a:endParaRPr lang="en-US" sz="1100" b="1" dirty="0">
              <a:solidFill>
                <a:schemeClr val="accent1">
                  <a:lumMod val="75000"/>
                </a:schemeClr>
              </a:solidFill>
            </a:endParaRPr>
          </a:p>
          <a:p>
            <a:pPr>
              <a:lnSpc>
                <a:spcPct val="106000"/>
              </a:lnSpc>
              <a:spcAft>
                <a:spcPts val="500"/>
              </a:spcAft>
            </a:pPr>
            <a:r>
              <a:rPr lang="en-US" sz="1100" dirty="0">
                <a:solidFill>
                  <a:srgbClr val="262626"/>
                </a:solidFill>
                <a:latin typeface="Calibri" pitchFamily="34" charset="0"/>
              </a:rPr>
              <a:t>       - Revenue Actual &amp; Forecast: </a:t>
            </a:r>
            <a:r>
              <a:rPr lang="en-US" sz="1100" dirty="0"/>
              <a:t>Nhập liệu → 2. Doanh thu hàng tháng (tab Revenue)</a:t>
            </a:r>
            <a:r>
              <a:rPr lang="en-US" sz="1100" dirty="0">
                <a:solidFill>
                  <a:srgbClr val="262626"/>
                </a:solidFill>
                <a:latin typeface="Calibri" pitchFamily="34" charset="0"/>
              </a:rPr>
              <a:t> (Revenue/Cost/Funds)</a:t>
            </a:r>
          </a:p>
          <a:p>
            <a:pPr>
              <a:lnSpc>
                <a:spcPct val="106000"/>
              </a:lnSpc>
              <a:spcAft>
                <a:spcPts val="500"/>
              </a:spcAft>
            </a:pPr>
            <a:r>
              <a:rPr lang="en-US" sz="1100" dirty="0">
                <a:solidFill>
                  <a:srgbClr val="262626"/>
                </a:solidFill>
                <a:latin typeface="Calibri" pitchFamily="34" charset="0"/>
              </a:rPr>
              <a:t>        - Cost (Cumulative Execution): </a:t>
            </a:r>
            <a:r>
              <a:rPr lang="en-US" sz="1100" dirty="0"/>
              <a:t>Nhập liệu → 4. Tình trạng thực hiện ngân sách (tab Budget Execution)</a:t>
            </a:r>
            <a:br>
              <a:rPr lang="en-US" sz="1100" dirty="0">
                <a:solidFill>
                  <a:srgbClr val="262626"/>
                </a:solidFill>
                <a:latin typeface="Calibri" pitchFamily="34" charset="0"/>
              </a:rPr>
            </a:br>
            <a:r>
              <a:rPr lang="en-US" sz="1100" dirty="0">
                <a:solidFill>
                  <a:srgbClr val="262626"/>
                </a:solidFill>
                <a:latin typeface="Calibri" pitchFamily="34" charset="0"/>
              </a:rPr>
              <a:t>        - Cashflow: </a:t>
            </a:r>
            <a:r>
              <a:rPr lang="en-US" sz="1100" dirty="0"/>
              <a:t>Nhập liệu → 6. Dòng tiền hàng tháng (tab Cash Flow)</a:t>
            </a:r>
            <a:r>
              <a:rPr lang="en-US" sz="1100" dirty="0">
                <a:latin typeface="Calibri" pitchFamily="34" charset="0"/>
              </a:rPr>
              <a:t>    </a:t>
            </a:r>
          </a:p>
          <a:p>
            <a:pPr>
              <a:lnSpc>
                <a:spcPct val="106000"/>
              </a:lnSpc>
              <a:spcAft>
                <a:spcPts val="500"/>
              </a:spcAft>
            </a:pPr>
            <a:r>
              <a:rPr lang="en-US" sz="1100" dirty="0">
                <a:solidFill>
                  <a:srgbClr val="262626"/>
                </a:solidFill>
                <a:latin typeface="Calibri" pitchFamily="34" charset="0"/>
              </a:rPr>
              <a:t>        - Key Issues &amp; Action Plan (Vấn đề trọng yếu &amp; Kế hoạch hành động): Nhập thủ công</a:t>
            </a:r>
          </a:p>
          <a:p>
            <a:pPr>
              <a:lnSpc>
                <a:spcPct val="106000"/>
              </a:lnSpc>
              <a:spcAft>
                <a:spcPts val="500"/>
              </a:spcAft>
            </a:pPr>
            <a:r>
              <a:rPr lang="en-US" sz="1100" b="1" dirty="0">
                <a:solidFill>
                  <a:schemeClr val="accent1">
                    <a:lumMod val="75000"/>
                  </a:schemeClr>
                </a:solidFill>
                <a:latin typeface="Calibri" pitchFamily="34" charset="0"/>
              </a:rPr>
              <a:t>3  </a:t>
            </a:r>
            <a:r>
              <a:rPr lang="en-US" sz="1100" b="1" dirty="0">
                <a:solidFill>
                  <a:srgbClr val="262626"/>
                </a:solidFill>
                <a:latin typeface="Calibri" pitchFamily="34" charset="0"/>
              </a:rPr>
              <a:t>    </a:t>
            </a:r>
            <a:r>
              <a:rPr lang="en-US" sz="1100" b="1" dirty="0">
                <a:solidFill>
                  <a:schemeClr val="accent1">
                    <a:lumMod val="75000"/>
                  </a:schemeClr>
                </a:solidFill>
                <a:latin typeface="Calibri" pitchFamily="34" charset="0"/>
              </a:rPr>
              <a:t>Export Report:</a:t>
            </a:r>
          </a:p>
          <a:p>
            <a:pPr>
              <a:lnSpc>
                <a:spcPct val="106000"/>
              </a:lnSpc>
              <a:spcAft>
                <a:spcPts val="500"/>
              </a:spcAft>
            </a:pPr>
            <a:r>
              <a:rPr lang="en-US" sz="1100" dirty="0">
                <a:solidFill>
                  <a:srgbClr val="262626"/>
                </a:solidFill>
                <a:latin typeface="Calibri" pitchFamily="34" charset="0"/>
              </a:rPr>
              <a:t>         - Bộ chọn Base Month và ô Comment (theo tháng) hoạt động giống như ở công trường Xây dựng.</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7909EECF-972C-4175-E12B-9380A55B8E12}"/>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2EAA91A6-0690-1C22-11F8-DF472FF06896}"/>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BF172554-2FCA-CEE1-5D8F-4B2F7DBB790F}"/>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75E007B1-9DC8-CD21-E73D-E533075CFEC3}"/>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4A9470F9-64A8-0E3C-C06A-A2A98A5439C9}"/>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90BF4040-0F87-470B-76F7-9596136803EE}"/>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F4B4F831-5415-ADB7-3961-90433B3845EA}"/>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A5C572B7-DEE3-1F02-6C29-DD369986389F}"/>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2A569C0D-90AE-CB09-5B1E-3CEAE5C6F443}"/>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FC4C2C89-8CEB-BDAE-6AFD-C0862CCB8894}"/>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867192B3-2AC9-EA51-1742-932E048F834C}"/>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F74C44FF-1CF4-2586-AA15-7B32BAB3E722}"/>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4E3A46A1-FA21-8086-8032-680A99FC0F58}"/>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E1660170-4483-BCAF-17C6-55B1A8701A3C}"/>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03568FFB-7CCC-2285-33E5-16EFCDD843C6}"/>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80BA7B24-3B63-F020-7966-ABB65A82D260}"/>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EFCF2429-AA5F-BA45-2463-4997AEF0459F}"/>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276EB2DE-FEC9-2882-AFB5-2CA914E50197}"/>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FA9502BA-B795-2896-2A5A-A1A5D5D33F94}"/>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F376C14C-0EC1-EF58-307E-1B486AC127B9}"/>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B40C74B9-C84E-BD37-D4D3-CC9457E57CFB}"/>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grpSp>
        <p:nvGrpSpPr>
          <p:cNvPr id="4" name="Group 3">
            <a:extLst>
              <a:ext uri="{FF2B5EF4-FFF2-40B4-BE49-F238E27FC236}">
                <a16:creationId xmlns:a16="http://schemas.microsoft.com/office/drawing/2014/main" id="{DE903398-CEB7-45F2-D3A3-36A704868F4B}"/>
              </a:ext>
            </a:extLst>
          </p:cNvPr>
          <p:cNvGrpSpPr/>
          <p:nvPr/>
        </p:nvGrpSpPr>
        <p:grpSpPr>
          <a:xfrm>
            <a:off x="320039" y="1851589"/>
            <a:ext cx="6985635" cy="3615785"/>
            <a:chOff x="603504" y="2271924"/>
            <a:chExt cx="6473152" cy="3148735"/>
          </a:xfrm>
        </p:grpSpPr>
        <p:sp>
          <p:nvSpPr>
            <p:cNvPr id="25" name="Shape 23"/>
            <p:cNvSpPr/>
            <p:nvPr/>
          </p:nvSpPr>
          <p:spPr>
            <a:xfrm>
              <a:off x="603504" y="2271924"/>
              <a:ext cx="6473152" cy="3148735"/>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75583"/>
            </a:xfrm>
            <a:prstGeom prst="rect">
              <a:avLst/>
            </a:prstGeom>
          </p:spPr>
        </p:pic>
        <p:sp>
          <p:nvSpPr>
            <p:cNvPr id="100" name="Box 1"/>
            <p:cNvSpPr/>
            <p:nvPr/>
          </p:nvSpPr>
          <p:spPr>
            <a:xfrm>
              <a:off x="1403170" y="2540745"/>
              <a:ext cx="5573872" cy="331778"/>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3170" y="3287245"/>
              <a:ext cx="5573872" cy="1824780"/>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403170" y="3104767"/>
              <a:ext cx="5573872" cy="116122"/>
            </a:xfrm>
            <a:prstGeom prst="roundRect">
              <a:avLst>
                <a:gd name="adj" fmla="val 10000"/>
              </a:avLst>
            </a:prstGeom>
            <a:noFill/>
            <a:ln w="19050">
              <a:solidFill>
                <a:srgbClr val="1F3A6E"/>
              </a:solidFill>
            </a:ln>
          </p:spPr>
          <p:txBody>
            <a:bodyPr/>
            <a:lstStyle/>
            <a:p>
              <a:endParaRPr lang="en-US"/>
            </a:p>
          </p:txBody>
        </p:sp>
        <p:sp>
          <p:nvSpPr>
            <p:cNvPr id="201" name="Callout 2"/>
            <p:cNvSpPr/>
            <p:nvPr/>
          </p:nvSpPr>
          <p:spPr>
            <a:xfrm>
              <a:off x="1211130" y="329502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1238170" y="2988643"/>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sp>
          <p:nvSpPr>
            <p:cNvPr id="3" name="Callout 2">
              <a:extLst>
                <a:ext uri="{FF2B5EF4-FFF2-40B4-BE49-F238E27FC236}">
                  <a16:creationId xmlns:a16="http://schemas.microsoft.com/office/drawing/2014/main" id="{E6B50000-7F5B-01D6-E26C-0BC064E1F5F0}"/>
                </a:ext>
              </a:extLst>
            </p:cNvPr>
            <p:cNvSpPr/>
            <p:nvPr/>
          </p:nvSpPr>
          <p:spPr>
            <a:xfrm>
              <a:off x="1183170" y="2499853"/>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Revenue/Cost (Doanh thu/Chi phí)</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787B988E-6974-5479-97BD-BB99AB61D5A9}"/>
              </a:ext>
            </a:extLst>
          </p:cNvPr>
          <p:cNvGrpSpPr/>
          <p:nvPr/>
        </p:nvGrpSpPr>
        <p:grpSpPr>
          <a:xfrm>
            <a:off x="320039" y="1895311"/>
            <a:ext cx="7038623" cy="3493346"/>
            <a:chOff x="603504" y="2271924"/>
            <a:chExt cx="6473152" cy="3121722"/>
          </a:xfrm>
        </p:grpSpPr>
        <p:sp>
          <p:nvSpPr>
            <p:cNvPr id="25" name="Shape 23"/>
            <p:cNvSpPr/>
            <p:nvPr/>
          </p:nvSpPr>
          <p:spPr>
            <a:xfrm>
              <a:off x="603504" y="2271924"/>
              <a:ext cx="6473152" cy="3121722"/>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48570"/>
            </a:xfrm>
            <a:prstGeom prst="rect">
              <a:avLst/>
            </a:prstGeom>
          </p:spPr>
        </p:pic>
        <p:sp>
          <p:nvSpPr>
            <p:cNvPr id="100" name="Box 1"/>
            <p:cNvSpPr/>
            <p:nvPr/>
          </p:nvSpPr>
          <p:spPr>
            <a:xfrm>
              <a:off x="1405551" y="3123893"/>
              <a:ext cx="5591264" cy="965159"/>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5551" y="4188895"/>
              <a:ext cx="5591264" cy="881955"/>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405551" y="5120772"/>
              <a:ext cx="5591264" cy="232969"/>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5551" y="3013893"/>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95551" y="407889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1295551" y="5010772"/>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558663" y="1895311"/>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58663" y="2415311"/>
            <a:ext cx="4211840" cy="2973346"/>
          </a:xfrm>
          <a:prstGeom prst="rect">
            <a:avLst/>
          </a:prstGeom>
          <a:solidFill>
            <a:srgbClr val="F4F8FD"/>
          </a:solidFill>
          <a:ln w="9525">
            <a:solidFill>
              <a:srgbClr val="BFBFBF"/>
            </a:solidFill>
          </a:ln>
        </p:spPr>
        <p:txBody>
          <a:bodyPr/>
          <a:lstStyle/>
          <a:p>
            <a:endParaRPr lang="en-US"/>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CDA487B5-33B4-7BF6-615C-140222F8D7D8}"/>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E8F5756B-AEE2-4BDA-303B-6650A9221C9D}"/>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29B2C534-D028-D0C0-1BBE-0C2262979204}"/>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14A1149D-12FB-8CD0-615C-BC50988CDE33}"/>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1189AA0A-8ADB-F986-170B-13C7DB9820C6}"/>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32608577-81F4-0342-C51E-5E076F3D78C7}"/>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9DCFC875-2E16-B84B-388F-B29030383A20}"/>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3BA5C331-1790-EBA1-AAB6-AEA51F6D5344}"/>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3DDA007B-3F8B-5689-6C5E-91BA35ABFFE3}"/>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E7BDC9B0-BB0E-8AA2-D379-CDDBDD1DFC76}"/>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74655B75-A565-1F8B-8860-9A83F0B638A1}"/>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B2EE9F0D-64CA-C009-C38C-EB5EA9F1F19F}"/>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BF1039D5-6C7A-8C8A-C404-6DE6BD42DAF2}"/>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205F04F7-2479-5714-62C3-FDAF54DBE44B}"/>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FDFEA037-73F8-1C51-1D9F-CDA15167D5CA}"/>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E5FD0F9C-077D-71E4-5433-A0F176BD1273}"/>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D64F9FEF-D207-F5E8-175F-D6D7BBD131C4}"/>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CB1A9DF8-8B1D-98FD-5418-ED8B7BA3F4F7}"/>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A0922215-9B71-9ABF-D961-AA73D4C46E7E}"/>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3C60D778-E901-D024-A91F-F838869EA757}"/>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B8D48468-86C7-BDC3-8CA0-15D5829A6ABA}"/>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4" name="Panel Text">
            <a:extLst>
              <a:ext uri="{FF2B5EF4-FFF2-40B4-BE49-F238E27FC236}">
                <a16:creationId xmlns:a16="http://schemas.microsoft.com/office/drawing/2014/main" id="{9CBF8D62-47F4-D207-2CB4-55A6B68B227B}"/>
              </a:ext>
            </a:extLst>
          </p:cNvPr>
          <p:cNvSpPr txBox="1"/>
          <p:nvPr/>
        </p:nvSpPr>
        <p:spPr>
          <a:xfrm>
            <a:off x="7758663" y="2529602"/>
            <a:ext cx="3811840" cy="2238554"/>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Revenue (Doanh thu)</a:t>
            </a:r>
            <a:r>
              <a:rPr lang="en-US" sz="1100" dirty="0">
                <a:solidFill>
                  <a:srgbClr val="262626"/>
                </a:solidFill>
                <a:latin typeface="Calibri" pitchFamily="34" charset="0"/>
              </a:rPr>
              <a:t> (K USD): </a:t>
            </a:r>
          </a:p>
          <a:p>
            <a:pPr marL="171450" indent="-171450">
              <a:lnSpc>
                <a:spcPct val="100000"/>
              </a:lnSpc>
              <a:spcAft>
                <a:spcPts val="500"/>
              </a:spcAft>
              <a:buFontTx/>
              <a:buChar char="-"/>
            </a:pPr>
            <a:r>
              <a:rPr lang="en-US" sz="1100" dirty="0"/>
              <a:t>Hiển thị Plan so với Actual theo từng tháng cho năm đã chọn. Cột nét đứt thể hiện các tháng dự báo chưa chốt số liệu.</a:t>
            </a:r>
          </a:p>
          <a:p>
            <a:pPr marL="171450" indent="-171450">
              <a:lnSpc>
                <a:spcPct val="100000"/>
              </a:lnSpc>
              <a:spcAft>
                <a:spcPts val="500"/>
              </a:spcAft>
              <a:buFontTx/>
              <a:buChar char="-"/>
            </a:pPr>
            <a:r>
              <a:rPr lang="en-US" sz="1100" dirty="0"/>
              <a:t>Nguồn: Nhập liệu → 2. Doanh thu hàng tháng → Plan, Actual, Forecast</a:t>
            </a:r>
            <a:endParaRPr lang="en-US" sz="1100" b="1"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Cumulative Cost Ratio (Tỷ lệ chi phí lũy kế)</a:t>
            </a:r>
            <a:r>
              <a:rPr lang="en-US" sz="1100" dirty="0">
                <a:solidFill>
                  <a:srgbClr val="262626"/>
                </a:solidFill>
                <a:latin typeface="Calibri" pitchFamily="34" charset="0"/>
              </a:rPr>
              <a:t> (%) </a:t>
            </a:r>
          </a:p>
          <a:p>
            <a:pPr marL="171450" indent="-171450">
              <a:lnSpc>
                <a:spcPct val="100000"/>
              </a:lnSpc>
              <a:spcAft>
                <a:spcPts val="500"/>
              </a:spcAft>
              <a:buFontTx/>
              <a:buChar char="-"/>
            </a:pPr>
            <a:r>
              <a:rPr lang="en-US" sz="1100" dirty="0"/>
              <a:t>Hiển thị xu hướng tỷ lệ chi phí trên doanh thu trong năm, với giá trị mới nhất được tô nổi bật</a:t>
            </a:r>
          </a:p>
          <a:p>
            <a:pPr marL="171450" indent="-171450">
              <a:spcAft>
                <a:spcPts val="500"/>
              </a:spcAft>
              <a:buFontTx/>
              <a:buChar char="-"/>
            </a:pPr>
            <a:r>
              <a:rPr lang="en-US" sz="1100" dirty="0">
                <a:solidFill>
                  <a:srgbClr val="262626"/>
                </a:solidFill>
                <a:latin typeface="Calibri" pitchFamily="34" charset="0"/>
              </a:rPr>
              <a:t>Nguồn: </a:t>
            </a:r>
            <a:r>
              <a:rPr lang="en-US" sz="1100" dirty="0"/>
              <a:t>Nhập liệu → 1. Giá trị hợp đồng &amp; Chi phí → Tỷ lệ chi phí ước tính hoàn thành → Ratio</a:t>
            </a:r>
            <a:endParaRPr lang="en-US" sz="1100" dirty="0">
              <a:solidFill>
                <a:srgbClr val="262626"/>
              </a:solidFill>
              <a:latin typeface="Calibri" pitchFamily="34" charset="0"/>
            </a:endParaRPr>
          </a:p>
          <a:p>
            <a:pPr marL="0" indent="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Nhập ghi chú.</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Outsourcing (Thầu phụ)</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sp>
        <p:nvSpPr>
          <p:cNvPr id="300" name="Panel Header"/>
          <p:cNvSpPr/>
          <p:nvPr/>
        </p:nvSpPr>
        <p:spPr>
          <a:xfrm>
            <a:off x="7571880" y="1735614"/>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71880" y="2255614"/>
            <a:ext cx="4211840" cy="3145740"/>
          </a:xfrm>
          <a:prstGeom prst="rect">
            <a:avLst/>
          </a:prstGeom>
          <a:solidFill>
            <a:srgbClr val="F4F8FD"/>
          </a:solidFill>
          <a:ln w="9525">
            <a:solidFill>
              <a:srgbClr val="BFBFBF"/>
            </a:solidFill>
          </a:ln>
        </p:spPr>
        <p:txBody>
          <a:bodyPr/>
          <a:lstStyle/>
          <a:p>
            <a:endParaRPr lang="en-US"/>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D003DD6E-738C-7BFF-C13F-F12A34A429C7}"/>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AFA5FD88-6C7F-1DF0-FF1B-94DDBDD8FDD5}"/>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24B50AC0-36F3-CEE3-0F57-C52FC63E93F2}"/>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0C0E2620-A204-5AAB-92CA-610168AE9086}"/>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FE38E1D9-EF16-BBC2-909A-59752917B136}"/>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BA9542B9-C5F0-2601-F142-D359996F69F7}"/>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EE2C5FA1-E594-7A92-7756-D05DF41F1EF0}"/>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77562147-E6F5-83EC-A400-C4BBB4152202}"/>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6B57B693-D8CB-2D9F-E9CA-0F361F9C266D}"/>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79F73E1D-F86D-51C2-75EB-98A755F1FA12}"/>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F4A99216-F3D2-FC55-9767-032DA581470B}"/>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2AAA7F7F-A193-84FE-9441-EBC296A2EC34}"/>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8FCFFC79-C464-BC7B-1C6D-258E93622C90}"/>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72FE652E-0285-3D8B-4C98-1DF556B5B3F3}"/>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6BE5E5C0-1DE7-7CC3-0384-A461AAFE5125}"/>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EF03490E-EB2E-4C80-5D40-ADB120F15350}"/>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0EC2FEDF-C28E-C24D-7999-665BDEBD39ED}"/>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723BE255-0467-72AB-EE82-3F24E7130F83}"/>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73D4F77C-2CA6-B71B-3E9F-3E9EF3DBA628}"/>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0D27796A-25AA-4275-9EB4-D2FB94E80EB3}"/>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C8FB1691-21E6-DCE9-A8BD-1D97663BC3CD}"/>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 name="Panel Text">
            <a:extLst>
              <a:ext uri="{FF2B5EF4-FFF2-40B4-BE49-F238E27FC236}">
                <a16:creationId xmlns:a16="http://schemas.microsoft.com/office/drawing/2014/main" id="{D40B505C-A579-BF5E-41F0-FC334ED849F6}"/>
              </a:ext>
            </a:extLst>
          </p:cNvPr>
          <p:cNvSpPr txBox="1"/>
          <p:nvPr/>
        </p:nvSpPr>
        <p:spPr>
          <a:xfrm>
            <a:off x="7778559" y="2371805"/>
            <a:ext cx="3798481" cy="3002850"/>
          </a:xfrm>
          <a:prstGeom prst="rect">
            <a:avLst/>
          </a:prstGeom>
          <a:noFill/>
          <a:ln/>
        </p:spPr>
        <p:txBody>
          <a:bodyPr wrap="square" lIns="0" tIns="0" rIns="0" bIns="0" rtlCol="0" anchor="t"/>
          <a:lstStyle/>
          <a:p>
            <a:pPr>
              <a:lnSpc>
                <a:spcPct val="106000"/>
              </a:lnSpc>
              <a:spcAft>
                <a:spcPts val="500"/>
              </a:spcAft>
            </a:pPr>
            <a:r>
              <a:rPr lang="en-US" sz="1100" b="1" dirty="0">
                <a:solidFill>
                  <a:srgbClr val="1F3A6E"/>
                </a:solidFill>
                <a:latin typeface="Calibri" pitchFamily="34" charset="0"/>
              </a:rPr>
              <a:t>Outsourcing &amp; Materials (Thầu phụ &amp; Vật tư)</a:t>
            </a:r>
          </a:p>
          <a:p>
            <a:pPr>
              <a:spcAft>
                <a:spcPts val="500"/>
              </a:spcAft>
            </a:pPr>
            <a:r>
              <a:rPr lang="en-US" sz="1100" b="1" dirty="0">
                <a:solidFill>
                  <a:srgbClr val="1F3A6E"/>
                </a:solidFill>
                <a:latin typeface="Calibri" pitchFamily="34" charset="0"/>
              </a:rPr>
              <a:t>1 </a:t>
            </a:r>
            <a:r>
              <a:rPr lang="en-US" sz="1100" dirty="0"/>
              <a:t>Liệt kê từng đơn hàng thầu phụ/vật tư kèm Trade (Category/Detailed Trade), Vendor Name (Tên nhà cung cấp), Initial Contract Date (Ngày hợp đồng ban đầu) và Change Contract Round (Lần thay đổi hợp đồng). </a:t>
            </a:r>
          </a:p>
          <a:p>
            <a:pPr>
              <a:spcAft>
                <a:spcPts val="500"/>
              </a:spcAft>
            </a:pPr>
            <a:r>
              <a:rPr lang="en-US" sz="1100" dirty="0"/>
              <a:t>Nguồn: Nhập liệu → 5. Thầu phụ/Vật tư</a:t>
            </a:r>
          </a:p>
          <a:p>
            <a:pPr marL="228600" indent="-228600">
              <a:spcAft>
                <a:spcPts val="500"/>
              </a:spcAft>
              <a:buAutoNum type="arabicPlain" startAt="2"/>
            </a:pPr>
            <a:r>
              <a:rPr lang="en-US" sz="1100" b="1" dirty="0">
                <a:solidFill>
                  <a:srgbClr val="1F3A6E"/>
                </a:solidFill>
                <a:latin typeface="Calibri" pitchFamily="34" charset="0"/>
              </a:rPr>
              <a:t>Budget (A) (Ngân sách), Executed Budget (Ngân sách đã thực hiện)</a:t>
            </a:r>
            <a:r>
              <a:rPr lang="en-US" sz="1100" dirty="0">
                <a:solidFill>
                  <a:srgbClr val="262626"/>
                </a:solidFill>
                <a:latin typeface="Calibri" pitchFamily="34" charset="0"/>
              </a:rPr>
              <a:t>, </a:t>
            </a:r>
            <a:r>
              <a:rPr lang="en-US" sz="1100" b="1" dirty="0">
                <a:solidFill>
                  <a:srgbClr val="1F3A6E"/>
                </a:solidFill>
                <a:latin typeface="Calibri" pitchFamily="34" charset="0"/>
              </a:rPr>
              <a:t>Resolved Amount (B) (Số tiền đã quyết toán): </a:t>
            </a:r>
          </a:p>
          <a:p>
            <a:pPr marL="171450" indent="-171450">
              <a:spcAft>
                <a:spcPts val="500"/>
              </a:spcAft>
              <a:buFontTx/>
              <a:buChar char="-"/>
            </a:pPr>
            <a:r>
              <a:rPr lang="en-US" sz="1100" dirty="0">
                <a:solidFill>
                  <a:srgbClr val="1F3A6E"/>
                </a:solidFill>
                <a:latin typeface="Calibri" pitchFamily="34" charset="0"/>
              </a:rPr>
              <a:t>Source (Nguồn)</a:t>
            </a:r>
            <a:r>
              <a:rPr lang="en-US" sz="1100" b="1" dirty="0">
                <a:solidFill>
                  <a:srgbClr val="1F3A6E"/>
                </a:solidFill>
                <a:latin typeface="Calibri" pitchFamily="34" charset="0"/>
              </a:rPr>
              <a:t>: </a:t>
            </a:r>
            <a:r>
              <a:rPr lang="en-US" sz="1100" dirty="0"/>
              <a:t>Nhập liệu → 5. Thầu phụ/Vật tư </a:t>
            </a:r>
          </a:p>
          <a:p>
            <a:pPr marL="171450" indent="-171450">
              <a:spcAft>
                <a:spcPts val="500"/>
              </a:spcAft>
              <a:buFontTx/>
              <a:buChar char="-"/>
            </a:pPr>
            <a:r>
              <a:rPr lang="en-US" sz="1100" dirty="0">
                <a:solidFill>
                  <a:srgbClr val="262626"/>
                </a:solidFill>
                <a:latin typeface="Calibri" pitchFamily="34" charset="0"/>
              </a:rPr>
              <a:t>Resolved Rate (Tỷ lệ quyết toán) = B/A, vượt 100% sẽ được đánh dấu đỏ.</a:t>
            </a:r>
          </a:p>
          <a:p>
            <a:pPr marL="228600" indent="-228600">
              <a:lnSpc>
                <a:spcPct val="106000"/>
              </a:lnSpc>
              <a:spcAft>
                <a:spcPts val="400"/>
              </a:spcAft>
              <a:buAutoNum type="arabicPlain" startAt="3"/>
            </a:pPr>
            <a:r>
              <a:rPr lang="en-US" sz="1100" b="1" dirty="0">
                <a:solidFill>
                  <a:srgbClr val="1F3A6E"/>
                </a:solidFill>
                <a:latin typeface="Calibri" pitchFamily="34" charset="0"/>
              </a:rPr>
              <a:t>Progress Billing Status (Tình trạng thanh toán theo tiến độ)</a:t>
            </a:r>
            <a:r>
              <a:rPr lang="en-US" sz="1100" dirty="0">
                <a:solidFill>
                  <a:srgbClr val="262626"/>
                </a:solidFill>
                <a:latin typeface="Calibri" pitchFamily="34" charset="0"/>
              </a:rPr>
              <a:t>: </a:t>
            </a:r>
          </a:p>
          <a:p>
            <a:pPr marL="171450" indent="-171450">
              <a:lnSpc>
                <a:spcPct val="106000"/>
              </a:lnSpc>
              <a:spcAft>
                <a:spcPts val="400"/>
              </a:spcAft>
              <a:buFontTx/>
              <a:buChar char="-"/>
            </a:pPr>
            <a:r>
              <a:rPr lang="en-US" sz="1100" dirty="0">
                <a:solidFill>
                  <a:srgbClr val="262626"/>
                </a:solidFill>
                <a:latin typeface="Calibri" pitchFamily="34" charset="0"/>
              </a:rPr>
              <a:t>This Month (Tháng này), Cumulative (C) (Lũy kế): </a:t>
            </a:r>
            <a:r>
              <a:rPr lang="en-US" sz="1100" dirty="0"/>
              <a:t>Nhập liệu → 5. Thầu phụ/Vật tư </a:t>
            </a:r>
            <a:r>
              <a:rPr lang="en-US" sz="1100" dirty="0">
                <a:solidFill>
                  <a:srgbClr val="262626"/>
                </a:solidFill>
                <a:latin typeface="Calibri" pitchFamily="34" charset="0"/>
              </a:rPr>
              <a:t> </a:t>
            </a:r>
          </a:p>
          <a:p>
            <a:pPr marL="171450" indent="-171450">
              <a:lnSpc>
                <a:spcPct val="106000"/>
              </a:lnSpc>
              <a:spcAft>
                <a:spcPts val="400"/>
              </a:spcAft>
              <a:buFontTx/>
              <a:buChar char="-"/>
            </a:pPr>
            <a:r>
              <a:rPr lang="en-US" sz="1100" dirty="0">
                <a:solidFill>
                  <a:srgbClr val="262626"/>
                </a:solidFill>
                <a:latin typeface="Calibri" pitchFamily="34" charset="0"/>
              </a:rPr>
              <a:t>Ratio (Tỷ lệ) = C/B, Remaining Billing (Số tiền còn phải thanh toán) = B−C theo từng nhà cung cấp</a:t>
            </a:r>
          </a:p>
          <a:p>
            <a:pPr marL="171450" indent="-171450">
              <a:lnSpc>
                <a:spcPct val="106000"/>
              </a:lnSpc>
              <a:spcAft>
                <a:spcPts val="400"/>
              </a:spcAft>
              <a:buFontTx/>
              <a:buChar char="-"/>
            </a:pPr>
            <a:r>
              <a:rPr lang="en-US" sz="1100" dirty="0">
                <a:solidFill>
                  <a:srgbClr val="262626"/>
                </a:solidFill>
                <a:latin typeface="Calibri" pitchFamily="34" charset="0"/>
              </a:rPr>
              <a:t>Có thể chọn Base month ở góc trên bên phải.</a:t>
            </a:r>
          </a:p>
        </p:txBody>
      </p:sp>
      <p:grpSp>
        <p:nvGrpSpPr>
          <p:cNvPr id="6" name="Group 5">
            <a:extLst>
              <a:ext uri="{FF2B5EF4-FFF2-40B4-BE49-F238E27FC236}">
                <a16:creationId xmlns:a16="http://schemas.microsoft.com/office/drawing/2014/main" id="{E6731502-88A7-F38E-C5F0-95E66E257348}"/>
              </a:ext>
            </a:extLst>
          </p:cNvPr>
          <p:cNvGrpSpPr/>
          <p:nvPr/>
        </p:nvGrpSpPr>
        <p:grpSpPr>
          <a:xfrm>
            <a:off x="320039" y="1719072"/>
            <a:ext cx="7033273" cy="3682282"/>
            <a:chOff x="603504" y="2271924"/>
            <a:chExt cx="6473152" cy="3135464"/>
          </a:xfrm>
        </p:grpSpPr>
        <p:sp>
          <p:nvSpPr>
            <p:cNvPr id="25" name="Shape 23"/>
            <p:cNvSpPr/>
            <p:nvPr/>
          </p:nvSpPr>
          <p:spPr>
            <a:xfrm>
              <a:off x="603504" y="2271924"/>
              <a:ext cx="6473152" cy="3135464"/>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2312"/>
            </a:xfrm>
            <a:prstGeom prst="rect">
              <a:avLst/>
            </a:prstGeom>
          </p:spPr>
        </p:pic>
        <p:sp>
          <p:nvSpPr>
            <p:cNvPr id="100" name="Box 1"/>
            <p:cNvSpPr/>
            <p:nvPr/>
          </p:nvSpPr>
          <p:spPr>
            <a:xfrm>
              <a:off x="1403171" y="3241462"/>
              <a:ext cx="1990668" cy="846034"/>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3425357" y="3259620"/>
              <a:ext cx="1791602" cy="846034"/>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319198" y="3195439"/>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3367310" y="3139219"/>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4" name="Box 2">
              <a:extLst>
                <a:ext uri="{FF2B5EF4-FFF2-40B4-BE49-F238E27FC236}">
                  <a16:creationId xmlns:a16="http://schemas.microsoft.com/office/drawing/2014/main" id="{3596D4B5-E91A-6D75-B03F-C7EE083BA7FB}"/>
                </a:ext>
              </a:extLst>
            </p:cNvPr>
            <p:cNvSpPr/>
            <p:nvPr/>
          </p:nvSpPr>
          <p:spPr>
            <a:xfrm>
              <a:off x="5216959" y="3238721"/>
              <a:ext cx="1791602" cy="846034"/>
            </a:xfrm>
            <a:prstGeom prst="roundRect">
              <a:avLst>
                <a:gd name="adj" fmla="val 10000"/>
              </a:avLst>
            </a:prstGeom>
            <a:noFill/>
            <a:ln w="19050">
              <a:solidFill>
                <a:srgbClr val="1F3A6E"/>
              </a:solidFill>
            </a:ln>
          </p:spPr>
          <p:txBody>
            <a:bodyPr/>
            <a:lstStyle/>
            <a:p>
              <a:endParaRPr lang="en-US"/>
            </a:p>
          </p:txBody>
        </p:sp>
        <p:sp>
          <p:nvSpPr>
            <p:cNvPr id="5" name="Callout 2">
              <a:extLst>
                <a:ext uri="{FF2B5EF4-FFF2-40B4-BE49-F238E27FC236}">
                  <a16:creationId xmlns:a16="http://schemas.microsoft.com/office/drawing/2014/main" id="{11F61B5B-F48E-C043-CF7D-F54E15AE7F8B}"/>
                </a:ext>
              </a:extLst>
            </p:cNvPr>
            <p:cNvSpPr/>
            <p:nvPr/>
          </p:nvSpPr>
          <p:spPr>
            <a:xfrm>
              <a:off x="5180383" y="3149620"/>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Cash (Tiền mặt)</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4" name="Group 3">
            <a:extLst>
              <a:ext uri="{FF2B5EF4-FFF2-40B4-BE49-F238E27FC236}">
                <a16:creationId xmlns:a16="http://schemas.microsoft.com/office/drawing/2014/main" id="{24139550-6D14-D6FF-2754-8FA815DC2425}"/>
              </a:ext>
            </a:extLst>
          </p:cNvPr>
          <p:cNvGrpSpPr/>
          <p:nvPr/>
        </p:nvGrpSpPr>
        <p:grpSpPr>
          <a:xfrm>
            <a:off x="325682" y="1823134"/>
            <a:ext cx="7075767" cy="3530678"/>
            <a:chOff x="283464" y="2051734"/>
            <a:chExt cx="6473152" cy="3143152"/>
          </a:xfrm>
        </p:grpSpPr>
        <p:sp>
          <p:nvSpPr>
            <p:cNvPr id="25" name="Shape 23"/>
            <p:cNvSpPr/>
            <p:nvPr/>
          </p:nvSpPr>
          <p:spPr>
            <a:xfrm>
              <a:off x="283464" y="2051734"/>
              <a:ext cx="6473152" cy="3143152"/>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320040" y="2088310"/>
              <a:ext cx="6400000" cy="3070000"/>
            </a:xfrm>
            <a:prstGeom prst="rect">
              <a:avLst/>
            </a:prstGeom>
          </p:spPr>
        </p:pic>
        <p:sp>
          <p:nvSpPr>
            <p:cNvPr id="100" name="Box 1"/>
            <p:cNvSpPr/>
            <p:nvPr/>
          </p:nvSpPr>
          <p:spPr>
            <a:xfrm>
              <a:off x="1019557" y="2865161"/>
              <a:ext cx="5667151" cy="1806482"/>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6103373" y="2921643"/>
              <a:ext cx="266667" cy="66667"/>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891269" y="276831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5883373" y="287831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73404" y="1812213"/>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73404" y="2332213"/>
            <a:ext cx="4211840" cy="2980514"/>
          </a:xfrm>
          <a:prstGeom prst="rect">
            <a:avLst/>
          </a:prstGeom>
          <a:solidFill>
            <a:srgbClr val="F4F8FD"/>
          </a:solidFill>
          <a:ln w="9525">
            <a:solidFill>
              <a:srgbClr val="BFBFBF"/>
            </a:solidFill>
          </a:ln>
        </p:spPr>
        <p:txBody>
          <a:bodyPr/>
          <a:lstStyle/>
          <a:p>
            <a:endParaRPr lang="en-US"/>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07269079-6D1A-88F3-6168-BFAEAA975392}"/>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0F5C99BF-58F1-2D82-D831-CE236D2242F3}"/>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5A094094-6FB5-9B16-643D-19AF4F1A896B}"/>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183ADC5E-228D-D3B1-7D14-2EFA68C02D5A}"/>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51AB6847-B0B5-5435-CD46-95A0DEFCB194}"/>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9ED895C7-8900-B2B8-8B60-DA4CDF925442}"/>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54DAF5E9-CE06-3B38-FAE0-46423411779F}"/>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AB01F3D6-D687-F36F-CE70-284DC2F8CA52}"/>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1BDCF704-0CBC-AB73-C70F-9F755054EC46}"/>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413C8F8B-C52A-D54B-FCEE-90F032F94E5C}"/>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CA5DDD33-71AC-A5CA-891E-09D0A1E411BD}"/>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564F541A-A844-E9FB-759F-6ABC890B81EC}"/>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1D722998-5BF9-03D1-7EE6-A797BFBC8966}"/>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2A634879-49CD-64E3-4F5C-C9803B385673}"/>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ABDCF998-43EB-4CE1-9620-C961B98047DA}"/>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6631856E-F5B7-45F1-EE52-546B6C34E5EE}"/>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CED0C597-7B21-749B-077F-904E502C6B76}"/>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E31AA782-80BD-4107-A642-E397C2085EEF}"/>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1FE1D3E8-E6EA-C616-D00C-93B0B8EF40D6}"/>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FE68B649-F5AC-CC44-D46D-2E3810CAF86E}"/>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BF9DF04F-2BB3-9EBB-2862-85C3CBD22B11}"/>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 name="Panel Text">
            <a:extLst>
              <a:ext uri="{FF2B5EF4-FFF2-40B4-BE49-F238E27FC236}">
                <a16:creationId xmlns:a16="http://schemas.microsoft.com/office/drawing/2014/main" id="{E1A4E0CC-B60B-6D5A-FDBB-D00147787132}"/>
              </a:ext>
            </a:extLst>
          </p:cNvPr>
          <p:cNvSpPr txBox="1"/>
          <p:nvPr/>
        </p:nvSpPr>
        <p:spPr>
          <a:xfrm>
            <a:off x="7773404" y="2535546"/>
            <a:ext cx="3811840" cy="2260000"/>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262626"/>
                </a:solidFill>
                <a:latin typeface="Calibri" pitchFamily="34" charset="0"/>
              </a:rPr>
              <a:t>Cash Flow (Dòng tiền)</a:t>
            </a:r>
            <a:r>
              <a:rPr lang="en-US" sz="1100" dirty="0">
                <a:solidFill>
                  <a:srgbClr val="262626"/>
                </a:solidFill>
                <a:latin typeface="Calibri" pitchFamily="34" charset="0"/>
              </a:rPr>
              <a:t>: </a:t>
            </a:r>
          </a:p>
          <a:p>
            <a:pPr marL="171450" indent="-171450">
              <a:lnSpc>
                <a:spcPct val="100000"/>
              </a:lnSpc>
              <a:spcAft>
                <a:spcPts val="500"/>
              </a:spcAft>
              <a:buFontTx/>
              <a:buChar char="-"/>
            </a:pPr>
            <a:r>
              <a:rPr lang="en-US" sz="1100" dirty="0"/>
              <a:t>Hiển thị thu/chi tiền thực tế dạng cột và số dư (Balance) dạng đường xuyên suốt toàn bộ thời gian. Đường đánh dấu nét đứt Reference Month phân tách số liệu thực tế với dự báo.</a:t>
            </a:r>
          </a:p>
          <a:p>
            <a:pPr marL="171450" indent="-171450">
              <a:lnSpc>
                <a:spcPct val="100000"/>
              </a:lnSpc>
              <a:spcAft>
                <a:spcPts val="500"/>
              </a:spcAft>
              <a:buFontTx/>
              <a:buChar char="-"/>
            </a:pPr>
            <a:r>
              <a:rPr lang="en-US" sz="1100" dirty="0">
                <a:solidFill>
                  <a:srgbClr val="262626"/>
                </a:solidFill>
                <a:latin typeface="Calibri" pitchFamily="34" charset="0"/>
              </a:rPr>
              <a:t>Nguồn: </a:t>
            </a:r>
            <a:r>
              <a:rPr lang="en-US" sz="1100" dirty="0"/>
              <a:t>Nhập liệu → 6. Dòng tiền hàng tháng</a:t>
            </a:r>
            <a:r>
              <a:rPr lang="en-US" sz="1100" dirty="0">
                <a:solidFill>
                  <a:srgbClr val="262626"/>
                </a:solidFill>
                <a:latin typeface="Calibri" pitchFamily="34" charset="0"/>
              </a:rPr>
              <a:t>.</a:t>
            </a:r>
          </a:p>
          <a:p>
            <a:pPr marL="0" indent="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Bộ chọn năm (góc trên bên phải) giúp tập trung vào một năm; di chuột để xem số liệu chính xác theo tháng.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txBody>
          <a:bodyPr/>
          <a:lstStyle/>
          <a:p>
            <a:endParaRPr lang="en-US"/>
          </a:p>
        </p:txBody>
      </p:sp>
      <p:sp>
        <p:nvSpPr>
          <p:cNvPr id="3" name="Shape 1"/>
          <p:cNvSpPr/>
          <p:nvPr/>
        </p:nvSpPr>
        <p:spPr>
          <a:xfrm>
            <a:off x="9887407" y="0"/>
            <a:ext cx="384048" cy="384048"/>
          </a:xfrm>
          <a:prstGeom prst="rect">
            <a:avLst/>
          </a:prstGeom>
          <a:solidFill>
            <a:srgbClr val="3F8FD0"/>
          </a:solidFill>
          <a:ln/>
        </p:spPr>
        <p:txBody>
          <a:bodyPr/>
          <a:lstStyle/>
          <a:p>
            <a:endParaRPr lang="en-US"/>
          </a:p>
        </p:txBody>
      </p:sp>
      <p:sp>
        <p:nvSpPr>
          <p:cNvPr id="4" name="Shape 2"/>
          <p:cNvSpPr/>
          <p:nvPr/>
        </p:nvSpPr>
        <p:spPr>
          <a:xfrm>
            <a:off x="10655503" y="0"/>
            <a:ext cx="384048" cy="384048"/>
          </a:xfrm>
          <a:prstGeom prst="rect">
            <a:avLst/>
          </a:prstGeom>
          <a:solidFill>
            <a:srgbClr val="3F8FD0"/>
          </a:solidFill>
          <a:ln/>
        </p:spPr>
        <p:txBody>
          <a:bodyPr/>
          <a:lstStyle/>
          <a:p>
            <a:endParaRPr lang="en-US"/>
          </a:p>
        </p:txBody>
      </p:sp>
      <p:sp>
        <p:nvSpPr>
          <p:cNvPr id="5" name="Shape 3"/>
          <p:cNvSpPr/>
          <p:nvPr/>
        </p:nvSpPr>
        <p:spPr>
          <a:xfrm>
            <a:off x="11039551" y="0"/>
            <a:ext cx="384048" cy="384048"/>
          </a:xfrm>
          <a:prstGeom prst="rect">
            <a:avLst/>
          </a:prstGeom>
          <a:solidFill>
            <a:srgbClr val="AEE0F5"/>
          </a:solidFill>
          <a:ln/>
        </p:spPr>
        <p:txBody>
          <a:bodyPr/>
          <a:lstStyle/>
          <a:p>
            <a:endParaRPr lang="en-US"/>
          </a:p>
        </p:txBody>
      </p:sp>
      <p:sp>
        <p:nvSpPr>
          <p:cNvPr id="6" name="Shape 4"/>
          <p:cNvSpPr/>
          <p:nvPr/>
        </p:nvSpPr>
        <p:spPr>
          <a:xfrm>
            <a:off x="11423599" y="0"/>
            <a:ext cx="384048" cy="384048"/>
          </a:xfrm>
          <a:prstGeom prst="rect">
            <a:avLst/>
          </a:prstGeom>
          <a:solidFill>
            <a:srgbClr val="3F8FD0"/>
          </a:solidFill>
          <a:ln/>
        </p:spPr>
        <p:txBody>
          <a:bodyPr/>
          <a:lstStyle/>
          <a:p>
            <a:endParaRPr lang="en-US"/>
          </a:p>
        </p:txBody>
      </p:sp>
      <p:sp>
        <p:nvSpPr>
          <p:cNvPr id="7" name="Shape 5"/>
          <p:cNvSpPr/>
          <p:nvPr/>
        </p:nvSpPr>
        <p:spPr>
          <a:xfrm>
            <a:off x="11807647" y="0"/>
            <a:ext cx="384048" cy="384048"/>
          </a:xfrm>
          <a:prstGeom prst="rect">
            <a:avLst/>
          </a:prstGeom>
          <a:solidFill>
            <a:srgbClr val="AEE0F5"/>
          </a:solidFill>
          <a:ln/>
        </p:spPr>
        <p:txBody>
          <a:bodyPr/>
          <a:lstStyle/>
          <a:p>
            <a:endParaRPr lang="en-US"/>
          </a:p>
        </p:txBody>
      </p:sp>
      <p:sp>
        <p:nvSpPr>
          <p:cNvPr id="8" name="Shape 6"/>
          <p:cNvSpPr/>
          <p:nvPr/>
        </p:nvSpPr>
        <p:spPr>
          <a:xfrm>
            <a:off x="10271455" y="384048"/>
            <a:ext cx="384048" cy="384048"/>
          </a:xfrm>
          <a:prstGeom prst="rect">
            <a:avLst/>
          </a:prstGeom>
          <a:solidFill>
            <a:srgbClr val="3F8FD0"/>
          </a:solidFill>
          <a:ln/>
        </p:spPr>
        <p:txBody>
          <a:bodyPr/>
          <a:lstStyle/>
          <a:p>
            <a:endParaRPr lang="en-US"/>
          </a:p>
        </p:txBody>
      </p:sp>
      <p:sp>
        <p:nvSpPr>
          <p:cNvPr id="9" name="Shape 7"/>
          <p:cNvSpPr/>
          <p:nvPr/>
        </p:nvSpPr>
        <p:spPr>
          <a:xfrm>
            <a:off x="11423599" y="384048"/>
            <a:ext cx="384048" cy="384048"/>
          </a:xfrm>
          <a:prstGeom prst="rect">
            <a:avLst/>
          </a:prstGeom>
          <a:solidFill>
            <a:srgbClr val="AEE0F5"/>
          </a:solidFill>
          <a:ln/>
        </p:spPr>
        <p:txBody>
          <a:bodyPr/>
          <a:lstStyle/>
          <a:p>
            <a:endParaRPr lang="en-US"/>
          </a:p>
        </p:txBody>
      </p:sp>
      <p:sp>
        <p:nvSpPr>
          <p:cNvPr id="10" name="Shape 8"/>
          <p:cNvSpPr/>
          <p:nvPr/>
        </p:nvSpPr>
        <p:spPr>
          <a:xfrm>
            <a:off x="11807647" y="384048"/>
            <a:ext cx="384048" cy="384048"/>
          </a:xfrm>
          <a:prstGeom prst="rect">
            <a:avLst/>
          </a:prstGeom>
          <a:solidFill>
            <a:srgbClr val="3F8FD0"/>
          </a:solidFill>
          <a:ln/>
        </p:spPr>
        <p:txBody>
          <a:bodyPr/>
          <a:lstStyle/>
          <a:p>
            <a:endParaRPr lang="en-US"/>
          </a:p>
        </p:txBody>
      </p:sp>
      <p:sp>
        <p:nvSpPr>
          <p:cNvPr id="11" name="Shape 9"/>
          <p:cNvSpPr/>
          <p:nvPr/>
        </p:nvSpPr>
        <p:spPr>
          <a:xfrm>
            <a:off x="11039551" y="768096"/>
            <a:ext cx="384048" cy="384048"/>
          </a:xfrm>
          <a:prstGeom prst="rect">
            <a:avLst/>
          </a:prstGeom>
          <a:solidFill>
            <a:srgbClr val="AEE0F5"/>
          </a:solidFill>
          <a:ln/>
        </p:spPr>
        <p:txBody>
          <a:bodyPr/>
          <a:lstStyle/>
          <a:p>
            <a:endParaRPr lang="en-US"/>
          </a:p>
        </p:txBody>
      </p:sp>
      <p:sp>
        <p:nvSpPr>
          <p:cNvPr id="12" name="Shape 10"/>
          <p:cNvSpPr/>
          <p:nvPr/>
        </p:nvSpPr>
        <p:spPr>
          <a:xfrm>
            <a:off x="11807647" y="768096"/>
            <a:ext cx="384048" cy="384048"/>
          </a:xfrm>
          <a:prstGeom prst="rect">
            <a:avLst/>
          </a:prstGeom>
          <a:solidFill>
            <a:srgbClr val="AEE0F5"/>
          </a:solidFill>
          <a:ln/>
        </p:spPr>
        <p:txBody>
          <a:bodyPr/>
          <a:lstStyle/>
          <a:p>
            <a:endParaRPr lang="en-US"/>
          </a:p>
        </p:txBody>
      </p:sp>
      <p:sp>
        <p:nvSpPr>
          <p:cNvPr id="13" name="Shape 11"/>
          <p:cNvSpPr/>
          <p:nvPr/>
        </p:nvSpPr>
        <p:spPr>
          <a:xfrm>
            <a:off x="548640" y="457200"/>
            <a:ext cx="64008" cy="64008"/>
          </a:xfrm>
          <a:prstGeom prst="rect">
            <a:avLst/>
          </a:prstGeom>
          <a:solidFill>
            <a:srgbClr val="1F3A6E"/>
          </a:solidFill>
          <a:ln/>
        </p:spPr>
        <p:txBody>
          <a:bodyPr/>
          <a:lstStyle/>
          <a:p>
            <a:endParaRPr lang="en-US"/>
          </a:p>
        </p:txBody>
      </p:sp>
      <p:sp>
        <p:nvSpPr>
          <p:cNvPr id="14" name="Shape 12"/>
          <p:cNvSpPr/>
          <p:nvPr/>
        </p:nvSpPr>
        <p:spPr>
          <a:xfrm>
            <a:off x="630936" y="457200"/>
            <a:ext cx="64008" cy="64008"/>
          </a:xfrm>
          <a:prstGeom prst="rect">
            <a:avLst/>
          </a:prstGeom>
          <a:solidFill>
            <a:srgbClr val="3F8FD0"/>
          </a:solidFill>
          <a:ln/>
        </p:spPr>
        <p:txBody>
          <a:bodyPr/>
          <a:lstStyle/>
          <a:p>
            <a:endParaRPr lang="en-US"/>
          </a:p>
        </p:txBody>
      </p:sp>
      <p:sp>
        <p:nvSpPr>
          <p:cNvPr id="15" name="Shape 13"/>
          <p:cNvSpPr/>
          <p:nvPr/>
        </p:nvSpPr>
        <p:spPr>
          <a:xfrm>
            <a:off x="713232" y="457200"/>
            <a:ext cx="64008" cy="64008"/>
          </a:xfrm>
          <a:prstGeom prst="rect">
            <a:avLst/>
          </a:prstGeom>
          <a:solidFill>
            <a:srgbClr val="1F3A6E"/>
          </a:solidFill>
          <a:ln/>
        </p:spPr>
        <p:txBody>
          <a:bodyPr/>
          <a:lstStyle/>
          <a:p>
            <a:endParaRPr lang="en-US"/>
          </a:p>
        </p:txBody>
      </p:sp>
      <p:sp>
        <p:nvSpPr>
          <p:cNvPr id="16" name="Shape 14"/>
          <p:cNvSpPr/>
          <p:nvPr/>
        </p:nvSpPr>
        <p:spPr>
          <a:xfrm>
            <a:off x="548640" y="539496"/>
            <a:ext cx="64008" cy="64008"/>
          </a:xfrm>
          <a:prstGeom prst="rect">
            <a:avLst/>
          </a:prstGeom>
          <a:solidFill>
            <a:srgbClr val="3F8FD0"/>
          </a:solidFill>
          <a:ln/>
        </p:spPr>
        <p:txBody>
          <a:bodyPr/>
          <a:lstStyle/>
          <a:p>
            <a:endParaRPr lang="en-US"/>
          </a:p>
        </p:txBody>
      </p:sp>
      <p:sp>
        <p:nvSpPr>
          <p:cNvPr id="17" name="Shape 15"/>
          <p:cNvSpPr/>
          <p:nvPr/>
        </p:nvSpPr>
        <p:spPr>
          <a:xfrm>
            <a:off x="630936" y="539496"/>
            <a:ext cx="64008" cy="64008"/>
          </a:xfrm>
          <a:prstGeom prst="rect">
            <a:avLst/>
          </a:prstGeom>
          <a:solidFill>
            <a:srgbClr val="1F3A6E"/>
          </a:solidFill>
          <a:ln/>
        </p:spPr>
        <p:txBody>
          <a:bodyPr/>
          <a:lstStyle/>
          <a:p>
            <a:endParaRPr lang="en-US"/>
          </a:p>
        </p:txBody>
      </p:sp>
      <p:sp>
        <p:nvSpPr>
          <p:cNvPr id="18" name="Shape 16"/>
          <p:cNvSpPr/>
          <p:nvPr/>
        </p:nvSpPr>
        <p:spPr>
          <a:xfrm>
            <a:off x="713232" y="539496"/>
            <a:ext cx="64008" cy="64008"/>
          </a:xfrm>
          <a:prstGeom prst="rect">
            <a:avLst/>
          </a:prstGeom>
          <a:solidFill>
            <a:srgbClr val="3F8FD0"/>
          </a:solidFill>
          <a:ln/>
        </p:spPr>
        <p:txBody>
          <a:bodyPr/>
          <a:lstStyle/>
          <a:p>
            <a:endParaRPr lang="en-US"/>
          </a:p>
        </p:txBody>
      </p:sp>
      <p:sp>
        <p:nvSpPr>
          <p:cNvPr id="19" name="Shape 17"/>
          <p:cNvSpPr/>
          <p:nvPr/>
        </p:nvSpPr>
        <p:spPr>
          <a:xfrm>
            <a:off x="548640" y="621792"/>
            <a:ext cx="64008" cy="64008"/>
          </a:xfrm>
          <a:prstGeom prst="rect">
            <a:avLst/>
          </a:prstGeom>
          <a:solidFill>
            <a:srgbClr val="1F3A6E"/>
          </a:solidFill>
          <a:ln/>
        </p:spPr>
        <p:txBody>
          <a:bodyPr/>
          <a:lstStyle/>
          <a:p>
            <a:endParaRPr lang="en-US"/>
          </a:p>
        </p:txBody>
      </p:sp>
      <p:sp>
        <p:nvSpPr>
          <p:cNvPr id="20" name="Shape 18"/>
          <p:cNvSpPr/>
          <p:nvPr/>
        </p:nvSpPr>
        <p:spPr>
          <a:xfrm>
            <a:off x="630936" y="621792"/>
            <a:ext cx="64008" cy="64008"/>
          </a:xfrm>
          <a:prstGeom prst="rect">
            <a:avLst/>
          </a:prstGeom>
          <a:solidFill>
            <a:srgbClr val="3F8FD0"/>
          </a:solidFill>
          <a:ln/>
        </p:spPr>
        <p:txBody>
          <a:bodyPr/>
          <a:lstStyle/>
          <a:p>
            <a:endParaRPr lang="en-US"/>
          </a:p>
        </p:txBody>
      </p:sp>
      <p:sp>
        <p:nvSpPr>
          <p:cNvPr id="21" name="Shape 19"/>
          <p:cNvSpPr/>
          <p:nvPr/>
        </p:nvSpPr>
        <p:spPr>
          <a:xfrm>
            <a:off x="713232" y="621792"/>
            <a:ext cx="64008" cy="64008"/>
          </a:xfrm>
          <a:prstGeom prst="rect">
            <a:avLst/>
          </a:prstGeom>
          <a:solidFill>
            <a:srgbClr val="1F3A6E"/>
          </a:solidFill>
          <a:ln/>
        </p:spPr>
        <p:txBody>
          <a:bodyPr/>
          <a:lstStyle/>
          <a:p>
            <a:endParaRPr lang="en-US"/>
          </a:p>
        </p:txBody>
      </p:sp>
      <p:sp>
        <p:nvSpPr>
          <p:cNvPr id="22" name="Shape 20"/>
          <p:cNvSpPr/>
          <p:nvPr/>
        </p:nvSpPr>
        <p:spPr>
          <a:xfrm>
            <a:off x="914400" y="2743200"/>
            <a:ext cx="1417320" cy="1417320"/>
          </a:xfrm>
          <a:prstGeom prst="rect">
            <a:avLst/>
          </a:prstGeom>
          <a:solidFill>
            <a:srgbClr val="1F3A6E"/>
          </a:solidFill>
          <a:ln/>
          <a:effectLst>
            <a:outerShdw blurRad="76200" dist="38100" dir="2700000" algn="bl" rotWithShape="0">
              <a:srgbClr val="000000">
                <a:alpha val="35000"/>
              </a:srgbClr>
            </a:outerShdw>
          </a:effectLst>
        </p:spPr>
        <p:txBody>
          <a:bodyPr/>
          <a:lstStyle/>
          <a:p>
            <a:endParaRPr lang="en-US"/>
          </a:p>
        </p:txBody>
      </p:sp>
      <p:sp>
        <p:nvSpPr>
          <p:cNvPr id="23" name="Text 21"/>
          <p:cNvSpPr/>
          <p:nvPr/>
        </p:nvSpPr>
        <p:spPr>
          <a:xfrm>
            <a:off x="914400" y="2743200"/>
            <a:ext cx="1417320" cy="14173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6</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r>
              <a:rPr lang="en-US" sz="3000" b="1" dirty="0">
                <a:solidFill>
                  <a:srgbClr val="1F3A6E"/>
                </a:solidFill>
                <a:latin typeface="Calibri" pitchFamily="34" charset="0"/>
                <a:ea typeface="Calibri" pitchFamily="34" charset="-122"/>
                <a:cs typeface="Calibri" pitchFamily="34" charset="-120"/>
              </a:rPr>
              <a:t>Người quản lý dữ liệu – Nhập liệu – Dịch vụ</a:t>
            </a:r>
            <a:endParaRPr lang="en-US" sz="3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Tổng quan, Giá trị hợp đồng &amp; Chi phí, Doanh thu</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5" name="Group 4">
            <a:extLst>
              <a:ext uri="{FF2B5EF4-FFF2-40B4-BE49-F238E27FC236}">
                <a16:creationId xmlns:a16="http://schemas.microsoft.com/office/drawing/2014/main" id="{EBB94056-B116-2504-5D25-4266773C9874}"/>
              </a:ext>
            </a:extLst>
          </p:cNvPr>
          <p:cNvGrpSpPr/>
          <p:nvPr/>
        </p:nvGrpSpPr>
        <p:grpSpPr>
          <a:xfrm>
            <a:off x="320040" y="1804370"/>
            <a:ext cx="7029928" cy="3545379"/>
            <a:chOff x="603504" y="2271924"/>
            <a:chExt cx="6473152" cy="3136911"/>
          </a:xfrm>
        </p:grpSpPr>
        <p:sp>
          <p:nvSpPr>
            <p:cNvPr id="25" name="Shape 23"/>
            <p:cNvSpPr/>
            <p:nvPr/>
          </p:nvSpPr>
          <p:spPr>
            <a:xfrm>
              <a:off x="603504" y="2271924"/>
              <a:ext cx="6473152" cy="3136911"/>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3759"/>
            </a:xfrm>
            <a:prstGeom prst="rect">
              <a:avLst/>
            </a:prstGeom>
          </p:spPr>
        </p:pic>
        <p:sp>
          <p:nvSpPr>
            <p:cNvPr id="100" name="Box 1"/>
            <p:cNvSpPr/>
            <p:nvPr/>
          </p:nvSpPr>
          <p:spPr>
            <a:xfrm>
              <a:off x="1404358" y="3454917"/>
              <a:ext cx="5582555" cy="348910"/>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4358" y="3903516"/>
              <a:ext cx="5582555" cy="647975"/>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404358" y="4651179"/>
              <a:ext cx="5582555" cy="714434"/>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07836" y="3316871"/>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10178" y="3821146"/>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1215020" y="4573288"/>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599169" y="1284370"/>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9169" y="1804370"/>
            <a:ext cx="4211840" cy="4258102"/>
          </a:xfrm>
          <a:prstGeom prst="rect">
            <a:avLst/>
          </a:prstGeom>
          <a:solidFill>
            <a:srgbClr val="F4F8FD"/>
          </a:solidFill>
          <a:ln w="9525">
            <a:solidFill>
              <a:srgbClr val="BFBFBF"/>
            </a:solidFill>
          </a:ln>
        </p:spPr>
        <p:txBody>
          <a:bodyPr/>
          <a:lstStyle/>
          <a:p>
            <a:endParaRPr lang="en-US"/>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96A83B59-F57C-8D1B-1275-F6512E1AC3C5}"/>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E2C0A2DB-BCCB-39FE-9B3D-C920AB8C0C0F}"/>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B53227AE-56C0-9D4E-BE38-B9F093550AEC}"/>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B36C8192-82B4-0793-092B-BD4137C07B50}"/>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C6E6A05F-5C44-E79D-8C81-2E2A1DC610C8}"/>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C8A280FE-83E6-1963-5448-A284FA853437}"/>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BAFB9AFB-F258-A141-11F9-FEA106322354}"/>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EA005233-079B-2087-57D9-C0D4CA079C4E}"/>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1B010429-39BD-87B4-9C82-648A41F86836}"/>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586B210A-2DAA-1C68-7364-8AD0878B8F6F}"/>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580D77E8-B6DE-30E2-4FAF-2110AD2D1A74}"/>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BCF0A223-566E-8995-4575-EB41430B790D}"/>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C5AB9CBF-A8CC-7407-7374-63323BCD9CEE}"/>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CAA41446-7010-E7FE-0616-307E866A72B5}"/>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723DDB95-D9F2-8462-E4DC-CC0039CBD3A9}"/>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8B8C826B-F302-1713-D568-FA42A7BBBEC6}"/>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679AC26D-D141-ECDE-6F27-96C857624DA0}"/>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C150F2B1-9C8B-0840-3255-F11FD93AE6F1}"/>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CB15F3C4-7600-7996-7480-ADD829864240}"/>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2E6CA9DF-7795-F3FA-FD4F-E851684E6BD5}"/>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65264D34-6AEF-1DCD-9946-FD2282AC7081}"/>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4" name="Panel Text">
            <a:extLst>
              <a:ext uri="{FF2B5EF4-FFF2-40B4-BE49-F238E27FC236}">
                <a16:creationId xmlns:a16="http://schemas.microsoft.com/office/drawing/2014/main" id="{0D8E17ED-EF9D-82F1-9F28-7D3E49C87916}"/>
              </a:ext>
            </a:extLst>
          </p:cNvPr>
          <p:cNvSpPr txBox="1"/>
          <p:nvPr/>
        </p:nvSpPr>
        <p:spPr>
          <a:xfrm>
            <a:off x="7813976" y="1914722"/>
            <a:ext cx="3811840" cy="3545379"/>
          </a:xfrm>
          <a:prstGeom prst="rect">
            <a:avLst/>
          </a:prstGeom>
          <a:noFill/>
          <a:ln/>
        </p:spPr>
        <p:txBody>
          <a:bodyPr wrap="square" lIns="0" tIns="0" rIns="0" bIns="0" rtlCol="0" anchor="t"/>
          <a:lstStyle/>
          <a:p>
            <a:pPr marL="0" indent="0">
              <a:lnSpc>
                <a:spcPct val="106000"/>
              </a:lnSpc>
              <a:spcAft>
                <a:spcPts val="500"/>
              </a:spcAft>
              <a:buNone/>
            </a:pPr>
            <a:r>
              <a:rPr lang="en-US" sz="1100" b="1" dirty="0">
                <a:solidFill>
                  <a:srgbClr val="1F3A6E"/>
                </a:solidFill>
                <a:latin typeface="Calibri" pitchFamily="34" charset="0"/>
              </a:rPr>
              <a:t>1  0. Overview (tab Overview): </a:t>
            </a:r>
          </a:p>
          <a:p>
            <a:pPr marL="171450" indent="-171450">
              <a:lnSpc>
                <a:spcPct val="106000"/>
              </a:lnSpc>
              <a:spcAft>
                <a:spcPts val="500"/>
              </a:spcAft>
              <a:buFontTx/>
              <a:buChar char="-"/>
            </a:pPr>
            <a:r>
              <a:rPr lang="en-US" sz="1100" dirty="0">
                <a:solidFill>
                  <a:srgbClr val="262626"/>
                </a:solidFill>
                <a:latin typeface="Calibri" pitchFamily="34" charset="0"/>
              </a:rPr>
              <a:t>Contract Amount (Giá trị hợp đồng), Construction Start/End Date (Ngày bắt đầu/kết thúc thi công): Đồng bộ từ PIMSVINA</a:t>
            </a:r>
          </a:p>
          <a:p>
            <a:pPr>
              <a:lnSpc>
                <a:spcPct val="100000"/>
              </a:lnSpc>
              <a:spcAft>
                <a:spcPts val="500"/>
              </a:spcAft>
            </a:pPr>
            <a:r>
              <a:rPr lang="en-US" sz="1100" dirty="0">
                <a:solidFill>
                  <a:srgbClr val="262626"/>
                </a:solidFill>
                <a:latin typeface="Calibri" pitchFamily="34" charset="0"/>
              </a:rPr>
              <a:t>Nguồn: Common &gt; Construction Overview &gt; Register Construction Overview &gt; Tab Construction Period &gt; Contract Amount, Actual Start Date - Actual Final Completion / Expected Final Completion Date</a:t>
            </a:r>
          </a:p>
          <a:p>
            <a:pPr marL="171450" indent="-171450">
              <a:lnSpc>
                <a:spcPct val="106000"/>
              </a:lnSpc>
              <a:spcAft>
                <a:spcPts val="500"/>
              </a:spcAft>
              <a:buFontTx/>
              <a:buChar char="-"/>
            </a:pPr>
            <a:r>
              <a:rPr lang="en-US" sz="1100" dirty="0">
                <a:solidFill>
                  <a:srgbClr val="262626"/>
                </a:solidFill>
                <a:latin typeface="Calibri" pitchFamily="34" charset="0"/>
              </a:rPr>
              <a:t>Các trường còn lại: Nhập thủ công</a:t>
            </a:r>
          </a:p>
          <a:p>
            <a:pPr>
              <a:lnSpc>
                <a:spcPct val="106000"/>
              </a:lnSpc>
              <a:spcAft>
                <a:spcPts val="500"/>
              </a:spcAft>
            </a:pPr>
            <a:r>
              <a:rPr lang="en-US" sz="1100" b="1" dirty="0">
                <a:solidFill>
                  <a:srgbClr val="1F3A6E"/>
                </a:solidFill>
                <a:latin typeface="Calibri" pitchFamily="34" charset="0"/>
              </a:rPr>
              <a:t>2    1. Monthly Progress (tab Progress): </a:t>
            </a:r>
          </a:p>
          <a:p>
            <a:pPr marL="171450" indent="-171450">
              <a:lnSpc>
                <a:spcPct val="106000"/>
              </a:lnSpc>
              <a:spcAft>
                <a:spcPts val="500"/>
              </a:spcAft>
              <a:buFontTx/>
              <a:buChar char="-"/>
            </a:pPr>
            <a:r>
              <a:rPr lang="en-US" sz="1100" b="1" dirty="0">
                <a:solidFill>
                  <a:srgbClr val="1F3A6E"/>
                </a:solidFill>
                <a:latin typeface="Calibri" pitchFamily="34" charset="0"/>
              </a:rPr>
              <a:t>Monthly Plan (Kế hoạch hàng tháng) </a:t>
            </a:r>
            <a:r>
              <a:rPr lang="en-US" sz="1100" dirty="0">
                <a:solidFill>
                  <a:srgbClr val="262626"/>
                </a:solidFill>
                <a:latin typeface="Calibri" pitchFamily="34" charset="0"/>
              </a:rPr>
              <a:t>(%): Nhập thủ công </a:t>
            </a:r>
          </a:p>
          <a:p>
            <a:pPr marL="171450" indent="-171450">
              <a:lnSpc>
                <a:spcPct val="106000"/>
              </a:lnSpc>
              <a:spcAft>
                <a:spcPts val="500"/>
              </a:spcAft>
              <a:buFontTx/>
              <a:buChar char="-"/>
            </a:pPr>
            <a:r>
              <a:rPr lang="en-US" sz="1100" b="1" dirty="0">
                <a:solidFill>
                  <a:srgbClr val="1F3A6E"/>
                </a:solidFill>
                <a:latin typeface="Calibri" pitchFamily="34" charset="0"/>
              </a:rPr>
              <a:t>Monthly Actual (Thực tế hàng tháng) </a:t>
            </a:r>
            <a:r>
              <a:rPr lang="en-US" sz="1100" dirty="0">
                <a:solidFill>
                  <a:srgbClr val="262626"/>
                </a:solidFill>
                <a:latin typeface="Calibri" pitchFamily="34" charset="0"/>
              </a:rPr>
              <a:t>(%) = (1(mỗi tháng)/(2-3))*100%</a:t>
            </a:r>
          </a:p>
          <a:p>
            <a:pPr>
              <a:lnSpc>
                <a:spcPct val="106000"/>
              </a:lnSpc>
              <a:spcAft>
                <a:spcPts val="500"/>
              </a:spcAft>
            </a:pPr>
            <a:r>
              <a:rPr lang="en-US" sz="1100" dirty="0">
                <a:solidFill>
                  <a:srgbClr val="262626"/>
                </a:solidFill>
                <a:latin typeface="Calibri" pitchFamily="34" charset="0"/>
              </a:rPr>
              <a:t>Nguồn: 1. Tổng cột nhập liệu theo tháng (1-12)</a:t>
            </a:r>
          </a:p>
          <a:p>
            <a:pPr>
              <a:lnSpc>
                <a:spcPct val="106000"/>
              </a:lnSpc>
              <a:spcAft>
                <a:spcPts val="500"/>
              </a:spcAft>
            </a:pPr>
            <a:r>
              <a:rPr lang="en-US" sz="1100" dirty="0">
                <a:solidFill>
                  <a:srgbClr val="262626"/>
                </a:solidFill>
                <a:latin typeface="Calibri" pitchFamily="34" charset="0"/>
              </a:rPr>
              <a:t>2. Tổng cột Execution Budget &gt; Amount</a:t>
            </a:r>
          </a:p>
          <a:p>
            <a:pPr>
              <a:lnSpc>
                <a:spcPct val="106000"/>
              </a:lnSpc>
              <a:spcAft>
                <a:spcPts val="500"/>
              </a:spcAft>
            </a:pPr>
            <a:r>
              <a:rPr lang="en-US" sz="1100" dirty="0">
                <a:solidFill>
                  <a:srgbClr val="262626"/>
                </a:solidFill>
                <a:latin typeface="Calibri" pitchFamily="34" charset="0"/>
              </a:rPr>
              <a:t>3. Request Execution Resolution(Site) tổng cột Execution Budget trừ tổng cột Implementation </a:t>
            </a:r>
          </a:p>
          <a:p>
            <a:pPr marL="171450" indent="-171450">
              <a:lnSpc>
                <a:spcPct val="106000"/>
              </a:lnSpc>
              <a:spcAft>
                <a:spcPts val="500"/>
              </a:spcAft>
              <a:buFontTx/>
              <a:buChar char="-"/>
            </a:pPr>
            <a:r>
              <a:rPr lang="en-US" sz="1100" b="1" dirty="0">
                <a:solidFill>
                  <a:srgbClr val="1F3A6E"/>
                </a:solidFill>
                <a:latin typeface="Calibri" pitchFamily="34" charset="0"/>
              </a:rPr>
              <a:t>Cumulative Plan (%) (Kế hoạch lũy kế), Cumulative Actual (%) (Thực tế lũy kế): </a:t>
            </a:r>
            <a:r>
              <a:rPr lang="en-US" sz="1100" dirty="0">
                <a:solidFill>
                  <a:srgbClr val="262626"/>
                </a:solidFill>
                <a:latin typeface="Calibri" pitchFamily="34" charset="0"/>
              </a:rPr>
              <a:t>tính toán lũy kế theo tháng</a:t>
            </a:r>
          </a:p>
          <a:p>
            <a:pPr marL="171450" indent="-171450">
              <a:lnSpc>
                <a:spcPct val="106000"/>
              </a:lnSpc>
              <a:spcAft>
                <a:spcPts val="500"/>
              </a:spcAft>
              <a:buFontTx/>
              <a:buChar char="-"/>
            </a:pPr>
            <a:r>
              <a:rPr lang="en-US" sz="1100" b="1" dirty="0">
                <a:solidFill>
                  <a:srgbClr val="1F3A6E"/>
                </a:solidFill>
                <a:latin typeface="Calibri" pitchFamily="34" charset="0"/>
              </a:rPr>
              <a:t>3  </a:t>
            </a:r>
            <a:r>
              <a:rPr lang="en-US" sz="1100" dirty="0">
                <a:solidFill>
                  <a:srgbClr val="262626"/>
                </a:solidFill>
                <a:latin typeface="Calibri" pitchFamily="34" charset="0"/>
              </a:rPr>
              <a:t>2. Monthly Revenue (tab Revenue, K USD): Sales Plan/Actual theo Năm/Tháng; là nguồn cho biểu đồ Revenue Actual &amp; Forecast của tab Report.</a:t>
            </a:r>
          </a:p>
          <a:p>
            <a:pPr marL="171450" indent="-171450">
              <a:lnSpc>
                <a:spcPct val="106000"/>
              </a:lnSpc>
              <a:spcAft>
                <a:spcPts val="500"/>
              </a:spcAft>
              <a:buFontTx/>
              <a:buChar char="-"/>
            </a:pPr>
            <a:endParaRPr lang="en-US" sz="1100" dirty="0">
              <a:solidFill>
                <a:srgbClr val="262626"/>
              </a:solidFill>
              <a:latin typeface="Calibri"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Giá vốn hàng tháng &amp; Thực hiện ngân sách</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3E069E59-BF9C-F737-DB62-807144ADE851}"/>
              </a:ext>
            </a:extLst>
          </p:cNvPr>
          <p:cNvGrpSpPr/>
          <p:nvPr/>
        </p:nvGrpSpPr>
        <p:grpSpPr>
          <a:xfrm>
            <a:off x="320040" y="1981211"/>
            <a:ext cx="7037827" cy="3398566"/>
            <a:chOff x="603504" y="2271924"/>
            <a:chExt cx="6473152" cy="3135178"/>
          </a:xfrm>
        </p:grpSpPr>
        <p:sp>
          <p:nvSpPr>
            <p:cNvPr id="25" name="Shape 23"/>
            <p:cNvSpPr/>
            <p:nvPr/>
          </p:nvSpPr>
          <p:spPr>
            <a:xfrm>
              <a:off x="603504" y="2271924"/>
              <a:ext cx="6473152" cy="3135178"/>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62026"/>
            </a:xfrm>
            <a:prstGeom prst="rect">
              <a:avLst/>
            </a:prstGeom>
          </p:spPr>
        </p:pic>
        <p:sp>
          <p:nvSpPr>
            <p:cNvPr id="100" name="Box 1"/>
            <p:cNvSpPr/>
            <p:nvPr/>
          </p:nvSpPr>
          <p:spPr>
            <a:xfrm>
              <a:off x="1404755" y="2458110"/>
              <a:ext cx="5585455" cy="1828571"/>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4755" y="4369799"/>
              <a:ext cx="5585455" cy="997403"/>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4755" y="2348110"/>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94755" y="4259799"/>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sp>
        <p:nvSpPr>
          <p:cNvPr id="300" name="Panel Header"/>
          <p:cNvSpPr/>
          <p:nvPr/>
        </p:nvSpPr>
        <p:spPr>
          <a:xfrm>
            <a:off x="7557867" y="2027704"/>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57867" y="2547703"/>
            <a:ext cx="4211840" cy="2832073"/>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57867" y="2697704"/>
            <a:ext cx="3811840" cy="2242026"/>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3. Monthly Cost of Revenue (tab Revenue, K USD): </a:t>
            </a:r>
          </a:p>
          <a:p>
            <a:pPr marL="171450" indent="-171450">
              <a:lnSpc>
                <a:spcPct val="106000"/>
              </a:lnSpc>
              <a:spcAft>
                <a:spcPts val="500"/>
              </a:spcAft>
              <a:buFontTx/>
              <a:buChar char="-"/>
            </a:pPr>
            <a:r>
              <a:rPr lang="en-US" sz="1100" b="1" dirty="0">
                <a:solidFill>
                  <a:srgbClr val="1F3A6E"/>
                </a:solidFill>
                <a:latin typeface="Calibri" pitchFamily="34" charset="0"/>
              </a:rPr>
              <a:t>Accounting COGS (Giá vốn hàng bán) theo Năm/Tháng</a:t>
            </a:r>
            <a:r>
              <a:rPr lang="en-US" sz="1100" dirty="0">
                <a:solidFill>
                  <a:srgbClr val="262626"/>
                </a:solidFill>
                <a:latin typeface="Calibri" pitchFamily="34" charset="0"/>
              </a:rPr>
              <a:t>: Dữ liệu nhập từ Excel.</a:t>
            </a:r>
          </a:p>
          <a:p>
            <a:pPr marL="171450" indent="-171450">
              <a:lnSpc>
                <a:spcPct val="106000"/>
              </a:lnSpc>
              <a:spcAft>
                <a:spcPts val="500"/>
              </a:spcAft>
              <a:buFontTx/>
              <a:buChar char="-"/>
            </a:pPr>
            <a:r>
              <a:rPr lang="en-US" sz="1100" dirty="0">
                <a:solidFill>
                  <a:srgbClr val="262626"/>
                </a:solidFill>
                <a:latin typeface="Calibri" pitchFamily="34" charset="0"/>
              </a:rPr>
              <a:t>Add Prior-Year Cumulative giống như ở thẻ Revenue. </a:t>
            </a:r>
          </a:p>
          <a:p>
            <a:pPr marL="171450" indent="-171450">
              <a:lnSpc>
                <a:spcPct val="106000"/>
              </a:lnSpc>
              <a:spcAft>
                <a:spcPts val="500"/>
              </a:spcAft>
              <a:buFontTx/>
              <a:buChar char="-"/>
            </a:pPr>
            <a:r>
              <a:rPr lang="en-US" sz="1100" dirty="0">
                <a:solidFill>
                  <a:srgbClr val="262626"/>
                </a:solidFill>
                <a:latin typeface="Calibri" pitchFamily="34" charset="0"/>
              </a:rPr>
              <a:t>VND tự động quy đổi sang K USD khi lưu.</a:t>
            </a:r>
          </a:p>
          <a:p>
            <a:pPr marL="0" indent="0">
              <a:lnSpc>
                <a:spcPct val="106000"/>
              </a:lnSpc>
              <a:spcAft>
                <a:spcPts val="400"/>
              </a:spcAft>
              <a:buNone/>
            </a:pPr>
            <a:r>
              <a:rPr lang="en-US" sz="1100" b="1" dirty="0">
                <a:solidFill>
                  <a:srgbClr val="1F3A6E"/>
                </a:solidFill>
                <a:latin typeface="Calibri" pitchFamily="34" charset="0"/>
              </a:rPr>
              <a:t>2  4. Budget Execution Status (tab Budget Execution)</a:t>
            </a:r>
            <a:r>
              <a:rPr lang="en-US" sz="1100" dirty="0">
                <a:solidFill>
                  <a:srgbClr val="262626"/>
                </a:solidFill>
                <a:latin typeface="Calibri" pitchFamily="34" charset="0"/>
              </a:rPr>
              <a:t>: Common, Expense 1 (Direct Cost), Expense 2 (Indirect Cost) Budget/</a:t>
            </a:r>
            <a:r>
              <a:rPr lang="en-US" sz="1100" dirty="0">
                <a:solidFill>
                  <a:srgbClr val="262626"/>
                </a:solidFill>
                <a:highlight>
                  <a:srgbClr val="FFFF00"/>
                </a:highlight>
                <a:latin typeface="Calibri" pitchFamily="34" charset="0"/>
              </a:rPr>
              <a:t>Monthly</a:t>
            </a:r>
            <a:r>
              <a:rPr lang="en-US" sz="1100" dirty="0">
                <a:solidFill>
                  <a:srgbClr val="262626"/>
                </a:solidFill>
                <a:latin typeface="Calibri" pitchFamily="34" charset="0"/>
              </a:rPr>
              <a:t>/Cumulative theo Month/Year; các dòng Outsourcing tự động tổng hợp từ bảng bên dưới.</a:t>
            </a:r>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0A7D157A-9C28-5CD3-F335-6BA09FFD77F3}"/>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B9106A2B-B6EC-5DBA-982C-CAD604B63C5C}"/>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1B79E265-F4B7-A85C-45D2-05A7307A697F}"/>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99EB7044-5A0A-B275-587D-D8EEFC2DCC83}"/>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B8AE932C-C1C8-5FF2-5997-BF93B9F48B64}"/>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C4F9C238-1464-F80E-1829-D52E67F5FC21}"/>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D450A22D-C1CD-FCCC-19B8-ACB75B82B8FB}"/>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E8F32470-B95B-2BAB-CF58-5624047DA5BE}"/>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D20A3E55-38D6-376E-53D6-18731A7592C4}"/>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297B447B-074A-9627-0BA5-9B423C44440D}"/>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CDF5B7E8-E5E3-B709-F5E6-8C4347866A82}"/>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9E69B840-9A71-9DF0-6DF5-84011DF5D86C}"/>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37C23231-BE68-5501-2C4F-DEFFD1F7F4A1}"/>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FA688EF8-D75E-8EE3-9543-632737772873}"/>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0AB466FD-CA0F-4D28-B7E0-57A2EEE0FFF3}"/>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BC5094C0-BBC6-98AF-CD12-2EC80427710A}"/>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06B57530-7129-0876-B3EC-63B3FAC1EF54}"/>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6DB43BCD-5514-5F75-B82D-3166E9E728A3}"/>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B02E172D-6E32-06F7-E25C-44408A5BF4E2}"/>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7C5E17B8-DB33-AABA-655D-B92FCA92E898}"/>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43A83F27-6483-F3CE-3B72-E2738C6346CC}"/>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Kế hoạch/Thực tế hàng tháng &amp; Thầu phụ</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3" name="Group 2">
            <a:extLst>
              <a:ext uri="{FF2B5EF4-FFF2-40B4-BE49-F238E27FC236}">
                <a16:creationId xmlns:a16="http://schemas.microsoft.com/office/drawing/2014/main" id="{11CFFEDF-FD04-5933-2EEB-F0661FB3AC88}"/>
              </a:ext>
            </a:extLst>
          </p:cNvPr>
          <p:cNvGrpSpPr/>
          <p:nvPr/>
        </p:nvGrpSpPr>
        <p:grpSpPr>
          <a:xfrm>
            <a:off x="320040" y="1788164"/>
            <a:ext cx="7075767" cy="3553704"/>
            <a:chOff x="603504" y="2248164"/>
            <a:chExt cx="6473152" cy="3142954"/>
          </a:xfrm>
        </p:grpSpPr>
        <p:sp>
          <p:nvSpPr>
            <p:cNvPr id="25" name="Shape 23"/>
            <p:cNvSpPr/>
            <p:nvPr/>
          </p:nvSpPr>
          <p:spPr>
            <a:xfrm>
              <a:off x="603504" y="2271924"/>
              <a:ext cx="6473152" cy="3119194"/>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46042"/>
            </a:xfrm>
            <a:prstGeom prst="rect">
              <a:avLst/>
            </a:prstGeom>
          </p:spPr>
        </p:pic>
        <p:sp>
          <p:nvSpPr>
            <p:cNvPr id="100" name="Box 1"/>
            <p:cNvSpPr/>
            <p:nvPr/>
          </p:nvSpPr>
          <p:spPr>
            <a:xfrm>
              <a:off x="1401591" y="2358164"/>
              <a:ext cx="5562338" cy="2218314"/>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401591" y="4708914"/>
              <a:ext cx="5562338" cy="645629"/>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91591" y="2248164"/>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91591" y="4598914"/>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grpSp>
      <p:grpSp>
        <p:nvGrpSpPr>
          <p:cNvPr id="4" name="Group 3">
            <a:extLst>
              <a:ext uri="{FF2B5EF4-FFF2-40B4-BE49-F238E27FC236}">
                <a16:creationId xmlns:a16="http://schemas.microsoft.com/office/drawing/2014/main" id="{E445E021-71E7-810B-261B-A34393A3F7DB}"/>
              </a:ext>
            </a:extLst>
          </p:cNvPr>
          <p:cNvGrpSpPr/>
          <p:nvPr/>
        </p:nvGrpSpPr>
        <p:grpSpPr>
          <a:xfrm>
            <a:off x="7595807" y="1815029"/>
            <a:ext cx="4211840" cy="3679996"/>
            <a:chOff x="7595807" y="2059263"/>
            <a:chExt cx="4211840" cy="3679996"/>
          </a:xfrm>
        </p:grpSpPr>
        <p:sp>
          <p:nvSpPr>
            <p:cNvPr id="300" name="Panel Header"/>
            <p:cNvSpPr/>
            <p:nvPr/>
          </p:nvSpPr>
          <p:spPr>
            <a:xfrm>
              <a:off x="7595807" y="2059263"/>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595807" y="2579262"/>
              <a:ext cx="4211840" cy="3159997"/>
            </a:xfrm>
            <a:prstGeom prst="rect">
              <a:avLst/>
            </a:prstGeom>
            <a:solidFill>
              <a:srgbClr val="F4F8FD"/>
            </a:solidFill>
            <a:ln w="9525">
              <a:solidFill>
                <a:srgbClr val="BFBFBF"/>
              </a:solidFill>
            </a:ln>
          </p:spPr>
          <p:txBody>
            <a:bodyPr/>
            <a:lstStyle/>
            <a:p>
              <a:endParaRPr lang="en-US"/>
            </a:p>
          </p:txBody>
        </p:sp>
        <p:sp>
          <p:nvSpPr>
            <p:cNvPr id="302" name="Panel Text"/>
            <p:cNvSpPr txBox="1"/>
            <p:nvPr/>
          </p:nvSpPr>
          <p:spPr>
            <a:xfrm>
              <a:off x="7795807" y="2729263"/>
              <a:ext cx="3811840" cy="2226042"/>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Monthly Plan/Actual (năm): </a:t>
              </a:r>
              <a:endParaRPr lang="en-US" sz="1100" dirty="0">
                <a:solidFill>
                  <a:srgbClr val="262626"/>
                </a:solidFill>
                <a:latin typeface="Calibri" pitchFamily="34" charset="0"/>
              </a:endParaRPr>
            </a:p>
            <a:p>
              <a:pPr>
                <a:lnSpc>
                  <a:spcPct val="100000"/>
                </a:lnSpc>
                <a:spcAft>
                  <a:spcPts val="500"/>
                </a:spcAft>
              </a:pPr>
              <a:r>
                <a:rPr lang="en-US" sz="1100" b="1" dirty="0">
                  <a:solidFill>
                    <a:srgbClr val="262626"/>
                  </a:solidFill>
                  <a:latin typeface="Calibri" pitchFamily="34" charset="0"/>
                </a:rPr>
                <a:t>- </a:t>
              </a:r>
              <a:r>
                <a:rPr lang="en-US" sz="1100" dirty="0">
                  <a:solidFill>
                    <a:srgbClr val="262626"/>
                  </a:solidFill>
                  <a:latin typeface="Calibri" pitchFamily="34" charset="0"/>
                </a:rPr>
                <a:t>Dữ liệu lấy từ 6: Budget Execution Status (tab Cost), dựa trên bộ lọc.</a:t>
              </a:r>
            </a:p>
            <a:p>
              <a:pPr marL="228600" indent="-228600">
                <a:lnSpc>
                  <a:spcPct val="106000"/>
                </a:lnSpc>
                <a:spcAft>
                  <a:spcPts val="500"/>
                </a:spcAft>
                <a:buAutoNum type="arabicPlain" startAt="2"/>
              </a:pPr>
              <a:r>
                <a:rPr lang="en-US" sz="1100" b="1" dirty="0">
                  <a:solidFill>
                    <a:srgbClr val="1F3A6E"/>
                  </a:solidFill>
                  <a:latin typeface="Calibri" pitchFamily="34" charset="0"/>
                </a:rPr>
                <a:t>7. Outsourcing/Materials (tab Outsourcing):</a:t>
              </a:r>
            </a:p>
            <a:p>
              <a:pPr marL="171450" indent="-171450">
                <a:lnSpc>
                  <a:spcPct val="106000"/>
                </a:lnSpc>
                <a:spcAft>
                  <a:spcPts val="500"/>
                </a:spcAft>
                <a:buFontTx/>
                <a:buChar char="-"/>
              </a:pPr>
              <a:r>
                <a:rPr lang="en-US" sz="1100" b="1" dirty="0">
                  <a:solidFill>
                    <a:srgbClr val="1F3A6E"/>
                  </a:solidFill>
                  <a:latin typeface="Calibri" pitchFamily="34" charset="0"/>
                </a:rPr>
                <a:t>Budget (A), Executed Budget, Resolved Amount (B):</a:t>
              </a:r>
            </a:p>
            <a:p>
              <a:pPr>
                <a:lnSpc>
                  <a:spcPct val="106000"/>
                </a:lnSpc>
                <a:spcAft>
                  <a:spcPts val="500"/>
                </a:spcAft>
              </a:pPr>
              <a:r>
                <a:rPr lang="en-US" sz="1100" dirty="0">
                  <a:solidFill>
                    <a:srgbClr val="262626"/>
                  </a:solidFill>
                  <a:latin typeface="Calibri" pitchFamily="34" charset="0"/>
                </a:rPr>
                <a:t>Sub-Contracting &gt; Request Execution Resolution (Site) &gt; Request Execution Resolution(Site) &gt; Execution Budget, Operational Budget, Implementation Amount</a:t>
              </a:r>
            </a:p>
            <a:p>
              <a:pPr marL="171450" indent="-171450">
                <a:lnSpc>
                  <a:spcPct val="106000"/>
                </a:lnSpc>
                <a:spcAft>
                  <a:spcPts val="500"/>
                </a:spcAft>
                <a:buFontTx/>
                <a:buChar char="-"/>
              </a:pPr>
              <a:r>
                <a:rPr lang="en-US" sz="1100" b="1" dirty="0">
                  <a:solidFill>
                    <a:srgbClr val="1F3A6E"/>
                  </a:solidFill>
                  <a:latin typeface="Calibri" pitchFamily="34" charset="0"/>
                </a:rPr>
                <a:t>This Month's Progress Payment, Cumulative Progress Payment (C)):</a:t>
              </a:r>
            </a:p>
            <a:p>
              <a:pPr>
                <a:lnSpc>
                  <a:spcPct val="106000"/>
                </a:lnSpc>
                <a:spcAft>
                  <a:spcPts val="500"/>
                </a:spcAft>
              </a:pPr>
              <a:r>
                <a:rPr lang="en-US" sz="1100" dirty="0">
                  <a:solidFill>
                    <a:srgbClr val="262626"/>
                  </a:solidFill>
                  <a:latin typeface="Calibri" pitchFamily="34" charset="0"/>
                </a:rPr>
                <a:t>Sub-Contracting &gt; Implementation Progress Payment(Site) &gt; Interim Payment Status </a:t>
              </a:r>
            </a:p>
            <a:p>
              <a:pPr>
                <a:lnSpc>
                  <a:spcPct val="100000"/>
                </a:lnSpc>
                <a:spcAft>
                  <a:spcPts val="500"/>
                </a:spcAft>
              </a:pPr>
              <a:r>
                <a:rPr lang="en-US" sz="1100" dirty="0">
                  <a:solidFill>
                    <a:srgbClr val="262626"/>
                  </a:solidFill>
                  <a:latin typeface="Calibri" pitchFamily="34" charset="0"/>
                </a:rPr>
                <a:t>Tab This Month column </a:t>
              </a:r>
              <a:r>
                <a:rPr lang="ko-KR" altLang="en-US" sz="1100" dirty="0">
                  <a:solidFill>
                    <a:srgbClr val="262626"/>
                  </a:solidFill>
                  <a:latin typeface="Calibri" pitchFamily="34" charset="0"/>
                </a:rPr>
                <a:t>당월기성금액 </a:t>
              </a:r>
              <a:r>
                <a:rPr lang="en-US" altLang="ko-KR" sz="1100" dirty="0">
                  <a:solidFill>
                    <a:srgbClr val="262626"/>
                  </a:solidFill>
                  <a:latin typeface="Calibri" pitchFamily="34" charset="0"/>
                </a:rPr>
                <a:t>(</a:t>
              </a:r>
              <a:r>
                <a:rPr lang="en-US" sz="1100" dirty="0">
                  <a:solidFill>
                    <a:srgbClr val="262626"/>
                  </a:solidFill>
                  <a:latin typeface="Calibri" pitchFamily="34" charset="0"/>
                </a:rPr>
                <a:t>B)</a:t>
              </a:r>
            </a:p>
            <a:p>
              <a:pPr>
                <a:lnSpc>
                  <a:spcPct val="100000"/>
                </a:lnSpc>
                <a:spcAft>
                  <a:spcPts val="500"/>
                </a:spcAft>
              </a:pPr>
              <a:r>
                <a:rPr lang="en-US" sz="1100" dirty="0">
                  <a:solidFill>
                    <a:srgbClr val="262626"/>
                  </a:solidFill>
                  <a:latin typeface="Calibri" pitchFamily="34" charset="0"/>
                </a:rPr>
                <a:t>Tab All column Progress Payment &gt; Amount (B)</a:t>
              </a:r>
            </a:p>
          </p:txBody>
        </p:sp>
      </p:gr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24" name="Group 23">
            <a:extLst>
              <a:ext uri="{FF2B5EF4-FFF2-40B4-BE49-F238E27FC236}">
                <a16:creationId xmlns:a16="http://schemas.microsoft.com/office/drawing/2014/main" id="{6A6F4F83-9597-6B5A-8316-A10999A37B39}"/>
              </a:ext>
            </a:extLst>
          </p:cNvPr>
          <p:cNvGrpSpPr/>
          <p:nvPr/>
        </p:nvGrpSpPr>
        <p:grpSpPr>
          <a:xfrm>
            <a:off x="320040" y="498348"/>
            <a:ext cx="228600" cy="228600"/>
            <a:chOff x="457200" y="384048"/>
            <a:chExt cx="228600" cy="228600"/>
          </a:xfrm>
        </p:grpSpPr>
        <p:sp>
          <p:nvSpPr>
            <p:cNvPr id="38" name="Shape 1">
              <a:extLst>
                <a:ext uri="{FF2B5EF4-FFF2-40B4-BE49-F238E27FC236}">
                  <a16:creationId xmlns:a16="http://schemas.microsoft.com/office/drawing/2014/main" id="{CF46B644-F6DC-D373-7C25-551CF5F45AFD}"/>
                </a:ext>
              </a:extLst>
            </p:cNvPr>
            <p:cNvSpPr/>
            <p:nvPr/>
          </p:nvSpPr>
          <p:spPr>
            <a:xfrm>
              <a:off x="457200" y="384048"/>
              <a:ext cx="64008" cy="64008"/>
            </a:xfrm>
            <a:prstGeom prst="rect">
              <a:avLst/>
            </a:prstGeom>
            <a:solidFill>
              <a:srgbClr val="1F3A6E"/>
            </a:solidFill>
            <a:ln/>
          </p:spPr>
          <p:txBody>
            <a:bodyPr/>
            <a:lstStyle/>
            <a:p>
              <a:endParaRPr lang="en-US"/>
            </a:p>
          </p:txBody>
        </p:sp>
        <p:sp>
          <p:nvSpPr>
            <p:cNvPr id="39" name="Shape 2">
              <a:extLst>
                <a:ext uri="{FF2B5EF4-FFF2-40B4-BE49-F238E27FC236}">
                  <a16:creationId xmlns:a16="http://schemas.microsoft.com/office/drawing/2014/main" id="{C3A5EDDE-2A5D-9711-28CE-0FE6C4E6B851}"/>
                </a:ext>
              </a:extLst>
            </p:cNvPr>
            <p:cNvSpPr/>
            <p:nvPr/>
          </p:nvSpPr>
          <p:spPr>
            <a:xfrm>
              <a:off x="539496" y="384048"/>
              <a:ext cx="64008" cy="64008"/>
            </a:xfrm>
            <a:prstGeom prst="rect">
              <a:avLst/>
            </a:prstGeom>
            <a:solidFill>
              <a:srgbClr val="3F8FD0"/>
            </a:solidFill>
            <a:ln/>
          </p:spPr>
          <p:txBody>
            <a:bodyPr/>
            <a:lstStyle/>
            <a:p>
              <a:endParaRPr lang="en-US"/>
            </a:p>
          </p:txBody>
        </p:sp>
        <p:sp>
          <p:nvSpPr>
            <p:cNvPr id="40" name="Shape 3">
              <a:extLst>
                <a:ext uri="{FF2B5EF4-FFF2-40B4-BE49-F238E27FC236}">
                  <a16:creationId xmlns:a16="http://schemas.microsoft.com/office/drawing/2014/main" id="{F9D8F960-3C78-45FD-4D95-D997057946DD}"/>
                </a:ext>
              </a:extLst>
            </p:cNvPr>
            <p:cNvSpPr/>
            <p:nvPr/>
          </p:nvSpPr>
          <p:spPr>
            <a:xfrm>
              <a:off x="621792" y="384048"/>
              <a:ext cx="64008" cy="64008"/>
            </a:xfrm>
            <a:prstGeom prst="rect">
              <a:avLst/>
            </a:prstGeom>
            <a:solidFill>
              <a:srgbClr val="1F3A6E"/>
            </a:solidFill>
            <a:ln/>
          </p:spPr>
          <p:txBody>
            <a:bodyPr/>
            <a:lstStyle/>
            <a:p>
              <a:endParaRPr lang="en-US"/>
            </a:p>
          </p:txBody>
        </p:sp>
        <p:sp>
          <p:nvSpPr>
            <p:cNvPr id="41" name="Shape 4">
              <a:extLst>
                <a:ext uri="{FF2B5EF4-FFF2-40B4-BE49-F238E27FC236}">
                  <a16:creationId xmlns:a16="http://schemas.microsoft.com/office/drawing/2014/main" id="{980F2ED9-A361-207B-5162-288DE1111003}"/>
                </a:ext>
              </a:extLst>
            </p:cNvPr>
            <p:cNvSpPr/>
            <p:nvPr/>
          </p:nvSpPr>
          <p:spPr>
            <a:xfrm>
              <a:off x="457200" y="466344"/>
              <a:ext cx="64008" cy="64008"/>
            </a:xfrm>
            <a:prstGeom prst="rect">
              <a:avLst/>
            </a:prstGeom>
            <a:solidFill>
              <a:srgbClr val="3F8FD0"/>
            </a:solidFill>
            <a:ln/>
          </p:spPr>
          <p:txBody>
            <a:bodyPr/>
            <a:lstStyle/>
            <a:p>
              <a:endParaRPr lang="en-US"/>
            </a:p>
          </p:txBody>
        </p:sp>
        <p:sp>
          <p:nvSpPr>
            <p:cNvPr id="42" name="Shape 5">
              <a:extLst>
                <a:ext uri="{FF2B5EF4-FFF2-40B4-BE49-F238E27FC236}">
                  <a16:creationId xmlns:a16="http://schemas.microsoft.com/office/drawing/2014/main" id="{41315032-801C-C266-534C-CC0BF60BEFAA}"/>
                </a:ext>
              </a:extLst>
            </p:cNvPr>
            <p:cNvSpPr/>
            <p:nvPr/>
          </p:nvSpPr>
          <p:spPr>
            <a:xfrm>
              <a:off x="539496" y="466344"/>
              <a:ext cx="64008" cy="64008"/>
            </a:xfrm>
            <a:prstGeom prst="rect">
              <a:avLst/>
            </a:prstGeom>
            <a:solidFill>
              <a:srgbClr val="1F3A6E"/>
            </a:solidFill>
            <a:ln/>
          </p:spPr>
          <p:txBody>
            <a:bodyPr/>
            <a:lstStyle/>
            <a:p>
              <a:endParaRPr lang="en-US"/>
            </a:p>
          </p:txBody>
        </p:sp>
        <p:sp>
          <p:nvSpPr>
            <p:cNvPr id="43" name="Shape 6">
              <a:extLst>
                <a:ext uri="{FF2B5EF4-FFF2-40B4-BE49-F238E27FC236}">
                  <a16:creationId xmlns:a16="http://schemas.microsoft.com/office/drawing/2014/main" id="{5A709241-DA5D-086C-DE56-2BCBA15250A9}"/>
                </a:ext>
              </a:extLst>
            </p:cNvPr>
            <p:cNvSpPr/>
            <p:nvPr/>
          </p:nvSpPr>
          <p:spPr>
            <a:xfrm>
              <a:off x="621792" y="466344"/>
              <a:ext cx="64008" cy="64008"/>
            </a:xfrm>
            <a:prstGeom prst="rect">
              <a:avLst/>
            </a:prstGeom>
            <a:solidFill>
              <a:srgbClr val="3F8FD0"/>
            </a:solidFill>
            <a:ln/>
          </p:spPr>
          <p:txBody>
            <a:bodyPr/>
            <a:lstStyle/>
            <a:p>
              <a:endParaRPr lang="en-US"/>
            </a:p>
          </p:txBody>
        </p:sp>
        <p:sp>
          <p:nvSpPr>
            <p:cNvPr id="44" name="Shape 7">
              <a:extLst>
                <a:ext uri="{FF2B5EF4-FFF2-40B4-BE49-F238E27FC236}">
                  <a16:creationId xmlns:a16="http://schemas.microsoft.com/office/drawing/2014/main" id="{5D742361-C303-F8E0-34F5-851398F3459D}"/>
                </a:ext>
              </a:extLst>
            </p:cNvPr>
            <p:cNvSpPr/>
            <p:nvPr/>
          </p:nvSpPr>
          <p:spPr>
            <a:xfrm>
              <a:off x="457200" y="548640"/>
              <a:ext cx="64008" cy="64008"/>
            </a:xfrm>
            <a:prstGeom prst="rect">
              <a:avLst/>
            </a:prstGeom>
            <a:solidFill>
              <a:srgbClr val="1F3A6E"/>
            </a:solidFill>
            <a:ln/>
          </p:spPr>
          <p:txBody>
            <a:bodyPr/>
            <a:lstStyle/>
            <a:p>
              <a:endParaRPr lang="en-US"/>
            </a:p>
          </p:txBody>
        </p:sp>
        <p:sp>
          <p:nvSpPr>
            <p:cNvPr id="45" name="Shape 8">
              <a:extLst>
                <a:ext uri="{FF2B5EF4-FFF2-40B4-BE49-F238E27FC236}">
                  <a16:creationId xmlns:a16="http://schemas.microsoft.com/office/drawing/2014/main" id="{84C24378-7467-2F76-4075-E12502B752D9}"/>
                </a:ext>
              </a:extLst>
            </p:cNvPr>
            <p:cNvSpPr/>
            <p:nvPr/>
          </p:nvSpPr>
          <p:spPr>
            <a:xfrm>
              <a:off x="539496" y="548640"/>
              <a:ext cx="64008" cy="64008"/>
            </a:xfrm>
            <a:prstGeom prst="rect">
              <a:avLst/>
            </a:prstGeom>
            <a:solidFill>
              <a:srgbClr val="3F8FD0"/>
            </a:solidFill>
            <a:ln/>
          </p:spPr>
          <p:txBody>
            <a:bodyPr/>
            <a:lstStyle/>
            <a:p>
              <a:endParaRPr lang="en-US"/>
            </a:p>
          </p:txBody>
        </p:sp>
        <p:sp>
          <p:nvSpPr>
            <p:cNvPr id="46" name="Shape 9">
              <a:extLst>
                <a:ext uri="{FF2B5EF4-FFF2-40B4-BE49-F238E27FC236}">
                  <a16:creationId xmlns:a16="http://schemas.microsoft.com/office/drawing/2014/main" id="{8823465D-576F-C182-1CF6-6442C82FAAEC}"/>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47" name="Group 46">
            <a:extLst>
              <a:ext uri="{FF2B5EF4-FFF2-40B4-BE49-F238E27FC236}">
                <a16:creationId xmlns:a16="http://schemas.microsoft.com/office/drawing/2014/main" id="{7992660E-B4C5-9E4B-A239-A6DF63B16B63}"/>
              </a:ext>
            </a:extLst>
          </p:cNvPr>
          <p:cNvGrpSpPr/>
          <p:nvPr/>
        </p:nvGrpSpPr>
        <p:grpSpPr>
          <a:xfrm>
            <a:off x="320040" y="6473952"/>
            <a:ext cx="228600" cy="228600"/>
            <a:chOff x="320040" y="6473952"/>
            <a:chExt cx="228600" cy="228600"/>
          </a:xfrm>
        </p:grpSpPr>
        <p:sp>
          <p:nvSpPr>
            <p:cNvPr id="48" name="Shape 24">
              <a:extLst>
                <a:ext uri="{FF2B5EF4-FFF2-40B4-BE49-F238E27FC236}">
                  <a16:creationId xmlns:a16="http://schemas.microsoft.com/office/drawing/2014/main" id="{8BD0548F-4971-3FF2-0EA2-AA976425B68F}"/>
                </a:ext>
              </a:extLst>
            </p:cNvPr>
            <p:cNvSpPr/>
            <p:nvPr/>
          </p:nvSpPr>
          <p:spPr>
            <a:xfrm>
              <a:off x="320040" y="6473952"/>
              <a:ext cx="64008" cy="64008"/>
            </a:xfrm>
            <a:prstGeom prst="rect">
              <a:avLst/>
            </a:prstGeom>
            <a:solidFill>
              <a:srgbClr val="1F3A6E"/>
            </a:solidFill>
            <a:ln/>
          </p:spPr>
          <p:txBody>
            <a:bodyPr/>
            <a:lstStyle/>
            <a:p>
              <a:endParaRPr lang="en-US"/>
            </a:p>
          </p:txBody>
        </p:sp>
        <p:sp>
          <p:nvSpPr>
            <p:cNvPr id="49" name="Shape 25">
              <a:extLst>
                <a:ext uri="{FF2B5EF4-FFF2-40B4-BE49-F238E27FC236}">
                  <a16:creationId xmlns:a16="http://schemas.microsoft.com/office/drawing/2014/main" id="{A9F470B1-5F05-F372-2920-08F17CCD4E66}"/>
                </a:ext>
              </a:extLst>
            </p:cNvPr>
            <p:cNvSpPr/>
            <p:nvPr/>
          </p:nvSpPr>
          <p:spPr>
            <a:xfrm>
              <a:off x="402336" y="6473952"/>
              <a:ext cx="64008" cy="64008"/>
            </a:xfrm>
            <a:prstGeom prst="rect">
              <a:avLst/>
            </a:prstGeom>
            <a:solidFill>
              <a:srgbClr val="3F8FD0"/>
            </a:solidFill>
            <a:ln/>
          </p:spPr>
          <p:txBody>
            <a:bodyPr/>
            <a:lstStyle/>
            <a:p>
              <a:endParaRPr lang="en-US"/>
            </a:p>
          </p:txBody>
        </p:sp>
        <p:sp>
          <p:nvSpPr>
            <p:cNvPr id="50" name="Shape 26">
              <a:extLst>
                <a:ext uri="{FF2B5EF4-FFF2-40B4-BE49-F238E27FC236}">
                  <a16:creationId xmlns:a16="http://schemas.microsoft.com/office/drawing/2014/main" id="{74D49113-AE8F-1C9F-27AE-4CC0491C171E}"/>
                </a:ext>
              </a:extLst>
            </p:cNvPr>
            <p:cNvSpPr/>
            <p:nvPr/>
          </p:nvSpPr>
          <p:spPr>
            <a:xfrm>
              <a:off x="484632" y="6473952"/>
              <a:ext cx="64008" cy="64008"/>
            </a:xfrm>
            <a:prstGeom prst="rect">
              <a:avLst/>
            </a:prstGeom>
            <a:solidFill>
              <a:srgbClr val="1F3A6E"/>
            </a:solidFill>
            <a:ln/>
          </p:spPr>
          <p:txBody>
            <a:bodyPr/>
            <a:lstStyle/>
            <a:p>
              <a:endParaRPr lang="en-US"/>
            </a:p>
          </p:txBody>
        </p:sp>
        <p:sp>
          <p:nvSpPr>
            <p:cNvPr id="51" name="Shape 27">
              <a:extLst>
                <a:ext uri="{FF2B5EF4-FFF2-40B4-BE49-F238E27FC236}">
                  <a16:creationId xmlns:a16="http://schemas.microsoft.com/office/drawing/2014/main" id="{F361F74B-2CEA-7845-855B-F2D80DBFBB56}"/>
                </a:ext>
              </a:extLst>
            </p:cNvPr>
            <p:cNvSpPr/>
            <p:nvPr/>
          </p:nvSpPr>
          <p:spPr>
            <a:xfrm>
              <a:off x="320040" y="6556248"/>
              <a:ext cx="64008" cy="64008"/>
            </a:xfrm>
            <a:prstGeom prst="rect">
              <a:avLst/>
            </a:prstGeom>
            <a:solidFill>
              <a:srgbClr val="3F8FD0"/>
            </a:solidFill>
            <a:ln/>
          </p:spPr>
          <p:txBody>
            <a:bodyPr/>
            <a:lstStyle/>
            <a:p>
              <a:endParaRPr lang="en-US"/>
            </a:p>
          </p:txBody>
        </p:sp>
        <p:sp>
          <p:nvSpPr>
            <p:cNvPr id="52" name="Shape 28">
              <a:extLst>
                <a:ext uri="{FF2B5EF4-FFF2-40B4-BE49-F238E27FC236}">
                  <a16:creationId xmlns:a16="http://schemas.microsoft.com/office/drawing/2014/main" id="{0D57E85C-0640-980E-A354-77B35D71E058}"/>
                </a:ext>
              </a:extLst>
            </p:cNvPr>
            <p:cNvSpPr/>
            <p:nvPr/>
          </p:nvSpPr>
          <p:spPr>
            <a:xfrm>
              <a:off x="402336" y="6556248"/>
              <a:ext cx="64008" cy="64008"/>
            </a:xfrm>
            <a:prstGeom prst="rect">
              <a:avLst/>
            </a:prstGeom>
            <a:solidFill>
              <a:srgbClr val="1F3A6E"/>
            </a:solidFill>
            <a:ln/>
          </p:spPr>
          <p:txBody>
            <a:bodyPr/>
            <a:lstStyle/>
            <a:p>
              <a:endParaRPr lang="en-US"/>
            </a:p>
          </p:txBody>
        </p:sp>
        <p:sp>
          <p:nvSpPr>
            <p:cNvPr id="53" name="Shape 29">
              <a:extLst>
                <a:ext uri="{FF2B5EF4-FFF2-40B4-BE49-F238E27FC236}">
                  <a16:creationId xmlns:a16="http://schemas.microsoft.com/office/drawing/2014/main" id="{F3F60BA7-313F-C2BA-24B2-D9DC7D768577}"/>
                </a:ext>
              </a:extLst>
            </p:cNvPr>
            <p:cNvSpPr/>
            <p:nvPr/>
          </p:nvSpPr>
          <p:spPr>
            <a:xfrm>
              <a:off x="484632" y="6556248"/>
              <a:ext cx="64008" cy="64008"/>
            </a:xfrm>
            <a:prstGeom prst="rect">
              <a:avLst/>
            </a:prstGeom>
            <a:solidFill>
              <a:srgbClr val="3F8FD0"/>
            </a:solidFill>
            <a:ln/>
          </p:spPr>
          <p:txBody>
            <a:bodyPr/>
            <a:lstStyle/>
            <a:p>
              <a:endParaRPr lang="en-US"/>
            </a:p>
          </p:txBody>
        </p:sp>
        <p:sp>
          <p:nvSpPr>
            <p:cNvPr id="54" name="Shape 30">
              <a:extLst>
                <a:ext uri="{FF2B5EF4-FFF2-40B4-BE49-F238E27FC236}">
                  <a16:creationId xmlns:a16="http://schemas.microsoft.com/office/drawing/2014/main" id="{952D7353-E96A-93AB-C21B-357273E781C0}"/>
                </a:ext>
              </a:extLst>
            </p:cNvPr>
            <p:cNvSpPr/>
            <p:nvPr/>
          </p:nvSpPr>
          <p:spPr>
            <a:xfrm>
              <a:off x="320040" y="6638544"/>
              <a:ext cx="64008" cy="64008"/>
            </a:xfrm>
            <a:prstGeom prst="rect">
              <a:avLst/>
            </a:prstGeom>
            <a:solidFill>
              <a:srgbClr val="1F3A6E"/>
            </a:solidFill>
            <a:ln/>
          </p:spPr>
          <p:txBody>
            <a:bodyPr/>
            <a:lstStyle/>
            <a:p>
              <a:endParaRPr lang="en-US"/>
            </a:p>
          </p:txBody>
        </p:sp>
        <p:sp>
          <p:nvSpPr>
            <p:cNvPr id="55" name="Shape 31">
              <a:extLst>
                <a:ext uri="{FF2B5EF4-FFF2-40B4-BE49-F238E27FC236}">
                  <a16:creationId xmlns:a16="http://schemas.microsoft.com/office/drawing/2014/main" id="{BE22D422-F096-7CE3-7C18-93A06DB06332}"/>
                </a:ext>
              </a:extLst>
            </p:cNvPr>
            <p:cNvSpPr/>
            <p:nvPr/>
          </p:nvSpPr>
          <p:spPr>
            <a:xfrm>
              <a:off x="402336" y="6638544"/>
              <a:ext cx="64008" cy="64008"/>
            </a:xfrm>
            <a:prstGeom prst="rect">
              <a:avLst/>
            </a:prstGeom>
            <a:solidFill>
              <a:srgbClr val="3F8FD0"/>
            </a:solidFill>
            <a:ln/>
          </p:spPr>
          <p:txBody>
            <a:bodyPr/>
            <a:lstStyle/>
            <a:p>
              <a:endParaRPr lang="en-US"/>
            </a:p>
          </p:txBody>
        </p:sp>
        <p:sp>
          <p:nvSpPr>
            <p:cNvPr id="56" name="Shape 32">
              <a:extLst>
                <a:ext uri="{FF2B5EF4-FFF2-40B4-BE49-F238E27FC236}">
                  <a16:creationId xmlns:a16="http://schemas.microsoft.com/office/drawing/2014/main" id="{018B8022-188C-B569-7133-E0EC86D88842}"/>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57" name="Text 33">
            <a:extLst>
              <a:ext uri="{FF2B5EF4-FFF2-40B4-BE49-F238E27FC236}">
                <a16:creationId xmlns:a16="http://schemas.microsoft.com/office/drawing/2014/main" id="{371FFE37-32E8-BCF4-2E78-238673A73BC6}"/>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txBody>
          <a:bodyPr/>
          <a:lstStyle/>
          <a:p>
            <a:endParaRPr lang="en-US"/>
          </a:p>
        </p:txBody>
      </p:sp>
      <p:sp>
        <p:nvSpPr>
          <p:cNvPr id="12" name="Text 10"/>
          <p:cNvSpPr/>
          <p:nvPr/>
        </p:nvSpPr>
        <p:spPr>
          <a:xfrm>
            <a:off x="868680" y="256032"/>
            <a:ext cx="9692640" cy="640080"/>
          </a:xfrm>
          <a:prstGeom prst="rect">
            <a:avLst/>
          </a:prstGeom>
          <a:noFill/>
          <a:ln/>
        </p:spPr>
        <p:txBody>
          <a:bodyPr wrap="square" lIns="0" tIns="0" rIns="0" bIns="0" rtlCol="0" anchor="ctr"/>
          <a:lstStyle/>
          <a:p>
            <a:pPr marL="0" indent="0">
              <a:buNone/>
            </a:pPr>
            <a:r>
              <a:rPr lang="en-US" sz="2800" b="1" dirty="0">
                <a:solidFill>
                  <a:srgbClr val="1F3A6E"/>
                </a:solidFill>
                <a:latin typeface="Calibri" pitchFamily="34" charset="0"/>
                <a:ea typeface="Calibri" pitchFamily="34" charset="-122"/>
                <a:cs typeface="Calibri" pitchFamily="34" charset="-120"/>
              </a:rPr>
              <a:t>Nhập liệu: Thầu phụ, Dòng tiền &amp; Ảnh công trường</a:t>
            </a:r>
            <a:endParaRPr lang="en-US" sz="2800" dirty="0"/>
          </a:p>
        </p:txBody>
      </p:sp>
      <p:sp>
        <p:nvSpPr>
          <p:cNvPr id="13" name="Shape 11"/>
          <p:cNvSpPr/>
          <p:nvPr/>
        </p:nvSpPr>
        <p:spPr>
          <a:xfrm>
            <a:off x="9503359" y="0"/>
            <a:ext cx="384048" cy="384048"/>
          </a:xfrm>
          <a:prstGeom prst="rect">
            <a:avLst/>
          </a:prstGeom>
          <a:solidFill>
            <a:srgbClr val="AEE0F5"/>
          </a:solidFill>
          <a:ln/>
        </p:spPr>
        <p:txBody>
          <a:bodyPr/>
          <a:lstStyle/>
          <a:p>
            <a:endParaRPr lang="en-US"/>
          </a:p>
        </p:txBody>
      </p:sp>
      <p:sp>
        <p:nvSpPr>
          <p:cNvPr id="14" name="Shape 12"/>
          <p:cNvSpPr/>
          <p:nvPr/>
        </p:nvSpPr>
        <p:spPr>
          <a:xfrm>
            <a:off x="9887407" y="0"/>
            <a:ext cx="384048" cy="384048"/>
          </a:xfrm>
          <a:prstGeom prst="rect">
            <a:avLst/>
          </a:prstGeom>
          <a:solidFill>
            <a:srgbClr val="3F8FD0"/>
          </a:solidFill>
          <a:ln/>
        </p:spPr>
        <p:txBody>
          <a:bodyPr/>
          <a:lstStyle/>
          <a:p>
            <a:endParaRPr lang="en-US"/>
          </a:p>
        </p:txBody>
      </p:sp>
      <p:sp>
        <p:nvSpPr>
          <p:cNvPr id="15" name="Shape 13"/>
          <p:cNvSpPr/>
          <p:nvPr/>
        </p:nvSpPr>
        <p:spPr>
          <a:xfrm>
            <a:off x="10655503" y="0"/>
            <a:ext cx="384048" cy="384048"/>
          </a:xfrm>
          <a:prstGeom prst="rect">
            <a:avLst/>
          </a:prstGeom>
          <a:solidFill>
            <a:srgbClr val="3F8FD0"/>
          </a:solidFill>
          <a:ln/>
        </p:spPr>
        <p:txBody>
          <a:bodyPr/>
          <a:lstStyle/>
          <a:p>
            <a:endParaRPr lang="en-US"/>
          </a:p>
        </p:txBody>
      </p:sp>
      <p:sp>
        <p:nvSpPr>
          <p:cNvPr id="16" name="Shape 14"/>
          <p:cNvSpPr/>
          <p:nvPr/>
        </p:nvSpPr>
        <p:spPr>
          <a:xfrm>
            <a:off x="11039551" y="0"/>
            <a:ext cx="384048" cy="384048"/>
          </a:xfrm>
          <a:prstGeom prst="rect">
            <a:avLst/>
          </a:prstGeom>
          <a:solidFill>
            <a:srgbClr val="AEE0F5"/>
          </a:solidFill>
          <a:ln/>
        </p:spPr>
        <p:txBody>
          <a:bodyPr/>
          <a:lstStyle/>
          <a:p>
            <a:endParaRPr lang="en-US"/>
          </a:p>
        </p:txBody>
      </p:sp>
      <p:sp>
        <p:nvSpPr>
          <p:cNvPr id="17" name="Shape 15"/>
          <p:cNvSpPr/>
          <p:nvPr/>
        </p:nvSpPr>
        <p:spPr>
          <a:xfrm>
            <a:off x="11423599" y="0"/>
            <a:ext cx="384048" cy="384048"/>
          </a:xfrm>
          <a:prstGeom prst="rect">
            <a:avLst/>
          </a:prstGeom>
          <a:solidFill>
            <a:srgbClr val="3F8FD0"/>
          </a:solidFill>
          <a:ln/>
        </p:spPr>
        <p:txBody>
          <a:bodyPr/>
          <a:lstStyle/>
          <a:p>
            <a:endParaRPr lang="en-US"/>
          </a:p>
        </p:txBody>
      </p:sp>
      <p:sp>
        <p:nvSpPr>
          <p:cNvPr id="18" name="Shape 16"/>
          <p:cNvSpPr/>
          <p:nvPr/>
        </p:nvSpPr>
        <p:spPr>
          <a:xfrm>
            <a:off x="11807647" y="0"/>
            <a:ext cx="384048" cy="384048"/>
          </a:xfrm>
          <a:prstGeom prst="rect">
            <a:avLst/>
          </a:prstGeom>
          <a:solidFill>
            <a:srgbClr val="AEE0F5"/>
          </a:solidFill>
          <a:ln/>
        </p:spPr>
        <p:txBody>
          <a:bodyPr/>
          <a:lstStyle/>
          <a:p>
            <a:endParaRPr lang="en-US"/>
          </a:p>
        </p:txBody>
      </p:sp>
      <p:sp>
        <p:nvSpPr>
          <p:cNvPr id="19" name="Shape 17"/>
          <p:cNvSpPr/>
          <p:nvPr/>
        </p:nvSpPr>
        <p:spPr>
          <a:xfrm>
            <a:off x="10271455" y="384048"/>
            <a:ext cx="384048" cy="384048"/>
          </a:xfrm>
          <a:prstGeom prst="rect">
            <a:avLst/>
          </a:prstGeom>
          <a:solidFill>
            <a:srgbClr val="3F8FD0"/>
          </a:solidFill>
          <a:ln/>
        </p:spPr>
        <p:txBody>
          <a:bodyPr/>
          <a:lstStyle/>
          <a:p>
            <a:endParaRPr lang="en-US"/>
          </a:p>
        </p:txBody>
      </p:sp>
      <p:sp>
        <p:nvSpPr>
          <p:cNvPr id="20" name="Shape 18"/>
          <p:cNvSpPr/>
          <p:nvPr/>
        </p:nvSpPr>
        <p:spPr>
          <a:xfrm>
            <a:off x="11423599" y="384048"/>
            <a:ext cx="384048" cy="384048"/>
          </a:xfrm>
          <a:prstGeom prst="rect">
            <a:avLst/>
          </a:prstGeom>
          <a:solidFill>
            <a:srgbClr val="AEE0F5"/>
          </a:solidFill>
          <a:ln/>
        </p:spPr>
        <p:txBody>
          <a:bodyPr/>
          <a:lstStyle/>
          <a:p>
            <a:endParaRPr lang="en-US"/>
          </a:p>
        </p:txBody>
      </p:sp>
      <p:sp>
        <p:nvSpPr>
          <p:cNvPr id="21" name="Shape 19"/>
          <p:cNvSpPr/>
          <p:nvPr/>
        </p:nvSpPr>
        <p:spPr>
          <a:xfrm>
            <a:off x="11807647" y="384048"/>
            <a:ext cx="384048" cy="384048"/>
          </a:xfrm>
          <a:prstGeom prst="rect">
            <a:avLst/>
          </a:prstGeom>
          <a:solidFill>
            <a:srgbClr val="3F8FD0"/>
          </a:solidFill>
          <a:ln/>
        </p:spPr>
        <p:txBody>
          <a:bodyPr/>
          <a:lstStyle/>
          <a:p>
            <a:endParaRPr lang="en-US"/>
          </a:p>
        </p:txBody>
      </p:sp>
      <p:sp>
        <p:nvSpPr>
          <p:cNvPr id="22" name="Shape 20"/>
          <p:cNvSpPr/>
          <p:nvPr/>
        </p:nvSpPr>
        <p:spPr>
          <a:xfrm>
            <a:off x="11039551" y="768096"/>
            <a:ext cx="384048" cy="384048"/>
          </a:xfrm>
          <a:prstGeom prst="rect">
            <a:avLst/>
          </a:prstGeom>
          <a:solidFill>
            <a:srgbClr val="AEE0F5"/>
          </a:solidFill>
          <a:ln/>
        </p:spPr>
        <p:txBody>
          <a:bodyPr/>
          <a:lstStyle/>
          <a:p>
            <a:endParaRPr lang="en-US"/>
          </a:p>
        </p:txBody>
      </p:sp>
      <p:sp>
        <p:nvSpPr>
          <p:cNvPr id="23" name="Shape 21"/>
          <p:cNvSpPr/>
          <p:nvPr/>
        </p:nvSpPr>
        <p:spPr>
          <a:xfrm>
            <a:off x="11807647" y="768096"/>
            <a:ext cx="384048" cy="384048"/>
          </a:xfrm>
          <a:prstGeom prst="rect">
            <a:avLst/>
          </a:prstGeom>
          <a:solidFill>
            <a:srgbClr val="AEE0F5"/>
          </a:solidFill>
          <a:ln/>
        </p:spPr>
        <p:txBody>
          <a:bodyPr/>
          <a:lstStyle/>
          <a:p>
            <a:endParaRPr lang="en-US"/>
          </a:p>
        </p:txBody>
      </p:sp>
      <p:grpSp>
        <p:nvGrpSpPr>
          <p:cNvPr id="5" name="Group 4">
            <a:extLst>
              <a:ext uri="{FF2B5EF4-FFF2-40B4-BE49-F238E27FC236}">
                <a16:creationId xmlns:a16="http://schemas.microsoft.com/office/drawing/2014/main" id="{8CCA147F-BD2D-082C-5707-A167E3689BD6}"/>
              </a:ext>
            </a:extLst>
          </p:cNvPr>
          <p:cNvGrpSpPr/>
          <p:nvPr/>
        </p:nvGrpSpPr>
        <p:grpSpPr>
          <a:xfrm>
            <a:off x="320039" y="1817282"/>
            <a:ext cx="7075767" cy="3566335"/>
            <a:chOff x="603504" y="2271924"/>
            <a:chExt cx="6473152" cy="3161311"/>
          </a:xfrm>
        </p:grpSpPr>
        <p:sp>
          <p:nvSpPr>
            <p:cNvPr id="25" name="Shape 23"/>
            <p:cNvSpPr/>
            <p:nvPr/>
          </p:nvSpPr>
          <p:spPr>
            <a:xfrm>
              <a:off x="603504" y="2271924"/>
              <a:ext cx="6473152" cy="3161311"/>
            </a:xfrm>
            <a:prstGeom prst="rect">
              <a:avLst/>
            </a:prstGeom>
            <a:solidFill>
              <a:srgbClr val="F2F2F2"/>
            </a:solidFill>
            <a:ln w="9525">
              <a:solidFill>
                <a:srgbClr val="BFBFBF"/>
              </a:solidFill>
              <a:prstDash val="solid"/>
            </a:ln>
          </p:spPr>
          <p:txBody>
            <a:bodyPr/>
            <a:lstStyle/>
            <a:p>
              <a:endParaRPr lang="en-US"/>
            </a:p>
          </p:txBody>
        </p:sp>
        <p:pic>
          <p:nvPicPr>
            <p:cNvPr id="26" name="Image 0" descr="screenshot"/>
            <p:cNvPicPr>
              <a:picLocks noChangeAspect="1"/>
            </p:cNvPicPr>
            <p:nvPr/>
          </p:nvPicPr>
          <p:blipFill>
            <a:blip r:embed="rId3"/>
            <a:stretch>
              <a:fillRect/>
            </a:stretch>
          </p:blipFill>
          <p:spPr>
            <a:xfrm>
              <a:off x="640080" y="2308500"/>
              <a:ext cx="6400000" cy="3088159"/>
            </a:xfrm>
            <a:prstGeom prst="rect">
              <a:avLst/>
            </a:prstGeom>
          </p:spPr>
        </p:pic>
        <p:sp>
          <p:nvSpPr>
            <p:cNvPr id="100" name="Box 1"/>
            <p:cNvSpPr/>
            <p:nvPr/>
          </p:nvSpPr>
          <p:spPr>
            <a:xfrm>
              <a:off x="1362075" y="3069517"/>
              <a:ext cx="5654635" cy="808102"/>
            </a:xfrm>
            <a:prstGeom prst="roundRect">
              <a:avLst>
                <a:gd name="adj" fmla="val 10000"/>
              </a:avLst>
            </a:prstGeom>
            <a:noFill/>
            <a:ln w="19050">
              <a:solidFill>
                <a:srgbClr val="1F3A6E"/>
              </a:solidFill>
            </a:ln>
          </p:spPr>
          <p:txBody>
            <a:bodyPr/>
            <a:lstStyle/>
            <a:p>
              <a:endParaRPr lang="en-US"/>
            </a:p>
          </p:txBody>
        </p:sp>
        <p:sp>
          <p:nvSpPr>
            <p:cNvPr id="101" name="Box 2"/>
            <p:cNvSpPr/>
            <p:nvPr/>
          </p:nvSpPr>
          <p:spPr>
            <a:xfrm>
              <a:off x="1362075" y="3961082"/>
              <a:ext cx="5654635" cy="884716"/>
            </a:xfrm>
            <a:prstGeom prst="roundRect">
              <a:avLst>
                <a:gd name="adj" fmla="val 10000"/>
              </a:avLst>
            </a:prstGeom>
            <a:noFill/>
            <a:ln w="19050">
              <a:solidFill>
                <a:srgbClr val="1F3A6E"/>
              </a:solidFill>
            </a:ln>
          </p:spPr>
          <p:txBody>
            <a:bodyPr/>
            <a:lstStyle/>
            <a:p>
              <a:endParaRPr lang="en-US"/>
            </a:p>
          </p:txBody>
        </p:sp>
        <p:sp>
          <p:nvSpPr>
            <p:cNvPr id="102" name="Box 3"/>
            <p:cNvSpPr/>
            <p:nvPr/>
          </p:nvSpPr>
          <p:spPr>
            <a:xfrm>
              <a:off x="1362075" y="4929260"/>
              <a:ext cx="5608764" cy="419027"/>
            </a:xfrm>
            <a:prstGeom prst="roundRect">
              <a:avLst>
                <a:gd name="adj" fmla="val 10000"/>
              </a:avLst>
            </a:prstGeom>
            <a:noFill/>
            <a:ln w="19050">
              <a:solidFill>
                <a:srgbClr val="1F3A6E"/>
              </a:solidFill>
            </a:ln>
          </p:spPr>
          <p:txBody>
            <a:bodyPr/>
            <a:lstStyle/>
            <a:p>
              <a:endParaRPr lang="en-US"/>
            </a:p>
          </p:txBody>
        </p:sp>
        <p:sp>
          <p:nvSpPr>
            <p:cNvPr id="200" name="Callout 1"/>
            <p:cNvSpPr/>
            <p:nvPr/>
          </p:nvSpPr>
          <p:spPr>
            <a:xfrm>
              <a:off x="1242946" y="3052628"/>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1</a:t>
              </a:r>
            </a:p>
          </p:txBody>
        </p:sp>
        <p:sp>
          <p:nvSpPr>
            <p:cNvPr id="201" name="Callout 2"/>
            <p:cNvSpPr/>
            <p:nvPr/>
          </p:nvSpPr>
          <p:spPr>
            <a:xfrm>
              <a:off x="1207946" y="3983625"/>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2</a:t>
              </a:r>
            </a:p>
          </p:txBody>
        </p:sp>
        <p:sp>
          <p:nvSpPr>
            <p:cNvPr id="202" name="Callout 3"/>
            <p:cNvSpPr/>
            <p:nvPr/>
          </p:nvSpPr>
          <p:spPr>
            <a:xfrm>
              <a:off x="1252075" y="4845798"/>
              <a:ext cx="220000" cy="220000"/>
            </a:xfrm>
            <a:prstGeom prst="ellipse">
              <a:avLst/>
            </a:prstGeom>
            <a:solidFill>
              <a:srgbClr val="1F3A6E"/>
            </a:solidFill>
            <a:ln w="9525">
              <a:solidFill>
                <a:srgbClr val="FFFFFF"/>
              </a:solidFill>
            </a:ln>
          </p:spPr>
          <p:txBody>
            <a:bodyPr wrap="square" lIns="0" tIns="0" rIns="0" bIns="0" rtlCol="0" anchor="ctr"/>
            <a:lstStyle/>
            <a:p>
              <a:pPr marL="0" indent="0" algn="ctr">
                <a:buNone/>
              </a:pPr>
              <a:r>
                <a:rPr lang="en-US" sz="1000" b="1" dirty="0">
                  <a:solidFill>
                    <a:srgbClr val="FFFFFF"/>
                  </a:solidFill>
                  <a:latin typeface="Calibri" pitchFamily="34" charset="0"/>
                </a:rPr>
                <a:t>3</a:t>
              </a:r>
            </a:p>
          </p:txBody>
        </p:sp>
      </p:grpSp>
      <p:sp>
        <p:nvSpPr>
          <p:cNvPr id="300" name="Panel Header"/>
          <p:cNvSpPr/>
          <p:nvPr/>
        </p:nvSpPr>
        <p:spPr>
          <a:xfrm>
            <a:off x="7620140" y="1824617"/>
            <a:ext cx="4211840" cy="460000"/>
          </a:xfrm>
          <a:prstGeom prst="roundRect">
            <a:avLst>
              <a:gd name="adj" fmla="val 6000"/>
            </a:avLst>
          </a:prstGeom>
          <a:solidFill>
            <a:srgbClr val="3F8FD0"/>
          </a:solidFill>
          <a:ln/>
        </p:spPr>
        <p:txBody>
          <a:bodyPr wrap="square" rtlCol="0" anchor="ctr"/>
          <a:lstStyle/>
          <a:p>
            <a:pPr marL="0" indent="0" algn="ctr">
              <a:buNone/>
            </a:pPr>
            <a:r>
              <a:rPr lang="en-US" sz="1800" b="1" dirty="0">
                <a:solidFill>
                  <a:srgbClr val="FFFFFF"/>
                </a:solidFill>
                <a:latin typeface="Calibri" pitchFamily="34" charset="0"/>
              </a:rPr>
              <a:t>Mô tả</a:t>
            </a:r>
          </a:p>
        </p:txBody>
      </p:sp>
      <p:sp>
        <p:nvSpPr>
          <p:cNvPr id="301" name="Panel Body"/>
          <p:cNvSpPr/>
          <p:nvPr/>
        </p:nvSpPr>
        <p:spPr>
          <a:xfrm>
            <a:off x="7620140" y="2344617"/>
            <a:ext cx="4211840" cy="3039000"/>
          </a:xfrm>
          <a:prstGeom prst="rect">
            <a:avLst/>
          </a:prstGeom>
          <a:solidFill>
            <a:srgbClr val="F4F8FD"/>
          </a:solidFill>
          <a:ln w="9525">
            <a:solidFill>
              <a:srgbClr val="BFBFBF"/>
            </a:solidFill>
          </a:ln>
        </p:spPr>
        <p:txBody>
          <a:bodyPr/>
          <a:lstStyle/>
          <a:p>
            <a:endParaRPr lang="en-US"/>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grpSp>
        <p:nvGrpSpPr>
          <p:cNvPr id="58" name="Group 57">
            <a:extLst>
              <a:ext uri="{FF2B5EF4-FFF2-40B4-BE49-F238E27FC236}">
                <a16:creationId xmlns:a16="http://schemas.microsoft.com/office/drawing/2014/main" id="{81A8636C-1BE3-07A8-288A-B2B7CE76AAD1}"/>
              </a:ext>
            </a:extLst>
          </p:cNvPr>
          <p:cNvGrpSpPr/>
          <p:nvPr/>
        </p:nvGrpSpPr>
        <p:grpSpPr>
          <a:xfrm>
            <a:off x="320040" y="498348"/>
            <a:ext cx="228600" cy="228600"/>
            <a:chOff x="457200" y="384048"/>
            <a:chExt cx="228600" cy="228600"/>
          </a:xfrm>
        </p:grpSpPr>
        <p:sp>
          <p:nvSpPr>
            <p:cNvPr id="59" name="Shape 1">
              <a:extLst>
                <a:ext uri="{FF2B5EF4-FFF2-40B4-BE49-F238E27FC236}">
                  <a16:creationId xmlns:a16="http://schemas.microsoft.com/office/drawing/2014/main" id="{121CAC59-1B51-FE66-260A-B9781541CCF9}"/>
                </a:ext>
              </a:extLst>
            </p:cNvPr>
            <p:cNvSpPr/>
            <p:nvPr/>
          </p:nvSpPr>
          <p:spPr>
            <a:xfrm>
              <a:off x="457200" y="384048"/>
              <a:ext cx="64008" cy="64008"/>
            </a:xfrm>
            <a:prstGeom prst="rect">
              <a:avLst/>
            </a:prstGeom>
            <a:solidFill>
              <a:srgbClr val="1F3A6E"/>
            </a:solidFill>
            <a:ln/>
          </p:spPr>
          <p:txBody>
            <a:bodyPr/>
            <a:lstStyle/>
            <a:p>
              <a:endParaRPr lang="en-US"/>
            </a:p>
          </p:txBody>
        </p:sp>
        <p:sp>
          <p:nvSpPr>
            <p:cNvPr id="60" name="Shape 2">
              <a:extLst>
                <a:ext uri="{FF2B5EF4-FFF2-40B4-BE49-F238E27FC236}">
                  <a16:creationId xmlns:a16="http://schemas.microsoft.com/office/drawing/2014/main" id="{E1C2E947-6BF7-5EDB-8209-CDE64D1F4D01}"/>
                </a:ext>
              </a:extLst>
            </p:cNvPr>
            <p:cNvSpPr/>
            <p:nvPr/>
          </p:nvSpPr>
          <p:spPr>
            <a:xfrm>
              <a:off x="539496" y="384048"/>
              <a:ext cx="64008" cy="64008"/>
            </a:xfrm>
            <a:prstGeom prst="rect">
              <a:avLst/>
            </a:prstGeom>
            <a:solidFill>
              <a:srgbClr val="3F8FD0"/>
            </a:solidFill>
            <a:ln/>
          </p:spPr>
          <p:txBody>
            <a:bodyPr/>
            <a:lstStyle/>
            <a:p>
              <a:endParaRPr lang="en-US"/>
            </a:p>
          </p:txBody>
        </p:sp>
        <p:sp>
          <p:nvSpPr>
            <p:cNvPr id="61" name="Shape 3">
              <a:extLst>
                <a:ext uri="{FF2B5EF4-FFF2-40B4-BE49-F238E27FC236}">
                  <a16:creationId xmlns:a16="http://schemas.microsoft.com/office/drawing/2014/main" id="{491BE5B7-F597-A176-6A25-579B567F313F}"/>
                </a:ext>
              </a:extLst>
            </p:cNvPr>
            <p:cNvSpPr/>
            <p:nvPr/>
          </p:nvSpPr>
          <p:spPr>
            <a:xfrm>
              <a:off x="621792" y="384048"/>
              <a:ext cx="64008" cy="64008"/>
            </a:xfrm>
            <a:prstGeom prst="rect">
              <a:avLst/>
            </a:prstGeom>
            <a:solidFill>
              <a:srgbClr val="1F3A6E"/>
            </a:solidFill>
            <a:ln/>
          </p:spPr>
          <p:txBody>
            <a:bodyPr/>
            <a:lstStyle/>
            <a:p>
              <a:endParaRPr lang="en-US"/>
            </a:p>
          </p:txBody>
        </p:sp>
        <p:sp>
          <p:nvSpPr>
            <p:cNvPr id="62" name="Shape 4">
              <a:extLst>
                <a:ext uri="{FF2B5EF4-FFF2-40B4-BE49-F238E27FC236}">
                  <a16:creationId xmlns:a16="http://schemas.microsoft.com/office/drawing/2014/main" id="{D976AFE6-2CE2-BE9F-64F0-7F843B6392D5}"/>
                </a:ext>
              </a:extLst>
            </p:cNvPr>
            <p:cNvSpPr/>
            <p:nvPr/>
          </p:nvSpPr>
          <p:spPr>
            <a:xfrm>
              <a:off x="457200" y="466344"/>
              <a:ext cx="64008" cy="64008"/>
            </a:xfrm>
            <a:prstGeom prst="rect">
              <a:avLst/>
            </a:prstGeom>
            <a:solidFill>
              <a:srgbClr val="3F8FD0"/>
            </a:solidFill>
            <a:ln/>
          </p:spPr>
          <p:txBody>
            <a:bodyPr/>
            <a:lstStyle/>
            <a:p>
              <a:endParaRPr lang="en-US"/>
            </a:p>
          </p:txBody>
        </p:sp>
        <p:sp>
          <p:nvSpPr>
            <p:cNvPr id="63" name="Shape 5">
              <a:extLst>
                <a:ext uri="{FF2B5EF4-FFF2-40B4-BE49-F238E27FC236}">
                  <a16:creationId xmlns:a16="http://schemas.microsoft.com/office/drawing/2014/main" id="{C72AEAB1-FE5E-4D54-9BC3-9DA5ACF1B0E5}"/>
                </a:ext>
              </a:extLst>
            </p:cNvPr>
            <p:cNvSpPr/>
            <p:nvPr/>
          </p:nvSpPr>
          <p:spPr>
            <a:xfrm>
              <a:off x="539496" y="466344"/>
              <a:ext cx="64008" cy="64008"/>
            </a:xfrm>
            <a:prstGeom prst="rect">
              <a:avLst/>
            </a:prstGeom>
            <a:solidFill>
              <a:srgbClr val="1F3A6E"/>
            </a:solidFill>
            <a:ln/>
          </p:spPr>
          <p:txBody>
            <a:bodyPr/>
            <a:lstStyle/>
            <a:p>
              <a:endParaRPr lang="en-US"/>
            </a:p>
          </p:txBody>
        </p:sp>
        <p:sp>
          <p:nvSpPr>
            <p:cNvPr id="64" name="Shape 6">
              <a:extLst>
                <a:ext uri="{FF2B5EF4-FFF2-40B4-BE49-F238E27FC236}">
                  <a16:creationId xmlns:a16="http://schemas.microsoft.com/office/drawing/2014/main" id="{ACBC1E79-DFBB-802E-60B4-14CE38040EA3}"/>
                </a:ext>
              </a:extLst>
            </p:cNvPr>
            <p:cNvSpPr/>
            <p:nvPr/>
          </p:nvSpPr>
          <p:spPr>
            <a:xfrm>
              <a:off x="621792" y="466344"/>
              <a:ext cx="64008" cy="64008"/>
            </a:xfrm>
            <a:prstGeom prst="rect">
              <a:avLst/>
            </a:prstGeom>
            <a:solidFill>
              <a:srgbClr val="3F8FD0"/>
            </a:solidFill>
            <a:ln/>
          </p:spPr>
          <p:txBody>
            <a:bodyPr/>
            <a:lstStyle/>
            <a:p>
              <a:endParaRPr lang="en-US"/>
            </a:p>
          </p:txBody>
        </p:sp>
        <p:sp>
          <p:nvSpPr>
            <p:cNvPr id="65" name="Shape 7">
              <a:extLst>
                <a:ext uri="{FF2B5EF4-FFF2-40B4-BE49-F238E27FC236}">
                  <a16:creationId xmlns:a16="http://schemas.microsoft.com/office/drawing/2014/main" id="{118C2CA6-0117-0BC2-1BDF-C83DDA20C0DA}"/>
                </a:ext>
              </a:extLst>
            </p:cNvPr>
            <p:cNvSpPr/>
            <p:nvPr/>
          </p:nvSpPr>
          <p:spPr>
            <a:xfrm>
              <a:off x="457200" y="548640"/>
              <a:ext cx="64008" cy="64008"/>
            </a:xfrm>
            <a:prstGeom prst="rect">
              <a:avLst/>
            </a:prstGeom>
            <a:solidFill>
              <a:srgbClr val="1F3A6E"/>
            </a:solidFill>
            <a:ln/>
          </p:spPr>
          <p:txBody>
            <a:bodyPr/>
            <a:lstStyle/>
            <a:p>
              <a:endParaRPr lang="en-US"/>
            </a:p>
          </p:txBody>
        </p:sp>
        <p:sp>
          <p:nvSpPr>
            <p:cNvPr id="66" name="Shape 8">
              <a:extLst>
                <a:ext uri="{FF2B5EF4-FFF2-40B4-BE49-F238E27FC236}">
                  <a16:creationId xmlns:a16="http://schemas.microsoft.com/office/drawing/2014/main" id="{18456B5D-5FEF-7E5C-DE58-E216F227818D}"/>
                </a:ext>
              </a:extLst>
            </p:cNvPr>
            <p:cNvSpPr/>
            <p:nvPr/>
          </p:nvSpPr>
          <p:spPr>
            <a:xfrm>
              <a:off x="539496" y="548640"/>
              <a:ext cx="64008" cy="64008"/>
            </a:xfrm>
            <a:prstGeom prst="rect">
              <a:avLst/>
            </a:prstGeom>
            <a:solidFill>
              <a:srgbClr val="3F8FD0"/>
            </a:solidFill>
            <a:ln/>
          </p:spPr>
          <p:txBody>
            <a:bodyPr/>
            <a:lstStyle/>
            <a:p>
              <a:endParaRPr lang="en-US"/>
            </a:p>
          </p:txBody>
        </p:sp>
        <p:sp>
          <p:nvSpPr>
            <p:cNvPr id="67" name="Shape 9">
              <a:extLst>
                <a:ext uri="{FF2B5EF4-FFF2-40B4-BE49-F238E27FC236}">
                  <a16:creationId xmlns:a16="http://schemas.microsoft.com/office/drawing/2014/main" id="{8839BBB0-63A9-1454-B91E-24CF031ACF4B}"/>
                </a:ext>
              </a:extLst>
            </p:cNvPr>
            <p:cNvSpPr/>
            <p:nvPr/>
          </p:nvSpPr>
          <p:spPr>
            <a:xfrm>
              <a:off x="621792" y="548640"/>
              <a:ext cx="64008" cy="64008"/>
            </a:xfrm>
            <a:prstGeom prst="rect">
              <a:avLst/>
            </a:prstGeom>
            <a:solidFill>
              <a:srgbClr val="1F3A6E"/>
            </a:solidFill>
            <a:ln/>
          </p:spPr>
          <p:txBody>
            <a:bodyPr/>
            <a:lstStyle/>
            <a:p>
              <a:endParaRPr lang="en-US"/>
            </a:p>
          </p:txBody>
        </p:sp>
      </p:grpSp>
      <p:grpSp>
        <p:nvGrpSpPr>
          <p:cNvPr id="68" name="Group 67">
            <a:extLst>
              <a:ext uri="{FF2B5EF4-FFF2-40B4-BE49-F238E27FC236}">
                <a16:creationId xmlns:a16="http://schemas.microsoft.com/office/drawing/2014/main" id="{24D8EF01-BC56-B87F-E490-2BFD55FEE3AF}"/>
              </a:ext>
            </a:extLst>
          </p:cNvPr>
          <p:cNvGrpSpPr/>
          <p:nvPr/>
        </p:nvGrpSpPr>
        <p:grpSpPr>
          <a:xfrm>
            <a:off x="320040" y="6473952"/>
            <a:ext cx="228600" cy="228600"/>
            <a:chOff x="320040" y="6473952"/>
            <a:chExt cx="228600" cy="228600"/>
          </a:xfrm>
        </p:grpSpPr>
        <p:sp>
          <p:nvSpPr>
            <p:cNvPr id="69" name="Shape 24">
              <a:extLst>
                <a:ext uri="{FF2B5EF4-FFF2-40B4-BE49-F238E27FC236}">
                  <a16:creationId xmlns:a16="http://schemas.microsoft.com/office/drawing/2014/main" id="{6C0E5B07-BA4E-50F7-F451-EAA393D08F67}"/>
                </a:ext>
              </a:extLst>
            </p:cNvPr>
            <p:cNvSpPr/>
            <p:nvPr/>
          </p:nvSpPr>
          <p:spPr>
            <a:xfrm>
              <a:off x="320040" y="6473952"/>
              <a:ext cx="64008" cy="64008"/>
            </a:xfrm>
            <a:prstGeom prst="rect">
              <a:avLst/>
            </a:prstGeom>
            <a:solidFill>
              <a:srgbClr val="1F3A6E"/>
            </a:solidFill>
            <a:ln/>
          </p:spPr>
          <p:txBody>
            <a:bodyPr/>
            <a:lstStyle/>
            <a:p>
              <a:endParaRPr lang="en-US"/>
            </a:p>
          </p:txBody>
        </p:sp>
        <p:sp>
          <p:nvSpPr>
            <p:cNvPr id="70" name="Shape 25">
              <a:extLst>
                <a:ext uri="{FF2B5EF4-FFF2-40B4-BE49-F238E27FC236}">
                  <a16:creationId xmlns:a16="http://schemas.microsoft.com/office/drawing/2014/main" id="{0E46952B-2975-40DC-674F-859BF46DD17D}"/>
                </a:ext>
              </a:extLst>
            </p:cNvPr>
            <p:cNvSpPr/>
            <p:nvPr/>
          </p:nvSpPr>
          <p:spPr>
            <a:xfrm>
              <a:off x="402336" y="6473952"/>
              <a:ext cx="64008" cy="64008"/>
            </a:xfrm>
            <a:prstGeom prst="rect">
              <a:avLst/>
            </a:prstGeom>
            <a:solidFill>
              <a:srgbClr val="3F8FD0"/>
            </a:solidFill>
            <a:ln/>
          </p:spPr>
          <p:txBody>
            <a:bodyPr/>
            <a:lstStyle/>
            <a:p>
              <a:endParaRPr lang="en-US"/>
            </a:p>
          </p:txBody>
        </p:sp>
        <p:sp>
          <p:nvSpPr>
            <p:cNvPr id="71" name="Shape 26">
              <a:extLst>
                <a:ext uri="{FF2B5EF4-FFF2-40B4-BE49-F238E27FC236}">
                  <a16:creationId xmlns:a16="http://schemas.microsoft.com/office/drawing/2014/main" id="{CA241657-965B-FAB1-E214-C23DDCFEE07E}"/>
                </a:ext>
              </a:extLst>
            </p:cNvPr>
            <p:cNvSpPr/>
            <p:nvPr/>
          </p:nvSpPr>
          <p:spPr>
            <a:xfrm>
              <a:off x="484632" y="6473952"/>
              <a:ext cx="64008" cy="64008"/>
            </a:xfrm>
            <a:prstGeom prst="rect">
              <a:avLst/>
            </a:prstGeom>
            <a:solidFill>
              <a:srgbClr val="1F3A6E"/>
            </a:solidFill>
            <a:ln/>
          </p:spPr>
          <p:txBody>
            <a:bodyPr/>
            <a:lstStyle/>
            <a:p>
              <a:endParaRPr lang="en-US"/>
            </a:p>
          </p:txBody>
        </p:sp>
        <p:sp>
          <p:nvSpPr>
            <p:cNvPr id="72" name="Shape 27">
              <a:extLst>
                <a:ext uri="{FF2B5EF4-FFF2-40B4-BE49-F238E27FC236}">
                  <a16:creationId xmlns:a16="http://schemas.microsoft.com/office/drawing/2014/main" id="{429FD885-6C94-362E-3AE9-9F55FDAB155A}"/>
                </a:ext>
              </a:extLst>
            </p:cNvPr>
            <p:cNvSpPr/>
            <p:nvPr/>
          </p:nvSpPr>
          <p:spPr>
            <a:xfrm>
              <a:off x="320040" y="6556248"/>
              <a:ext cx="64008" cy="64008"/>
            </a:xfrm>
            <a:prstGeom prst="rect">
              <a:avLst/>
            </a:prstGeom>
            <a:solidFill>
              <a:srgbClr val="3F8FD0"/>
            </a:solidFill>
            <a:ln/>
          </p:spPr>
          <p:txBody>
            <a:bodyPr/>
            <a:lstStyle/>
            <a:p>
              <a:endParaRPr lang="en-US"/>
            </a:p>
          </p:txBody>
        </p:sp>
        <p:sp>
          <p:nvSpPr>
            <p:cNvPr id="73" name="Shape 28">
              <a:extLst>
                <a:ext uri="{FF2B5EF4-FFF2-40B4-BE49-F238E27FC236}">
                  <a16:creationId xmlns:a16="http://schemas.microsoft.com/office/drawing/2014/main" id="{EA9AF314-2059-D536-0C35-F9FD02CC8868}"/>
                </a:ext>
              </a:extLst>
            </p:cNvPr>
            <p:cNvSpPr/>
            <p:nvPr/>
          </p:nvSpPr>
          <p:spPr>
            <a:xfrm>
              <a:off x="402336" y="6556248"/>
              <a:ext cx="64008" cy="64008"/>
            </a:xfrm>
            <a:prstGeom prst="rect">
              <a:avLst/>
            </a:prstGeom>
            <a:solidFill>
              <a:srgbClr val="1F3A6E"/>
            </a:solidFill>
            <a:ln/>
          </p:spPr>
          <p:txBody>
            <a:bodyPr/>
            <a:lstStyle/>
            <a:p>
              <a:endParaRPr lang="en-US"/>
            </a:p>
          </p:txBody>
        </p:sp>
        <p:sp>
          <p:nvSpPr>
            <p:cNvPr id="74" name="Shape 29">
              <a:extLst>
                <a:ext uri="{FF2B5EF4-FFF2-40B4-BE49-F238E27FC236}">
                  <a16:creationId xmlns:a16="http://schemas.microsoft.com/office/drawing/2014/main" id="{B941EADD-1373-C557-235D-CBC833E7CF71}"/>
                </a:ext>
              </a:extLst>
            </p:cNvPr>
            <p:cNvSpPr/>
            <p:nvPr/>
          </p:nvSpPr>
          <p:spPr>
            <a:xfrm>
              <a:off x="484632" y="6556248"/>
              <a:ext cx="64008" cy="64008"/>
            </a:xfrm>
            <a:prstGeom prst="rect">
              <a:avLst/>
            </a:prstGeom>
            <a:solidFill>
              <a:srgbClr val="3F8FD0"/>
            </a:solidFill>
            <a:ln/>
          </p:spPr>
          <p:txBody>
            <a:bodyPr/>
            <a:lstStyle/>
            <a:p>
              <a:endParaRPr lang="en-US"/>
            </a:p>
          </p:txBody>
        </p:sp>
        <p:sp>
          <p:nvSpPr>
            <p:cNvPr id="75" name="Shape 30">
              <a:extLst>
                <a:ext uri="{FF2B5EF4-FFF2-40B4-BE49-F238E27FC236}">
                  <a16:creationId xmlns:a16="http://schemas.microsoft.com/office/drawing/2014/main" id="{98703823-BFE4-EE30-110B-BE02218AE7E7}"/>
                </a:ext>
              </a:extLst>
            </p:cNvPr>
            <p:cNvSpPr/>
            <p:nvPr/>
          </p:nvSpPr>
          <p:spPr>
            <a:xfrm>
              <a:off x="320040" y="6638544"/>
              <a:ext cx="64008" cy="64008"/>
            </a:xfrm>
            <a:prstGeom prst="rect">
              <a:avLst/>
            </a:prstGeom>
            <a:solidFill>
              <a:srgbClr val="1F3A6E"/>
            </a:solidFill>
            <a:ln/>
          </p:spPr>
          <p:txBody>
            <a:bodyPr/>
            <a:lstStyle/>
            <a:p>
              <a:endParaRPr lang="en-US"/>
            </a:p>
          </p:txBody>
        </p:sp>
        <p:sp>
          <p:nvSpPr>
            <p:cNvPr id="76" name="Shape 31">
              <a:extLst>
                <a:ext uri="{FF2B5EF4-FFF2-40B4-BE49-F238E27FC236}">
                  <a16:creationId xmlns:a16="http://schemas.microsoft.com/office/drawing/2014/main" id="{6FF537F6-F709-5840-BE54-B5400B3FFE74}"/>
                </a:ext>
              </a:extLst>
            </p:cNvPr>
            <p:cNvSpPr/>
            <p:nvPr/>
          </p:nvSpPr>
          <p:spPr>
            <a:xfrm>
              <a:off x="402336" y="6638544"/>
              <a:ext cx="64008" cy="64008"/>
            </a:xfrm>
            <a:prstGeom prst="rect">
              <a:avLst/>
            </a:prstGeom>
            <a:solidFill>
              <a:srgbClr val="3F8FD0"/>
            </a:solidFill>
            <a:ln/>
          </p:spPr>
          <p:txBody>
            <a:bodyPr/>
            <a:lstStyle/>
            <a:p>
              <a:endParaRPr lang="en-US"/>
            </a:p>
          </p:txBody>
        </p:sp>
        <p:sp>
          <p:nvSpPr>
            <p:cNvPr id="77" name="Shape 32">
              <a:extLst>
                <a:ext uri="{FF2B5EF4-FFF2-40B4-BE49-F238E27FC236}">
                  <a16:creationId xmlns:a16="http://schemas.microsoft.com/office/drawing/2014/main" id="{4F6875A1-2C2F-C5F6-BAD8-B5B1BBDDEDAE}"/>
                </a:ext>
              </a:extLst>
            </p:cNvPr>
            <p:cNvSpPr/>
            <p:nvPr/>
          </p:nvSpPr>
          <p:spPr>
            <a:xfrm>
              <a:off x="484632" y="6638544"/>
              <a:ext cx="64008" cy="64008"/>
            </a:xfrm>
            <a:prstGeom prst="rect">
              <a:avLst/>
            </a:prstGeom>
            <a:solidFill>
              <a:srgbClr val="1F3A6E"/>
            </a:solidFill>
            <a:ln/>
          </p:spPr>
          <p:txBody>
            <a:bodyPr/>
            <a:lstStyle/>
            <a:p>
              <a:endParaRPr lang="en-US"/>
            </a:p>
          </p:txBody>
        </p:sp>
      </p:grpSp>
      <p:sp>
        <p:nvSpPr>
          <p:cNvPr id="78" name="Text 33">
            <a:extLst>
              <a:ext uri="{FF2B5EF4-FFF2-40B4-BE49-F238E27FC236}">
                <a16:creationId xmlns:a16="http://schemas.microsoft.com/office/drawing/2014/main" id="{25C04FDC-4892-1613-0E55-4667D163D5A6}"/>
              </a:ext>
            </a:extLst>
          </p:cNvPr>
          <p:cNvSpPr/>
          <p:nvPr/>
        </p:nvSpPr>
        <p:spPr>
          <a:xfrm>
            <a:off x="578543" y="6423660"/>
            <a:ext cx="1828800" cy="320040"/>
          </a:xfrm>
          <a:prstGeom prst="rect">
            <a:avLst/>
          </a:prstGeom>
          <a:noFill/>
          <a:ln/>
        </p:spPr>
        <p:txBody>
          <a:bodyPr wrap="square" lIns="0" tIns="0" rIns="0" bIns="0"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4" name="Panel Text">
            <a:extLst>
              <a:ext uri="{FF2B5EF4-FFF2-40B4-BE49-F238E27FC236}">
                <a16:creationId xmlns:a16="http://schemas.microsoft.com/office/drawing/2014/main" id="{0938AE3C-75FB-9AD2-A9D8-6ECCCDBBD68E}"/>
              </a:ext>
            </a:extLst>
          </p:cNvPr>
          <p:cNvSpPr txBox="1"/>
          <p:nvPr/>
        </p:nvSpPr>
        <p:spPr>
          <a:xfrm>
            <a:off x="7820140" y="2494617"/>
            <a:ext cx="3811840" cy="2259875"/>
          </a:xfrm>
          <a:prstGeom prst="rect">
            <a:avLst/>
          </a:prstGeom>
          <a:noFill/>
          <a:ln/>
        </p:spPr>
        <p:txBody>
          <a:bodyPr wrap="square" lIns="0" tIns="0" rIns="0" bIns="0" rtlCol="0" anchor="t"/>
          <a:lstStyle/>
          <a:p>
            <a:pPr marL="228600" indent="-228600">
              <a:lnSpc>
                <a:spcPct val="106000"/>
              </a:lnSpc>
              <a:spcAft>
                <a:spcPts val="500"/>
              </a:spcAft>
              <a:buAutoNum type="arabicPlain"/>
            </a:pPr>
            <a:r>
              <a:rPr lang="en-US" sz="1100" b="1" dirty="0">
                <a:solidFill>
                  <a:srgbClr val="1F3A6E"/>
                </a:solidFill>
                <a:latin typeface="Calibri" pitchFamily="34" charset="0"/>
              </a:rPr>
              <a:t>8. Monthly Cash Flow (tab Cash Flow):</a:t>
            </a:r>
          </a:p>
          <a:p>
            <a:pPr marL="171450" indent="-171450">
              <a:lnSpc>
                <a:spcPct val="106000"/>
              </a:lnSpc>
              <a:spcAft>
                <a:spcPts val="500"/>
              </a:spcAft>
              <a:buFontTx/>
              <a:buChar char="-"/>
            </a:pPr>
            <a:r>
              <a:rPr lang="en-US" sz="1100" b="1" dirty="0">
                <a:solidFill>
                  <a:srgbClr val="1F3A6E"/>
                </a:solidFill>
                <a:latin typeface="Calibri" pitchFamily="34" charset="0"/>
              </a:rPr>
              <a:t>Cash In/Out (Thu/Chi tiền): </a:t>
            </a:r>
            <a:r>
              <a:rPr lang="en-US" sz="1100" dirty="0">
                <a:solidFill>
                  <a:srgbClr val="262626"/>
                </a:solidFill>
                <a:latin typeface="Calibri" pitchFamily="34" charset="0"/>
              </a:rPr>
              <a:t>Đồng bộ từ PIMSVINA</a:t>
            </a:r>
          </a:p>
          <a:p>
            <a:pPr>
              <a:lnSpc>
                <a:spcPct val="106000"/>
              </a:lnSpc>
              <a:spcAft>
                <a:spcPts val="500"/>
              </a:spcAft>
            </a:pPr>
            <a:r>
              <a:rPr lang="en-US" sz="1100" dirty="0">
                <a:solidFill>
                  <a:srgbClr val="262626"/>
                </a:solidFill>
                <a:latin typeface="Calibri" pitchFamily="34" charset="0"/>
              </a:rPr>
              <a:t>Cash Flow &gt; Report &gt; Cash Flow Report &gt; Income &gt; month (1-12)Outcome &gt; month (1-12)</a:t>
            </a:r>
          </a:p>
          <a:p>
            <a:pPr marL="171450" indent="-171450">
              <a:lnSpc>
                <a:spcPct val="106000"/>
              </a:lnSpc>
              <a:spcAft>
                <a:spcPts val="500"/>
              </a:spcAft>
              <a:buFontTx/>
              <a:buChar char="-"/>
            </a:pPr>
            <a:r>
              <a:rPr lang="en-US" sz="1100" b="1" dirty="0">
                <a:solidFill>
                  <a:srgbClr val="1F3A6E"/>
                </a:solidFill>
                <a:latin typeface="Calibri" pitchFamily="34" charset="0"/>
              </a:rPr>
              <a:t>Cash Balance (Số dư tiền mặt) </a:t>
            </a:r>
            <a:r>
              <a:rPr lang="en-US" sz="1100" dirty="0">
                <a:solidFill>
                  <a:srgbClr val="262626"/>
                </a:solidFill>
                <a:latin typeface="Calibri" pitchFamily="34" charset="0"/>
              </a:rPr>
              <a:t>= Cash In – Cash Out</a:t>
            </a:r>
          </a:p>
          <a:p>
            <a:pPr marL="171450" indent="-171450">
              <a:lnSpc>
                <a:spcPct val="106000"/>
              </a:lnSpc>
              <a:spcAft>
                <a:spcPts val="500"/>
              </a:spcAft>
              <a:buFontTx/>
              <a:buChar char="-"/>
            </a:pPr>
            <a:r>
              <a:rPr lang="en-US" sz="1100" b="1" dirty="0">
                <a:solidFill>
                  <a:srgbClr val="1F3A6E"/>
                </a:solidFill>
                <a:latin typeface="Calibri" pitchFamily="34" charset="0"/>
              </a:rPr>
              <a:t>Confirmed Progress (Tiến độ đã xác nhận)</a:t>
            </a:r>
            <a:r>
              <a:rPr lang="en-US" sz="1100" dirty="0">
                <a:solidFill>
                  <a:srgbClr val="262626"/>
                </a:solidFill>
                <a:latin typeface="Calibri" pitchFamily="34" charset="0"/>
              </a:rPr>
              <a:t>: Nhập thủ công</a:t>
            </a:r>
          </a:p>
          <a:p>
            <a:pPr>
              <a:lnSpc>
                <a:spcPct val="106000"/>
              </a:lnSpc>
              <a:spcAft>
                <a:spcPts val="500"/>
              </a:spcAft>
            </a:pPr>
            <a:endParaRPr lang="en-US" sz="1100" dirty="0">
              <a:solidFill>
                <a:srgbClr val="262626"/>
              </a:solidFill>
              <a:latin typeface="Calibri" pitchFamily="34" charset="0"/>
            </a:endParaRPr>
          </a:p>
          <a:p>
            <a:pPr marL="228600" indent="-228600">
              <a:lnSpc>
                <a:spcPct val="106000"/>
              </a:lnSpc>
              <a:spcAft>
                <a:spcPts val="500"/>
              </a:spcAft>
              <a:buAutoNum type="arabicPlain" startAt="2"/>
            </a:pPr>
            <a:r>
              <a:rPr lang="en-US" sz="1100" b="1" dirty="0">
                <a:solidFill>
                  <a:srgbClr val="1F3A6E"/>
                </a:solidFill>
                <a:latin typeface="Calibri" pitchFamily="34" charset="0"/>
              </a:rPr>
              <a:t>Site Photos (Ảnh công trường)</a:t>
            </a:r>
            <a:r>
              <a:rPr lang="en-US" sz="1100" dirty="0">
                <a:solidFill>
                  <a:srgbClr val="262626"/>
                </a:solidFill>
                <a:latin typeface="Calibri" pitchFamily="34" charset="0"/>
              </a:rPr>
              <a:t>: </a:t>
            </a:r>
          </a:p>
          <a:p>
            <a:pPr marL="171450" indent="-171450">
              <a:lnSpc>
                <a:spcPct val="106000"/>
              </a:lnSpc>
              <a:spcAft>
                <a:spcPts val="500"/>
              </a:spcAft>
              <a:buFontTx/>
              <a:buChar char="-"/>
            </a:pPr>
            <a:r>
              <a:rPr lang="en-US" sz="1100" dirty="0">
                <a:solidFill>
                  <a:srgbClr val="262626"/>
                </a:solidFill>
                <a:latin typeface="Calibri" pitchFamily="34" charset="0"/>
              </a:rPr>
              <a:t>Chọn ảnh để tải lên</a:t>
            </a:r>
          </a:p>
          <a:p>
            <a:pPr marL="171450" indent="-171450">
              <a:lnSpc>
                <a:spcPct val="106000"/>
              </a:lnSpc>
              <a:spcAft>
                <a:spcPts val="500"/>
              </a:spcAft>
              <a:buFontTx/>
              <a:buChar char="-"/>
            </a:pPr>
            <a:r>
              <a:rPr lang="en-US" sz="1100" dirty="0">
                <a:solidFill>
                  <a:srgbClr val="262626"/>
                </a:solidFill>
                <a:latin typeface="Calibri" pitchFamily="34" charset="0"/>
              </a:rPr>
              <a:t>Slideshow interval (giây) tự động xoay vòng ảnh, đặt 0 để tắt.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1F3A6E"/>
        </a:solidFill>
        <a:effectLst/>
      </p:bgPr>
    </p:bg>
    <p:spTree>
      <p:nvGrpSpPr>
        <p:cNvPr id="1" name=""/>
        <p:cNvGrpSpPr/>
        <p:nvPr/>
      </p:nvGrpSpPr>
      <p:grpSpPr>
        <a:xfrm>
          <a:off x="0" y="0"/>
          <a:ext cx="0" cy="0"/>
          <a:chOff x="0" y="0"/>
          <a:chExt cx="0" cy="0"/>
        </a:xfrm>
      </p:grpSpPr>
      <p:sp>
        <p:nvSpPr>
          <p:cNvPr id="2" name="Text 0"/>
          <p:cNvSpPr/>
          <p:nvPr/>
        </p:nvSpPr>
        <p:spPr>
          <a:xfrm>
            <a:off x="914400" y="2286000"/>
            <a:ext cx="7315200" cy="10972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Xin cảm ơn!</a:t>
            </a:r>
            <a:endParaRPr lang="en-US" sz="4400" dirty="0"/>
          </a:p>
        </p:txBody>
      </p:sp>
      <p:sp>
        <p:nvSpPr>
          <p:cNvPr id="3" name="Text 1"/>
          <p:cNvSpPr/>
          <p:nvPr/>
        </p:nvSpPr>
        <p:spPr>
          <a:xfrm>
            <a:off x="914400" y="512064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infoERP</a:t>
            </a:r>
            <a:endParaRPr lang="en-US" sz="2000" dirty="0"/>
          </a:p>
        </p:txBody>
      </p:sp>
      <p:sp>
        <p:nvSpPr>
          <p:cNvPr id="4" name="Text 2"/>
          <p:cNvSpPr/>
          <p:nvPr/>
        </p:nvSpPr>
        <p:spPr>
          <a:xfrm>
            <a:off x="914400" y="5577840"/>
            <a:ext cx="5486400" cy="365760"/>
          </a:xfrm>
          <a:prstGeom prst="rect">
            <a:avLst/>
          </a:prstGeom>
          <a:noFill/>
          <a:ln/>
        </p:spPr>
        <p:txBody>
          <a:bodyPr wrap="square" lIns="0" tIns="0" rIns="0" bIns="0" rtlCol="0" anchor="ctr"/>
          <a:lstStyle/>
          <a:p>
            <a:pPr marL="0" indent="0">
              <a:buNone/>
            </a:pPr>
            <a:r>
              <a:rPr lang="en-US" sz="1300" dirty="0">
                <a:solidFill>
                  <a:srgbClr val="AEE0F5"/>
                </a:solidFill>
                <a:latin typeface="Calibri" pitchFamily="34" charset="0"/>
                <a:ea typeface="Calibri" pitchFamily="34" charset="-122"/>
                <a:cs typeface="Calibri" pitchFamily="34" charset="-120"/>
              </a:rPr>
              <a:t>PIMS Dashboard – Hướng dẫn sử dụng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5E4590-4BF9-4E1D-A9C8-32A83CE733CD}">
  <we:reference id="WA200010001" version="1.0.0.1" store="Omex" storeType="OMEX"/>
  <we:alternateReferences>
    <we:reference id="WA200010001" version="1.0.0.1" store="WA200010001" storeType="OMEX"/>
  </we:alternateReferences>
  <we:properties>
    <we:property name="claude.fileId" value="&quot;871e7eca-45c2-4654-91ce-e3101f7c975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378</TotalTime>
  <Words>3734</Words>
  <Application>Microsoft Office PowerPoint</Application>
  <PresentationFormat>Widescreen</PresentationFormat>
  <Paragraphs>541</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ERP MS03</cp:lastModifiedBy>
  <cp:revision>7</cp:revision>
  <dcterms:created xsi:type="dcterms:W3CDTF">2026-10-09T08:57:08Z</dcterms:created>
  <dcterms:modified xsi:type="dcterms:W3CDTF">2026-10-13T06:21:58Z</dcterms:modified>
</cp:coreProperties>
</file>